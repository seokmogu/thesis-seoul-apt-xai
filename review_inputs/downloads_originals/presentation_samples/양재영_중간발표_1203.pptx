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63" r:id="rId10"/>
    <p:sldId id="359" r:id="rId11"/>
    <p:sldId id="361" r:id="rId12"/>
    <p:sldId id="362" r:id="rId13"/>
    <p:sldId id="264" r:id="rId14"/>
    <p:sldId id="267" r:id="rId15"/>
    <p:sldId id="268" r:id="rId16"/>
    <p:sldId id="269" r:id="rId17"/>
    <p:sldId id="270" r:id="rId18"/>
    <p:sldId id="271" r:id="rId19"/>
    <p:sldId id="357" r:id="rId20"/>
    <p:sldId id="363" r:id="rId21"/>
    <p:sldId id="276" r:id="rId22"/>
    <p:sldId id="275" r:id="rId23"/>
    <p:sldId id="364" r:id="rId24"/>
    <p:sldId id="274" r:id="rId25"/>
    <p:sldId id="365" r:id="rId26"/>
    <p:sldId id="277" r:id="rId27"/>
    <p:sldId id="278" r:id="rId28"/>
    <p:sldId id="279" r:id="rId29"/>
    <p:sldId id="280" r:id="rId30"/>
    <p:sldId id="284" r:id="rId31"/>
    <p:sldId id="291" r:id="rId32"/>
    <p:sldId id="286" r:id="rId33"/>
    <p:sldId id="287" r:id="rId34"/>
    <p:sldId id="366" r:id="rId35"/>
    <p:sldId id="288" r:id="rId36"/>
    <p:sldId id="290" r:id="rId37"/>
  </p:sldIdLst>
  <p:sldSz cx="18288000" cy="10287000"/>
  <p:notesSz cx="7102475" cy="10234613"/>
  <p:embeddedFontLst>
    <p:embeddedFont>
      <p:font typeface="NanumGothicBold" panose="020B0600000101010101" charset="-127"/>
      <p:bold r:id="rId39"/>
    </p:embeddedFont>
    <p:embeddedFont>
      <p:font typeface="Pretendard Bold" panose="020B0600000101010101" charset="-127"/>
      <p:bold r:id="rId40"/>
    </p:embeddedFont>
    <p:embeddedFont>
      <p:font typeface="Pretendard Light" panose="020B0600000101010101" charset="-127"/>
      <p:regular r:id="rId41"/>
    </p:embeddedFont>
    <p:embeddedFont>
      <p:font typeface="Pretendard Regular" panose="020B0600000101010101" charset="-127"/>
      <p:regular r:id="rId42"/>
    </p:embeddedFont>
    <p:embeddedFont>
      <p:font typeface="Pretendard SemiBold" panose="020B0600000101010101" charset="-127"/>
      <p:bold r:id="rId43"/>
    </p:embeddedFont>
    <p:embeddedFont>
      <p:font typeface="조선가는고딕" panose="020B0600000101010101" charset="-127"/>
      <p:regular r:id="rId44"/>
    </p:embeddedFont>
    <p:embeddedFont>
      <p:font typeface="Calibri" panose="020F0502020204030204" pitchFamily="34" charset="0"/>
      <p:regular r:id="rId45"/>
      <p:bold r:id="rId46"/>
      <p:italic r:id="rId47"/>
      <p:boldItalic r:id="rId48"/>
    </p:embeddedFont>
    <p:embeddedFont>
      <p:font typeface="Montserrat Bold" panose="020B0600000101010101" charset="0"/>
      <p:bold r:id="rId49"/>
    </p:embeddedFont>
    <p:embeddedFont>
      <p:font typeface="Montserrat Medium" panose="020B0600000101010101" charset="0"/>
      <p:regular r:id="rId50"/>
      <p:bold r:id="rId51"/>
      <p:italic r:id="rId52"/>
    </p:embeddedFont>
    <p:embeddedFont>
      <p:font typeface="Montserrat SemiBold" panose="020B0600000101010101" charset="0"/>
      <p:bold r:id="rId53"/>
      <p:boldItalic r:id="rId54"/>
    </p:embeddedFont>
    <p:embeddedFont>
      <p:font typeface="나눔고딕" panose="020D0804000000000000" pitchFamily="50" charset="-127"/>
      <p:regular r:id="rId55"/>
      <p:bold r:id="rId56"/>
    </p:embeddedFont>
    <p:embeddedFont>
      <p:font typeface="나눔고딕" panose="020D0804000000000000" pitchFamily="50" charset="-127"/>
      <p:regular r:id="rId55"/>
      <p:bold r:id="rId56"/>
    </p:embeddedFont>
    <p:embeddedFont>
      <p:font typeface="맑은 고딕" panose="020B0503020000020004" pitchFamily="50" charset="-127"/>
      <p:regular r:id="rId57"/>
      <p:bold r:id="rId5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71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55" Type="http://schemas.openxmlformats.org/officeDocument/2006/relationships/font" Target="fonts/font17.fntdata"/><Relationship Id="rId63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font" Target="fonts/font15.fntdata"/><Relationship Id="rId58" Type="http://schemas.openxmlformats.org/officeDocument/2006/relationships/font" Target="fonts/font20.fnt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56" Type="http://schemas.openxmlformats.org/officeDocument/2006/relationships/font" Target="fonts/font18.fntdata"/><Relationship Id="rId8" Type="http://schemas.openxmlformats.org/officeDocument/2006/relationships/slide" Target="slides/slide7.xml"/><Relationship Id="rId51" Type="http://schemas.openxmlformats.org/officeDocument/2006/relationships/font" Target="fonts/font1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54" Type="http://schemas.openxmlformats.org/officeDocument/2006/relationships/font" Target="fonts/font16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1.fntdata"/><Relationship Id="rId57" Type="http://schemas.openxmlformats.org/officeDocument/2006/relationships/font" Target="fonts/font19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openxmlformats.org/officeDocument/2006/relationships/font" Target="fonts/font14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jin moon" userId="1b6eed213736b55c" providerId="LiveId" clId="{4A09AD4A-640D-4CAB-B0EC-20AE88029260}"/>
    <pc:docChg chg="modSld">
      <pc:chgData name="sujin moon" userId="1b6eed213736b55c" providerId="LiveId" clId="{4A09AD4A-640D-4CAB-B0EC-20AE88029260}" dt="2024-12-03T04:18:28.699" v="214" actId="14100"/>
      <pc:docMkLst>
        <pc:docMk/>
      </pc:docMkLst>
      <pc:sldChg chg="modSp mod">
        <pc:chgData name="sujin moon" userId="1b6eed213736b55c" providerId="LiveId" clId="{4A09AD4A-640D-4CAB-B0EC-20AE88029260}" dt="2024-12-03T04:17:11.558" v="2" actId="20577"/>
        <pc:sldMkLst>
          <pc:docMk/>
          <pc:sldMk cId="0" sldId="284"/>
        </pc:sldMkLst>
        <pc:graphicFrameChg chg="modGraphic">
          <ac:chgData name="sujin moon" userId="1b6eed213736b55c" providerId="LiveId" clId="{4A09AD4A-640D-4CAB-B0EC-20AE88029260}" dt="2024-12-03T04:17:11.558" v="2" actId="20577"/>
          <ac:graphicFrameMkLst>
            <pc:docMk/>
            <pc:sldMk cId="0" sldId="284"/>
            <ac:graphicFrameMk id="4" creationId="{23348C1F-9B35-8CCB-D7A8-F12ECCD4CD38}"/>
          </ac:graphicFrameMkLst>
        </pc:graphicFrameChg>
      </pc:sldChg>
      <pc:sldChg chg="modSp mod">
        <pc:chgData name="sujin moon" userId="1b6eed213736b55c" providerId="LiveId" clId="{4A09AD4A-640D-4CAB-B0EC-20AE88029260}" dt="2024-12-03T04:18:28.699" v="214" actId="14100"/>
        <pc:sldMkLst>
          <pc:docMk/>
          <pc:sldMk cId="1871778127" sldId="291"/>
        </pc:sldMkLst>
        <pc:spChg chg="mod">
          <ac:chgData name="sujin moon" userId="1b6eed213736b55c" providerId="LiveId" clId="{4A09AD4A-640D-4CAB-B0EC-20AE88029260}" dt="2024-12-03T04:18:23.617" v="213" actId="14100"/>
          <ac:spMkLst>
            <pc:docMk/>
            <pc:sldMk cId="1871778127" sldId="291"/>
            <ac:spMk id="4" creationId="{DE920A8E-9B2D-A609-DF5E-CF2A28876400}"/>
          </ac:spMkLst>
        </pc:spChg>
        <pc:picChg chg="mod">
          <ac:chgData name="sujin moon" userId="1b6eed213736b55c" providerId="LiveId" clId="{4A09AD4A-640D-4CAB-B0EC-20AE88029260}" dt="2024-12-03T04:18:28.699" v="214" actId="14100"/>
          <ac:picMkLst>
            <pc:docMk/>
            <pc:sldMk cId="1871778127" sldId="291"/>
            <ac:picMk id="9" creationId="{13B6B93E-1B26-49E1-8BF8-50984D3E7F6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077738" cy="513508"/>
          </a:xfrm>
          <a:prstGeom prst="rect">
            <a:avLst/>
          </a:prstGeom>
        </p:spPr>
        <p:txBody>
          <a:bodyPr vert="horz" lIns="94649" tIns="47324" rIns="94649" bIns="47324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093" y="1"/>
            <a:ext cx="3077738" cy="513508"/>
          </a:xfrm>
          <a:prstGeom prst="rect">
            <a:avLst/>
          </a:prstGeom>
        </p:spPr>
        <p:txBody>
          <a:bodyPr vert="horz" lIns="94649" tIns="47324" rIns="94649" bIns="47324" rtlCol="0"/>
          <a:lstStyle>
            <a:lvl1pPr algn="r">
              <a:defRPr sz="1200"/>
            </a:lvl1pPr>
          </a:lstStyle>
          <a:p>
            <a:fld id="{0EB512AD-7CE1-4D66-B479-E0155F7336A5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49" tIns="47324" rIns="94649" bIns="47324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249" y="4925408"/>
            <a:ext cx="5681980" cy="4029879"/>
          </a:xfrm>
          <a:prstGeom prst="rect">
            <a:avLst/>
          </a:prstGeom>
        </p:spPr>
        <p:txBody>
          <a:bodyPr vert="horz" lIns="94649" tIns="47324" rIns="94649" bIns="47324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721107"/>
            <a:ext cx="3077738" cy="513507"/>
          </a:xfrm>
          <a:prstGeom prst="rect">
            <a:avLst/>
          </a:prstGeom>
        </p:spPr>
        <p:txBody>
          <a:bodyPr vert="horz" lIns="94649" tIns="47324" rIns="94649" bIns="47324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093" y="9721107"/>
            <a:ext cx="3077738" cy="513507"/>
          </a:xfrm>
          <a:prstGeom prst="rect">
            <a:avLst/>
          </a:prstGeom>
        </p:spPr>
        <p:txBody>
          <a:bodyPr vert="horz" lIns="94649" tIns="47324" rIns="94649" bIns="47324" rtlCol="0" anchor="b"/>
          <a:lstStyle>
            <a:lvl1pPr algn="r">
              <a:defRPr sz="1200"/>
            </a:lvl1pPr>
          </a:lstStyle>
          <a:p>
            <a:fld id="{7FD1BCBF-0968-468A-9AA7-80564CBE11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9532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1BCBF-0968-468A-9AA7-80564CBE11F5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2371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FABDB-FBD7-1084-3F9D-3613F6A1F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A5161D-F998-50FD-BEBA-2EFB7857E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F24CAA-A004-AC0A-EF68-8F71CB312B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412B05-9403-9ECF-ED92-CDD5711D5F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1BCBF-0968-468A-9AA7-80564CBE11F5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6349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39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340000">
            <a:off x="12331700" y="3759200"/>
            <a:ext cx="8585200" cy="4572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927100" y="2197100"/>
            <a:ext cx="15443200" cy="2133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6000" b="1" i="0" u="none" strike="noStrike" dirty="0">
                <a:solidFill>
                  <a:srgbClr val="FFFFFF"/>
                </a:solidFill>
                <a:ea typeface="NanumGothicBold"/>
              </a:rPr>
              <a:t>서울시</a:t>
            </a:r>
            <a:r>
              <a:rPr lang="en-US" sz="6000" b="1" i="0" u="none" strike="noStrike" dirty="0">
                <a:solidFill>
                  <a:srgbClr val="FFFFFF"/>
                </a:solidFill>
                <a:latin typeface="NanumGothicBold"/>
              </a:rPr>
              <a:t> </a:t>
            </a:r>
            <a:r>
              <a:rPr lang="ko-KR" sz="6000" b="1" i="0" u="none" strike="noStrike" dirty="0">
                <a:solidFill>
                  <a:srgbClr val="FFFFFF"/>
                </a:solidFill>
                <a:ea typeface="NanumGothicBold"/>
              </a:rPr>
              <a:t>청년안심주택</a:t>
            </a:r>
            <a:r>
              <a:rPr lang="ko-KR" altLang="en-US" sz="6000" b="1" dirty="0">
                <a:solidFill>
                  <a:srgbClr val="FFFFFF"/>
                </a:solidFill>
                <a:latin typeface="NanumGothicBold"/>
                <a:ea typeface="NanumGothicBold"/>
              </a:rPr>
              <a:t>이 인근</a:t>
            </a:r>
            <a:r>
              <a:rPr lang="en-US" sz="6000" b="1" i="0" u="none" strike="noStrike" dirty="0">
                <a:solidFill>
                  <a:srgbClr val="FFFFFF"/>
                </a:solidFill>
                <a:latin typeface="NanumGothicBold"/>
              </a:rPr>
              <a:t> </a:t>
            </a:r>
            <a:r>
              <a:rPr lang="ko-KR" sz="6000" b="1" i="0" u="none" strike="noStrike" dirty="0">
                <a:solidFill>
                  <a:srgbClr val="FFFFFF"/>
                </a:solidFill>
                <a:ea typeface="NanumGothicBold"/>
              </a:rPr>
              <a:t>전월세</a:t>
            </a:r>
            <a:r>
              <a:rPr lang="en-US" sz="6000" b="1" i="0" u="none" strike="noStrike" dirty="0">
                <a:solidFill>
                  <a:srgbClr val="FFFFFF"/>
                </a:solidFill>
                <a:latin typeface="NanumGothicBold"/>
              </a:rPr>
              <a:t> </a:t>
            </a:r>
            <a:r>
              <a:rPr lang="ko-KR" sz="6000" b="1" i="0" u="none" strike="noStrike" dirty="0">
                <a:solidFill>
                  <a:srgbClr val="FFFFFF"/>
                </a:solidFill>
                <a:ea typeface="NanumGothicBold"/>
              </a:rPr>
              <a:t>가격에</a:t>
            </a:r>
            <a:r>
              <a:rPr lang="en-US" sz="6000" b="1" i="0" u="none" strike="noStrike" dirty="0">
                <a:solidFill>
                  <a:srgbClr val="FFFFFF"/>
                </a:solidFill>
                <a:latin typeface="NanumGothicBold"/>
              </a:rPr>
              <a:t> </a:t>
            </a:r>
            <a:r>
              <a:rPr lang="ko-KR" sz="6000" b="1" i="0" u="none" strike="noStrike" dirty="0">
                <a:solidFill>
                  <a:srgbClr val="FFFFFF"/>
                </a:solidFill>
                <a:ea typeface="NanumGothicBold"/>
              </a:rPr>
              <a:t>미치는</a:t>
            </a:r>
            <a:r>
              <a:rPr lang="en-US" sz="6000" b="1" i="0" u="none" strike="noStrike" dirty="0">
                <a:solidFill>
                  <a:srgbClr val="FFFFFF"/>
                </a:solidFill>
                <a:latin typeface="NanumGothicBold"/>
              </a:rPr>
              <a:t> </a:t>
            </a:r>
            <a:r>
              <a:rPr lang="ko-KR" sz="6000" b="1" i="0" u="none" strike="noStrike" dirty="0">
                <a:solidFill>
                  <a:srgbClr val="FFFFFF"/>
                </a:solidFill>
                <a:ea typeface="NanumGothicBold"/>
              </a:rPr>
              <a:t>영향</a:t>
            </a:r>
            <a:r>
              <a:rPr lang="en-US" sz="6000" b="1" i="0" u="none" strike="noStrike" dirty="0">
                <a:solidFill>
                  <a:srgbClr val="FFFFFF"/>
                </a:solidFill>
                <a:latin typeface="NanumGothicBold"/>
              </a:rPr>
              <a:t> </a:t>
            </a:r>
            <a:r>
              <a:rPr lang="ko-KR" sz="6000" b="1" i="0" u="none" strike="noStrike" dirty="0">
                <a:solidFill>
                  <a:srgbClr val="FFFFFF"/>
                </a:solidFill>
                <a:ea typeface="NanumGothicBold"/>
              </a:rPr>
              <a:t>연구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16000" y="4318000"/>
            <a:ext cx="12331700" cy="800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500" b="0" i="0" u="none" strike="noStrike" dirty="0">
                <a:solidFill>
                  <a:srgbClr val="08A5C1"/>
                </a:solidFill>
                <a:latin typeface="NanumGothic"/>
              </a:rPr>
              <a:t>-</a:t>
            </a:r>
            <a:r>
              <a:rPr lang="en-US" sz="4500" b="0" i="0" u="none" strike="noStrike" dirty="0">
                <a:solidFill>
                  <a:srgbClr val="08A5C1"/>
                </a:solidFill>
                <a:latin typeface="+mj-ea"/>
                <a:ea typeface="+mj-ea"/>
              </a:rPr>
              <a:t>1</a:t>
            </a:r>
            <a:r>
              <a:rPr lang="ko-KR" sz="4500" b="0" i="0" u="none" strike="noStrike" dirty="0">
                <a:solidFill>
                  <a:srgbClr val="08A5C1"/>
                </a:solidFill>
                <a:latin typeface="+mj-ea"/>
                <a:ea typeface="+mj-ea"/>
              </a:rPr>
              <a:t>인</a:t>
            </a:r>
            <a:r>
              <a:rPr lang="en-US" sz="4500" b="0" i="0" u="none" strike="noStrike" dirty="0">
                <a:solidFill>
                  <a:srgbClr val="08A5C1"/>
                </a:solidFill>
                <a:latin typeface="+mj-ea"/>
                <a:ea typeface="+mj-ea"/>
              </a:rPr>
              <a:t> </a:t>
            </a:r>
            <a:r>
              <a:rPr lang="ko-KR" sz="4500" b="0" i="0" u="none" strike="noStrike" dirty="0">
                <a:solidFill>
                  <a:srgbClr val="08A5C1"/>
                </a:solidFill>
                <a:latin typeface="+mj-ea"/>
                <a:ea typeface="+mj-ea"/>
              </a:rPr>
              <a:t>가구</a:t>
            </a:r>
            <a:r>
              <a:rPr lang="en-US" sz="4500" b="0" i="0" u="none" strike="noStrike" dirty="0">
                <a:solidFill>
                  <a:srgbClr val="08A5C1"/>
                </a:solidFill>
                <a:latin typeface="+mj-ea"/>
                <a:ea typeface="+mj-ea"/>
              </a:rPr>
              <a:t> </a:t>
            </a:r>
            <a:r>
              <a:rPr lang="ko-KR" altLang="en-US" sz="4500" b="0" i="0" u="none" strike="noStrike" dirty="0">
                <a:solidFill>
                  <a:srgbClr val="08A5C1"/>
                </a:solidFill>
                <a:latin typeface="+mj-ea"/>
                <a:ea typeface="+mj-ea"/>
              </a:rPr>
              <a:t>연립</a:t>
            </a:r>
            <a:r>
              <a:rPr lang="en-US" altLang="ko-KR" sz="4500" b="0" i="0" u="none" strike="noStrike" dirty="0">
                <a:solidFill>
                  <a:srgbClr val="08A5C1"/>
                </a:solidFill>
                <a:latin typeface="+mj-ea"/>
                <a:ea typeface="+mj-ea"/>
              </a:rPr>
              <a:t>/</a:t>
            </a:r>
            <a:r>
              <a:rPr lang="ko-KR" sz="4500" b="0" i="0" u="none" strike="noStrike" dirty="0">
                <a:solidFill>
                  <a:srgbClr val="08A5C1"/>
                </a:solidFill>
                <a:latin typeface="+mj-ea"/>
                <a:ea typeface="+mj-ea"/>
              </a:rPr>
              <a:t>다세대</a:t>
            </a:r>
            <a:r>
              <a:rPr lang="en-US" sz="4500" b="0" i="0" u="none" strike="noStrike" dirty="0">
                <a:solidFill>
                  <a:srgbClr val="08A5C1"/>
                </a:solidFill>
                <a:latin typeface="+mj-ea"/>
                <a:ea typeface="+mj-ea"/>
              </a:rPr>
              <a:t> </a:t>
            </a:r>
            <a:r>
              <a:rPr lang="ko-KR" sz="4500" b="0" i="0" u="none" strike="noStrike" dirty="0">
                <a:solidFill>
                  <a:srgbClr val="08A5C1"/>
                </a:solidFill>
                <a:latin typeface="+mj-ea"/>
                <a:ea typeface="+mj-ea"/>
              </a:rPr>
              <a:t>주택을</a:t>
            </a:r>
            <a:r>
              <a:rPr lang="en-US" sz="4500" b="0" i="0" u="none" strike="noStrike" dirty="0">
                <a:solidFill>
                  <a:srgbClr val="08A5C1"/>
                </a:solidFill>
                <a:latin typeface="+mj-ea"/>
                <a:ea typeface="+mj-ea"/>
              </a:rPr>
              <a:t> </a:t>
            </a:r>
            <a:r>
              <a:rPr lang="ko-KR" sz="4500" b="0" i="0" u="none" strike="noStrike" dirty="0">
                <a:solidFill>
                  <a:srgbClr val="08A5C1"/>
                </a:solidFill>
                <a:latin typeface="+mj-ea"/>
                <a:ea typeface="+mj-ea"/>
              </a:rPr>
              <a:t>중심으로</a:t>
            </a:r>
            <a:r>
              <a:rPr lang="en-US" sz="4500" b="0" i="0" u="none" strike="noStrike" dirty="0">
                <a:solidFill>
                  <a:srgbClr val="08A5C1"/>
                </a:solidFill>
                <a:latin typeface="NanumGothic"/>
              </a:rPr>
              <a:t>-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6000" y="1409700"/>
            <a:ext cx="74041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2200" b="0" i="0" u="none" strike="noStrike" dirty="0">
                <a:solidFill>
                  <a:srgbClr val="FFFFFF"/>
                </a:solidFill>
                <a:ea typeface="NanumGothic"/>
              </a:rPr>
              <a:t>논문발표</a:t>
            </a:r>
            <a:endParaRPr lang="ko-KR" sz="2200" b="0" i="0" u="none" strike="noStrike" dirty="0">
              <a:solidFill>
                <a:srgbClr val="FFFFFF"/>
              </a:solidFill>
              <a:ea typeface="NanumGothic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39800" y="6629400"/>
            <a:ext cx="6426200" cy="1104900"/>
          </a:xfrm>
          <a:prstGeom prst="rect">
            <a:avLst/>
          </a:prstGeom>
          <a:effectLst>
            <a:outerShdw dist="16822" dir="2700000">
              <a:srgbClr val="000000">
                <a:alpha val="40000"/>
              </a:srgbClr>
            </a:outerShdw>
          </a:effectLst>
        </p:spPr>
        <p:txBody>
          <a:bodyPr lIns="0" tIns="0" rIns="0" bIns="0" rtlCol="0" anchor="t"/>
          <a:lstStyle/>
          <a:p>
            <a:pPr lvl="0" algn="ctr">
              <a:lnSpc>
                <a:spcPct val="155210"/>
              </a:lnSpc>
            </a:pPr>
            <a:r>
              <a:rPr lang="ko-KR" sz="2600" b="0" i="0" u="none" strike="noStrike" spc="400" dirty="0">
                <a:solidFill>
                  <a:srgbClr val="FFFFFF"/>
                </a:solidFill>
                <a:ea typeface="NanumGothic"/>
              </a:rPr>
              <a:t>지</a:t>
            </a:r>
            <a:r>
              <a:rPr lang="en-US" sz="2600" b="0" i="0" u="none" strike="noStrike" spc="400" dirty="0">
                <a:solidFill>
                  <a:srgbClr val="FFFFFF"/>
                </a:solidFill>
                <a:latin typeface="NanumGothic"/>
              </a:rPr>
              <a:t> </a:t>
            </a:r>
            <a:r>
              <a:rPr lang="ko-KR" sz="2600" b="0" i="0" u="none" strike="noStrike" spc="400" dirty="0">
                <a:solidFill>
                  <a:srgbClr val="FFFFFF"/>
                </a:solidFill>
                <a:ea typeface="NanumGothic"/>
              </a:rPr>
              <a:t>도</a:t>
            </a:r>
            <a:r>
              <a:rPr lang="en-US" sz="2600" b="0" i="0" u="none" strike="noStrike" spc="400" dirty="0">
                <a:solidFill>
                  <a:srgbClr val="FFFFFF"/>
                </a:solidFill>
                <a:latin typeface="NanumGothic"/>
              </a:rPr>
              <a:t> </a:t>
            </a:r>
            <a:r>
              <a:rPr lang="ko-KR" sz="2600" b="0" i="0" u="none" strike="noStrike" spc="400" dirty="0">
                <a:solidFill>
                  <a:srgbClr val="FFFFFF"/>
                </a:solidFill>
                <a:ea typeface="NanumGothic"/>
              </a:rPr>
              <a:t>교</a:t>
            </a:r>
            <a:r>
              <a:rPr lang="en-US" sz="2600" b="0" i="0" u="none" strike="noStrike" spc="400" dirty="0">
                <a:solidFill>
                  <a:srgbClr val="FFFFFF"/>
                </a:solidFill>
                <a:latin typeface="NanumGothic"/>
              </a:rPr>
              <a:t> </a:t>
            </a:r>
            <a:r>
              <a:rPr lang="ko-KR" sz="2600" b="0" i="0" u="none" strike="noStrike" spc="400" dirty="0">
                <a:solidFill>
                  <a:srgbClr val="FFFFFF"/>
                </a:solidFill>
                <a:ea typeface="NanumGothic"/>
              </a:rPr>
              <a:t>수</a:t>
            </a:r>
            <a:r>
              <a:rPr lang="en-US" sz="2600" b="0" i="0" u="none" strike="noStrike" spc="400" dirty="0">
                <a:solidFill>
                  <a:srgbClr val="FFFFFF"/>
                </a:solidFill>
                <a:latin typeface="NanumGothic"/>
              </a:rPr>
              <a:t>               </a:t>
            </a:r>
            <a:r>
              <a:rPr lang="ko-KR" sz="2600" b="0" i="0" u="none" strike="noStrike" spc="400" dirty="0">
                <a:solidFill>
                  <a:srgbClr val="FFFFFF"/>
                </a:solidFill>
                <a:ea typeface="NanumGothic"/>
              </a:rPr>
              <a:t>조</a:t>
            </a:r>
            <a:r>
              <a:rPr lang="en-US" sz="2600" b="0" i="0" u="none" strike="noStrike" spc="400" dirty="0">
                <a:solidFill>
                  <a:srgbClr val="FFFFFF"/>
                </a:solidFill>
                <a:latin typeface="NanumGothic"/>
              </a:rPr>
              <a:t> </a:t>
            </a:r>
            <a:r>
              <a:rPr lang="ko-KR" sz="2600" b="0" i="0" u="none" strike="noStrike" spc="400" dirty="0">
                <a:solidFill>
                  <a:srgbClr val="FFFFFF"/>
                </a:solidFill>
                <a:ea typeface="NanumGothic"/>
              </a:rPr>
              <a:t>미</a:t>
            </a:r>
            <a:r>
              <a:rPr lang="en-US" altLang="ko-KR" sz="2600" b="0" i="0" u="none" strike="noStrike" spc="400" dirty="0">
                <a:solidFill>
                  <a:srgbClr val="FFFFFF"/>
                </a:solidFill>
                <a:ea typeface="NanumGothic"/>
              </a:rPr>
              <a:t> </a:t>
            </a:r>
            <a:r>
              <a:rPr lang="ko-KR" altLang="en-US" sz="2600" b="0" i="0" u="none" strike="noStrike" spc="400" dirty="0">
                <a:solidFill>
                  <a:srgbClr val="FFFFFF"/>
                </a:solidFill>
                <a:ea typeface="NanumGothic"/>
              </a:rPr>
              <a:t>정</a:t>
            </a:r>
            <a:r>
              <a:rPr lang="en-US" sz="2600" b="0" i="0" u="none" strike="noStrike" spc="400" dirty="0">
                <a:solidFill>
                  <a:srgbClr val="FFFFFF"/>
                </a:solidFill>
                <a:latin typeface="NanumGothic"/>
              </a:rPr>
              <a:t> </a:t>
            </a:r>
            <a:r>
              <a:rPr lang="ko-KR" sz="2600" b="0" i="0" u="none" strike="noStrike" spc="400" dirty="0">
                <a:solidFill>
                  <a:srgbClr val="FFFFFF"/>
                </a:solidFill>
                <a:ea typeface="NanumGothic"/>
              </a:rPr>
              <a:t>도시부동산개발전공</a:t>
            </a:r>
            <a:r>
              <a:rPr lang="en-US" sz="2600" b="0" i="0" u="none" strike="noStrike" spc="400" dirty="0">
                <a:solidFill>
                  <a:srgbClr val="FFFFFF"/>
                </a:solidFill>
                <a:latin typeface="NanumGothic"/>
              </a:rPr>
              <a:t>     </a:t>
            </a:r>
            <a:r>
              <a:rPr lang="ko-KR" sz="2600" b="0" i="0" u="none" strike="noStrike" spc="400" dirty="0">
                <a:solidFill>
                  <a:srgbClr val="FFFFFF"/>
                </a:solidFill>
                <a:ea typeface="NanumGothic"/>
              </a:rPr>
              <a:t>양</a:t>
            </a:r>
            <a:r>
              <a:rPr lang="en-US" sz="2600" b="0" i="0" u="none" strike="noStrike" spc="400" dirty="0">
                <a:solidFill>
                  <a:srgbClr val="FFFFFF"/>
                </a:solidFill>
                <a:latin typeface="NanumGothic"/>
              </a:rPr>
              <a:t> </a:t>
            </a:r>
            <a:r>
              <a:rPr lang="ko-KR" sz="2600" b="0" i="0" u="none" strike="noStrike" spc="400" dirty="0">
                <a:solidFill>
                  <a:srgbClr val="FFFFFF"/>
                </a:solidFill>
                <a:ea typeface="NanumGothic"/>
              </a:rPr>
              <a:t>재</a:t>
            </a:r>
            <a:r>
              <a:rPr lang="en-US" sz="2600" b="0" i="0" u="none" strike="noStrike" spc="400" dirty="0">
                <a:solidFill>
                  <a:srgbClr val="FFFFFF"/>
                </a:solidFill>
                <a:latin typeface="NanumGothic"/>
              </a:rPr>
              <a:t> </a:t>
            </a:r>
            <a:r>
              <a:rPr lang="ko-KR" sz="2600" b="0" i="0" u="none" strike="noStrike" spc="400" dirty="0">
                <a:solidFill>
                  <a:srgbClr val="FFFFFF"/>
                </a:solidFill>
                <a:ea typeface="NanumGothic"/>
              </a:rPr>
              <a:t>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-647700"/>
            <a:ext cx="3314700" cy="3530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100" y="5359400"/>
            <a:ext cx="46736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500" y="5346700"/>
            <a:ext cx="46736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0900" y="5346700"/>
            <a:ext cx="46736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200" y="7569200"/>
            <a:ext cx="46736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600" y="7556500"/>
            <a:ext cx="4673600" cy="12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282700" y="5410200"/>
            <a:ext cx="1739900" cy="1485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8400" b="0" i="0" u="none" strike="noStrike">
                <a:solidFill>
                  <a:srgbClr val="393939"/>
                </a:solidFill>
                <a:latin typeface="Montserrat Medium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83100" y="5626100"/>
            <a:ext cx="15113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393939"/>
                </a:solidFill>
                <a:ea typeface="Pretendard SemiBold"/>
              </a:rPr>
              <a:t>서론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69100" y="5384800"/>
            <a:ext cx="1739900" cy="1485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8400" b="0" i="0" u="none" strike="noStrike">
                <a:solidFill>
                  <a:srgbClr val="393939"/>
                </a:solidFill>
                <a:latin typeface="Montserrat Medium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915400" y="5613400"/>
            <a:ext cx="25654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393939"/>
                </a:solidFill>
                <a:ea typeface="Pretendard SemiBold"/>
              </a:rPr>
              <a:t>이론</a:t>
            </a:r>
            <a:r>
              <a:rPr lang="en-US" sz="2800" b="0" i="0" u="none" strike="noStrike">
                <a:solidFill>
                  <a:srgbClr val="393939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393939"/>
                </a:solidFill>
                <a:ea typeface="Pretendard SemiBold"/>
              </a:rPr>
              <a:t>및</a:t>
            </a:r>
            <a:r>
              <a:rPr lang="en-US" sz="2800" b="0" i="0" u="none" strike="noStrike">
                <a:solidFill>
                  <a:srgbClr val="393939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393939"/>
                </a:solidFill>
                <a:ea typeface="Pretendard SemiBold"/>
              </a:rPr>
              <a:t>선행연구고찰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268200" y="5384800"/>
            <a:ext cx="1739900" cy="1485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8400" b="0" i="0" u="none" strike="noStrike">
                <a:solidFill>
                  <a:srgbClr val="393939"/>
                </a:solidFill>
                <a:latin typeface="Montserrat Medium"/>
              </a:rPr>
              <a:t>03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109700" y="5613400"/>
            <a:ext cx="28448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393939"/>
                </a:solidFill>
                <a:ea typeface="Pretendard SemiBold"/>
              </a:rPr>
              <a:t>분석의</a:t>
            </a:r>
            <a:r>
              <a:rPr lang="en-US" sz="2800" b="0" i="0" u="none" strike="noStrike">
                <a:solidFill>
                  <a:srgbClr val="393939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393939"/>
                </a:solidFill>
                <a:ea typeface="Pretendard SemiBold"/>
              </a:rPr>
              <a:t>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20800" y="7620000"/>
            <a:ext cx="1739900" cy="1485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8400" b="0" i="0" u="none" strike="noStrike">
                <a:solidFill>
                  <a:srgbClr val="393939"/>
                </a:solidFill>
                <a:latin typeface="Montserrat Medium"/>
              </a:rPr>
              <a:t>04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70200" y="7835900"/>
            <a:ext cx="31496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ko-KR" altLang="en-US" sz="2800" b="0" i="0" u="none" strike="noStrike" dirty="0">
                <a:solidFill>
                  <a:srgbClr val="393939"/>
                </a:solidFill>
                <a:ea typeface="Pretendard SemiBold"/>
              </a:rPr>
              <a:t>분석결과</a:t>
            </a:r>
            <a:endParaRPr lang="ko-KR" sz="2800" b="0" i="0" u="none" strike="noStrike" dirty="0">
              <a:solidFill>
                <a:srgbClr val="393939"/>
              </a:solidFill>
              <a:ea typeface="Pretendard Semi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819900" y="7594600"/>
            <a:ext cx="1739900" cy="1485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8400" b="0" i="0" u="none" strike="noStrike">
                <a:solidFill>
                  <a:srgbClr val="393939"/>
                </a:solidFill>
                <a:latin typeface="Montserrat Medium"/>
              </a:rPr>
              <a:t>05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661400" y="7823200"/>
            <a:ext cx="28448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ko-KR" altLang="en-US" sz="2800" b="0" i="0" u="none" strike="noStrike" dirty="0">
                <a:solidFill>
                  <a:srgbClr val="393939"/>
                </a:solidFill>
                <a:ea typeface="Pretendard SemiBold"/>
              </a:rPr>
              <a:t>결론</a:t>
            </a:r>
            <a:endParaRPr lang="en-US" altLang="ko-KR" sz="2800" b="0" i="0" u="none" strike="noStrike" dirty="0">
              <a:solidFill>
                <a:srgbClr val="393939"/>
              </a:solidFill>
              <a:ea typeface="Pretendard Semi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2039600" y="2286000"/>
            <a:ext cx="49149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ko-KR" sz="9500" b="0" i="0" u="none" strike="noStrike">
                <a:solidFill>
                  <a:srgbClr val="08A5C1"/>
                </a:solidFill>
                <a:ea typeface="Pretendard Bold"/>
              </a:rPr>
              <a:t>목차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39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2700" y="3657600"/>
            <a:ext cx="6019800" cy="61722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-2209800" y="2260600"/>
            <a:ext cx="8280400" cy="4597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5900" b="0" i="0" u="none" strike="noStrike" dirty="0">
                <a:solidFill>
                  <a:srgbClr val="08A5C1"/>
                </a:solidFill>
                <a:latin typeface="Montserrat SemiBold"/>
              </a:rPr>
              <a:t>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53000" y="4660900"/>
            <a:ext cx="9829800" cy="1041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34460"/>
              </a:lnSpc>
              <a:buAutoNum type="arabicPeriod"/>
            </a:pPr>
            <a:r>
              <a:rPr lang="ko-KR" sz="2600" b="0" i="0" u="none" strike="noStrike" dirty="0">
                <a:solidFill>
                  <a:srgbClr val="FFFFFF"/>
                </a:solidFill>
                <a:ea typeface="Pretendard Light"/>
              </a:rPr>
              <a:t>연구의</a:t>
            </a:r>
            <a:r>
              <a:rPr lang="en-US" sz="2600" b="0" i="0" u="none" strike="noStrike" dirty="0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600" b="0" i="0" u="none" strike="noStrike" dirty="0">
                <a:solidFill>
                  <a:srgbClr val="FFFFFF"/>
                </a:solidFill>
                <a:ea typeface="Pretendard Light"/>
              </a:rPr>
              <a:t>배경</a:t>
            </a:r>
            <a:r>
              <a:rPr lang="en-US" sz="2600" b="0" i="0" u="none" strike="noStrike" dirty="0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600" b="0" i="0" u="none" strike="noStrike" dirty="0">
                <a:solidFill>
                  <a:srgbClr val="FFFFFF"/>
                </a:solidFill>
                <a:ea typeface="Pretendard Light"/>
              </a:rPr>
              <a:t>및</a:t>
            </a:r>
            <a:r>
              <a:rPr lang="en-US" sz="2600" b="0" i="0" u="none" strike="noStrike" dirty="0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600" b="0" i="0" u="none" strike="noStrike" dirty="0">
                <a:solidFill>
                  <a:srgbClr val="FFFFFF"/>
                </a:solidFill>
                <a:ea typeface="Pretendard Light"/>
              </a:rPr>
              <a:t>목적</a:t>
            </a:r>
          </a:p>
          <a:p>
            <a:pPr marL="342900" lvl="0" indent="-342900" algn="l">
              <a:lnSpc>
                <a:spcPct val="134460"/>
              </a:lnSpc>
              <a:buAutoNum type="arabicPeriod"/>
            </a:pPr>
            <a:r>
              <a:rPr lang="ko-KR" sz="2600" b="0" i="0" u="none" strike="noStrike" dirty="0">
                <a:solidFill>
                  <a:srgbClr val="FFFFFF"/>
                </a:solidFill>
                <a:ea typeface="Pretendard Light"/>
              </a:rPr>
              <a:t>연구의</a:t>
            </a:r>
            <a:r>
              <a:rPr lang="en-US" sz="2600" b="0" i="0" u="none" strike="noStrike" dirty="0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600" b="0" i="0" u="none" strike="noStrike" dirty="0">
                <a:solidFill>
                  <a:srgbClr val="FFFFFF"/>
                </a:solidFill>
                <a:ea typeface="Pretendard Light"/>
              </a:rPr>
              <a:t>범위</a:t>
            </a:r>
            <a:r>
              <a:rPr lang="en-US" sz="2600" b="0" i="0" u="none" strike="noStrike" dirty="0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600" b="0" i="0" u="none" strike="noStrike" dirty="0">
                <a:solidFill>
                  <a:srgbClr val="FFFFFF"/>
                </a:solidFill>
                <a:ea typeface="Pretendard Light"/>
              </a:rPr>
              <a:t>및</a:t>
            </a:r>
            <a:r>
              <a:rPr lang="en-US" sz="2600" b="0" i="0" u="none" strike="noStrike" dirty="0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600" b="0" i="0" u="none" strike="noStrike" dirty="0">
                <a:solidFill>
                  <a:srgbClr val="FFFFFF"/>
                </a:solidFill>
                <a:ea typeface="Pretendard Light"/>
              </a:rPr>
              <a:t>방법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953000" y="2933700"/>
            <a:ext cx="12433300" cy="154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8800" b="0" i="0" u="none" strike="noStrike">
                <a:solidFill>
                  <a:srgbClr val="FFFFFF"/>
                </a:solidFill>
                <a:ea typeface="Pretendard Bold"/>
              </a:rPr>
              <a:t>서론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1422400"/>
            <a:ext cx="16802100" cy="472041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9537700" y="7505700"/>
            <a:ext cx="3733800" cy="2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965200" y="1409700"/>
            <a:ext cx="342900" cy="3429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308100" y="1485900"/>
            <a:ext cx="16319500" cy="317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sz="3000" b="1" i="0" u="none" strike="noStrike" dirty="0">
                <a:solidFill>
                  <a:srgbClr val="040000"/>
                </a:solidFill>
                <a:ea typeface="조선가는고딕"/>
              </a:rPr>
              <a:t>서울시</a:t>
            </a:r>
            <a:r>
              <a:rPr lang="en-US" sz="3000" b="1" i="0" u="none" strike="noStrike" dirty="0">
                <a:solidFill>
                  <a:srgbClr val="040000"/>
                </a:solidFill>
                <a:latin typeface="조선가는고딕"/>
              </a:rPr>
              <a:t> 1</a:t>
            </a:r>
            <a:r>
              <a:rPr lang="ko-KR" sz="3000" b="1" i="0" u="none" strike="noStrike" dirty="0">
                <a:solidFill>
                  <a:srgbClr val="040000"/>
                </a:solidFill>
                <a:ea typeface="조선가는고딕"/>
              </a:rPr>
              <a:t>인</a:t>
            </a:r>
            <a:r>
              <a:rPr lang="en-US" sz="3000" b="1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3000" b="1" i="0" u="none" strike="noStrike" dirty="0">
                <a:solidFill>
                  <a:srgbClr val="040000"/>
                </a:solidFill>
                <a:ea typeface="조선가는고딕"/>
              </a:rPr>
              <a:t>가구</a:t>
            </a:r>
            <a:r>
              <a:rPr lang="en-US" sz="3000" b="1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3000" b="1" i="0" u="none" strike="noStrike" dirty="0">
                <a:solidFill>
                  <a:srgbClr val="040000"/>
                </a:solidFill>
                <a:ea typeface="조선가는고딕"/>
              </a:rPr>
              <a:t>증가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: 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 panose="020B0600000101010101" charset="-127"/>
                <a:ea typeface="조선가는고딕" panose="020B0600000101010101" charset="-127"/>
              </a:rPr>
              <a:t>2019</a:t>
            </a:r>
            <a:r>
              <a:rPr lang="ko-KR" sz="3000" b="0" i="0" u="none" strike="noStrike" dirty="0">
                <a:solidFill>
                  <a:srgbClr val="040000"/>
                </a:solidFill>
                <a:latin typeface="조선가는고딕" panose="020B0600000101010101" charset="-127"/>
                <a:ea typeface="조선가는고딕" panose="020B0600000101010101" charset="-127"/>
              </a:rPr>
              <a:t>년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 panose="020B0600000101010101" charset="-127"/>
                <a:ea typeface="조선가는고딕" panose="020B0600000101010101" charset="-127"/>
              </a:rPr>
              <a:t> </a:t>
            </a:r>
            <a:r>
              <a:rPr lang="ko-KR" sz="3000" b="0" i="0" u="none" strike="noStrike" dirty="0">
                <a:solidFill>
                  <a:srgbClr val="040000"/>
                </a:solidFill>
                <a:latin typeface="조선가는고딕" panose="020B0600000101010101" charset="-127"/>
                <a:ea typeface="조선가는고딕" panose="020B0600000101010101" charset="-127"/>
              </a:rPr>
              <a:t>기준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 panose="020B0600000101010101" charset="-127"/>
                <a:ea typeface="조선가는고딕" panose="020B0600000101010101" charset="-127"/>
              </a:rPr>
              <a:t> 1</a:t>
            </a:r>
            <a:r>
              <a:rPr lang="ko-KR" altLang="en-US" sz="3000" b="0" i="0" u="none" strike="noStrike" dirty="0" err="1">
                <a:solidFill>
                  <a:srgbClr val="040000"/>
                </a:solidFill>
                <a:latin typeface="조선가는고딕" panose="020B0600000101010101" charset="-127"/>
                <a:ea typeface="조선가는고딕" panose="020B0600000101010101" charset="-127"/>
              </a:rPr>
              <a:t>인가구</a:t>
            </a:r>
            <a:r>
              <a:rPr lang="ko-KR" altLang="en-US" sz="3000" b="0" i="0" u="none" strike="noStrike" dirty="0">
                <a:solidFill>
                  <a:srgbClr val="040000"/>
                </a:solidFill>
                <a:latin typeface="조선가는고딕" panose="020B0600000101010101" charset="-127"/>
                <a:ea typeface="조선가는고딕" panose="020B0600000101010101" charset="-127"/>
              </a:rPr>
              <a:t> 비율</a:t>
            </a:r>
            <a:r>
              <a:rPr lang="en-US" altLang="ko-KR" sz="3000" dirty="0">
                <a:solidFill>
                  <a:srgbClr val="040000"/>
                </a:solidFill>
                <a:latin typeface="조선가는고딕" panose="020B0600000101010101" charset="-127"/>
                <a:ea typeface="조선가는고딕" panose="020B0600000101010101" charset="-127"/>
              </a:rPr>
              <a:t>(</a:t>
            </a:r>
            <a:r>
              <a:rPr lang="ko-KR" altLang="en-US" sz="3000" dirty="0">
                <a:solidFill>
                  <a:srgbClr val="040000"/>
                </a:solidFill>
                <a:latin typeface="조선가는고딕" panose="020B0600000101010101" charset="-127"/>
                <a:ea typeface="조선가는고딕" panose="020B0600000101010101" charset="-127"/>
              </a:rPr>
              <a:t>서울</a:t>
            </a:r>
            <a:r>
              <a:rPr lang="en-US" altLang="ko-KR" sz="3000" dirty="0">
                <a:solidFill>
                  <a:srgbClr val="040000"/>
                </a:solidFill>
                <a:latin typeface="조선가는고딕" panose="020B0600000101010101" charset="-127"/>
                <a:ea typeface="조선가는고딕" panose="020B0600000101010101" charset="-127"/>
              </a:rPr>
              <a:t>)</a:t>
            </a:r>
            <a:r>
              <a:rPr lang="ko-KR" altLang="en-US" sz="3000" dirty="0">
                <a:solidFill>
                  <a:srgbClr val="040000"/>
                </a:solidFill>
                <a:latin typeface="조선가는고딕" panose="020B0600000101010101" charset="-127"/>
                <a:ea typeface="조선가는고딕" panose="020B0600000101010101" charset="-127"/>
              </a:rPr>
              <a:t>이 </a:t>
            </a:r>
            <a:r>
              <a:rPr lang="en-US" altLang="ko-KR" sz="3000" dirty="0">
                <a:solidFill>
                  <a:srgbClr val="040000"/>
                </a:solidFill>
                <a:latin typeface="조선가는고딕" panose="020B0600000101010101" charset="-127"/>
                <a:ea typeface="조선가는고딕" panose="020B0600000101010101" charset="-127"/>
              </a:rPr>
              <a:t>33% </a:t>
            </a:r>
            <a:r>
              <a:rPr lang="ko-KR" altLang="en-US" sz="3000" dirty="0">
                <a:solidFill>
                  <a:srgbClr val="040000"/>
                </a:solidFill>
                <a:latin typeface="조선가는고딕" panose="020B0600000101010101" charset="-127"/>
                <a:ea typeface="조선가는고딕" panose="020B0600000101010101" charset="-127"/>
              </a:rPr>
              <a:t>였으나</a:t>
            </a:r>
            <a:r>
              <a:rPr lang="en-US" altLang="ko-KR" sz="3000" dirty="0">
                <a:solidFill>
                  <a:srgbClr val="040000"/>
                </a:solidFill>
                <a:latin typeface="조선가는고딕" panose="020B0600000101010101" charset="-127"/>
                <a:ea typeface="조선가는고딕" panose="020B0600000101010101" charset="-127"/>
              </a:rPr>
              <a:t>,23</a:t>
            </a:r>
            <a:r>
              <a:rPr lang="ko-KR" altLang="en-US" sz="3000" dirty="0">
                <a:solidFill>
                  <a:srgbClr val="040000"/>
                </a:solidFill>
                <a:latin typeface="조선가는고딕" panose="020B0600000101010101" charset="-127"/>
                <a:ea typeface="조선가는고딕" panose="020B0600000101010101" charset="-127"/>
              </a:rPr>
              <a:t>년 기준 </a:t>
            </a:r>
            <a:r>
              <a:rPr lang="en-US" altLang="ko-KR" sz="3000" dirty="0">
                <a:solidFill>
                  <a:srgbClr val="040000"/>
                </a:solidFill>
                <a:latin typeface="조선가는고딕" panose="020B0600000101010101" charset="-127"/>
                <a:ea typeface="조선가는고딕" panose="020B0600000101010101" charset="-127"/>
              </a:rPr>
              <a:t>39%</a:t>
            </a:r>
            <a:r>
              <a:rPr lang="ko-KR" altLang="en-US" sz="3000" dirty="0">
                <a:solidFill>
                  <a:srgbClr val="040000"/>
                </a:solidFill>
                <a:latin typeface="조선가는고딕" panose="020B0600000101010101" charset="-127"/>
                <a:ea typeface="조선가는고딕" panose="020B0600000101010101" charset="-127"/>
              </a:rPr>
              <a:t>까지 상승하여 점차 상승 추세임</a:t>
            </a:r>
            <a:r>
              <a:rPr lang="en-US" altLang="ko-KR" sz="3000" dirty="0">
                <a:solidFill>
                  <a:srgbClr val="040000"/>
                </a:solidFill>
                <a:latin typeface="조선가는고딕" panose="020B0600000101010101" charset="-127"/>
                <a:ea typeface="조선가는고딕" panose="020B0600000101010101" charset="-127"/>
              </a:rPr>
              <a:t>.(KOSIS)</a:t>
            </a:r>
          </a:p>
          <a:p>
            <a:pPr marL="342900" lvl="0" indent="-342900" algn="l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sz="3000" b="1" i="0" u="none" strike="noStrike" dirty="0">
                <a:solidFill>
                  <a:srgbClr val="040000"/>
                </a:solidFill>
                <a:ea typeface="조선가는고딕"/>
              </a:rPr>
              <a:t>주거</a:t>
            </a:r>
            <a:r>
              <a:rPr lang="en-US" sz="3000" b="1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3000" b="1" i="0" u="none" strike="noStrike" dirty="0">
                <a:solidFill>
                  <a:srgbClr val="040000"/>
                </a:solidFill>
                <a:ea typeface="조선가는고딕"/>
              </a:rPr>
              <a:t>불안정성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: </a:t>
            </a:r>
            <a:r>
              <a:rPr lang="ko-KR" sz="3000" b="0" i="0" u="none" strike="noStrike" dirty="0">
                <a:solidFill>
                  <a:srgbClr val="040000"/>
                </a:solidFill>
                <a:ea typeface="조선가는고딕"/>
              </a:rPr>
              <a:t>청년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3000" b="0" i="0" u="none" strike="noStrike" dirty="0">
                <a:solidFill>
                  <a:srgbClr val="040000"/>
                </a:solidFill>
                <a:ea typeface="조선가는고딕"/>
              </a:rPr>
              <a:t>가구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3000" b="0" i="0" u="none" strike="noStrike" dirty="0">
                <a:solidFill>
                  <a:srgbClr val="040000"/>
                </a:solidFill>
                <a:ea typeface="조선가는고딕"/>
              </a:rPr>
              <a:t>중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 81.6%</a:t>
            </a:r>
            <a:r>
              <a:rPr lang="ko-KR" sz="3000" b="0" i="0" u="none" strike="noStrike" dirty="0">
                <a:solidFill>
                  <a:srgbClr val="040000"/>
                </a:solidFill>
                <a:ea typeface="조선가는고딕"/>
              </a:rPr>
              <a:t>가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3000" b="0" i="0" u="none" strike="noStrike" dirty="0">
                <a:solidFill>
                  <a:srgbClr val="040000"/>
                </a:solidFill>
                <a:ea typeface="조선가는고딕"/>
              </a:rPr>
              <a:t>임차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3000" b="0" i="0" u="none" strike="noStrike" dirty="0">
                <a:solidFill>
                  <a:srgbClr val="040000"/>
                </a:solidFill>
                <a:ea typeface="조선가는고딕"/>
              </a:rPr>
              <a:t>가구이며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, 14.2%</a:t>
            </a:r>
            <a:r>
              <a:rPr lang="ko-KR" sz="3000" b="0" i="0" u="none" strike="noStrike" dirty="0">
                <a:solidFill>
                  <a:srgbClr val="040000"/>
                </a:solidFill>
                <a:ea typeface="조선가는고딕"/>
              </a:rPr>
              <a:t>가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3000" b="0" i="0" u="none" strike="noStrike" dirty="0" err="1">
                <a:solidFill>
                  <a:srgbClr val="040000"/>
                </a:solidFill>
                <a:ea typeface="조선가는고딕"/>
              </a:rPr>
              <a:t>비주택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(</a:t>
            </a:r>
            <a:r>
              <a:rPr lang="ko-KR" sz="3000" b="0" i="0" u="none" strike="noStrike" dirty="0">
                <a:solidFill>
                  <a:srgbClr val="040000"/>
                </a:solidFill>
                <a:ea typeface="조선가는고딕"/>
              </a:rPr>
              <a:t>고시원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, </a:t>
            </a:r>
            <a:r>
              <a:rPr lang="ko-KR" sz="3000" b="0" i="0" u="none" strike="noStrike" dirty="0">
                <a:solidFill>
                  <a:srgbClr val="040000"/>
                </a:solidFill>
                <a:ea typeface="조선가는고딕"/>
              </a:rPr>
              <a:t>오피스텔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3000" b="0" i="0" u="none" strike="noStrike" dirty="0">
                <a:solidFill>
                  <a:srgbClr val="040000"/>
                </a:solidFill>
                <a:ea typeface="조선가는고딕"/>
              </a:rPr>
              <a:t>등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)</a:t>
            </a:r>
            <a:r>
              <a:rPr lang="ko-KR" sz="3000" b="0" i="0" u="none" strike="noStrike" dirty="0">
                <a:solidFill>
                  <a:srgbClr val="040000"/>
                </a:solidFill>
                <a:ea typeface="조선가는고딕"/>
              </a:rPr>
              <a:t>에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3000" b="0" i="0" u="none" strike="noStrike" dirty="0">
                <a:solidFill>
                  <a:srgbClr val="040000"/>
                </a:solidFill>
                <a:ea typeface="조선가는고딕"/>
              </a:rPr>
              <a:t>거주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(</a:t>
            </a:r>
            <a:r>
              <a:rPr lang="ko-KR" sz="3000" b="0" i="0" u="none" strike="noStrike" dirty="0">
                <a:solidFill>
                  <a:srgbClr val="040000"/>
                </a:solidFill>
                <a:ea typeface="조선가는고딕"/>
              </a:rPr>
              <a:t>주거실태조사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, 2022).</a:t>
            </a:r>
          </a:p>
          <a:p>
            <a:pPr marL="342900" lvl="0" indent="-342900" algn="l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sz="3000" b="1" i="0" u="none" strike="noStrike" dirty="0">
                <a:solidFill>
                  <a:srgbClr val="040000"/>
                </a:solidFill>
                <a:ea typeface="조선가는고딕"/>
              </a:rPr>
              <a:t>다양한</a:t>
            </a:r>
            <a:r>
              <a:rPr lang="en-US" sz="3000" b="1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3000" b="1" i="0" u="none" strike="noStrike" dirty="0">
                <a:solidFill>
                  <a:srgbClr val="040000"/>
                </a:solidFill>
                <a:ea typeface="조선가는고딕"/>
              </a:rPr>
              <a:t>문제</a:t>
            </a:r>
            <a:r>
              <a:rPr lang="en-US" sz="3000" b="1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3000" b="1" i="0" u="none" strike="noStrike" dirty="0">
                <a:solidFill>
                  <a:srgbClr val="040000"/>
                </a:solidFill>
                <a:ea typeface="조선가는고딕"/>
              </a:rPr>
              <a:t>발생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: </a:t>
            </a:r>
            <a:r>
              <a:rPr lang="en-US" altLang="ko-KR" sz="3000" b="0" i="0" u="none" strike="noStrike" dirty="0">
                <a:solidFill>
                  <a:srgbClr val="040000"/>
                </a:solidFill>
                <a:ea typeface="조선가는고딕"/>
              </a:rPr>
              <a:t>1</a:t>
            </a:r>
            <a:r>
              <a:rPr lang="ko-KR" altLang="en-US" sz="3000" b="0" i="0" u="none" strike="noStrike" dirty="0" err="1">
                <a:solidFill>
                  <a:srgbClr val="040000"/>
                </a:solidFill>
                <a:ea typeface="조선가는고딕"/>
              </a:rPr>
              <a:t>인가구</a:t>
            </a:r>
            <a:r>
              <a:rPr lang="ko-KR" altLang="en-US" sz="3000" b="0" i="0" u="none" strike="noStrike" dirty="0">
                <a:solidFill>
                  <a:srgbClr val="040000"/>
                </a:solidFill>
                <a:ea typeface="조선가는고딕"/>
              </a:rPr>
              <a:t> 증가는 청년층의 주거비 부담</a:t>
            </a:r>
            <a:r>
              <a:rPr lang="en-US" altLang="ko-KR" sz="3000" b="0" i="0" u="none" strike="noStrike" dirty="0">
                <a:solidFill>
                  <a:srgbClr val="040000"/>
                </a:solidFill>
                <a:ea typeface="조선가는고딕"/>
              </a:rPr>
              <a:t>,</a:t>
            </a:r>
            <a:r>
              <a:rPr lang="ko-KR" altLang="en-US" sz="3000" b="0" i="0" u="none" strike="noStrike" dirty="0">
                <a:solidFill>
                  <a:srgbClr val="040000"/>
                </a:solidFill>
                <a:ea typeface="조선가는고딕"/>
              </a:rPr>
              <a:t> </a:t>
            </a:r>
            <a:r>
              <a:rPr lang="en-US" altLang="ko-KR" sz="3000" b="0" i="0" u="none" strike="noStrike" dirty="0">
                <a:solidFill>
                  <a:srgbClr val="040000"/>
                </a:solidFill>
                <a:ea typeface="조선가는고딕"/>
              </a:rPr>
              <a:t>50,60</a:t>
            </a:r>
            <a:r>
              <a:rPr lang="ko-KR" altLang="en-US" sz="3000" b="0" i="0" u="none" strike="noStrike" dirty="0">
                <a:solidFill>
                  <a:srgbClr val="040000"/>
                </a:solidFill>
                <a:ea typeface="조선가는고딕"/>
              </a:rPr>
              <a:t>대의 </a:t>
            </a:r>
            <a:r>
              <a:rPr lang="ko-KR" altLang="en-US" sz="3000" b="0" i="0" u="none" strike="noStrike" dirty="0" err="1">
                <a:solidFill>
                  <a:srgbClr val="040000"/>
                </a:solidFill>
                <a:ea typeface="조선가는고딕"/>
              </a:rPr>
              <a:t>고독사</a:t>
            </a:r>
            <a:r>
              <a:rPr lang="ko-KR" altLang="en-US" sz="3000" b="0" i="0" u="none" strike="noStrike" dirty="0">
                <a:solidFill>
                  <a:srgbClr val="040000"/>
                </a:solidFill>
                <a:ea typeface="조선가는고딕"/>
              </a:rPr>
              <a:t> 문제 등 여러 사회문제를 야기함</a:t>
            </a:r>
            <a:r>
              <a:rPr lang="en-US" altLang="ko-KR" sz="3000" b="0" i="0" u="none" strike="noStrike" dirty="0">
                <a:solidFill>
                  <a:srgbClr val="040000"/>
                </a:solidFill>
                <a:ea typeface="조선가는고딕"/>
              </a:rPr>
              <a:t>.</a:t>
            </a:r>
            <a:endParaRPr lang="ko-KR" sz="3000" b="0" i="0" u="none" strike="noStrike" dirty="0">
              <a:solidFill>
                <a:srgbClr val="040000"/>
              </a:solidFill>
              <a:ea typeface="조선가는고딕"/>
            </a:endParaRPr>
          </a:p>
          <a:p>
            <a:pPr marL="342900" lvl="0" indent="-342900" algn="l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sz="3000" b="1" i="0" u="none" strike="noStrike" dirty="0">
                <a:solidFill>
                  <a:srgbClr val="040000"/>
                </a:solidFill>
                <a:ea typeface="조선가는고딕"/>
              </a:rPr>
              <a:t>청년안심주택</a:t>
            </a:r>
            <a:r>
              <a:rPr lang="en-US" sz="3000" b="1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3000" b="1" i="0" u="none" strike="noStrike" dirty="0">
                <a:solidFill>
                  <a:srgbClr val="040000"/>
                </a:solidFill>
                <a:ea typeface="조선가는고딕"/>
              </a:rPr>
              <a:t>도입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: </a:t>
            </a:r>
            <a:r>
              <a:rPr lang="ko-KR" sz="3000" b="0" i="0" u="none" strike="noStrike" dirty="0">
                <a:solidFill>
                  <a:srgbClr val="040000"/>
                </a:solidFill>
                <a:ea typeface="조선가는고딕"/>
              </a:rPr>
              <a:t>서울시는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altLang="en-US" sz="3000" b="0" i="0" u="none" strike="noStrike" dirty="0">
                <a:solidFill>
                  <a:srgbClr val="040000"/>
                </a:solidFill>
                <a:latin typeface="조선가는고딕" panose="020B0600000101010101" charset="-127"/>
                <a:ea typeface="조선가는고딕" panose="020B0600000101010101" charset="-127"/>
              </a:rPr>
              <a:t>청년</a:t>
            </a:r>
            <a:r>
              <a:rPr lang="en-US" altLang="ko-KR" sz="3000" b="0" i="0" u="none" strike="noStrike" dirty="0">
                <a:solidFill>
                  <a:srgbClr val="040000"/>
                </a:solidFill>
                <a:latin typeface="조선가는고딕" panose="020B0600000101010101" charset="-127"/>
                <a:ea typeface="조선가는고딕" panose="020B0600000101010101" charset="-127"/>
              </a:rPr>
              <a:t>, </a:t>
            </a:r>
            <a:r>
              <a:rPr lang="ko-KR" altLang="en-US" sz="3000" b="0" i="0" u="none" strike="noStrike" dirty="0">
                <a:solidFill>
                  <a:srgbClr val="040000"/>
                </a:solidFill>
                <a:latin typeface="조선가는고딕" panose="020B0600000101010101" charset="-127"/>
                <a:ea typeface="조선가는고딕" panose="020B0600000101010101" charset="-127"/>
              </a:rPr>
              <a:t>신혼부부의 주거안정을 위해 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 panose="020B0600000101010101" charset="-127"/>
                <a:ea typeface="조선가는고딕" panose="020B0600000101010101" charset="-127"/>
              </a:rPr>
              <a:t>2016</a:t>
            </a:r>
            <a:r>
              <a:rPr lang="ko-KR" sz="3000" b="0" i="0" u="none" strike="noStrike" dirty="0">
                <a:solidFill>
                  <a:srgbClr val="040000"/>
                </a:solidFill>
                <a:ea typeface="조선가는고딕"/>
              </a:rPr>
              <a:t>년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3000" b="0" i="0" u="none" strike="noStrike" dirty="0">
                <a:solidFill>
                  <a:srgbClr val="040000"/>
                </a:solidFill>
                <a:ea typeface="조선가는고딕"/>
              </a:rPr>
              <a:t>역세권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3000" b="0" i="0" u="none" strike="noStrike" dirty="0">
                <a:solidFill>
                  <a:srgbClr val="040000"/>
                </a:solidFill>
                <a:ea typeface="조선가는고딕"/>
              </a:rPr>
              <a:t>청년주택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3000" b="0" i="0" u="none" strike="noStrike" dirty="0">
                <a:solidFill>
                  <a:srgbClr val="040000"/>
                </a:solidFill>
                <a:ea typeface="조선가는고딕"/>
              </a:rPr>
              <a:t>사업을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3000" b="0" i="0" u="none" strike="noStrike" dirty="0">
                <a:solidFill>
                  <a:srgbClr val="040000"/>
                </a:solidFill>
                <a:ea typeface="조선가는고딕"/>
              </a:rPr>
              <a:t>시작했으며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, 2026</a:t>
            </a:r>
            <a:r>
              <a:rPr lang="ko-KR" sz="3000" b="0" i="0" u="none" strike="noStrike" dirty="0">
                <a:solidFill>
                  <a:srgbClr val="040000"/>
                </a:solidFill>
                <a:ea typeface="조선가는고딕"/>
              </a:rPr>
              <a:t>년까지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 6.5</a:t>
            </a:r>
            <a:r>
              <a:rPr lang="ko-KR" sz="3000" b="0" i="0" u="none" strike="noStrike" dirty="0">
                <a:solidFill>
                  <a:srgbClr val="040000"/>
                </a:solidFill>
                <a:ea typeface="조선가는고딕"/>
              </a:rPr>
              <a:t>만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3000" b="0" i="0" u="none" strike="noStrike" dirty="0">
                <a:solidFill>
                  <a:srgbClr val="040000"/>
                </a:solidFill>
                <a:ea typeface="조선가는고딕"/>
              </a:rPr>
              <a:t>호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3000" b="0" i="0" u="none" strike="noStrike" dirty="0">
                <a:solidFill>
                  <a:srgbClr val="040000"/>
                </a:solidFill>
                <a:ea typeface="조선가는고딕"/>
              </a:rPr>
              <a:t>공급을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3000" b="0" i="0" u="none" strike="noStrike" dirty="0">
                <a:solidFill>
                  <a:srgbClr val="040000"/>
                </a:solidFill>
                <a:ea typeface="조선가는고딕"/>
              </a:rPr>
              <a:t>목표로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3000" b="0" i="0" u="none" strike="noStrike" dirty="0">
                <a:solidFill>
                  <a:srgbClr val="040000"/>
                </a:solidFill>
                <a:ea typeface="조선가는고딕"/>
              </a:rPr>
              <a:t>정책을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3000" b="0" i="0" u="none" strike="noStrike" dirty="0">
                <a:solidFill>
                  <a:srgbClr val="040000"/>
                </a:solidFill>
                <a:ea typeface="조선가는고딕"/>
              </a:rPr>
              <a:t>확대해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3000" b="0" i="0" u="none" strike="noStrike" dirty="0">
                <a:solidFill>
                  <a:srgbClr val="040000"/>
                </a:solidFill>
                <a:ea typeface="조선가는고딕"/>
              </a:rPr>
              <a:t>청년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3000" b="0" i="0" u="none" strike="noStrike" dirty="0">
                <a:solidFill>
                  <a:srgbClr val="040000"/>
                </a:solidFill>
                <a:ea typeface="조선가는고딕"/>
              </a:rPr>
              <a:t>주거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3000" b="0" i="0" u="none" strike="noStrike" dirty="0">
                <a:solidFill>
                  <a:srgbClr val="040000"/>
                </a:solidFill>
                <a:ea typeface="조선가는고딕"/>
              </a:rPr>
              <a:t>안정을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3000" b="0" i="0" u="none" strike="noStrike" dirty="0">
                <a:solidFill>
                  <a:srgbClr val="040000"/>
                </a:solidFill>
                <a:ea typeface="조선가는고딕"/>
              </a:rPr>
              <a:t>도모하고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3000" b="0" i="0" u="none" strike="noStrike" dirty="0">
                <a:solidFill>
                  <a:srgbClr val="040000"/>
                </a:solidFill>
                <a:ea typeface="조선가는고딕"/>
              </a:rPr>
              <a:t>있음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24000" y="736600"/>
            <a:ext cx="54356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3100" b="0" i="0" u="none" strike="noStrike" dirty="0">
                <a:solidFill>
                  <a:srgbClr val="393939"/>
                </a:solidFill>
                <a:ea typeface="Pretendard Bold"/>
              </a:rPr>
              <a:t>연구의</a:t>
            </a:r>
            <a:r>
              <a:rPr lang="en-US" sz="3100" b="0" i="0" u="none" strike="noStrike" dirty="0">
                <a:solidFill>
                  <a:srgbClr val="393939"/>
                </a:solidFill>
                <a:latin typeface="Pretendard Bold"/>
              </a:rPr>
              <a:t> </a:t>
            </a:r>
            <a:r>
              <a:rPr lang="ko-KR" sz="3100" b="0" i="0" u="none" strike="noStrike" dirty="0">
                <a:solidFill>
                  <a:srgbClr val="393939"/>
                </a:solidFill>
                <a:ea typeface="Pretendard Bold"/>
              </a:rPr>
              <a:t>배경</a:t>
            </a:r>
            <a:r>
              <a:rPr lang="en-US" altLang="ko-KR" sz="3100" b="0" i="0" u="none" strike="noStrike" dirty="0">
                <a:solidFill>
                  <a:srgbClr val="393939"/>
                </a:solidFill>
                <a:ea typeface="Pretendard Bold"/>
              </a:rPr>
              <a:t> </a:t>
            </a:r>
            <a:r>
              <a:rPr lang="ko-KR" altLang="en-US" sz="3100" b="0" i="0" u="none" strike="noStrike" dirty="0">
                <a:solidFill>
                  <a:srgbClr val="393939"/>
                </a:solidFill>
                <a:ea typeface="Pretendard Bold"/>
              </a:rPr>
              <a:t>및 목적</a:t>
            </a:r>
            <a:endParaRPr lang="ko-KR" sz="3100" b="0" i="0" u="none" strike="noStrike" dirty="0">
              <a:solidFill>
                <a:srgbClr val="393939"/>
              </a:solidFill>
              <a:ea typeface="Pretendard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89000" y="723900"/>
            <a:ext cx="7239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100" dirty="0">
                <a:solidFill>
                  <a:srgbClr val="08A5C1"/>
                </a:solidFill>
                <a:latin typeface="Montserrat Bold"/>
              </a:rPr>
              <a:t>1</a:t>
            </a:r>
            <a:r>
              <a:rPr lang="ko-KR" altLang="en-US" sz="3100" dirty="0">
                <a:solidFill>
                  <a:srgbClr val="08A5C1"/>
                </a:solidFill>
                <a:latin typeface="Montserrat Bold"/>
              </a:rPr>
              <a:t>절</a:t>
            </a:r>
            <a:endParaRPr lang="en-US" sz="3100" b="0" i="0" u="none" strike="noStrike" dirty="0">
              <a:solidFill>
                <a:srgbClr val="08A5C1"/>
              </a:solidFill>
              <a:latin typeface="Montserrat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23109" y="6381931"/>
            <a:ext cx="62230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00" b="0" i="0" u="none" strike="noStrike" dirty="0">
                <a:solidFill>
                  <a:srgbClr val="000000"/>
                </a:solidFill>
                <a:latin typeface="조선가는고딕"/>
              </a:rPr>
              <a:t>&lt;</a:t>
            </a:r>
            <a:r>
              <a:rPr lang="ko-KR" altLang="en-US" sz="2000" dirty="0">
                <a:solidFill>
                  <a:srgbClr val="000000"/>
                </a:solidFill>
                <a:latin typeface="조선가는고딕"/>
                <a:ea typeface="조선가는고딕"/>
              </a:rPr>
              <a:t>표 </a:t>
            </a:r>
            <a:r>
              <a:rPr lang="en-US" altLang="ko-KR" sz="2000" dirty="0">
                <a:solidFill>
                  <a:srgbClr val="000000"/>
                </a:solidFill>
                <a:latin typeface="조선가는고딕"/>
                <a:ea typeface="조선가는고딕"/>
              </a:rPr>
              <a:t>1</a:t>
            </a:r>
            <a:r>
              <a:rPr lang="en-US" sz="2000" b="0" i="0" u="none" strike="noStrike" dirty="0">
                <a:solidFill>
                  <a:srgbClr val="000000"/>
                </a:solidFill>
                <a:latin typeface="조선가는고딕"/>
              </a:rPr>
              <a:t>&gt; 1</a:t>
            </a:r>
            <a:r>
              <a:rPr lang="ko-KR" sz="2000" b="0" i="0" u="none" strike="noStrike" dirty="0">
                <a:solidFill>
                  <a:srgbClr val="000000"/>
                </a:solidFill>
                <a:ea typeface="조선가는고딕"/>
              </a:rPr>
              <a:t>인</a:t>
            </a:r>
            <a:r>
              <a:rPr lang="en-US" sz="2000" b="0" i="0" u="none" strike="noStrike" dirty="0">
                <a:solidFill>
                  <a:srgbClr val="000000"/>
                </a:solidFill>
                <a:latin typeface="조선가는고딕"/>
              </a:rPr>
              <a:t> </a:t>
            </a:r>
            <a:r>
              <a:rPr lang="ko-KR" sz="2000" b="0" i="0" u="none" strike="noStrike" dirty="0">
                <a:solidFill>
                  <a:srgbClr val="000000"/>
                </a:solidFill>
                <a:ea typeface="조선가는고딕"/>
              </a:rPr>
              <a:t>가구</a:t>
            </a:r>
            <a:r>
              <a:rPr lang="en-US" altLang="ko-KR" sz="2000" b="0" i="0" u="none" strike="noStrike" dirty="0">
                <a:solidFill>
                  <a:srgbClr val="000000"/>
                </a:solidFill>
                <a:ea typeface="조선가는고딕"/>
              </a:rPr>
              <a:t> </a:t>
            </a:r>
            <a:r>
              <a:rPr lang="ko-KR" altLang="en-US" sz="2000" b="0" i="0" u="none" strike="noStrike" dirty="0">
                <a:solidFill>
                  <a:srgbClr val="000000"/>
                </a:solidFill>
                <a:ea typeface="조선가는고딕"/>
              </a:rPr>
              <a:t>비율</a:t>
            </a:r>
            <a:r>
              <a:rPr lang="en-US" sz="2000" b="0" i="0" u="none" strike="noStrike" dirty="0">
                <a:solidFill>
                  <a:srgbClr val="000000"/>
                </a:solidFill>
                <a:latin typeface="조선가는고딕"/>
              </a:rPr>
              <a:t>(</a:t>
            </a:r>
            <a:r>
              <a:rPr lang="ko-KR" sz="2000" b="0" i="0" u="none" strike="noStrike" dirty="0">
                <a:solidFill>
                  <a:srgbClr val="000000"/>
                </a:solidFill>
                <a:ea typeface="조선가는고딕"/>
              </a:rPr>
              <a:t>서울</a:t>
            </a:r>
            <a:r>
              <a:rPr lang="en-US" sz="2000" b="0" i="0" u="none" strike="noStrike" dirty="0">
                <a:solidFill>
                  <a:srgbClr val="000000"/>
                </a:solidFill>
                <a:latin typeface="조선가는고딕"/>
              </a:rPr>
              <a:t>/</a:t>
            </a:r>
            <a:r>
              <a:rPr lang="ko-KR" sz="2000" b="0" i="0" u="none" strike="noStrike" dirty="0">
                <a:solidFill>
                  <a:srgbClr val="000000"/>
                </a:solidFill>
                <a:ea typeface="조선가는고딕"/>
              </a:rPr>
              <a:t>전국</a:t>
            </a:r>
            <a:r>
              <a:rPr lang="en-US" sz="2000" b="0" i="0" u="none" strike="noStrike" dirty="0">
                <a:solidFill>
                  <a:srgbClr val="000000"/>
                </a:solidFill>
                <a:latin typeface="조선가는고딕"/>
              </a:rPr>
              <a:t>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0" y="6438900"/>
            <a:ext cx="62230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00" b="0" i="0" u="none" strike="noStrike" dirty="0">
                <a:solidFill>
                  <a:srgbClr val="000000"/>
                </a:solidFill>
                <a:latin typeface="조선가는고딕"/>
              </a:rPr>
              <a:t>&lt;</a:t>
            </a:r>
            <a:r>
              <a:rPr lang="ko-KR" sz="2000" b="0" i="0" u="none" strike="noStrike" dirty="0">
                <a:solidFill>
                  <a:srgbClr val="000000"/>
                </a:solidFill>
                <a:ea typeface="조선가는고딕"/>
              </a:rPr>
              <a:t>표</a:t>
            </a:r>
            <a:r>
              <a:rPr lang="en-US" sz="2000" b="0" i="0" u="none" strike="noStrike" dirty="0">
                <a:solidFill>
                  <a:srgbClr val="000000"/>
                </a:solidFill>
                <a:latin typeface="조선가는고딕"/>
              </a:rPr>
              <a:t> 2&gt; </a:t>
            </a:r>
            <a:r>
              <a:rPr lang="ko-KR" altLang="en-US" sz="2000" b="0" i="0" u="none" strike="noStrike" dirty="0">
                <a:solidFill>
                  <a:srgbClr val="000000"/>
                </a:solidFill>
                <a:ea typeface="조선가는고딕"/>
              </a:rPr>
              <a:t>거처 종류별</a:t>
            </a:r>
            <a:r>
              <a:rPr lang="en-US" sz="2000" b="0" i="0" u="none" strike="noStrike" dirty="0">
                <a:solidFill>
                  <a:srgbClr val="000000"/>
                </a:solidFill>
                <a:latin typeface="조선가는고딕"/>
              </a:rPr>
              <a:t> </a:t>
            </a:r>
            <a:r>
              <a:rPr lang="ko-KR" sz="2000" b="0" i="0" u="none" strike="noStrike" dirty="0">
                <a:solidFill>
                  <a:srgbClr val="000000"/>
                </a:solidFill>
                <a:ea typeface="조선가는고딕"/>
              </a:rPr>
              <a:t>비중</a:t>
            </a:r>
            <a:r>
              <a:rPr lang="en-US" altLang="ko-KR" sz="2000" b="0" i="0" u="none" strike="noStrike" dirty="0">
                <a:solidFill>
                  <a:srgbClr val="000000"/>
                </a:solidFill>
                <a:ea typeface="조선가는고딕"/>
              </a:rPr>
              <a:t> </a:t>
            </a:r>
            <a:r>
              <a:rPr lang="en-US" altLang="ko-KR" sz="2000" b="0" i="0" u="none" strike="noStrike" dirty="0">
                <a:solidFill>
                  <a:srgbClr val="000000"/>
                </a:solidFill>
                <a:latin typeface="조선가는고딕" panose="020B0600000101010101" charset="-127"/>
                <a:ea typeface="조선가는고딕" panose="020B0600000101010101" charset="-127"/>
              </a:rPr>
              <a:t>(2023</a:t>
            </a:r>
            <a:r>
              <a:rPr lang="ko-KR" altLang="en-US" sz="2000" b="0" i="0" u="none" strike="noStrike" dirty="0">
                <a:solidFill>
                  <a:srgbClr val="000000"/>
                </a:solidFill>
                <a:latin typeface="조선가는고딕" panose="020B0600000101010101" charset="-127"/>
                <a:ea typeface="조선가는고딕" panose="020B0600000101010101" charset="-127"/>
              </a:rPr>
              <a:t>년</a:t>
            </a:r>
            <a:r>
              <a:rPr lang="en-US" altLang="ko-KR" sz="2000" b="0" i="0" u="none" strike="noStrike" dirty="0">
                <a:solidFill>
                  <a:srgbClr val="000000"/>
                </a:solidFill>
                <a:latin typeface="조선가는고딕" panose="020B0600000101010101" charset="-127"/>
                <a:ea typeface="조선가는고딕" panose="020B0600000101010101" charset="-127"/>
              </a:rPr>
              <a:t>)</a:t>
            </a:r>
            <a:endParaRPr lang="ko-KR" sz="2000" b="0" i="0" u="none" strike="noStrike" dirty="0">
              <a:solidFill>
                <a:srgbClr val="000000"/>
              </a:solidFill>
              <a:latin typeface="조선가는고딕" panose="020B0600000101010101" charset="-127"/>
              <a:ea typeface="조선가는고딕" panose="020B0600000101010101" charset="-127"/>
            </a:endParaRPr>
          </a:p>
        </p:txBody>
      </p:sp>
      <p:sp>
        <p:nvSpPr>
          <p:cNvPr id="18" name="슬라이드 번호 개체 틀 5">
            <a:extLst>
              <a:ext uri="{FF2B5EF4-FFF2-40B4-BE49-F238E27FC236}">
                <a16:creationId xmlns:a16="http://schemas.microsoft.com/office/drawing/2014/main" id="{139A5658-63E7-43FF-AD79-98C10963A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180889" y="9715500"/>
            <a:ext cx="586411" cy="327951"/>
          </a:xfrm>
        </p:spPr>
        <p:txBody>
          <a:bodyPr/>
          <a:lstStyle/>
          <a:p>
            <a:r>
              <a:rPr lang="en-US" altLang="ko-KR" sz="2000" b="1" dirty="0">
                <a:latin typeface="+mj-ea"/>
                <a:ea typeface="+mj-ea"/>
              </a:rPr>
              <a:t>1</a:t>
            </a:r>
            <a:endParaRPr lang="ko-KR" altLang="en-US" sz="20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4B1E789-1FAC-9DF4-0B6E-5782D22309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309472"/>
              </p:ext>
            </p:extLst>
          </p:nvPr>
        </p:nvGraphicFramePr>
        <p:xfrm>
          <a:off x="965200" y="6851831"/>
          <a:ext cx="69342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1400">
                  <a:extLst>
                    <a:ext uri="{9D8B030D-6E8A-4147-A177-3AD203B41FA5}">
                      <a16:colId xmlns:a16="http://schemas.microsoft.com/office/drawing/2014/main" val="474294776"/>
                    </a:ext>
                  </a:extLst>
                </a:gridCol>
                <a:gridCol w="2311400">
                  <a:extLst>
                    <a:ext uri="{9D8B030D-6E8A-4147-A177-3AD203B41FA5}">
                      <a16:colId xmlns:a16="http://schemas.microsoft.com/office/drawing/2014/main" val="846569777"/>
                    </a:ext>
                  </a:extLst>
                </a:gridCol>
                <a:gridCol w="2311400">
                  <a:extLst>
                    <a:ext uri="{9D8B030D-6E8A-4147-A177-3AD203B41FA5}">
                      <a16:colId xmlns:a16="http://schemas.microsoft.com/office/drawing/2014/main" val="16268236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인 가구 비율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전국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 err="1"/>
                        <a:t>인가구</a:t>
                      </a:r>
                      <a:r>
                        <a:rPr lang="ko-KR" altLang="en-US" dirty="0"/>
                        <a:t> 비율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서울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192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2019</a:t>
                      </a:r>
                      <a:r>
                        <a:rPr lang="ko-KR" altLang="en-US" dirty="0"/>
                        <a:t>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33%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82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2020</a:t>
                      </a:r>
                      <a:r>
                        <a:rPr lang="ko-KR" altLang="en-US" dirty="0"/>
                        <a:t>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32%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35%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895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2021</a:t>
                      </a:r>
                      <a:r>
                        <a:rPr lang="ko-KR" altLang="en-US" dirty="0"/>
                        <a:t>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33%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37%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322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2022</a:t>
                      </a:r>
                      <a:r>
                        <a:rPr lang="ko-KR" altLang="en-US" dirty="0"/>
                        <a:t>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34%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38%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7393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2023</a:t>
                      </a:r>
                      <a:r>
                        <a:rPr lang="ko-KR" altLang="en-US" dirty="0"/>
                        <a:t>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35%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39%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1740069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7596F4F-5F9E-A707-8858-AB66052953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511866"/>
              </p:ext>
            </p:extLst>
          </p:nvPr>
        </p:nvGraphicFramePr>
        <p:xfrm>
          <a:off x="8496302" y="6861990"/>
          <a:ext cx="935989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698">
                  <a:extLst>
                    <a:ext uri="{9D8B030D-6E8A-4147-A177-3AD203B41FA5}">
                      <a16:colId xmlns:a16="http://schemas.microsoft.com/office/drawing/2014/main" val="1039389571"/>
                    </a:ext>
                  </a:extLst>
                </a:gridCol>
                <a:gridCol w="1513840">
                  <a:extLst>
                    <a:ext uri="{9D8B030D-6E8A-4147-A177-3AD203B41FA5}">
                      <a16:colId xmlns:a16="http://schemas.microsoft.com/office/drawing/2014/main" val="1794562807"/>
                    </a:ext>
                  </a:extLst>
                </a:gridCol>
                <a:gridCol w="1513840">
                  <a:extLst>
                    <a:ext uri="{9D8B030D-6E8A-4147-A177-3AD203B41FA5}">
                      <a16:colId xmlns:a16="http://schemas.microsoft.com/office/drawing/2014/main" val="3466021333"/>
                    </a:ext>
                  </a:extLst>
                </a:gridCol>
                <a:gridCol w="1513840">
                  <a:extLst>
                    <a:ext uri="{9D8B030D-6E8A-4147-A177-3AD203B41FA5}">
                      <a16:colId xmlns:a16="http://schemas.microsoft.com/office/drawing/2014/main" val="947572462"/>
                    </a:ext>
                  </a:extLst>
                </a:gridCol>
                <a:gridCol w="1513840">
                  <a:extLst>
                    <a:ext uri="{9D8B030D-6E8A-4147-A177-3AD203B41FA5}">
                      <a16:colId xmlns:a16="http://schemas.microsoft.com/office/drawing/2014/main" val="1239492790"/>
                    </a:ext>
                  </a:extLst>
                </a:gridCol>
                <a:gridCol w="1513840">
                  <a:extLst>
                    <a:ext uri="{9D8B030D-6E8A-4147-A177-3AD203B41FA5}">
                      <a16:colId xmlns:a16="http://schemas.microsoft.com/office/drawing/2014/main" val="2451704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단독주택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아파트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연립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다세대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668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전국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56%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785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서울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26%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48%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highlight>
                            <a:srgbClr val="FFFF00"/>
                          </a:highlight>
                        </a:rPr>
                        <a:t>3%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highlight>
                            <a:srgbClr val="FFFF00"/>
                          </a:highlight>
                        </a:rPr>
                        <a:t>21%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9492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서울</a:t>
                      </a:r>
                      <a:r>
                        <a:rPr lang="en-US" altLang="ko-KR" dirty="0"/>
                        <a:t>-1</a:t>
                      </a:r>
                      <a:r>
                        <a:rPr lang="ko-KR" altLang="en-US" dirty="0"/>
                        <a:t>인 가구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42%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29%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highlight>
                            <a:srgbClr val="FFFF00"/>
                          </a:highlight>
                        </a:rPr>
                        <a:t>2%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highlight>
                            <a:srgbClr val="FFFF00"/>
                          </a:highlight>
                        </a:rPr>
                        <a:t>23%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0253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9697" y="4457700"/>
            <a:ext cx="1447800" cy="1447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00" y="1866900"/>
            <a:ext cx="16802100" cy="2667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9537700" y="7835900"/>
            <a:ext cx="37338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65200" y="1866900"/>
            <a:ext cx="342900" cy="3429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308100" y="2146300"/>
            <a:ext cx="16319500" cy="180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ko-KR" sz="3000" dirty="0">
                <a:ea typeface="조선가는고딕"/>
              </a:rPr>
              <a:t>청년안심주택의</a:t>
            </a:r>
            <a:r>
              <a:rPr lang="en-US" altLang="ko-KR" sz="3000" dirty="0">
                <a:latin typeface="조선가는고딕"/>
              </a:rPr>
              <a:t> </a:t>
            </a:r>
            <a:r>
              <a:rPr lang="ko-KR" altLang="en-US" sz="3000" dirty="0">
                <a:latin typeface="조선가는고딕"/>
                <a:ea typeface="조선가는고딕"/>
              </a:rPr>
              <a:t>준</a:t>
            </a:r>
            <a:r>
              <a:rPr lang="ko-KR" altLang="en-US" sz="3000" dirty="0">
                <a:latin typeface="조선가는고딕" panose="020B0600000101010101" charset="-127"/>
                <a:ea typeface="조선가는고딕" panose="020B0600000101010101" charset="-127"/>
              </a:rPr>
              <a:t>공</a:t>
            </a:r>
            <a:r>
              <a:rPr lang="ko-KR" altLang="ko-KR" sz="3000" dirty="0">
                <a:latin typeface="조선가는고딕" panose="020B0600000101010101" charset="-127"/>
                <a:ea typeface="조선가는고딕" panose="020B0600000101010101" charset="-127"/>
              </a:rPr>
              <a:t>이</a:t>
            </a:r>
            <a:r>
              <a:rPr lang="en-US" altLang="ko-KR" sz="3000" dirty="0">
                <a:latin typeface="조선가는고딕" panose="020B0600000101010101" charset="-127"/>
                <a:ea typeface="조선가는고딕" panose="020B0600000101010101" charset="-127"/>
              </a:rPr>
              <a:t> </a:t>
            </a:r>
            <a:r>
              <a:rPr lang="ko-KR" altLang="en-US" sz="3000" dirty="0">
                <a:latin typeface="조선가는고딕" panose="020B0600000101010101" charset="-127"/>
                <a:ea typeface="조선가는고딕" panose="020B0600000101010101" charset="-127"/>
              </a:rPr>
              <a:t>인근 </a:t>
            </a:r>
            <a:r>
              <a:rPr lang="ko-KR" altLang="en-US" sz="3000" dirty="0">
                <a:ea typeface="조선가는고딕"/>
              </a:rPr>
              <a:t>비</a:t>
            </a:r>
            <a:r>
              <a:rPr lang="en-US" altLang="ko-KR" sz="3000" dirty="0">
                <a:ea typeface="조선가는고딕"/>
              </a:rPr>
              <a:t>(</a:t>
            </a:r>
            <a:r>
              <a:rPr lang="ko-KR" altLang="en-US" sz="3000" dirty="0">
                <a:ea typeface="조선가는고딕"/>
              </a:rPr>
              <a:t>非</a:t>
            </a:r>
            <a:r>
              <a:rPr lang="en-US" altLang="ko-KR" sz="3000" dirty="0">
                <a:ea typeface="조선가는고딕"/>
              </a:rPr>
              <a:t>) </a:t>
            </a:r>
            <a:r>
              <a:rPr lang="ko-KR" altLang="en-US" sz="3000" dirty="0">
                <a:ea typeface="조선가는고딕"/>
              </a:rPr>
              <a:t>아파트 </a:t>
            </a:r>
            <a:r>
              <a:rPr lang="ko-KR" altLang="ko-KR" sz="3000" dirty="0">
                <a:ea typeface="조선가는고딕"/>
              </a:rPr>
              <a:t>유형의</a:t>
            </a:r>
            <a:r>
              <a:rPr lang="en-US" altLang="ko-KR" sz="3000" dirty="0">
                <a:latin typeface="조선가는고딕"/>
              </a:rPr>
              <a:t> </a:t>
            </a:r>
            <a:r>
              <a:rPr lang="ko-KR" altLang="ko-KR" sz="3000" dirty="0">
                <a:ea typeface="조선가는고딕"/>
              </a:rPr>
              <a:t>주택</a:t>
            </a:r>
            <a:r>
              <a:rPr lang="en-US" altLang="ko-KR" sz="3000" dirty="0">
                <a:ea typeface="조선가는고딕"/>
              </a:rPr>
              <a:t> </a:t>
            </a:r>
            <a:r>
              <a:rPr lang="ko-KR" altLang="ko-KR" sz="3000" dirty="0">
                <a:latin typeface="조선가는고딕" panose="020B0600000101010101" charset="-127"/>
                <a:ea typeface="조선가는고딕" panose="020B0600000101010101" charset="-127"/>
              </a:rPr>
              <a:t>전</a:t>
            </a:r>
            <a:r>
              <a:rPr lang="ko-KR" altLang="ko-KR" sz="3000" dirty="0">
                <a:ea typeface="조선가는고딕"/>
              </a:rPr>
              <a:t>월세</a:t>
            </a:r>
            <a:r>
              <a:rPr lang="ko-KR" altLang="en-US" sz="3000" dirty="0">
                <a:latin typeface="조선가는고딕"/>
                <a:ea typeface="조선가는고딕"/>
              </a:rPr>
              <a:t>에</a:t>
            </a:r>
            <a:r>
              <a:rPr lang="en-US" altLang="ko-KR" sz="3000" dirty="0">
                <a:latin typeface="조선가는고딕"/>
                <a:ea typeface="조선가는고딕"/>
              </a:rPr>
              <a:t> </a:t>
            </a:r>
            <a:r>
              <a:rPr lang="ko-KR" altLang="ko-KR" sz="3000" dirty="0">
                <a:ea typeface="조선가는고딕"/>
              </a:rPr>
              <a:t>영향을</a:t>
            </a:r>
            <a:r>
              <a:rPr lang="en-US" altLang="ko-KR" sz="3000" dirty="0">
                <a:latin typeface="조선가는고딕"/>
              </a:rPr>
              <a:t> </a:t>
            </a:r>
            <a:r>
              <a:rPr lang="ko-KR" altLang="ko-KR" sz="3000" dirty="0">
                <a:ea typeface="조선가는고딕"/>
              </a:rPr>
              <a:t>미치는지</a:t>
            </a:r>
            <a:r>
              <a:rPr lang="en-US" altLang="ko-KR" sz="3000" dirty="0">
                <a:latin typeface="조선가는고딕"/>
              </a:rPr>
              <a:t> </a:t>
            </a:r>
            <a:r>
              <a:rPr lang="ko-KR" altLang="en-US" sz="3000" dirty="0">
                <a:ea typeface="조선가는고딕"/>
              </a:rPr>
              <a:t>분석하고자 함</a:t>
            </a:r>
            <a:r>
              <a:rPr lang="en-US" altLang="ko-KR" sz="3000" dirty="0">
                <a:latin typeface="조선가는고딕"/>
              </a:rPr>
              <a:t>.</a:t>
            </a:r>
          </a:p>
          <a:p>
            <a:pPr marL="342900" lvl="0" indent="-342900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ko-KR" sz="3000" dirty="0">
                <a:ea typeface="조선가는고딕"/>
              </a:rPr>
              <a:t>청년안심주택의</a:t>
            </a:r>
            <a:r>
              <a:rPr lang="en-US" altLang="ko-KR" sz="3000" dirty="0">
                <a:latin typeface="조선가는고딕"/>
              </a:rPr>
              <a:t> </a:t>
            </a:r>
            <a:r>
              <a:rPr lang="ko-KR" altLang="en-US" sz="3000" dirty="0">
                <a:latin typeface="조선가는고딕"/>
                <a:ea typeface="조선가는고딕"/>
              </a:rPr>
              <a:t>준</a:t>
            </a:r>
            <a:r>
              <a:rPr lang="ko-KR" altLang="en-US" sz="3000" dirty="0">
                <a:latin typeface="조선가는고딕" panose="020B0600000101010101" charset="-127"/>
                <a:ea typeface="조선가는고딕" panose="020B0600000101010101" charset="-127"/>
              </a:rPr>
              <a:t>공</a:t>
            </a:r>
            <a:r>
              <a:rPr lang="ko-KR" altLang="ko-KR" sz="3000" dirty="0">
                <a:latin typeface="조선가는고딕" panose="020B0600000101010101" charset="-127"/>
                <a:ea typeface="조선가는고딕" panose="020B0600000101010101" charset="-127"/>
              </a:rPr>
              <a:t>이</a:t>
            </a:r>
            <a:r>
              <a:rPr lang="en-US" altLang="ko-KR" sz="3000" dirty="0">
                <a:latin typeface="조선가는고딕" panose="020B0600000101010101" charset="-127"/>
                <a:ea typeface="조선가는고딕" panose="020B0600000101010101" charset="-127"/>
              </a:rPr>
              <a:t> </a:t>
            </a:r>
            <a:r>
              <a:rPr lang="ko-KR" altLang="en-US" sz="3000" dirty="0">
                <a:latin typeface="조선가는고딕" panose="020B0600000101010101" charset="-127"/>
                <a:ea typeface="조선가는고딕" panose="020B0600000101010101" charset="-127"/>
              </a:rPr>
              <a:t>인근 </a:t>
            </a:r>
            <a:r>
              <a:rPr lang="ko-KR" altLang="en-US" sz="3000" dirty="0">
                <a:ea typeface="조선가는고딕"/>
              </a:rPr>
              <a:t>비</a:t>
            </a:r>
            <a:r>
              <a:rPr lang="en-US" altLang="ko-KR" sz="3000" dirty="0">
                <a:ea typeface="조선가는고딕"/>
              </a:rPr>
              <a:t>(</a:t>
            </a:r>
            <a:r>
              <a:rPr lang="ko-KR" altLang="en-US" sz="3000" dirty="0">
                <a:ea typeface="조선가는고딕"/>
              </a:rPr>
              <a:t>非</a:t>
            </a:r>
            <a:r>
              <a:rPr lang="en-US" altLang="ko-KR" sz="3000" dirty="0">
                <a:ea typeface="조선가는고딕"/>
              </a:rPr>
              <a:t>) </a:t>
            </a:r>
            <a:r>
              <a:rPr lang="ko-KR" altLang="en-US" sz="3000" dirty="0">
                <a:ea typeface="조선가는고딕"/>
              </a:rPr>
              <a:t>아파트 </a:t>
            </a:r>
            <a:r>
              <a:rPr lang="ko-KR" altLang="ko-KR" sz="3000" dirty="0">
                <a:ea typeface="조선가는고딕"/>
              </a:rPr>
              <a:t>유형의</a:t>
            </a:r>
            <a:r>
              <a:rPr lang="en-US" altLang="ko-KR" sz="3000" dirty="0">
                <a:latin typeface="조선가는고딕"/>
              </a:rPr>
              <a:t> </a:t>
            </a:r>
            <a:r>
              <a:rPr lang="ko-KR" altLang="ko-KR" sz="3000" dirty="0">
                <a:ea typeface="조선가는고딕"/>
              </a:rPr>
              <a:t>주택을</a:t>
            </a:r>
            <a:r>
              <a:rPr lang="en-US" altLang="ko-KR" sz="3000" dirty="0">
                <a:latin typeface="조선가는고딕"/>
              </a:rPr>
              <a:t> </a:t>
            </a:r>
            <a:r>
              <a:rPr lang="ko-KR" altLang="en-US" sz="3000" dirty="0">
                <a:latin typeface="조선가는고딕"/>
                <a:ea typeface="조선가는고딕"/>
              </a:rPr>
              <a:t>에</a:t>
            </a:r>
            <a:r>
              <a:rPr lang="en-US" altLang="ko-KR" sz="3000" dirty="0">
                <a:latin typeface="조선가는고딕"/>
                <a:ea typeface="조선가는고딕"/>
              </a:rPr>
              <a:t> </a:t>
            </a:r>
            <a:r>
              <a:rPr lang="ko-KR" altLang="ko-KR" sz="3000" dirty="0">
                <a:ea typeface="조선가는고딕"/>
              </a:rPr>
              <a:t>영향을</a:t>
            </a:r>
            <a:r>
              <a:rPr lang="en-US" altLang="ko-KR" sz="3000" dirty="0">
                <a:latin typeface="조선가는고딕"/>
              </a:rPr>
              <a:t> </a:t>
            </a:r>
            <a:r>
              <a:rPr lang="ko-KR" altLang="ko-KR" sz="3000" dirty="0">
                <a:ea typeface="조선가는고딕"/>
              </a:rPr>
              <a:t>미치는</a:t>
            </a:r>
            <a:r>
              <a:rPr lang="en-US" altLang="ko-KR" sz="3000" dirty="0">
                <a:ea typeface="조선가는고딕"/>
              </a:rPr>
              <a:t> </a:t>
            </a:r>
            <a:r>
              <a:rPr lang="ko-KR" altLang="en-US" sz="3000" dirty="0">
                <a:ea typeface="조선가는고딕"/>
              </a:rPr>
              <a:t>정도가 권역별로 차이가 있는지 분석하고자 함</a:t>
            </a:r>
            <a:r>
              <a:rPr lang="en-US" altLang="ko-KR" sz="3000" dirty="0">
                <a:ea typeface="조선가는고딕"/>
              </a:rPr>
              <a:t>.</a:t>
            </a:r>
            <a:endParaRPr lang="en-US" altLang="ko-KR" sz="3000" dirty="0">
              <a:latin typeface="조선가는고딕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24000" y="736600"/>
            <a:ext cx="54356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3100" b="0" i="0" u="none" strike="noStrike" dirty="0">
                <a:solidFill>
                  <a:srgbClr val="393939"/>
                </a:solidFill>
                <a:ea typeface="Pretendard Bold"/>
              </a:rPr>
              <a:t>연구</a:t>
            </a:r>
            <a:r>
              <a:rPr lang="ko-KR" altLang="en-US" sz="3100" b="0" i="0" u="none" strike="noStrike" dirty="0">
                <a:solidFill>
                  <a:srgbClr val="393939"/>
                </a:solidFill>
                <a:ea typeface="Pretendard Bold"/>
              </a:rPr>
              <a:t>의 배경 및</a:t>
            </a:r>
            <a:r>
              <a:rPr lang="en-US" sz="3100" b="0" i="0" u="none" strike="noStrike" dirty="0">
                <a:solidFill>
                  <a:srgbClr val="393939"/>
                </a:solidFill>
                <a:latin typeface="Pretendard Bold"/>
              </a:rPr>
              <a:t> </a:t>
            </a:r>
            <a:r>
              <a:rPr lang="ko-KR" sz="3100" b="0" i="0" u="none" strike="noStrike" dirty="0">
                <a:solidFill>
                  <a:srgbClr val="393939"/>
                </a:solidFill>
                <a:ea typeface="Pretendard Bold"/>
              </a:rPr>
              <a:t>목적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9000" y="723900"/>
            <a:ext cx="7239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3100" dirty="0">
                <a:solidFill>
                  <a:srgbClr val="08A5C1"/>
                </a:solidFill>
                <a:latin typeface="Montserrat Bold"/>
              </a:rPr>
              <a:t>1</a:t>
            </a:r>
            <a:r>
              <a:rPr lang="ko-KR" altLang="en-US" sz="3100" b="0" i="0" u="none" strike="noStrike" dirty="0">
                <a:solidFill>
                  <a:srgbClr val="08A5C1"/>
                </a:solidFill>
                <a:latin typeface="Montserrat Bold"/>
              </a:rPr>
              <a:t>절</a:t>
            </a:r>
            <a:endParaRPr lang="en-US" sz="3100" b="0" i="0" u="none" strike="noStrike" dirty="0">
              <a:solidFill>
                <a:srgbClr val="08A5C1"/>
              </a:solidFill>
              <a:latin typeface="Montserrat Bold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200" y="5753100"/>
            <a:ext cx="16802100" cy="3378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65200" y="5753100"/>
            <a:ext cx="342900" cy="342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308100" y="6032500"/>
            <a:ext cx="16319500" cy="1346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ko-KR" sz="3000" dirty="0">
                <a:ea typeface="조선가는고딕"/>
              </a:rPr>
              <a:t>청년안심주택이</a:t>
            </a:r>
            <a:r>
              <a:rPr lang="en-US" altLang="ko-KR" sz="3000" dirty="0">
                <a:latin typeface="조선가는고딕"/>
              </a:rPr>
              <a:t> </a:t>
            </a:r>
            <a:r>
              <a:rPr lang="ko-KR" altLang="ko-KR" sz="3000" dirty="0">
                <a:ea typeface="조선가는고딕"/>
              </a:rPr>
              <a:t>공급되는</a:t>
            </a:r>
            <a:r>
              <a:rPr lang="en-US" altLang="ko-KR" sz="3000" dirty="0">
                <a:latin typeface="조선가는고딕"/>
              </a:rPr>
              <a:t> </a:t>
            </a:r>
            <a:r>
              <a:rPr lang="ko-KR" altLang="ko-KR" sz="3000" dirty="0">
                <a:ea typeface="조선가는고딕"/>
              </a:rPr>
              <a:t>지역의</a:t>
            </a:r>
            <a:r>
              <a:rPr lang="en-US" altLang="ko-KR" sz="3000" dirty="0">
                <a:latin typeface="조선가는고딕"/>
              </a:rPr>
              <a:t> </a:t>
            </a:r>
            <a:r>
              <a:rPr lang="ko-KR" altLang="ko-KR" sz="3000" dirty="0">
                <a:ea typeface="조선가는고딕"/>
              </a:rPr>
              <a:t>전월세</a:t>
            </a:r>
            <a:r>
              <a:rPr lang="en-US" altLang="ko-KR" sz="3000" dirty="0">
                <a:latin typeface="조선가는고딕"/>
              </a:rPr>
              <a:t> </a:t>
            </a:r>
            <a:r>
              <a:rPr lang="ko-KR" altLang="ko-KR" sz="3000" dirty="0">
                <a:ea typeface="조선가는고딕"/>
              </a:rPr>
              <a:t>가격</a:t>
            </a:r>
            <a:r>
              <a:rPr lang="en-US" altLang="ko-KR" sz="3000" dirty="0">
                <a:latin typeface="조선가는고딕"/>
              </a:rPr>
              <a:t> </a:t>
            </a:r>
            <a:r>
              <a:rPr lang="ko-KR" altLang="ko-KR" sz="3000" dirty="0">
                <a:ea typeface="조선가는고딕"/>
              </a:rPr>
              <a:t>변화를</a:t>
            </a:r>
            <a:r>
              <a:rPr lang="en-US" altLang="ko-KR" sz="3000" dirty="0">
                <a:latin typeface="조선가는고딕"/>
              </a:rPr>
              <a:t> </a:t>
            </a:r>
            <a:r>
              <a:rPr lang="ko-KR" altLang="ko-KR" sz="3000" dirty="0">
                <a:ea typeface="조선가는고딕"/>
              </a:rPr>
              <a:t>살펴봄으로써</a:t>
            </a:r>
            <a:r>
              <a:rPr lang="en-US" altLang="ko-KR" sz="3000" dirty="0">
                <a:latin typeface="조선가는고딕"/>
              </a:rPr>
              <a:t> </a:t>
            </a:r>
            <a:r>
              <a:rPr lang="ko-KR" altLang="ko-KR" sz="3000" dirty="0">
                <a:ea typeface="조선가는고딕"/>
              </a:rPr>
              <a:t>해당</a:t>
            </a:r>
            <a:r>
              <a:rPr lang="en-US" altLang="ko-KR" sz="3000" dirty="0">
                <a:latin typeface="조선가는고딕"/>
              </a:rPr>
              <a:t> </a:t>
            </a:r>
            <a:r>
              <a:rPr lang="ko-KR" altLang="ko-KR" sz="3000" dirty="0">
                <a:ea typeface="조선가는고딕"/>
              </a:rPr>
              <a:t>정책의</a:t>
            </a:r>
            <a:r>
              <a:rPr lang="en-US" altLang="ko-KR" sz="3000" dirty="0">
                <a:latin typeface="조선가는고딕"/>
              </a:rPr>
              <a:t> </a:t>
            </a:r>
            <a:r>
              <a:rPr lang="ko-KR" altLang="ko-KR" sz="3000" dirty="0">
                <a:ea typeface="조선가는고딕"/>
              </a:rPr>
              <a:t>효과성</a:t>
            </a:r>
            <a:r>
              <a:rPr lang="en-US" altLang="ko-KR" sz="3000" dirty="0">
                <a:latin typeface="조선가는고딕"/>
              </a:rPr>
              <a:t> </a:t>
            </a:r>
            <a:r>
              <a:rPr lang="ko-KR" altLang="ko-KR" sz="3000" dirty="0">
                <a:ea typeface="조선가는고딕"/>
              </a:rPr>
              <a:t>검증</a:t>
            </a:r>
          </a:p>
          <a:p>
            <a:pPr marL="342900" lvl="0" indent="-342900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en-US" sz="3000" dirty="0">
                <a:ea typeface="조선가는고딕"/>
              </a:rPr>
              <a:t>서민층의 주거사다리</a:t>
            </a:r>
            <a:r>
              <a:rPr lang="en-US" altLang="ko-KR" sz="3000" dirty="0">
                <a:ea typeface="조선가는고딕"/>
              </a:rPr>
              <a:t>,</a:t>
            </a:r>
            <a:r>
              <a:rPr lang="ko-KR" altLang="en-US" sz="3000" dirty="0">
                <a:ea typeface="조선가는고딕"/>
              </a:rPr>
              <a:t> 비</a:t>
            </a:r>
            <a:r>
              <a:rPr lang="en-US" altLang="ko-KR" sz="3000" dirty="0">
                <a:ea typeface="조선가는고딕"/>
              </a:rPr>
              <a:t>(</a:t>
            </a:r>
            <a:r>
              <a:rPr lang="ko-KR" altLang="en-US" sz="3000" dirty="0">
                <a:ea typeface="조선가는고딕"/>
              </a:rPr>
              <a:t>非</a:t>
            </a:r>
            <a:r>
              <a:rPr lang="en-US" altLang="ko-KR" sz="3000" dirty="0">
                <a:ea typeface="조선가는고딕"/>
              </a:rPr>
              <a:t>) </a:t>
            </a:r>
            <a:r>
              <a:rPr lang="ko-KR" altLang="en-US" sz="3000" dirty="0">
                <a:ea typeface="조선가는고딕"/>
              </a:rPr>
              <a:t>아파트 </a:t>
            </a:r>
            <a:r>
              <a:rPr lang="ko-KR" altLang="ko-KR" sz="3000" dirty="0">
                <a:ea typeface="조선가는고딕"/>
              </a:rPr>
              <a:t>유형의</a:t>
            </a:r>
            <a:r>
              <a:rPr lang="en-US" altLang="ko-KR" sz="3000" dirty="0">
                <a:latin typeface="조선가는고딕"/>
              </a:rPr>
              <a:t> </a:t>
            </a:r>
            <a:r>
              <a:rPr lang="ko-KR" altLang="ko-KR" sz="3000" dirty="0">
                <a:ea typeface="조선가는고딕"/>
              </a:rPr>
              <a:t>주택을</a:t>
            </a:r>
            <a:r>
              <a:rPr lang="en-US" altLang="ko-KR" sz="3000" dirty="0">
                <a:latin typeface="조선가는고딕"/>
              </a:rPr>
              <a:t> </a:t>
            </a:r>
            <a:r>
              <a:rPr lang="ko-KR" altLang="ko-KR" sz="3000" dirty="0">
                <a:ea typeface="조선가는고딕"/>
              </a:rPr>
              <a:t>중심으로</a:t>
            </a:r>
            <a:r>
              <a:rPr lang="en-US" altLang="ko-KR" sz="3000" dirty="0">
                <a:latin typeface="조선가는고딕"/>
              </a:rPr>
              <a:t> </a:t>
            </a:r>
            <a:r>
              <a:rPr lang="ko-KR" altLang="ko-KR" sz="3000" dirty="0">
                <a:ea typeface="조선가는고딕"/>
              </a:rPr>
              <a:t>전월세</a:t>
            </a:r>
            <a:r>
              <a:rPr lang="en-US" altLang="ko-KR" sz="3000" dirty="0">
                <a:latin typeface="조선가는고딕"/>
              </a:rPr>
              <a:t> </a:t>
            </a:r>
            <a:r>
              <a:rPr lang="ko-KR" altLang="ko-KR" sz="3000" dirty="0">
                <a:ea typeface="조선가는고딕"/>
              </a:rPr>
              <a:t>가격</a:t>
            </a:r>
            <a:r>
              <a:rPr lang="en-US" altLang="ko-KR" sz="3000" dirty="0">
                <a:latin typeface="조선가는고딕"/>
              </a:rPr>
              <a:t> </a:t>
            </a:r>
            <a:r>
              <a:rPr lang="ko-KR" altLang="ko-KR" sz="3000" dirty="0">
                <a:ea typeface="조선가는고딕"/>
              </a:rPr>
              <a:t>변화를</a:t>
            </a:r>
            <a:r>
              <a:rPr lang="en-US" altLang="ko-KR" sz="3000" dirty="0">
                <a:latin typeface="조선가는고딕"/>
              </a:rPr>
              <a:t> </a:t>
            </a:r>
            <a:r>
              <a:rPr lang="ko-KR" altLang="ko-KR" sz="3000" dirty="0">
                <a:ea typeface="조선가는고딕"/>
              </a:rPr>
              <a:t>분석함으로써</a:t>
            </a:r>
            <a:r>
              <a:rPr lang="en-US" altLang="ko-KR" sz="3000" dirty="0">
                <a:latin typeface="조선가는고딕"/>
              </a:rPr>
              <a:t> </a:t>
            </a:r>
            <a:r>
              <a:rPr lang="ko-KR" altLang="ko-KR" sz="3000" dirty="0">
                <a:ea typeface="조선가는고딕"/>
              </a:rPr>
              <a:t>정책의</a:t>
            </a:r>
            <a:r>
              <a:rPr lang="en-US" altLang="ko-KR" sz="3000" dirty="0">
                <a:latin typeface="조선가는고딕"/>
              </a:rPr>
              <a:t> </a:t>
            </a:r>
            <a:r>
              <a:rPr lang="ko-KR" altLang="ko-KR" sz="3000" dirty="0">
                <a:ea typeface="조선가는고딕"/>
              </a:rPr>
              <a:t>직접적인</a:t>
            </a:r>
            <a:r>
              <a:rPr lang="en-US" altLang="ko-KR" sz="3000" dirty="0">
                <a:latin typeface="조선가는고딕"/>
              </a:rPr>
              <a:t> </a:t>
            </a:r>
            <a:r>
              <a:rPr lang="ko-KR" altLang="ko-KR" sz="3000" dirty="0">
                <a:ea typeface="조선가는고딕"/>
              </a:rPr>
              <a:t>효과를</a:t>
            </a:r>
            <a:r>
              <a:rPr lang="en-US" altLang="ko-KR" sz="3000" dirty="0">
                <a:latin typeface="조선가는고딕"/>
              </a:rPr>
              <a:t> </a:t>
            </a:r>
            <a:r>
              <a:rPr lang="ko-KR" altLang="ko-KR" sz="3000" dirty="0">
                <a:ea typeface="조선가는고딕"/>
              </a:rPr>
              <a:t>파악</a:t>
            </a:r>
            <a:r>
              <a:rPr lang="ko-KR" altLang="en-US" sz="3000" dirty="0">
                <a:ea typeface="조선가는고딕"/>
              </a:rPr>
              <a:t>함</a:t>
            </a:r>
            <a:r>
              <a:rPr lang="en-US" altLang="ko-KR" sz="3000" dirty="0">
                <a:ea typeface="조선가는고딕"/>
              </a:rPr>
              <a:t>.</a:t>
            </a:r>
            <a:endParaRPr lang="ko-KR" altLang="ko-KR" sz="3000" dirty="0">
              <a:ea typeface="조선가는고딕"/>
            </a:endParaRPr>
          </a:p>
          <a:p>
            <a:pPr marL="342900" lvl="0" indent="-342900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ko-KR" sz="3000" dirty="0">
                <a:ea typeface="조선가는고딕"/>
              </a:rPr>
              <a:t>청년안심주택</a:t>
            </a:r>
            <a:r>
              <a:rPr lang="en-US" altLang="ko-KR" sz="3000" dirty="0">
                <a:latin typeface="조선가는고딕"/>
              </a:rPr>
              <a:t> </a:t>
            </a:r>
            <a:r>
              <a:rPr lang="ko-KR" altLang="ko-KR" sz="3000" dirty="0">
                <a:ea typeface="조선가는고딕"/>
              </a:rPr>
              <a:t>정책이</a:t>
            </a:r>
            <a:r>
              <a:rPr lang="en-US" altLang="ko-KR" sz="3000" dirty="0">
                <a:latin typeface="조선가는고딕"/>
              </a:rPr>
              <a:t> </a:t>
            </a:r>
            <a:r>
              <a:rPr lang="ko-KR" altLang="ko-KR" sz="3000" dirty="0">
                <a:ea typeface="조선가는고딕"/>
              </a:rPr>
              <a:t>주거</a:t>
            </a:r>
            <a:r>
              <a:rPr lang="en-US" altLang="ko-KR" sz="3000" dirty="0">
                <a:latin typeface="조선가는고딕"/>
              </a:rPr>
              <a:t> </a:t>
            </a:r>
            <a:r>
              <a:rPr lang="ko-KR" altLang="ko-KR" sz="3000" dirty="0">
                <a:ea typeface="조선가는고딕"/>
              </a:rPr>
              <a:t>안정에</a:t>
            </a:r>
            <a:r>
              <a:rPr lang="en-US" altLang="ko-KR" sz="3000" dirty="0">
                <a:latin typeface="조선가는고딕"/>
              </a:rPr>
              <a:t> </a:t>
            </a:r>
            <a:r>
              <a:rPr lang="ko-KR" altLang="ko-KR" sz="3000" dirty="0">
                <a:ea typeface="조선가는고딕"/>
              </a:rPr>
              <a:t>미치는</a:t>
            </a:r>
            <a:r>
              <a:rPr lang="en-US" altLang="ko-KR" sz="3000" dirty="0">
                <a:latin typeface="조선가는고딕"/>
              </a:rPr>
              <a:t> </a:t>
            </a:r>
            <a:r>
              <a:rPr lang="ko-KR" altLang="ko-KR" sz="3000" dirty="0">
                <a:ea typeface="조선가는고딕"/>
              </a:rPr>
              <a:t>실질적</a:t>
            </a:r>
            <a:r>
              <a:rPr lang="en-US" altLang="ko-KR" sz="3000" dirty="0">
                <a:latin typeface="조선가는고딕"/>
              </a:rPr>
              <a:t> </a:t>
            </a:r>
            <a:r>
              <a:rPr lang="ko-KR" altLang="ko-KR" sz="3000" dirty="0">
                <a:ea typeface="조선가는고딕"/>
              </a:rPr>
              <a:t>영향을</a:t>
            </a:r>
            <a:r>
              <a:rPr lang="en-US" altLang="ko-KR" sz="3000" dirty="0">
                <a:latin typeface="조선가는고딕"/>
              </a:rPr>
              <a:t> </a:t>
            </a:r>
            <a:r>
              <a:rPr lang="ko-KR" altLang="ko-KR" sz="3000" dirty="0">
                <a:ea typeface="조선가는고딕"/>
              </a:rPr>
              <a:t>밝히고</a:t>
            </a:r>
            <a:r>
              <a:rPr lang="en-US" altLang="ko-KR" sz="3000" dirty="0">
                <a:latin typeface="조선가는고딕"/>
              </a:rPr>
              <a:t>, </a:t>
            </a:r>
            <a:r>
              <a:rPr lang="ko-KR" altLang="ko-KR" sz="3000" dirty="0">
                <a:ea typeface="조선가는고딕"/>
              </a:rPr>
              <a:t>향후</a:t>
            </a:r>
            <a:r>
              <a:rPr lang="en-US" altLang="ko-KR" sz="3000" dirty="0">
                <a:latin typeface="조선가는고딕"/>
              </a:rPr>
              <a:t> </a:t>
            </a:r>
            <a:r>
              <a:rPr lang="ko-KR" altLang="ko-KR" sz="3000" dirty="0">
                <a:ea typeface="조선가는고딕"/>
              </a:rPr>
              <a:t>주거</a:t>
            </a:r>
            <a:r>
              <a:rPr lang="en-US" altLang="ko-KR" sz="3000" dirty="0">
                <a:latin typeface="조선가는고딕"/>
              </a:rPr>
              <a:t> </a:t>
            </a:r>
            <a:r>
              <a:rPr lang="ko-KR" altLang="ko-KR" sz="3000" dirty="0">
                <a:ea typeface="조선가는고딕"/>
              </a:rPr>
              <a:t>정책</a:t>
            </a:r>
            <a:r>
              <a:rPr lang="en-US" altLang="ko-KR" sz="3000" dirty="0">
                <a:latin typeface="조선가는고딕"/>
              </a:rPr>
              <a:t> </a:t>
            </a:r>
            <a:r>
              <a:rPr lang="ko-KR" altLang="ko-KR" sz="3000" dirty="0">
                <a:ea typeface="조선가는고딕"/>
              </a:rPr>
              <a:t>수립에</a:t>
            </a:r>
            <a:r>
              <a:rPr lang="en-US" altLang="ko-KR" sz="3000" dirty="0">
                <a:latin typeface="조선가는고딕"/>
              </a:rPr>
              <a:t> </a:t>
            </a:r>
            <a:r>
              <a:rPr lang="ko-KR" altLang="ko-KR" sz="3000" dirty="0">
                <a:ea typeface="조선가는고딕"/>
              </a:rPr>
              <a:t>필요한</a:t>
            </a:r>
            <a:r>
              <a:rPr lang="en-US" altLang="ko-KR" sz="3000" dirty="0">
                <a:latin typeface="조선가는고딕"/>
              </a:rPr>
              <a:t> </a:t>
            </a:r>
            <a:r>
              <a:rPr lang="ko-KR" altLang="ko-KR" sz="3000" dirty="0">
                <a:ea typeface="조선가는고딕"/>
              </a:rPr>
              <a:t>시사점을</a:t>
            </a:r>
            <a:r>
              <a:rPr lang="en-US" altLang="ko-KR" sz="3000" dirty="0">
                <a:latin typeface="조선가는고딕"/>
              </a:rPr>
              <a:t> </a:t>
            </a:r>
            <a:r>
              <a:rPr lang="ko-KR" altLang="ko-KR" sz="3000" dirty="0">
                <a:ea typeface="조선가는고딕"/>
              </a:rPr>
              <a:t>제공</a:t>
            </a:r>
          </a:p>
          <a:p>
            <a:pPr marL="342900" lvl="0" indent="-342900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endParaRPr lang="en-US" altLang="ko-KR" sz="3000" dirty="0">
              <a:solidFill>
                <a:srgbClr val="040000"/>
              </a:solidFill>
              <a:latin typeface="조선가는고딕"/>
            </a:endParaRPr>
          </a:p>
        </p:txBody>
      </p:sp>
      <p:sp>
        <p:nvSpPr>
          <p:cNvPr id="12" name="슬라이드 번호 개체 틀 5">
            <a:extLst>
              <a:ext uri="{FF2B5EF4-FFF2-40B4-BE49-F238E27FC236}">
                <a16:creationId xmlns:a16="http://schemas.microsoft.com/office/drawing/2014/main" id="{B757E34B-729E-4934-BFCC-6FE30D99B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180889" y="9659937"/>
            <a:ext cx="586411" cy="365125"/>
          </a:xfrm>
        </p:spPr>
        <p:txBody>
          <a:bodyPr/>
          <a:lstStyle/>
          <a:p>
            <a:r>
              <a:rPr lang="en-US" altLang="ko-KR" sz="2000" dirty="0"/>
              <a:t>2</a:t>
            </a:r>
            <a:endParaRPr lang="ko-KR" alt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787400" y="5486400"/>
            <a:ext cx="7239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endParaRPr lang="en-US" sz="3100" b="0" i="0" u="none" strike="noStrike" dirty="0">
              <a:solidFill>
                <a:srgbClr val="08A5C1"/>
              </a:solidFill>
              <a:latin typeface="Montserrat Bold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9271000" y="3263900"/>
            <a:ext cx="37338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00" y="1936750"/>
            <a:ext cx="8051800" cy="6178549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65174" y="1958977"/>
            <a:ext cx="387351" cy="3429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117600" y="2197101"/>
            <a:ext cx="16319500" cy="530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en-US" sz="3000" b="0" i="0" u="none" strike="noStrike" dirty="0">
                <a:solidFill>
                  <a:srgbClr val="040000"/>
                </a:solidFill>
                <a:latin typeface="조선가는고딕"/>
              </a:rPr>
              <a:t>공간적범위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: </a:t>
            </a:r>
            <a:r>
              <a:rPr lang="ko-KR" sz="3000" b="0" i="0" u="none" strike="noStrike" dirty="0">
                <a:solidFill>
                  <a:srgbClr val="040000"/>
                </a:solidFill>
                <a:ea typeface="조선가는고딕"/>
              </a:rPr>
              <a:t>서울</a:t>
            </a:r>
            <a:r>
              <a:rPr lang="ko-KR" altLang="en-US" sz="3000" b="0" i="0" u="none" strike="noStrike" dirty="0">
                <a:solidFill>
                  <a:srgbClr val="040000"/>
                </a:solidFill>
                <a:ea typeface="조선가는고딕"/>
              </a:rPr>
              <a:t>특별시 </a:t>
            </a:r>
            <a:r>
              <a:rPr lang="en-US" altLang="ko-KR" sz="3000" b="0" i="0" u="none" strike="noStrike" dirty="0">
                <a:solidFill>
                  <a:srgbClr val="040000"/>
                </a:solidFill>
                <a:latin typeface="조선가는고딕" panose="020B0600000101010101" charset="-127"/>
                <a:ea typeface="조선가는고딕" panose="020B0600000101010101" charset="-127"/>
              </a:rPr>
              <a:t>5</a:t>
            </a:r>
            <a:r>
              <a:rPr lang="ko-KR" altLang="en-US" sz="3000" b="0" i="0" u="none" strike="noStrike" dirty="0" err="1">
                <a:solidFill>
                  <a:srgbClr val="040000"/>
                </a:solidFill>
                <a:ea typeface="조선가는고딕"/>
              </a:rPr>
              <a:t>대권역</a:t>
            </a:r>
            <a:r>
              <a:rPr lang="ko-KR" altLang="en-US" sz="3000" b="0" i="0" u="none" strike="noStrike" dirty="0">
                <a:solidFill>
                  <a:srgbClr val="040000"/>
                </a:solidFill>
                <a:ea typeface="조선가는고딕"/>
              </a:rPr>
              <a:t> </a:t>
            </a:r>
            <a:r>
              <a:rPr lang="ko-KR" altLang="ko-KR" sz="3000" dirty="0">
                <a:solidFill>
                  <a:srgbClr val="040000"/>
                </a:solidFill>
                <a:ea typeface="조선가는고딕"/>
              </a:rPr>
              <a:t>내</a:t>
            </a:r>
            <a:r>
              <a:rPr lang="en-US" altLang="ko-KR" sz="3000" dirty="0">
                <a:solidFill>
                  <a:srgbClr val="040000"/>
                </a:solidFill>
                <a:latin typeface="조선가는고딕"/>
              </a:rPr>
              <a:t> </a:t>
            </a:r>
          </a:p>
          <a:p>
            <a:pPr lvl="0">
              <a:lnSpc>
                <a:spcPct val="124499"/>
              </a:lnSpc>
              <a:buClr>
                <a:srgbClr val="040000"/>
              </a:buClr>
            </a:pPr>
            <a:r>
              <a:rPr lang="en-US" altLang="ko-KR" sz="3000" dirty="0">
                <a:solidFill>
                  <a:srgbClr val="040000"/>
                </a:solidFill>
                <a:latin typeface="조선가는고딕"/>
                <a:ea typeface="조선가는고딕"/>
              </a:rPr>
              <a:t>                     </a:t>
            </a:r>
            <a:r>
              <a:rPr lang="ko-KR" altLang="ko-KR" sz="3000" dirty="0">
                <a:solidFill>
                  <a:srgbClr val="040000"/>
                </a:solidFill>
                <a:ea typeface="조선가는고딕"/>
              </a:rPr>
              <a:t>준공</a:t>
            </a:r>
            <a:r>
              <a:rPr lang="en-US" altLang="ko-KR" sz="3000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altLang="ko-KR" sz="3000" dirty="0">
                <a:solidFill>
                  <a:srgbClr val="040000"/>
                </a:solidFill>
                <a:ea typeface="조선가는고딕"/>
              </a:rPr>
              <a:t>완료된</a:t>
            </a:r>
            <a:r>
              <a:rPr lang="en-US" altLang="ko-KR" sz="3000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altLang="ko-KR" sz="3000" dirty="0">
                <a:solidFill>
                  <a:srgbClr val="040000"/>
                </a:solidFill>
                <a:ea typeface="조선가는고딕"/>
              </a:rPr>
              <a:t>청년안심주택</a:t>
            </a:r>
            <a:r>
              <a:rPr lang="en-US" altLang="ko-KR" sz="3000" dirty="0">
                <a:solidFill>
                  <a:srgbClr val="040000"/>
                </a:solidFill>
                <a:ea typeface="조선가는고딕"/>
              </a:rPr>
              <a:t>.</a:t>
            </a:r>
          </a:p>
          <a:p>
            <a:pPr marL="342900" lvl="0" indent="-342900" algn="l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endParaRPr lang="en-US" sz="3000" b="0" i="0" u="none" strike="noStrike" dirty="0">
              <a:solidFill>
                <a:srgbClr val="040000"/>
              </a:solidFill>
              <a:latin typeface="조선가는고딕"/>
            </a:endParaRPr>
          </a:p>
          <a:p>
            <a:pPr marL="342900" lvl="0" indent="-342900" algn="l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en-US" sz="3000" b="0" i="0" u="none" strike="noStrike" dirty="0" err="1">
                <a:solidFill>
                  <a:srgbClr val="040000"/>
                </a:solidFill>
                <a:latin typeface="+mj-ea"/>
                <a:ea typeface="+mj-ea"/>
              </a:rPr>
              <a:t>시간적범위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: 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 panose="020B0600000101010101" charset="-127"/>
                <a:ea typeface="조선가는고딕" panose="020B0600000101010101" charset="-127"/>
              </a:rPr>
              <a:t>2019</a:t>
            </a:r>
            <a:r>
              <a:rPr lang="ko-KR" altLang="en-US" sz="3000" b="0" i="0" u="none" strike="noStrike" dirty="0">
                <a:solidFill>
                  <a:srgbClr val="040000"/>
                </a:solidFill>
                <a:latin typeface="조선가는고딕" panose="020B0600000101010101" charset="-127"/>
                <a:ea typeface="조선가는고딕" panose="020B0600000101010101" charset="-127"/>
              </a:rPr>
              <a:t>년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 panose="020B0600000101010101" charset="-127"/>
                <a:ea typeface="조선가는고딕" panose="020B0600000101010101" charset="-127"/>
              </a:rPr>
              <a:t> 1</a:t>
            </a:r>
            <a:r>
              <a:rPr lang="ko-KR" altLang="en-US" sz="3000" b="0" i="0" u="none" strike="noStrike" dirty="0">
                <a:solidFill>
                  <a:srgbClr val="040000"/>
                </a:solidFill>
                <a:latin typeface="조선가는고딕" panose="020B0600000101010101" charset="-127"/>
                <a:ea typeface="조선가는고딕" panose="020B0600000101010101" charset="-127"/>
              </a:rPr>
              <a:t>월</a:t>
            </a:r>
            <a:r>
              <a:rPr lang="ko-KR" sz="3000" b="0" i="0" u="none" strike="noStrike" dirty="0">
                <a:solidFill>
                  <a:srgbClr val="040000"/>
                </a:solidFill>
                <a:latin typeface="조선가는고딕" panose="020B0600000101010101" charset="-127"/>
                <a:ea typeface="조선가는고딕" panose="020B0600000101010101" charset="-127"/>
              </a:rPr>
              <a:t>부터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 panose="020B0600000101010101" charset="-127"/>
                <a:ea typeface="조선가는고딕" panose="020B0600000101010101" charset="-127"/>
              </a:rPr>
              <a:t> 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2024</a:t>
            </a:r>
            <a:r>
              <a:rPr lang="ko-KR" sz="3000" b="0" i="0" u="none" strike="noStrike" dirty="0">
                <a:solidFill>
                  <a:srgbClr val="040000"/>
                </a:solidFill>
                <a:ea typeface="조선가는고딕"/>
              </a:rPr>
              <a:t>년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 6</a:t>
            </a:r>
            <a:r>
              <a:rPr lang="ko-KR" sz="3000" b="0" i="0" u="none" strike="noStrike" dirty="0">
                <a:solidFill>
                  <a:srgbClr val="040000"/>
                </a:solidFill>
                <a:ea typeface="조선가는고딕"/>
              </a:rPr>
              <a:t>월까지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.</a:t>
            </a:r>
          </a:p>
          <a:p>
            <a:pPr marL="342900" lvl="0" indent="-342900" algn="l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endParaRPr lang="en-US" sz="3000" b="0" i="0" u="none" strike="noStrike" dirty="0">
              <a:solidFill>
                <a:srgbClr val="040000"/>
              </a:solidFill>
              <a:latin typeface="조선가는고딕"/>
            </a:endParaRPr>
          </a:p>
          <a:p>
            <a:pPr marL="342900" lvl="0" indent="-342900" algn="l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en-US" sz="3000" b="0" i="0" u="none" strike="noStrike" dirty="0">
                <a:solidFill>
                  <a:srgbClr val="040000"/>
                </a:solidFill>
                <a:latin typeface="+mj-ea"/>
                <a:ea typeface="+mj-ea"/>
              </a:rPr>
              <a:t>내용적범위</a:t>
            </a:r>
            <a:r>
              <a:rPr lang="en-US" sz="3000" b="0" i="0" u="none" strike="noStrike" dirty="0">
                <a:solidFill>
                  <a:srgbClr val="040000"/>
                </a:solidFill>
                <a:latin typeface="조선가는고딕"/>
              </a:rPr>
              <a:t>: </a:t>
            </a:r>
            <a:r>
              <a:rPr lang="ko-KR" altLang="en-US" sz="3000" b="0" i="0" u="none" strike="noStrike" dirty="0">
                <a:latin typeface="조선가는고딕" panose="020B0600000101010101" charset="-127"/>
                <a:ea typeface="조선가는고딕" panose="020B0600000101010101" charset="-127"/>
              </a:rPr>
              <a:t>다양한 주택 유형 중 연립</a:t>
            </a:r>
            <a:r>
              <a:rPr lang="en-US" altLang="ko-KR" sz="3000" dirty="0">
                <a:latin typeface="조선가는고딕" panose="020B0600000101010101" charset="-127"/>
                <a:ea typeface="조선가는고딕" panose="020B0600000101010101" charset="-127"/>
              </a:rPr>
              <a:t>/</a:t>
            </a:r>
            <a:r>
              <a:rPr lang="ko-KR" altLang="en-US" sz="3000" b="0" i="0" u="none" strike="noStrike" dirty="0">
                <a:latin typeface="조선가는고딕" panose="020B0600000101010101" charset="-127"/>
                <a:ea typeface="조선가는고딕" panose="020B0600000101010101" charset="-127"/>
              </a:rPr>
              <a:t> </a:t>
            </a:r>
            <a:endParaRPr lang="en-US" altLang="ko-KR" sz="3000" b="0" i="0" u="none" strike="noStrike" dirty="0">
              <a:latin typeface="조선가는고딕" panose="020B0600000101010101" charset="-127"/>
              <a:ea typeface="조선가는고딕" panose="020B0600000101010101" charset="-127"/>
            </a:endParaRPr>
          </a:p>
          <a:p>
            <a:pPr lvl="0" algn="l">
              <a:lnSpc>
                <a:spcPct val="124499"/>
              </a:lnSpc>
              <a:buClr>
                <a:srgbClr val="040000"/>
              </a:buClr>
            </a:pPr>
            <a:r>
              <a:rPr lang="en-US" altLang="ko-KR" sz="3000" dirty="0">
                <a:latin typeface="조선가는고딕" panose="020B0600000101010101" charset="-127"/>
                <a:ea typeface="조선가는고딕" panose="020B0600000101010101" charset="-127"/>
              </a:rPr>
              <a:t>                     </a:t>
            </a:r>
            <a:r>
              <a:rPr lang="ko-KR" altLang="en-US" sz="3000" dirty="0">
                <a:latin typeface="조선가는고딕" panose="020B0600000101010101" charset="-127"/>
                <a:ea typeface="조선가는고딕" panose="020B0600000101010101" charset="-127"/>
              </a:rPr>
              <a:t> </a:t>
            </a:r>
            <a:r>
              <a:rPr lang="ko-KR" altLang="en-US" sz="3000" b="0" i="0" u="none" strike="noStrike" dirty="0">
                <a:latin typeface="조선가는고딕" panose="020B0600000101010101" charset="-127"/>
                <a:ea typeface="조선가는고딕" panose="020B0600000101010101" charset="-127"/>
              </a:rPr>
              <a:t>다세대</a:t>
            </a:r>
            <a:r>
              <a:rPr lang="en-US" altLang="ko-KR" sz="3000" b="0" i="0" u="none" strike="noStrike" dirty="0">
                <a:latin typeface="조선가는고딕" panose="020B0600000101010101" charset="-127"/>
                <a:ea typeface="조선가는고딕" panose="020B0600000101010101" charset="-127"/>
              </a:rPr>
              <a:t>/</a:t>
            </a:r>
            <a:r>
              <a:rPr lang="ko-KR" altLang="en-US" sz="3000" b="0" i="0" u="none" strike="noStrike" dirty="0" err="1">
                <a:latin typeface="조선가는고딕" panose="020B0600000101010101" charset="-127"/>
                <a:ea typeface="조선가는고딕" panose="020B0600000101010101" charset="-127"/>
              </a:rPr>
              <a:t>연립다세대로</a:t>
            </a:r>
            <a:r>
              <a:rPr lang="ko-KR" altLang="en-US" sz="3000" b="0" i="0" u="none" strike="noStrike" dirty="0">
                <a:latin typeface="조선가는고딕" panose="020B0600000101010101" charset="-127"/>
                <a:ea typeface="조선가는고딕" panose="020B0600000101010101" charset="-127"/>
              </a:rPr>
              <a:t> 한정</a:t>
            </a:r>
            <a:r>
              <a:rPr lang="en-US" altLang="ko-KR" sz="3000" b="0" i="0" u="none" strike="noStrike" dirty="0">
                <a:latin typeface="조선가는고딕" panose="020B0600000101010101" charset="-127"/>
                <a:ea typeface="조선가는고딕" panose="020B0600000101010101" charset="-127"/>
              </a:rPr>
              <a:t>.</a:t>
            </a:r>
          </a:p>
          <a:p>
            <a:pPr lvl="0" algn="l">
              <a:lnSpc>
                <a:spcPct val="124499"/>
              </a:lnSpc>
              <a:buClr>
                <a:srgbClr val="040000"/>
              </a:buClr>
            </a:pPr>
            <a:endParaRPr lang="en-US" altLang="ko-KR" sz="3000" b="0" i="0" u="none" strike="noStrike" dirty="0">
              <a:latin typeface="조선가는고딕" panose="020B0600000101010101" charset="-127"/>
              <a:ea typeface="조선가는고딕" panose="020B0600000101010101" charset="-127"/>
            </a:endParaRPr>
          </a:p>
          <a:p>
            <a:pPr marL="342900" lvl="0" indent="-342900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en-US" sz="3000" dirty="0">
                <a:solidFill>
                  <a:srgbClr val="040000"/>
                </a:solidFill>
                <a:latin typeface="+mj-ea"/>
              </a:rPr>
              <a:t>데이터</a:t>
            </a:r>
            <a:r>
              <a:rPr lang="en-US" altLang="ko-KR" sz="3000" dirty="0">
                <a:solidFill>
                  <a:srgbClr val="040000"/>
                </a:solidFill>
                <a:latin typeface="조선가는고딕"/>
              </a:rPr>
              <a:t>: </a:t>
            </a:r>
            <a:r>
              <a:rPr lang="ko-KR" altLang="en-US" sz="3000" dirty="0">
                <a:solidFill>
                  <a:srgbClr val="040000"/>
                </a:solidFill>
                <a:ea typeface="조선가는고딕"/>
              </a:rPr>
              <a:t>국토교통부 실거래가 공개시스템</a:t>
            </a:r>
            <a:r>
              <a:rPr lang="en-US" altLang="ko-KR" sz="3000" dirty="0">
                <a:solidFill>
                  <a:srgbClr val="040000"/>
                </a:solidFill>
                <a:ea typeface="조선가는고딕"/>
              </a:rPr>
              <a:t>.</a:t>
            </a:r>
          </a:p>
          <a:p>
            <a:pPr lvl="0" algn="l">
              <a:lnSpc>
                <a:spcPct val="124499"/>
              </a:lnSpc>
              <a:buClr>
                <a:srgbClr val="040000"/>
              </a:buClr>
            </a:pPr>
            <a:endParaRPr lang="en-US" altLang="ko-KR" sz="3000" dirty="0">
              <a:solidFill>
                <a:srgbClr val="040000"/>
              </a:solidFill>
              <a:ea typeface="조선가는고딕"/>
            </a:endParaRPr>
          </a:p>
          <a:p>
            <a:pPr lvl="0" algn="l">
              <a:lnSpc>
                <a:spcPct val="124499"/>
              </a:lnSpc>
              <a:buClr>
                <a:srgbClr val="040000"/>
              </a:buClr>
            </a:pPr>
            <a:endParaRPr lang="en-US" altLang="ko-KR" sz="3000" dirty="0">
              <a:solidFill>
                <a:srgbClr val="040000"/>
              </a:solidFill>
              <a:ea typeface="조선가는고딕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422400" y="723900"/>
            <a:ext cx="54356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3100" b="0" i="0" u="none" strike="noStrike" dirty="0">
                <a:solidFill>
                  <a:srgbClr val="393939"/>
                </a:solidFill>
                <a:ea typeface="Pretendard Bold"/>
              </a:rPr>
              <a:t>연구</a:t>
            </a:r>
            <a:r>
              <a:rPr lang="en-US" sz="3100" b="0" i="0" u="none" strike="noStrike" dirty="0">
                <a:solidFill>
                  <a:srgbClr val="393939"/>
                </a:solidFill>
                <a:latin typeface="Pretendard Bold"/>
              </a:rPr>
              <a:t> </a:t>
            </a:r>
            <a:r>
              <a:rPr lang="ko-KR" sz="3100" b="0" i="0" u="none" strike="noStrike" dirty="0">
                <a:solidFill>
                  <a:srgbClr val="393939"/>
                </a:solidFill>
                <a:ea typeface="Pretendard Bold"/>
              </a:rPr>
              <a:t>범</a:t>
            </a:r>
            <a:r>
              <a:rPr lang="ko-KR" altLang="en-US" sz="3100" b="0" i="0" u="none" strike="noStrike" dirty="0">
                <a:solidFill>
                  <a:srgbClr val="393939"/>
                </a:solidFill>
                <a:ea typeface="Pretendard Bold"/>
              </a:rPr>
              <a:t>위 및 방법</a:t>
            </a:r>
            <a:endParaRPr lang="ko-KR" sz="3100" b="0" i="0" u="none" strike="noStrike" dirty="0">
              <a:solidFill>
                <a:srgbClr val="393939"/>
              </a:solidFill>
              <a:ea typeface="Pretendard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98500" y="723901"/>
            <a:ext cx="7239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3100" dirty="0">
                <a:solidFill>
                  <a:srgbClr val="08A5C1"/>
                </a:solidFill>
                <a:latin typeface="Montserrat Bold"/>
              </a:rPr>
              <a:t>2</a:t>
            </a:r>
            <a:r>
              <a:rPr lang="ko-KR" altLang="en-US" sz="3100" b="0" i="0" u="none" strike="noStrike" dirty="0">
                <a:solidFill>
                  <a:srgbClr val="08A5C1"/>
                </a:solidFill>
                <a:latin typeface="Montserrat Bold"/>
              </a:rPr>
              <a:t>절</a:t>
            </a:r>
            <a:endParaRPr lang="en-US" sz="3100" b="0" i="0" u="none" strike="noStrike" dirty="0">
              <a:solidFill>
                <a:srgbClr val="08A5C1"/>
              </a:solidFill>
              <a:latin typeface="Montserrat Bold"/>
            </a:endParaRPr>
          </a:p>
        </p:txBody>
      </p:sp>
      <p:pic>
        <p:nvPicPr>
          <p:cNvPr id="13" name="Picture 3">
            <a:extLst>
              <a:ext uri="{FF2B5EF4-FFF2-40B4-BE49-F238E27FC236}">
                <a16:creationId xmlns:a16="http://schemas.microsoft.com/office/drawing/2014/main" id="{4C9EBF63-F49A-4457-8D99-CC15B1339B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9600" y="1936749"/>
            <a:ext cx="8001000" cy="6178551"/>
          </a:xfrm>
          <a:prstGeom prst="rect">
            <a:avLst/>
          </a:prstGeom>
        </p:spPr>
      </p:pic>
      <p:sp>
        <p:nvSpPr>
          <p:cNvPr id="14" name="슬라이드 번호 개체 틀 5">
            <a:extLst>
              <a:ext uri="{FF2B5EF4-FFF2-40B4-BE49-F238E27FC236}">
                <a16:creationId xmlns:a16="http://schemas.microsoft.com/office/drawing/2014/main" id="{ABD27802-2B6B-4FDC-8D92-5DDFED9B8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180889" y="9659937"/>
            <a:ext cx="586411" cy="365125"/>
          </a:xfrm>
        </p:spPr>
        <p:txBody>
          <a:bodyPr/>
          <a:lstStyle/>
          <a:p>
            <a:r>
              <a:rPr lang="en-US" altLang="ko-KR" sz="2000" dirty="0"/>
              <a:t>3</a:t>
            </a:r>
            <a:endParaRPr lang="ko-KR" alt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76200" y="2933700"/>
            <a:ext cx="18402300" cy="25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5537200"/>
            <a:ext cx="3771900" cy="3987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6200" y="5537200"/>
            <a:ext cx="3771900" cy="4000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3400" y="2857500"/>
            <a:ext cx="215900" cy="215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5537200"/>
            <a:ext cx="3771900" cy="4000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25200" y="2857500"/>
            <a:ext cx="215900" cy="215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01700" y="5537200"/>
            <a:ext cx="3771900" cy="4000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54300" y="2882900"/>
            <a:ext cx="215900" cy="215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7000" y="2882900"/>
            <a:ext cx="215900" cy="215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889000" y="5537200"/>
            <a:ext cx="279400" cy="279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5156200" y="5537200"/>
            <a:ext cx="279400" cy="279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9359900" y="5537200"/>
            <a:ext cx="279400" cy="279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3601700" y="5537200"/>
            <a:ext cx="279400" cy="279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574800" y="736600"/>
            <a:ext cx="54356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3100" b="0" i="0" u="none" strike="noStrike" dirty="0">
                <a:solidFill>
                  <a:srgbClr val="393939"/>
                </a:solidFill>
                <a:ea typeface="Pretendard Bold"/>
              </a:rPr>
              <a:t>연구의</a:t>
            </a:r>
            <a:r>
              <a:rPr lang="en-US" altLang="ko-KR" sz="3100" dirty="0">
                <a:solidFill>
                  <a:srgbClr val="393939"/>
                </a:solidFill>
                <a:ea typeface="Pretendard Bold"/>
              </a:rPr>
              <a:t> </a:t>
            </a:r>
            <a:r>
              <a:rPr lang="ko-KR" altLang="en-US" sz="3100" dirty="0">
                <a:solidFill>
                  <a:srgbClr val="393939"/>
                </a:solidFill>
                <a:ea typeface="Pretendard Bold"/>
              </a:rPr>
              <a:t>범위</a:t>
            </a:r>
            <a:r>
              <a:rPr lang="ko-KR" altLang="en-US" sz="3100" b="0" i="0" u="none" strike="noStrike" dirty="0">
                <a:solidFill>
                  <a:srgbClr val="393939"/>
                </a:solidFill>
                <a:ea typeface="Pretendard Bold"/>
              </a:rPr>
              <a:t> 및 방법</a:t>
            </a:r>
            <a:endParaRPr lang="ko-KR" sz="3100" b="0" i="0" u="none" strike="noStrike" dirty="0">
              <a:solidFill>
                <a:srgbClr val="393939"/>
              </a:solidFill>
              <a:ea typeface="Pretendard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89000" y="723900"/>
            <a:ext cx="8255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3000" dirty="0">
                <a:solidFill>
                  <a:srgbClr val="08A5C1"/>
                </a:solidFill>
                <a:latin typeface="Montserrat Bold"/>
              </a:rPr>
              <a:t>2</a:t>
            </a:r>
            <a:r>
              <a:rPr lang="ko-KR" altLang="en-US" sz="3000" dirty="0">
                <a:solidFill>
                  <a:srgbClr val="08A5C1"/>
                </a:solidFill>
                <a:latin typeface="Montserrat Bold"/>
              </a:rPr>
              <a:t>절</a:t>
            </a:r>
            <a:endParaRPr lang="en-US" altLang="ko-KR" sz="3000" dirty="0">
              <a:solidFill>
                <a:srgbClr val="08A5C1"/>
              </a:solidFill>
              <a:latin typeface="Montserrat Bold"/>
            </a:endParaRPr>
          </a:p>
          <a:p>
            <a:pPr lvl="0" algn="l">
              <a:lnSpc>
                <a:spcPct val="116199"/>
              </a:lnSpc>
            </a:pPr>
            <a:endParaRPr lang="en-US" sz="3100" b="0" i="0" u="none" strike="noStrike" dirty="0">
              <a:solidFill>
                <a:srgbClr val="08A5C1"/>
              </a:solidFill>
              <a:latin typeface="Montserrat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50900" y="3975100"/>
            <a:ext cx="38735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3200" b="0" i="0" u="none" strike="noStrike" dirty="0">
                <a:solidFill>
                  <a:srgbClr val="393939"/>
                </a:solidFill>
                <a:latin typeface="Pretendard Bold" panose="020B0600000101010101" charset="-127"/>
                <a:ea typeface="Pretendard Bold" panose="020B0600000101010101" charset="-127"/>
              </a:rPr>
              <a:t>서론</a:t>
            </a:r>
            <a:endParaRPr lang="ko-KR" sz="3200" b="0" i="0" u="none" strike="noStrike" dirty="0">
              <a:solidFill>
                <a:srgbClr val="393939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146300" y="3352800"/>
            <a:ext cx="12827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08A5C1"/>
                </a:solidFill>
                <a:latin typeface="Montserrat SemiBold"/>
              </a:rPr>
              <a:t>01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092700" y="3975100"/>
            <a:ext cx="38735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3200" b="0" i="0" u="none" strike="noStrike" dirty="0">
                <a:solidFill>
                  <a:srgbClr val="393939"/>
                </a:solidFill>
                <a:ea typeface="Pretendard Bold"/>
              </a:rPr>
              <a:t>이론 및 선행연구</a:t>
            </a:r>
            <a:endParaRPr lang="ko-KR" sz="3200" b="0" i="0" u="none" strike="noStrike" dirty="0">
              <a:solidFill>
                <a:srgbClr val="393939"/>
              </a:solidFill>
              <a:ea typeface="Pretendard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388100" y="3352800"/>
            <a:ext cx="12827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08A5C1"/>
                </a:solidFill>
                <a:latin typeface="Montserrat SemiBold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321800" y="3975100"/>
            <a:ext cx="38735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3200" b="0" i="0" u="none" strike="noStrike" dirty="0">
                <a:solidFill>
                  <a:srgbClr val="393939"/>
                </a:solidFill>
                <a:ea typeface="Pretendard Bold"/>
              </a:rPr>
              <a:t>분석</a:t>
            </a:r>
            <a:endParaRPr lang="ko-KR" sz="3200" b="0" i="0" u="none" strike="noStrike" dirty="0">
              <a:solidFill>
                <a:srgbClr val="393939"/>
              </a:solidFill>
              <a:ea typeface="Pretendard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0629900" y="3352800"/>
            <a:ext cx="12827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08A5C1"/>
                </a:solidFill>
                <a:latin typeface="Montserrat SemiBold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563600" y="3962400"/>
            <a:ext cx="38735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3200" b="0" i="0" u="none" strike="noStrike" dirty="0">
                <a:solidFill>
                  <a:srgbClr val="393939"/>
                </a:solidFill>
                <a:ea typeface="Pretendard Bold"/>
              </a:rPr>
              <a:t>결론</a:t>
            </a:r>
            <a:endParaRPr lang="ko-KR" sz="3200" b="0" i="0" u="none" strike="noStrike" dirty="0">
              <a:solidFill>
                <a:srgbClr val="393939"/>
              </a:solidFill>
              <a:ea typeface="Pretendard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4859000" y="3352800"/>
            <a:ext cx="12827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08A5C1"/>
                </a:solidFill>
                <a:latin typeface="Montserrat SemiBold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92200" y="5930900"/>
            <a:ext cx="3454400" cy="313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43590"/>
              </a:lnSpc>
              <a:buClr>
                <a:srgbClr val="393939"/>
              </a:buClr>
              <a:buFont typeface="Arial"/>
              <a:buChar char="●"/>
            </a:pPr>
            <a:r>
              <a:rPr lang="en-US" altLang="ko-KR" sz="2500" b="0" i="0" u="none" strike="noStrike" spc="-100" dirty="0">
                <a:solidFill>
                  <a:srgbClr val="393939"/>
                </a:solidFill>
                <a:ea typeface="조선가는고딕"/>
              </a:rPr>
              <a:t>1</a:t>
            </a:r>
            <a:r>
              <a:rPr lang="ko-KR" altLang="en-US" sz="2500" b="0" i="0" u="none" strike="noStrike" spc="-100" dirty="0">
                <a:solidFill>
                  <a:srgbClr val="393939"/>
                </a:solidFill>
                <a:ea typeface="조선가는고딕"/>
              </a:rPr>
              <a:t>인가구의 증가</a:t>
            </a:r>
            <a:endParaRPr lang="en-US" altLang="ko-KR" sz="2500" b="0" i="0" u="none" strike="noStrike" spc="-100" dirty="0">
              <a:solidFill>
                <a:srgbClr val="393939"/>
              </a:solidFill>
              <a:ea typeface="조선가는고딕"/>
            </a:endParaRPr>
          </a:p>
          <a:p>
            <a:pPr marL="342900" lvl="0" indent="-342900" algn="l">
              <a:lnSpc>
                <a:spcPct val="143590"/>
              </a:lnSpc>
              <a:buClr>
                <a:srgbClr val="393939"/>
              </a:buClr>
              <a:buFont typeface="Arial"/>
              <a:buChar char="●"/>
            </a:pPr>
            <a:r>
              <a:rPr lang="ko-KR" altLang="en-US" sz="2500" spc="-100" dirty="0">
                <a:solidFill>
                  <a:srgbClr val="393939"/>
                </a:solidFill>
                <a:ea typeface="조선가는고딕"/>
              </a:rPr>
              <a:t>청년층의 주거 안정성 저하</a:t>
            </a:r>
            <a:endParaRPr lang="en-US" altLang="ko-KR" sz="2500" b="0" i="0" u="none" strike="noStrike" spc="-100" dirty="0">
              <a:solidFill>
                <a:srgbClr val="393939"/>
              </a:solidFill>
              <a:ea typeface="조선가는고딕"/>
            </a:endParaRPr>
          </a:p>
          <a:p>
            <a:pPr marL="342900" lvl="0" indent="-342900" algn="l">
              <a:lnSpc>
                <a:spcPct val="143590"/>
              </a:lnSpc>
              <a:buClr>
                <a:srgbClr val="393939"/>
              </a:buClr>
              <a:buFont typeface="Arial"/>
              <a:buChar char="●"/>
            </a:pPr>
            <a:r>
              <a:rPr lang="en-US" altLang="ko-KR" sz="2500" spc="-100" dirty="0">
                <a:solidFill>
                  <a:srgbClr val="393939"/>
                </a:solidFill>
                <a:ea typeface="조선가는고딕"/>
              </a:rPr>
              <a:t>1</a:t>
            </a:r>
            <a:r>
              <a:rPr lang="ko-KR" altLang="en-US" sz="2500" spc="-100" dirty="0" err="1">
                <a:solidFill>
                  <a:srgbClr val="393939"/>
                </a:solidFill>
                <a:ea typeface="조선가는고딕"/>
              </a:rPr>
              <a:t>인가구</a:t>
            </a:r>
            <a:r>
              <a:rPr lang="ko-KR" altLang="en-US" sz="2500" spc="-100" dirty="0">
                <a:solidFill>
                  <a:srgbClr val="393939"/>
                </a:solidFill>
                <a:ea typeface="조선가는고딕"/>
              </a:rPr>
              <a:t> 증가로 인한 다양한 사회문제</a:t>
            </a:r>
            <a:endParaRPr lang="en-US" altLang="ko-KR" sz="2500" spc="-100" dirty="0">
              <a:solidFill>
                <a:srgbClr val="393939"/>
              </a:solidFill>
              <a:ea typeface="조선가는고딕"/>
            </a:endParaRPr>
          </a:p>
          <a:p>
            <a:pPr marL="342900" lvl="0" indent="-342900" algn="l">
              <a:lnSpc>
                <a:spcPct val="143590"/>
              </a:lnSpc>
              <a:buClr>
                <a:srgbClr val="393939"/>
              </a:buClr>
              <a:buFont typeface="Arial"/>
              <a:buChar char="●"/>
            </a:pPr>
            <a:r>
              <a:rPr lang="ko-KR" altLang="en-US" sz="2500" b="0" i="0" u="none" strike="noStrike" spc="-100" dirty="0">
                <a:solidFill>
                  <a:srgbClr val="393939"/>
                </a:solidFill>
                <a:ea typeface="조선가는고딕"/>
              </a:rPr>
              <a:t>청년안심주택 도입</a:t>
            </a:r>
            <a:endParaRPr lang="ko-KR" sz="2500" b="0" i="0" u="none" strike="noStrike" spc="-100" dirty="0">
              <a:solidFill>
                <a:srgbClr val="393939"/>
              </a:solidFill>
              <a:ea typeface="조선가는고딕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5346700" y="5880100"/>
            <a:ext cx="3454400" cy="1295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43590"/>
              </a:lnSpc>
              <a:buClr>
                <a:srgbClr val="393939"/>
              </a:buClr>
              <a:buFont typeface="Arial"/>
              <a:buChar char="●"/>
            </a:pPr>
            <a:r>
              <a:rPr lang="ko-KR" altLang="en-US" sz="2500" b="0" i="0" u="none" strike="noStrike" spc="-100" dirty="0">
                <a:solidFill>
                  <a:srgbClr val="393939"/>
                </a:solidFill>
                <a:ea typeface="조선가는고딕"/>
              </a:rPr>
              <a:t>청년안심주택 정의</a:t>
            </a:r>
            <a:endParaRPr lang="en-US" altLang="ko-KR" sz="2500" b="0" i="0" u="none" strike="noStrike" spc="-100" dirty="0">
              <a:solidFill>
                <a:srgbClr val="393939"/>
              </a:solidFill>
              <a:ea typeface="조선가는고딕"/>
            </a:endParaRPr>
          </a:p>
          <a:p>
            <a:pPr marL="342900" lvl="0" indent="-342900" algn="l">
              <a:lnSpc>
                <a:spcPct val="143590"/>
              </a:lnSpc>
              <a:buClr>
                <a:srgbClr val="393939"/>
              </a:buClr>
              <a:buFont typeface="Arial"/>
              <a:buChar char="●"/>
            </a:pPr>
            <a:endParaRPr lang="en-US" altLang="ko-KR" sz="2500" spc="-100" dirty="0">
              <a:solidFill>
                <a:srgbClr val="393939"/>
              </a:solidFill>
              <a:ea typeface="조선가는고딕"/>
            </a:endParaRPr>
          </a:p>
          <a:p>
            <a:pPr marL="342900" lvl="0" indent="-342900" algn="l">
              <a:lnSpc>
                <a:spcPct val="143590"/>
              </a:lnSpc>
              <a:buClr>
                <a:srgbClr val="393939"/>
              </a:buClr>
              <a:buFont typeface="Arial"/>
              <a:buChar char="●"/>
            </a:pPr>
            <a:r>
              <a:rPr lang="en-US" altLang="ko-KR" sz="2500" b="0" i="0" u="none" strike="noStrike" spc="-100" dirty="0">
                <a:solidFill>
                  <a:srgbClr val="393939"/>
                </a:solidFill>
                <a:ea typeface="조선가는고딕"/>
              </a:rPr>
              <a:t>1</a:t>
            </a:r>
            <a:r>
              <a:rPr lang="ko-KR" altLang="en-US" sz="2500" b="0" i="0" u="none" strike="noStrike" spc="-100" dirty="0" err="1">
                <a:solidFill>
                  <a:srgbClr val="393939"/>
                </a:solidFill>
                <a:ea typeface="조선가는고딕"/>
              </a:rPr>
              <a:t>인가구</a:t>
            </a:r>
            <a:r>
              <a:rPr lang="ko-KR" altLang="en-US" sz="2500" b="0" i="0" u="none" strike="noStrike" spc="-100" dirty="0">
                <a:solidFill>
                  <a:srgbClr val="393939"/>
                </a:solidFill>
                <a:ea typeface="조선가는고딕"/>
              </a:rPr>
              <a:t> 면적기준</a:t>
            </a:r>
            <a:endParaRPr lang="en-US" altLang="ko-KR" sz="2500" b="0" i="0" u="none" strike="noStrike" spc="-100" dirty="0">
              <a:solidFill>
                <a:srgbClr val="393939"/>
              </a:solidFill>
              <a:ea typeface="조선가는고딕"/>
            </a:endParaRPr>
          </a:p>
          <a:p>
            <a:pPr marL="342900" lvl="0" indent="-342900" algn="l">
              <a:lnSpc>
                <a:spcPct val="143590"/>
              </a:lnSpc>
              <a:buClr>
                <a:srgbClr val="393939"/>
              </a:buClr>
              <a:buFont typeface="Arial"/>
              <a:buChar char="●"/>
            </a:pPr>
            <a:endParaRPr lang="en-US" altLang="ko-KR" sz="2500" spc="-100" dirty="0">
              <a:solidFill>
                <a:srgbClr val="393939"/>
              </a:solidFill>
              <a:ea typeface="조선가는고딕"/>
            </a:endParaRPr>
          </a:p>
          <a:p>
            <a:pPr marL="342900" lvl="0" indent="-342900" algn="l">
              <a:lnSpc>
                <a:spcPct val="143590"/>
              </a:lnSpc>
              <a:buClr>
                <a:srgbClr val="393939"/>
              </a:buClr>
              <a:buFont typeface="Arial"/>
              <a:buChar char="●"/>
            </a:pPr>
            <a:r>
              <a:rPr lang="ko-KR" altLang="en-US" sz="2500" b="0" i="0" u="none" strike="noStrike" spc="-100" dirty="0">
                <a:solidFill>
                  <a:srgbClr val="393939"/>
                </a:solidFill>
                <a:ea typeface="조선가는고딕"/>
              </a:rPr>
              <a:t>선행연구 검토</a:t>
            </a:r>
            <a:endParaRPr lang="en-US" altLang="ko-KR" sz="2500" b="0" i="0" u="none" strike="noStrike" spc="-100" dirty="0">
              <a:solidFill>
                <a:srgbClr val="393939"/>
              </a:solidFill>
              <a:ea typeface="조선가는고딕"/>
            </a:endParaRPr>
          </a:p>
          <a:p>
            <a:pPr marL="342900" lvl="0" indent="-342900" algn="l">
              <a:lnSpc>
                <a:spcPct val="143590"/>
              </a:lnSpc>
              <a:buClr>
                <a:srgbClr val="393939"/>
              </a:buClr>
              <a:buFont typeface="Arial"/>
              <a:buChar char="●"/>
            </a:pPr>
            <a:endParaRPr lang="en-US" altLang="ko-KR" sz="2100" spc="-100" dirty="0">
              <a:solidFill>
                <a:srgbClr val="393939"/>
              </a:solidFill>
              <a:ea typeface="조선가는고딕"/>
            </a:endParaRPr>
          </a:p>
          <a:p>
            <a:pPr marL="342900" lvl="0" indent="-342900" algn="l">
              <a:lnSpc>
                <a:spcPct val="143590"/>
              </a:lnSpc>
              <a:buClr>
                <a:srgbClr val="393939"/>
              </a:buClr>
              <a:buFont typeface="Arial"/>
              <a:buChar char="●"/>
            </a:pPr>
            <a:endParaRPr lang="ko-KR" sz="2100" b="0" i="0" u="none" strike="noStrike" spc="-100" dirty="0">
              <a:solidFill>
                <a:srgbClr val="393939"/>
              </a:solidFill>
              <a:ea typeface="조선가는고딕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563100" y="5918200"/>
            <a:ext cx="3454400" cy="176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43590"/>
              </a:lnSpc>
              <a:buClr>
                <a:srgbClr val="393939"/>
              </a:buClr>
              <a:buFont typeface="Arial"/>
              <a:buChar char="●"/>
            </a:pPr>
            <a:r>
              <a:rPr lang="ko-KR" altLang="en-US" sz="2500" b="0" i="0" u="none" strike="noStrike" spc="-100" dirty="0" err="1">
                <a:solidFill>
                  <a:srgbClr val="393939"/>
                </a:solidFill>
                <a:ea typeface="조선가는고딕"/>
              </a:rPr>
              <a:t>기초통계량</a:t>
            </a:r>
            <a:r>
              <a:rPr lang="ko-KR" altLang="en-US" sz="2500" b="0" i="0" u="none" strike="noStrike" spc="-100" dirty="0">
                <a:solidFill>
                  <a:srgbClr val="393939"/>
                </a:solidFill>
                <a:ea typeface="조선가는고딕"/>
              </a:rPr>
              <a:t> 및 상관관계분석</a:t>
            </a:r>
            <a:endParaRPr lang="en-US" altLang="ko-KR" sz="2500" b="0" i="0" u="none" strike="noStrike" spc="-100" dirty="0">
              <a:solidFill>
                <a:srgbClr val="393939"/>
              </a:solidFill>
              <a:ea typeface="조선가는고딕"/>
            </a:endParaRPr>
          </a:p>
          <a:p>
            <a:pPr marL="342900" lvl="0" indent="-342900" algn="l">
              <a:lnSpc>
                <a:spcPct val="143590"/>
              </a:lnSpc>
              <a:buClr>
                <a:srgbClr val="393939"/>
              </a:buClr>
              <a:buFont typeface="Arial"/>
              <a:buChar char="●"/>
            </a:pPr>
            <a:r>
              <a:rPr lang="ko-KR" altLang="en-US" sz="2500" b="0" i="0" u="none" strike="noStrike" spc="-100" dirty="0">
                <a:solidFill>
                  <a:srgbClr val="393939"/>
                </a:solidFill>
                <a:ea typeface="조선가는고딕"/>
              </a:rPr>
              <a:t>일</a:t>
            </a:r>
            <a:r>
              <a:rPr lang="ko-KR" sz="2500" b="0" i="0" u="none" strike="noStrike" spc="-100" dirty="0">
                <a:solidFill>
                  <a:srgbClr val="393939"/>
                </a:solidFill>
                <a:ea typeface="조선가는고딕"/>
              </a:rPr>
              <a:t>원배치</a:t>
            </a:r>
            <a:r>
              <a:rPr lang="en-US" altLang="ko-KR" sz="2500" b="0" i="0" u="none" strike="noStrike" spc="-100" dirty="0">
                <a:solidFill>
                  <a:srgbClr val="393939"/>
                </a:solidFill>
                <a:ea typeface="조선가는고딕"/>
              </a:rPr>
              <a:t> </a:t>
            </a:r>
            <a:r>
              <a:rPr lang="ko-KR" sz="2500" b="0" i="0" u="none" strike="noStrike" spc="-100" dirty="0">
                <a:solidFill>
                  <a:srgbClr val="393939"/>
                </a:solidFill>
                <a:ea typeface="조선가는고딕"/>
              </a:rPr>
              <a:t>분산분석</a:t>
            </a:r>
            <a:endParaRPr lang="en-US" altLang="ko-KR" sz="2500" b="0" i="0" u="none" strike="noStrike" spc="-100" dirty="0">
              <a:solidFill>
                <a:srgbClr val="393939"/>
              </a:solidFill>
              <a:ea typeface="조선가는고딕"/>
            </a:endParaRPr>
          </a:p>
          <a:p>
            <a:pPr lvl="0" algn="l">
              <a:lnSpc>
                <a:spcPct val="143590"/>
              </a:lnSpc>
              <a:buClr>
                <a:srgbClr val="393939"/>
              </a:buClr>
            </a:pPr>
            <a:r>
              <a:rPr lang="en-US" sz="2500" b="0" i="0" u="none" strike="noStrike" spc="-100" dirty="0">
                <a:solidFill>
                  <a:srgbClr val="393939"/>
                </a:solidFill>
                <a:latin typeface="조선가는고딕"/>
              </a:rPr>
              <a:t>    (ANOVA </a:t>
            </a:r>
            <a:r>
              <a:rPr lang="ko-KR" sz="2500" b="0" i="0" u="none" strike="noStrike" spc="-100" dirty="0">
                <a:solidFill>
                  <a:srgbClr val="393939"/>
                </a:solidFill>
                <a:ea typeface="조선가는고딕"/>
              </a:rPr>
              <a:t>분석</a:t>
            </a:r>
            <a:r>
              <a:rPr lang="en-US" sz="2500" b="0" i="0" u="none" strike="noStrike" spc="-100" dirty="0">
                <a:solidFill>
                  <a:srgbClr val="393939"/>
                </a:solidFill>
                <a:latin typeface="조선가는고딕"/>
              </a:rPr>
              <a:t> )</a:t>
            </a:r>
          </a:p>
          <a:p>
            <a:pPr marL="342900" lvl="0" indent="-342900">
              <a:lnSpc>
                <a:spcPct val="143590"/>
              </a:lnSpc>
              <a:buClr>
                <a:srgbClr val="393939"/>
              </a:buClr>
              <a:buFont typeface="Arial"/>
              <a:buChar char="●"/>
            </a:pPr>
            <a:r>
              <a:rPr lang="ko-KR" altLang="ko-KR" sz="2500" spc="-100" dirty="0">
                <a:solidFill>
                  <a:srgbClr val="393939"/>
                </a:solidFill>
                <a:ea typeface="조선가는고딕"/>
              </a:rPr>
              <a:t>다중회귀분석</a:t>
            </a:r>
          </a:p>
          <a:p>
            <a:pPr lvl="0">
              <a:lnSpc>
                <a:spcPct val="143590"/>
              </a:lnSpc>
              <a:buClr>
                <a:srgbClr val="393939"/>
              </a:buClr>
            </a:pPr>
            <a:endParaRPr lang="ko-KR" altLang="ko-KR" sz="2100" spc="-100" dirty="0">
              <a:solidFill>
                <a:srgbClr val="393939"/>
              </a:solidFill>
              <a:ea typeface="조선가는고딕"/>
            </a:endParaRPr>
          </a:p>
          <a:p>
            <a:pPr marL="342900" lvl="0" indent="-342900">
              <a:lnSpc>
                <a:spcPct val="143590"/>
              </a:lnSpc>
              <a:buClr>
                <a:srgbClr val="393939"/>
              </a:buClr>
              <a:buFont typeface="Arial"/>
              <a:buChar char="●"/>
            </a:pPr>
            <a:endParaRPr lang="ko-KR" altLang="ko-KR" sz="2100" spc="-100" dirty="0">
              <a:solidFill>
                <a:srgbClr val="393939"/>
              </a:solidFill>
              <a:ea typeface="조선가는고딕"/>
            </a:endParaRPr>
          </a:p>
          <a:p>
            <a:pPr marL="342900" lvl="0" indent="-342900" algn="l">
              <a:lnSpc>
                <a:spcPct val="143590"/>
              </a:lnSpc>
              <a:buClr>
                <a:srgbClr val="393939"/>
              </a:buClr>
              <a:buFont typeface="Arial"/>
              <a:buChar char="●"/>
            </a:pPr>
            <a:endParaRPr lang="en-US" sz="2100" b="0" i="0" u="none" strike="noStrike" spc="-100" dirty="0">
              <a:solidFill>
                <a:srgbClr val="393939"/>
              </a:solidFill>
              <a:latin typeface="조선가는고딕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3843000" y="5918200"/>
            <a:ext cx="3454400" cy="176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43590"/>
              </a:lnSpc>
              <a:buClr>
                <a:srgbClr val="393939"/>
              </a:buClr>
              <a:buFont typeface="Arial"/>
              <a:buChar char="●"/>
            </a:pPr>
            <a:r>
              <a:rPr lang="ko-KR" altLang="en-US" sz="2500" b="0" i="0" u="none" strike="noStrike" spc="-100" dirty="0">
                <a:solidFill>
                  <a:srgbClr val="393939"/>
                </a:solidFill>
                <a:ea typeface="조선가는고딕"/>
              </a:rPr>
              <a:t>한계 및 </a:t>
            </a:r>
            <a:r>
              <a:rPr lang="ko-KR" sz="2500" b="0" i="0" u="none" strike="noStrike" spc="-100" dirty="0">
                <a:solidFill>
                  <a:srgbClr val="393939"/>
                </a:solidFill>
                <a:ea typeface="조선가는고딕"/>
              </a:rPr>
              <a:t>시사점</a:t>
            </a:r>
            <a:endParaRPr lang="en-US" altLang="ko-KR" sz="2500" b="0" i="0" u="none" strike="noStrike" spc="-100" dirty="0">
              <a:solidFill>
                <a:srgbClr val="393939"/>
              </a:solidFill>
              <a:ea typeface="조선가는고딕"/>
            </a:endParaRPr>
          </a:p>
          <a:p>
            <a:pPr marL="342900" lvl="0" indent="-342900" algn="l">
              <a:lnSpc>
                <a:spcPct val="143590"/>
              </a:lnSpc>
              <a:buClr>
                <a:srgbClr val="393939"/>
              </a:buClr>
              <a:buFont typeface="Arial"/>
              <a:buChar char="●"/>
            </a:pPr>
            <a:endParaRPr lang="ko-KR" sz="2500" b="0" i="0" u="none" strike="noStrike" spc="-100" dirty="0">
              <a:solidFill>
                <a:srgbClr val="393939"/>
              </a:solidFill>
              <a:ea typeface="조선가는고딕"/>
            </a:endParaRPr>
          </a:p>
          <a:p>
            <a:pPr marL="342900" lvl="0" indent="-342900" algn="l">
              <a:lnSpc>
                <a:spcPct val="143590"/>
              </a:lnSpc>
              <a:buClr>
                <a:srgbClr val="393939"/>
              </a:buClr>
              <a:buFont typeface="Arial"/>
              <a:buChar char="●"/>
            </a:pPr>
            <a:r>
              <a:rPr lang="ko-KR" altLang="en-US" sz="2500" b="0" i="0" u="none" strike="noStrike" spc="-100" dirty="0">
                <a:solidFill>
                  <a:srgbClr val="393939"/>
                </a:solidFill>
                <a:ea typeface="조선가는고딕"/>
              </a:rPr>
              <a:t>참고문헌</a:t>
            </a:r>
            <a:endParaRPr lang="en-US" altLang="ko-KR" sz="2100" spc="-100" dirty="0">
              <a:solidFill>
                <a:srgbClr val="393939"/>
              </a:solidFill>
              <a:ea typeface="조선가는고딕"/>
            </a:endParaRPr>
          </a:p>
        </p:txBody>
      </p:sp>
      <p:sp>
        <p:nvSpPr>
          <p:cNvPr id="29" name="슬라이드 번호 개체 틀 5">
            <a:extLst>
              <a:ext uri="{FF2B5EF4-FFF2-40B4-BE49-F238E27FC236}">
                <a16:creationId xmlns:a16="http://schemas.microsoft.com/office/drawing/2014/main" id="{33AF4C92-775F-4C4D-B6D7-05F641475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180889" y="9659937"/>
            <a:ext cx="586411" cy="365125"/>
          </a:xfrm>
        </p:spPr>
        <p:txBody>
          <a:bodyPr/>
          <a:lstStyle/>
          <a:p>
            <a:r>
              <a:rPr lang="en-US" altLang="ko-KR" sz="2000" dirty="0"/>
              <a:t>4</a:t>
            </a:r>
            <a:endParaRPr lang="ko-KR" alt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39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2700" y="3657600"/>
            <a:ext cx="6019800" cy="61722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-2082800" y="2260600"/>
            <a:ext cx="8280400" cy="4597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5900" b="0" i="0" u="none" strike="noStrike" dirty="0">
                <a:solidFill>
                  <a:srgbClr val="08A5C1"/>
                </a:solidFill>
                <a:latin typeface="Montserrat SemiBold"/>
              </a:rPr>
              <a:t>02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40300" y="4660900"/>
            <a:ext cx="9829800" cy="160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34460"/>
              </a:lnSpc>
              <a:buAutoNum type="arabicPeriod"/>
            </a:pPr>
            <a:r>
              <a:rPr lang="ko-KR" sz="2600" b="0" i="0" u="none" strike="noStrike" dirty="0">
                <a:solidFill>
                  <a:srgbClr val="FFFFFF"/>
                </a:solidFill>
                <a:ea typeface="Pretendard Light"/>
              </a:rPr>
              <a:t>청년안심주택</a:t>
            </a:r>
            <a:r>
              <a:rPr lang="ko-KR" altLang="en-US" sz="2600" b="0" i="0" u="none" strike="noStrike" dirty="0">
                <a:solidFill>
                  <a:srgbClr val="FFFFFF"/>
                </a:solidFill>
                <a:ea typeface="Pretendard Light"/>
              </a:rPr>
              <a:t>의 정의</a:t>
            </a:r>
            <a:endParaRPr lang="ko-KR" sz="2600" b="0" i="0" u="none" strike="noStrike" dirty="0">
              <a:solidFill>
                <a:srgbClr val="FFFFFF"/>
              </a:solidFill>
              <a:ea typeface="Pretendard Light"/>
            </a:endParaRPr>
          </a:p>
          <a:p>
            <a:pPr marL="342900" lvl="0" indent="-342900" algn="l">
              <a:lnSpc>
                <a:spcPct val="134460"/>
              </a:lnSpc>
              <a:buAutoNum type="arabicPeriod"/>
            </a:pPr>
            <a:r>
              <a:rPr lang="ko-KR" sz="2600" b="0" i="0" u="none" strike="noStrike" dirty="0">
                <a:solidFill>
                  <a:srgbClr val="FFFFFF"/>
                </a:solidFill>
                <a:ea typeface="Pretendard Light"/>
              </a:rPr>
              <a:t>주택</a:t>
            </a:r>
            <a:r>
              <a:rPr lang="en-US" sz="2600" b="0" i="0" u="none" strike="noStrike" dirty="0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600" b="0" i="0" u="none" strike="noStrike" dirty="0">
                <a:solidFill>
                  <a:srgbClr val="FFFFFF"/>
                </a:solidFill>
                <a:ea typeface="Pretendard Light"/>
              </a:rPr>
              <a:t>전월세</a:t>
            </a:r>
            <a:r>
              <a:rPr lang="en-US" sz="2600" b="0" i="0" u="none" strike="noStrike" dirty="0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600" b="0" i="0" u="none" strike="noStrike" dirty="0">
                <a:solidFill>
                  <a:srgbClr val="FFFFFF"/>
                </a:solidFill>
                <a:ea typeface="Pretendard Light"/>
              </a:rPr>
              <a:t>시장</a:t>
            </a:r>
            <a:r>
              <a:rPr lang="en-US" sz="2600" b="0" i="0" u="none" strike="noStrike" dirty="0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600" b="0" i="0" u="none" strike="noStrike" dirty="0">
                <a:solidFill>
                  <a:srgbClr val="FFFFFF"/>
                </a:solidFill>
                <a:ea typeface="Pretendard Light"/>
              </a:rPr>
              <a:t>현황</a:t>
            </a:r>
          </a:p>
          <a:p>
            <a:pPr marL="342900" lvl="0" indent="-342900" algn="l">
              <a:lnSpc>
                <a:spcPct val="134460"/>
              </a:lnSpc>
              <a:buAutoNum type="arabicPeriod"/>
            </a:pPr>
            <a:r>
              <a:rPr lang="ko-KR" sz="2600" b="0" i="0" u="none" strike="noStrike" dirty="0">
                <a:solidFill>
                  <a:srgbClr val="FFFFFF"/>
                </a:solidFill>
                <a:ea typeface="Pretendard Light"/>
              </a:rPr>
              <a:t>선행연구</a:t>
            </a:r>
            <a:r>
              <a:rPr lang="en-US" sz="2600" b="0" i="0" u="none" strike="noStrike" dirty="0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600" b="0" i="0" u="none" strike="noStrike" dirty="0">
                <a:solidFill>
                  <a:srgbClr val="FFFFFF"/>
                </a:solidFill>
                <a:ea typeface="Pretendard Light"/>
              </a:rPr>
              <a:t>고찰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940300" y="2933700"/>
            <a:ext cx="12433300" cy="154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8800" b="0" i="0" u="none" strike="noStrike" dirty="0">
                <a:solidFill>
                  <a:srgbClr val="FFFFFF"/>
                </a:solidFill>
                <a:ea typeface="Pretendard Bold"/>
              </a:rPr>
              <a:t>이론</a:t>
            </a:r>
            <a:r>
              <a:rPr lang="en-US" sz="8800" b="0" i="0" u="none" strike="noStrike" dirty="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8800" b="0" i="0" u="none" strike="noStrike" dirty="0">
                <a:solidFill>
                  <a:srgbClr val="FFFFFF"/>
                </a:solidFill>
                <a:ea typeface="Pretendard Bold"/>
              </a:rPr>
              <a:t>및</a:t>
            </a:r>
            <a:r>
              <a:rPr lang="en-US" sz="8800" b="0" i="0" u="none" strike="noStrike" dirty="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8800" b="0" i="0" u="none" strike="noStrike" dirty="0">
                <a:solidFill>
                  <a:srgbClr val="FFFFFF"/>
                </a:solidFill>
                <a:ea typeface="Pretendard Bold"/>
              </a:rPr>
              <a:t>선행연구고찰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3">
            <a:extLst>
              <a:ext uri="{FF2B5EF4-FFF2-40B4-BE49-F238E27FC236}">
                <a16:creationId xmlns:a16="http://schemas.microsoft.com/office/drawing/2014/main" id="{725EE1DC-84DA-4B5B-AAD5-26C5DF418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49" y="2019300"/>
            <a:ext cx="16437939" cy="3505200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712200" y="2260600"/>
            <a:ext cx="3733800" cy="254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346200" y="571500"/>
            <a:ext cx="54356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3100" b="0" i="0" u="none" strike="noStrike">
                <a:solidFill>
                  <a:srgbClr val="393939"/>
                </a:solidFill>
                <a:ea typeface="Pretendard Bold"/>
              </a:rPr>
              <a:t>청년안심주택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8500" y="558800"/>
            <a:ext cx="5969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00" b="0" i="0" u="none" strike="noStrike" dirty="0">
                <a:solidFill>
                  <a:srgbClr val="08A5C1"/>
                </a:solidFill>
                <a:latin typeface="Montserrat Bold"/>
              </a:rPr>
              <a:t>1</a:t>
            </a:r>
            <a:r>
              <a:rPr lang="ko-KR" altLang="en-US" sz="3000" b="0" i="0" u="none" strike="noStrike" dirty="0">
                <a:solidFill>
                  <a:srgbClr val="08A5C1"/>
                </a:solidFill>
                <a:latin typeface="Montserrat Bold"/>
              </a:rPr>
              <a:t>절</a:t>
            </a:r>
            <a:endParaRPr lang="en-US" sz="3000" b="0" i="0" u="none" strike="noStrike" dirty="0">
              <a:solidFill>
                <a:srgbClr val="08A5C1"/>
              </a:solidFill>
              <a:latin typeface="Montserrat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47783" y="1428388"/>
            <a:ext cx="44831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6990"/>
              </a:lnSpc>
            </a:pPr>
            <a:r>
              <a:rPr lang="ko-KR" sz="3000" b="1" i="0" u="none" strike="noStrike" dirty="0">
                <a:solidFill>
                  <a:srgbClr val="000000"/>
                </a:solidFill>
                <a:ea typeface="조선가는고딕"/>
              </a:rPr>
              <a:t>청년안심주택의</a:t>
            </a:r>
            <a:r>
              <a:rPr lang="en-US" sz="3000" b="1" i="0" u="none" strike="noStrike" dirty="0">
                <a:solidFill>
                  <a:srgbClr val="000000"/>
                </a:solidFill>
                <a:latin typeface="조선가는고딕"/>
              </a:rPr>
              <a:t> </a:t>
            </a:r>
            <a:r>
              <a:rPr lang="ko-KR" sz="3000" b="1" i="0" u="none" strike="noStrike" dirty="0">
                <a:solidFill>
                  <a:srgbClr val="000000"/>
                </a:solidFill>
                <a:ea typeface="조선가는고딕"/>
              </a:rPr>
              <a:t>정의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65200" y="3467100"/>
            <a:ext cx="16215688" cy="1143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>
              <a:lnSpc>
                <a:spcPct val="126990"/>
              </a:lnSpc>
              <a:buClr>
                <a:srgbClr val="040000"/>
              </a:buClr>
              <a:buFont typeface="Arial"/>
              <a:buChar char="●"/>
            </a:pPr>
            <a:r>
              <a:rPr lang="ko-KR" sz="2800" i="0" u="none" strike="noStrike" spc="-100" dirty="0">
                <a:latin typeface="조선가는고딕" panose="020B0600000101010101" charset="-127"/>
                <a:ea typeface="조선가는고딕" panose="020B0600000101010101" charset="-127"/>
              </a:rPr>
              <a:t>청년안심주택</a:t>
            </a:r>
            <a:r>
              <a:rPr lang="en-US" sz="2800" i="0" u="none" strike="noStrike" spc="-100" dirty="0">
                <a:latin typeface="조선가는고딕" panose="020B0600000101010101" charset="-127"/>
                <a:ea typeface="조선가는고딕" panose="020B0600000101010101" charset="-127"/>
              </a:rPr>
              <a:t>: </a:t>
            </a:r>
            <a:r>
              <a:rPr lang="ko-KR" altLang="en-US" sz="2800" dirty="0">
                <a:latin typeface="조선가는고딕" panose="020B0600000101010101" charset="-127"/>
                <a:ea typeface="조선가는고딕" panose="020B0600000101010101" charset="-127"/>
              </a:rPr>
              <a:t>대중교통이 편리한 역세권 및 간선도로변에 청년</a:t>
            </a:r>
            <a:r>
              <a:rPr lang="en-US" altLang="ko-KR" sz="2800" dirty="0">
                <a:latin typeface="조선가는고딕" panose="020B0600000101010101" charset="-127"/>
                <a:ea typeface="조선가는고딕" panose="020B0600000101010101" charset="-127"/>
              </a:rPr>
              <a:t>, </a:t>
            </a:r>
            <a:r>
              <a:rPr lang="ko-KR" altLang="en-US" sz="2800" dirty="0">
                <a:latin typeface="조선가는고딕" panose="020B0600000101010101" charset="-127"/>
                <a:ea typeface="조선가는고딕" panose="020B0600000101010101" charset="-127"/>
              </a:rPr>
              <a:t>신혼부부의 주거안정 및 </a:t>
            </a:r>
            <a:r>
              <a:rPr lang="ko-KR" altLang="en-US" sz="2800" dirty="0" err="1">
                <a:latin typeface="조선가는고딕" panose="020B0600000101010101" charset="-127"/>
                <a:ea typeface="조선가는고딕" panose="020B0600000101010101" charset="-127"/>
              </a:rPr>
              <a:t>주거난</a:t>
            </a:r>
            <a:r>
              <a:rPr lang="ko-KR" altLang="en-US" sz="2800" dirty="0">
                <a:latin typeface="조선가는고딕" panose="020B0600000101010101" charset="-127"/>
                <a:ea typeface="조선가는고딕" panose="020B0600000101010101" charset="-127"/>
              </a:rPr>
              <a:t> 해소를 위해 시세대비 저렴한 공공임대와 민간임대 주택을 제공</a:t>
            </a:r>
            <a:endParaRPr lang="en-US" sz="2800" i="0" u="none" strike="noStrike" spc="-100" dirty="0">
              <a:latin typeface="조선가는고딕" panose="020B0600000101010101" charset="-127"/>
              <a:ea typeface="조선가는고딕" panose="020B0600000101010101" charset="-127"/>
            </a:endParaRPr>
          </a:p>
          <a:p>
            <a:pPr marL="342900" lvl="0" indent="-342900" algn="l">
              <a:lnSpc>
                <a:spcPct val="126990"/>
              </a:lnSpc>
              <a:buClr>
                <a:srgbClr val="040000"/>
              </a:buClr>
              <a:buFont typeface="Arial"/>
              <a:buChar char="●"/>
            </a:pPr>
            <a:r>
              <a:rPr lang="ko-KR" sz="2800" i="0" u="none" strike="noStrike" spc="-100" dirty="0">
                <a:latin typeface="조선가는고딕" panose="020B0600000101010101" charset="-127"/>
                <a:ea typeface="조선가는고딕" panose="020B0600000101010101" charset="-127"/>
              </a:rPr>
              <a:t>공공임대</a:t>
            </a:r>
            <a:r>
              <a:rPr lang="en-US" sz="2800" i="0" u="none" strike="noStrike" spc="-100" dirty="0">
                <a:latin typeface="조선가는고딕" panose="020B0600000101010101" charset="-127"/>
                <a:ea typeface="조선가는고딕" panose="020B0600000101010101" charset="-127"/>
              </a:rPr>
              <a:t>: </a:t>
            </a:r>
            <a:r>
              <a:rPr lang="ko-KR" sz="2800" i="0" u="none" strike="noStrike" spc="-100" dirty="0">
                <a:latin typeface="조선가는고딕" panose="020B0600000101010101" charset="-127"/>
                <a:ea typeface="조선가는고딕" panose="020B0600000101010101" charset="-127"/>
              </a:rPr>
              <a:t>시세</a:t>
            </a:r>
            <a:r>
              <a:rPr lang="en-US" sz="2800" i="0" u="none" strike="noStrike" spc="-100" dirty="0">
                <a:latin typeface="조선가는고딕" panose="020B0600000101010101" charset="-127"/>
                <a:ea typeface="조선가는고딕" panose="020B0600000101010101" charset="-127"/>
              </a:rPr>
              <a:t> </a:t>
            </a:r>
            <a:r>
              <a:rPr lang="ko-KR" sz="2800" i="0" u="none" strike="noStrike" spc="-100" dirty="0">
                <a:latin typeface="조선가는고딕" panose="020B0600000101010101" charset="-127"/>
                <a:ea typeface="조선가는고딕" panose="020B0600000101010101" charset="-127"/>
              </a:rPr>
              <a:t>대비</a:t>
            </a:r>
            <a:r>
              <a:rPr lang="en-US" sz="2800" i="0" u="none" strike="noStrike" spc="-100" dirty="0">
                <a:latin typeface="조선가는고딕" panose="020B0600000101010101" charset="-127"/>
                <a:ea typeface="조선가는고딕" panose="020B0600000101010101" charset="-127"/>
              </a:rPr>
              <a:t> 30~70%</a:t>
            </a:r>
            <a:r>
              <a:rPr lang="ko-KR" sz="2800" i="0" u="none" strike="noStrike" spc="-100" dirty="0">
                <a:latin typeface="조선가는고딕" panose="020B0600000101010101" charset="-127"/>
                <a:ea typeface="조선가는고딕" panose="020B0600000101010101" charset="-127"/>
              </a:rPr>
              <a:t>의</a:t>
            </a:r>
            <a:r>
              <a:rPr lang="en-US" sz="2800" i="0" u="none" strike="noStrike" spc="-100" dirty="0">
                <a:latin typeface="조선가는고딕" panose="020B0600000101010101" charset="-127"/>
                <a:ea typeface="조선가는고딕" panose="020B0600000101010101" charset="-127"/>
              </a:rPr>
              <a:t> </a:t>
            </a:r>
            <a:r>
              <a:rPr lang="ko-KR" sz="2800" i="0" u="none" strike="noStrike" spc="-100" dirty="0">
                <a:latin typeface="조선가는고딕" panose="020B0600000101010101" charset="-127"/>
                <a:ea typeface="조선가는고딕" panose="020B0600000101010101" charset="-127"/>
              </a:rPr>
              <a:t>임대료</a:t>
            </a:r>
            <a:r>
              <a:rPr lang="en-US" sz="2800" i="0" u="none" strike="noStrike" spc="-100" dirty="0">
                <a:latin typeface="조선가는고딕" panose="020B0600000101010101" charset="-127"/>
                <a:ea typeface="조선가는고딕" panose="020B0600000101010101" charset="-127"/>
              </a:rPr>
              <a:t>.</a:t>
            </a:r>
          </a:p>
          <a:p>
            <a:pPr marL="342900" lvl="0" indent="-342900" algn="l">
              <a:lnSpc>
                <a:spcPct val="126990"/>
              </a:lnSpc>
              <a:buClr>
                <a:srgbClr val="040000"/>
              </a:buClr>
              <a:buFont typeface="Arial"/>
              <a:buChar char="●"/>
            </a:pPr>
            <a:r>
              <a:rPr lang="ko-KR" sz="2800" i="0" u="none" strike="noStrike" spc="-100" dirty="0">
                <a:latin typeface="조선가는고딕" panose="020B0600000101010101" charset="-127"/>
                <a:ea typeface="조선가는고딕" panose="020B0600000101010101" charset="-127"/>
              </a:rPr>
              <a:t>민간임대</a:t>
            </a:r>
            <a:r>
              <a:rPr lang="en-US" sz="2800" i="0" u="none" strike="noStrike" spc="-100" dirty="0">
                <a:latin typeface="조선가는고딕" panose="020B0600000101010101" charset="-127"/>
                <a:ea typeface="조선가는고딕" panose="020B0600000101010101" charset="-127"/>
              </a:rPr>
              <a:t>: </a:t>
            </a:r>
            <a:r>
              <a:rPr lang="ko-KR" sz="2800" i="0" u="none" strike="noStrike" spc="-100" dirty="0">
                <a:latin typeface="조선가는고딕" panose="020B0600000101010101" charset="-127"/>
                <a:ea typeface="조선가는고딕" panose="020B0600000101010101" charset="-127"/>
              </a:rPr>
              <a:t>시세</a:t>
            </a:r>
            <a:r>
              <a:rPr lang="en-US" sz="2800" i="0" u="none" strike="noStrike" spc="-100" dirty="0">
                <a:latin typeface="조선가는고딕" panose="020B0600000101010101" charset="-127"/>
                <a:ea typeface="조선가는고딕" panose="020B0600000101010101" charset="-127"/>
              </a:rPr>
              <a:t> </a:t>
            </a:r>
            <a:r>
              <a:rPr lang="ko-KR" sz="2800" i="0" u="none" strike="noStrike" spc="-100" dirty="0">
                <a:latin typeface="조선가는고딕" panose="020B0600000101010101" charset="-127"/>
                <a:ea typeface="조선가는고딕" panose="020B0600000101010101" charset="-127"/>
              </a:rPr>
              <a:t>대비</a:t>
            </a:r>
            <a:r>
              <a:rPr lang="en-US" sz="2800" i="0" u="none" strike="noStrike" spc="-100" dirty="0">
                <a:latin typeface="조선가는고딕" panose="020B0600000101010101" charset="-127"/>
                <a:ea typeface="조선가는고딕" panose="020B0600000101010101" charset="-127"/>
              </a:rPr>
              <a:t> 75~85%</a:t>
            </a:r>
            <a:r>
              <a:rPr lang="ko-KR" sz="2800" i="0" u="none" strike="noStrike" spc="-100" dirty="0">
                <a:latin typeface="조선가는고딕" panose="020B0600000101010101" charset="-127"/>
                <a:ea typeface="조선가는고딕" panose="020B0600000101010101" charset="-127"/>
              </a:rPr>
              <a:t>의</a:t>
            </a:r>
            <a:r>
              <a:rPr lang="en-US" sz="2800" i="0" u="none" strike="noStrike" spc="-100" dirty="0">
                <a:latin typeface="조선가는고딕" panose="020B0600000101010101" charset="-127"/>
                <a:ea typeface="조선가는고딕" panose="020B0600000101010101" charset="-127"/>
              </a:rPr>
              <a:t> </a:t>
            </a:r>
            <a:r>
              <a:rPr lang="ko-KR" sz="2800" i="0" u="none" strike="noStrike" spc="-100" dirty="0">
                <a:latin typeface="조선가는고딕" panose="020B0600000101010101" charset="-127"/>
                <a:ea typeface="조선가는고딕" panose="020B0600000101010101" charset="-127"/>
              </a:rPr>
              <a:t>임대료</a:t>
            </a:r>
            <a:r>
              <a:rPr lang="en-US" sz="2800" i="0" u="none" strike="noStrike" spc="-100" dirty="0">
                <a:latin typeface="조선가는고딕" panose="020B0600000101010101" charset="-127"/>
                <a:ea typeface="조선가는고딕" panose="020B0600000101010101" charset="-127"/>
              </a:rPr>
              <a:t>.</a:t>
            </a:r>
          </a:p>
          <a:p>
            <a:pPr marL="342900" indent="-342900">
              <a:lnSpc>
                <a:spcPct val="126990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ko-KR" sz="2800" spc="-100" dirty="0">
                <a:latin typeface="조선가는고딕" panose="020B0600000101010101" charset="-127"/>
                <a:ea typeface="조선가는고딕" panose="020B0600000101010101" charset="-127"/>
              </a:rPr>
              <a:t>공급현황</a:t>
            </a:r>
            <a:r>
              <a:rPr lang="en-US" altLang="ko-KR" sz="2800" spc="-100" dirty="0">
                <a:latin typeface="조선가는고딕" panose="020B0600000101010101" charset="-127"/>
                <a:ea typeface="조선가는고딕" panose="020B0600000101010101" charset="-127"/>
              </a:rPr>
              <a:t>: 2023</a:t>
            </a:r>
            <a:r>
              <a:rPr lang="ko-KR" altLang="ko-KR" sz="2800" spc="-100" dirty="0">
                <a:latin typeface="조선가는고딕" panose="020B0600000101010101" charset="-127"/>
                <a:ea typeface="조선가는고딕" panose="020B0600000101010101" charset="-127"/>
              </a:rPr>
              <a:t>년</a:t>
            </a:r>
            <a:r>
              <a:rPr lang="en-US" altLang="ko-KR" sz="2800" spc="-100" dirty="0">
                <a:latin typeface="조선가는고딕" panose="020B0600000101010101" charset="-127"/>
                <a:ea typeface="조선가는고딕" panose="020B0600000101010101" charset="-127"/>
              </a:rPr>
              <a:t> </a:t>
            </a:r>
            <a:r>
              <a:rPr lang="ko-KR" altLang="ko-KR" sz="2800" spc="-100" dirty="0">
                <a:latin typeface="조선가는고딕" panose="020B0600000101010101" charset="-127"/>
                <a:ea typeface="조선가는고딕" panose="020B0600000101010101" charset="-127"/>
              </a:rPr>
              <a:t>기준</a:t>
            </a:r>
            <a:r>
              <a:rPr lang="en-US" altLang="ko-KR" sz="2800" spc="-100" dirty="0">
                <a:latin typeface="조선가는고딕" panose="020B0600000101010101" charset="-127"/>
                <a:ea typeface="조선가는고딕" panose="020B0600000101010101" charset="-127"/>
              </a:rPr>
              <a:t> 138</a:t>
            </a:r>
            <a:r>
              <a:rPr lang="ko-KR" altLang="ko-KR" sz="2800" spc="-100" dirty="0">
                <a:latin typeface="조선가는고딕" panose="020B0600000101010101" charset="-127"/>
                <a:ea typeface="조선가는고딕" panose="020B0600000101010101" charset="-127"/>
              </a:rPr>
              <a:t>개</a:t>
            </a:r>
            <a:r>
              <a:rPr lang="en-US" altLang="ko-KR" sz="2800" spc="-100" dirty="0">
                <a:latin typeface="조선가는고딕" panose="020B0600000101010101" charset="-127"/>
                <a:ea typeface="조선가는고딕" panose="020B0600000101010101" charset="-127"/>
              </a:rPr>
              <a:t> </a:t>
            </a:r>
            <a:r>
              <a:rPr lang="ko-KR" altLang="ko-KR" sz="2800" spc="-100" dirty="0">
                <a:latin typeface="조선가는고딕" panose="020B0600000101010101" charset="-127"/>
                <a:ea typeface="조선가는고딕" panose="020B0600000101010101" charset="-127"/>
              </a:rPr>
              <a:t>사업</a:t>
            </a:r>
            <a:r>
              <a:rPr lang="en-US" altLang="ko-KR" sz="2800" spc="-100" dirty="0">
                <a:latin typeface="조선가는고딕" panose="020B0600000101010101" charset="-127"/>
                <a:ea typeface="조선가는고딕" panose="020B0600000101010101" charset="-127"/>
              </a:rPr>
              <a:t> </a:t>
            </a:r>
            <a:r>
              <a:rPr lang="ko-KR" altLang="ko-KR" sz="2800" spc="-100" dirty="0">
                <a:latin typeface="조선가는고딕" panose="020B0600000101010101" charset="-127"/>
                <a:ea typeface="조선가는고딕" panose="020B0600000101010101" charset="-127"/>
              </a:rPr>
              <a:t>대상지</a:t>
            </a:r>
            <a:r>
              <a:rPr lang="en-US" altLang="ko-KR" sz="2800" spc="-100" dirty="0">
                <a:latin typeface="조선가는고딕" panose="020B0600000101010101" charset="-127"/>
                <a:ea typeface="조선가는고딕" panose="020B0600000101010101" charset="-127"/>
              </a:rPr>
              <a:t>, </a:t>
            </a:r>
            <a:r>
              <a:rPr lang="ko-KR" altLang="en-US" sz="2800" spc="-100" dirty="0">
                <a:latin typeface="조선가는고딕" panose="020B0600000101010101" charset="-127"/>
                <a:ea typeface="조선가는고딕" panose="020B0600000101010101" charset="-127"/>
              </a:rPr>
              <a:t>현 </a:t>
            </a:r>
            <a:r>
              <a:rPr lang="en-US" altLang="ko-KR" sz="2800" spc="-100" dirty="0">
                <a:latin typeface="조선가는고딕" panose="020B0600000101010101" charset="-127"/>
                <a:ea typeface="조선가는고딕" panose="020B0600000101010101" charset="-127"/>
              </a:rPr>
              <a:t>58</a:t>
            </a:r>
            <a:r>
              <a:rPr lang="ko-KR" altLang="en-US" sz="2800" spc="-100" dirty="0">
                <a:latin typeface="조선가는고딕" panose="020B0600000101010101" charset="-127"/>
                <a:ea typeface="조선가는고딕" panose="020B0600000101010101" charset="-127"/>
              </a:rPr>
              <a:t>개 준공완료</a:t>
            </a:r>
            <a:endParaRPr lang="en-US" altLang="ko-KR" sz="2800" spc="-100" dirty="0">
              <a:latin typeface="조선가는고딕" panose="020B0600000101010101" charset="-127"/>
              <a:ea typeface="조선가는고딕" panose="020B0600000101010101" charset="-127"/>
            </a:endParaRPr>
          </a:p>
          <a:p>
            <a:pPr marL="342900" indent="-342900">
              <a:lnSpc>
                <a:spcPct val="126990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en-US" sz="2800" spc="-100" dirty="0">
                <a:latin typeface="조선가는고딕" panose="020B0600000101010101" charset="-127"/>
                <a:ea typeface="조선가는고딕" panose="020B0600000101010101" charset="-127"/>
              </a:rPr>
              <a:t>사업초기 역세권 청년주택에서 현 청년안심주택으로 사업 변경</a:t>
            </a:r>
            <a:endParaRPr lang="en-US" altLang="ko-KR" sz="2800" spc="-100" dirty="0">
              <a:latin typeface="조선가는고딕" panose="020B0600000101010101" charset="-127"/>
              <a:ea typeface="조선가는고딕" panose="020B0600000101010101" charset="-127"/>
            </a:endParaRPr>
          </a:p>
          <a:p>
            <a:pPr marL="342900" lvl="0" indent="-342900" algn="l">
              <a:lnSpc>
                <a:spcPct val="126990"/>
              </a:lnSpc>
              <a:buClr>
                <a:srgbClr val="040000"/>
              </a:buClr>
              <a:buFont typeface="Arial"/>
              <a:buChar char="●"/>
            </a:pPr>
            <a:endParaRPr lang="en-US" sz="2800" b="0" i="0" u="none" strike="noStrike" spc="-100" dirty="0">
              <a:latin typeface="조선가는고딕"/>
            </a:endParaRPr>
          </a:p>
        </p:txBody>
      </p:sp>
      <p:pic>
        <p:nvPicPr>
          <p:cNvPr id="14" name="Picture 5">
            <a:extLst>
              <a:ext uri="{FF2B5EF4-FFF2-40B4-BE49-F238E27FC236}">
                <a16:creationId xmlns:a16="http://schemas.microsoft.com/office/drawing/2014/main" id="{8712F1BA-74E7-415E-ADF2-922A3DC39C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90400" y="2052800"/>
            <a:ext cx="409900" cy="342900"/>
          </a:xfrm>
          <a:prstGeom prst="rect">
            <a:avLst/>
          </a:prstGeom>
        </p:spPr>
      </p:pic>
      <p:sp>
        <p:nvSpPr>
          <p:cNvPr id="17" name="슬라이드 번호 개체 틀 5">
            <a:extLst>
              <a:ext uri="{FF2B5EF4-FFF2-40B4-BE49-F238E27FC236}">
                <a16:creationId xmlns:a16="http://schemas.microsoft.com/office/drawing/2014/main" id="{BAEACD99-DC12-4EB5-AC4B-D22922629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180889" y="9659937"/>
            <a:ext cx="586411" cy="365125"/>
          </a:xfrm>
        </p:spPr>
        <p:txBody>
          <a:bodyPr/>
          <a:lstStyle/>
          <a:p>
            <a:r>
              <a:rPr lang="en-US" altLang="ko-KR" sz="2000" dirty="0"/>
              <a:t>5</a:t>
            </a:r>
            <a:endParaRPr lang="ko-KR" altLang="en-US" sz="20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626870C-F721-BA15-6FCD-E6C33C645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019734"/>
              </p:ext>
            </p:extLst>
          </p:nvPr>
        </p:nvGraphicFramePr>
        <p:xfrm>
          <a:off x="734358" y="5891892"/>
          <a:ext cx="14262100" cy="3823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4642">
                  <a:extLst>
                    <a:ext uri="{9D8B030D-6E8A-4147-A177-3AD203B41FA5}">
                      <a16:colId xmlns:a16="http://schemas.microsoft.com/office/drawing/2014/main" val="3843530332"/>
                    </a:ext>
                  </a:extLst>
                </a:gridCol>
                <a:gridCol w="5783729">
                  <a:extLst>
                    <a:ext uri="{9D8B030D-6E8A-4147-A177-3AD203B41FA5}">
                      <a16:colId xmlns:a16="http://schemas.microsoft.com/office/drawing/2014/main" val="935933048"/>
                    </a:ext>
                  </a:extLst>
                </a:gridCol>
                <a:gridCol w="5783729">
                  <a:extLst>
                    <a:ext uri="{9D8B030D-6E8A-4147-A177-3AD203B41FA5}">
                      <a16:colId xmlns:a16="http://schemas.microsoft.com/office/drawing/2014/main" val="4071287381"/>
                    </a:ext>
                  </a:extLst>
                </a:gridCol>
              </a:tblGrid>
              <a:tr h="4779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역세권 청년 주택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청년 안심 주택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179231"/>
                  </a:ext>
                </a:extLst>
              </a:tr>
              <a:tr h="4779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임대료 사정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주변 시세의 </a:t>
                      </a:r>
                      <a:r>
                        <a:rPr lang="en-US" altLang="ko-KR" dirty="0"/>
                        <a:t>85~95%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주변 시세의 </a:t>
                      </a:r>
                      <a:r>
                        <a:rPr lang="en-US" altLang="ko-KR" dirty="0"/>
                        <a:t>75~85%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5031576"/>
                  </a:ext>
                </a:extLst>
              </a:tr>
              <a:tr h="4779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역세권 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지하철 역으로부터 </a:t>
                      </a:r>
                      <a:r>
                        <a:rPr lang="en-US" altLang="ko-KR" dirty="0"/>
                        <a:t>350m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지하철역으로부터 </a:t>
                      </a:r>
                      <a:r>
                        <a:rPr lang="en-US" altLang="ko-KR" dirty="0"/>
                        <a:t>250m+</a:t>
                      </a:r>
                      <a:r>
                        <a:rPr lang="ko-KR" altLang="en-US" dirty="0"/>
                        <a:t>간선 도로변 </a:t>
                      </a:r>
                      <a:r>
                        <a:rPr lang="en-US" altLang="ko-KR" dirty="0"/>
                        <a:t>50m </a:t>
                      </a:r>
                      <a:r>
                        <a:rPr lang="ko-KR" altLang="en-US" dirty="0"/>
                        <a:t>이내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269967"/>
                  </a:ext>
                </a:extLst>
              </a:tr>
              <a:tr h="4779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임대료 공지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모집 </a:t>
                      </a:r>
                      <a:r>
                        <a:rPr lang="ko-KR" altLang="en-US" dirty="0" err="1"/>
                        <a:t>공고시</a:t>
                      </a:r>
                      <a:r>
                        <a:rPr lang="ko-KR" altLang="en-US" dirty="0"/>
                        <a:t> 공지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모집공고 </a:t>
                      </a: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년 전 공지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6190871"/>
                  </a:ext>
                </a:extLst>
              </a:tr>
              <a:tr h="4779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주거지원 센터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송파구 </a:t>
                      </a:r>
                      <a:r>
                        <a:rPr lang="ko-KR" altLang="en-US" dirty="0" err="1"/>
                        <a:t>장지역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용산구 삼각지역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723855"/>
                  </a:ext>
                </a:extLst>
              </a:tr>
              <a:tr h="4779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최소주거면적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청년 </a:t>
                      </a: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일 </a:t>
                      </a:r>
                      <a:r>
                        <a:rPr lang="en-US" altLang="ko-KR" dirty="0"/>
                        <a:t>20m2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청년 </a:t>
                      </a: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인 </a:t>
                      </a:r>
                      <a:r>
                        <a:rPr lang="en-US" altLang="ko-KR" dirty="0"/>
                        <a:t>23m2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450112"/>
                  </a:ext>
                </a:extLst>
              </a:tr>
              <a:tr h="4779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사업자 지원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행정절차 </a:t>
                      </a:r>
                      <a:r>
                        <a:rPr lang="en-US" altLang="ko-KR" dirty="0"/>
                        <a:t>6</a:t>
                      </a:r>
                      <a:r>
                        <a:rPr lang="ko-KR" altLang="en-US" dirty="0"/>
                        <a:t>단계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건설자금 이자 </a:t>
                      </a:r>
                      <a:r>
                        <a:rPr lang="en-US" altLang="ko-KR" dirty="0"/>
                        <a:t>1.5% </a:t>
                      </a:r>
                      <a:r>
                        <a:rPr lang="ko-KR" altLang="en-US" dirty="0"/>
                        <a:t>지원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행정 절차 </a:t>
                      </a:r>
                      <a:r>
                        <a:rPr lang="en-US" altLang="ko-KR" dirty="0"/>
                        <a:t>5</a:t>
                      </a:r>
                      <a:r>
                        <a:rPr lang="ko-KR" altLang="en-US" dirty="0"/>
                        <a:t>단계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건설자금 이자지원 </a:t>
                      </a:r>
                      <a:r>
                        <a:rPr lang="en-US" altLang="ko-KR" dirty="0"/>
                        <a:t>2%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024360"/>
                  </a:ext>
                </a:extLst>
              </a:tr>
              <a:tr h="4779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공급 규모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r>
                        <a:rPr lang="ko-KR" altLang="en-US" dirty="0"/>
                        <a:t>만 </a:t>
                      </a:r>
                      <a:r>
                        <a:rPr lang="en-US" altLang="ko-KR" dirty="0"/>
                        <a:t>5</a:t>
                      </a:r>
                      <a:r>
                        <a:rPr lang="ko-KR" altLang="en-US" dirty="0"/>
                        <a:t>천호</a:t>
                      </a:r>
                      <a:r>
                        <a:rPr lang="en-US" altLang="ko-KR" dirty="0"/>
                        <a:t>(2022</a:t>
                      </a:r>
                      <a:r>
                        <a:rPr lang="ko-KR" altLang="en-US" dirty="0"/>
                        <a:t>년까지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13</a:t>
                      </a:r>
                      <a:r>
                        <a:rPr lang="ko-KR" altLang="en-US" dirty="0"/>
                        <a:t>만호</a:t>
                      </a:r>
                      <a:r>
                        <a:rPr lang="en-US" altLang="ko-KR" dirty="0"/>
                        <a:t>(2030</a:t>
                      </a:r>
                      <a:r>
                        <a:rPr lang="ko-KR" altLang="en-US" dirty="0"/>
                        <a:t>년까지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90453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E09CCE-55A8-84A5-0BD4-B68AAACAD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7656F31-76AE-5540-CE95-EE72BA0F3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712200" y="2260600"/>
            <a:ext cx="3733800" cy="254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FF0174FA-4AEA-1EEC-A4FD-13A30E3EFD4D}"/>
              </a:ext>
            </a:extLst>
          </p:cNvPr>
          <p:cNvSpPr txBox="1"/>
          <p:nvPr/>
        </p:nvSpPr>
        <p:spPr>
          <a:xfrm>
            <a:off x="1346200" y="571500"/>
            <a:ext cx="54356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3100" b="0" i="0" u="none" strike="noStrike">
                <a:solidFill>
                  <a:srgbClr val="393939"/>
                </a:solidFill>
                <a:ea typeface="Pretendard Bold"/>
              </a:rPr>
              <a:t>청년안심주택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2DF5B59-8CA2-29D3-527F-9B4A3BC34269}"/>
              </a:ext>
            </a:extLst>
          </p:cNvPr>
          <p:cNvSpPr txBox="1"/>
          <p:nvPr/>
        </p:nvSpPr>
        <p:spPr>
          <a:xfrm>
            <a:off x="698500" y="558800"/>
            <a:ext cx="5969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00" b="0" i="0" u="none" strike="noStrike" dirty="0">
                <a:solidFill>
                  <a:srgbClr val="08A5C1"/>
                </a:solidFill>
                <a:latin typeface="Montserrat Bold"/>
              </a:rPr>
              <a:t>1</a:t>
            </a:r>
            <a:r>
              <a:rPr lang="ko-KR" altLang="en-US" sz="3000" b="0" i="0" u="none" strike="noStrike" dirty="0">
                <a:solidFill>
                  <a:srgbClr val="08A5C1"/>
                </a:solidFill>
                <a:latin typeface="Montserrat Bold"/>
              </a:rPr>
              <a:t>절</a:t>
            </a:r>
            <a:endParaRPr lang="en-US" sz="3000" b="0" i="0" u="none" strike="noStrike" dirty="0">
              <a:solidFill>
                <a:srgbClr val="08A5C1"/>
              </a:solidFill>
              <a:latin typeface="Montserrat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359E57D-D079-AC63-3FBA-3B1D5EBE472D}"/>
              </a:ext>
            </a:extLst>
          </p:cNvPr>
          <p:cNvSpPr txBox="1"/>
          <p:nvPr/>
        </p:nvSpPr>
        <p:spPr>
          <a:xfrm>
            <a:off x="947783" y="1428388"/>
            <a:ext cx="44831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6990"/>
              </a:lnSpc>
            </a:pPr>
            <a:r>
              <a:rPr lang="ko-KR" sz="3000" b="1" i="0" u="none" strike="noStrike" dirty="0">
                <a:solidFill>
                  <a:srgbClr val="000000"/>
                </a:solidFill>
                <a:ea typeface="조선가는고딕"/>
              </a:rPr>
              <a:t>청년안심주택의</a:t>
            </a:r>
            <a:r>
              <a:rPr lang="en-US" sz="3000" b="1" i="0" u="none" strike="noStrike" dirty="0">
                <a:solidFill>
                  <a:srgbClr val="000000"/>
                </a:solidFill>
                <a:latin typeface="조선가는고딕"/>
              </a:rPr>
              <a:t> </a:t>
            </a:r>
            <a:r>
              <a:rPr lang="ko-KR" altLang="en-US" sz="3000" b="1" i="0" u="none" strike="noStrike" dirty="0">
                <a:solidFill>
                  <a:srgbClr val="000000"/>
                </a:solidFill>
                <a:ea typeface="조선가는고딕"/>
              </a:rPr>
              <a:t>목록</a:t>
            </a:r>
            <a:endParaRPr lang="ko-KR" sz="3000" b="1" i="0" u="none" strike="noStrike" dirty="0">
              <a:solidFill>
                <a:srgbClr val="000000"/>
              </a:solidFill>
              <a:ea typeface="조선가는고딕"/>
            </a:endParaRPr>
          </a:p>
        </p:txBody>
      </p:sp>
      <p:sp>
        <p:nvSpPr>
          <p:cNvPr id="17" name="슬라이드 번호 개체 틀 5">
            <a:extLst>
              <a:ext uri="{FF2B5EF4-FFF2-40B4-BE49-F238E27FC236}">
                <a16:creationId xmlns:a16="http://schemas.microsoft.com/office/drawing/2014/main" id="{F5C20EE4-4F7C-FBD0-832C-D71ECA318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180889" y="9659937"/>
            <a:ext cx="586411" cy="365125"/>
          </a:xfrm>
        </p:spPr>
        <p:txBody>
          <a:bodyPr/>
          <a:lstStyle/>
          <a:p>
            <a:r>
              <a:rPr lang="en-US" altLang="ko-KR" sz="2000" dirty="0"/>
              <a:t>6</a:t>
            </a:r>
            <a:endParaRPr lang="ko-KR" altLang="en-US" sz="2000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F1428ED2-E14C-47C9-A35C-A3EEAEF93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2688" y="1570038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74B1A3CA-B4DE-4A6B-68DB-17BEFDB2A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5313" y="1262063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BF588DE-1B69-DAF7-C005-5FB4A87598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7223895"/>
              </p:ext>
            </p:extLst>
          </p:nvPr>
        </p:nvGraphicFramePr>
        <p:xfrm>
          <a:off x="979023" y="2006145"/>
          <a:ext cx="16183937" cy="767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5251">
                  <a:extLst>
                    <a:ext uri="{9D8B030D-6E8A-4147-A177-3AD203B41FA5}">
                      <a16:colId xmlns:a16="http://schemas.microsoft.com/office/drawing/2014/main" val="2551833719"/>
                    </a:ext>
                  </a:extLst>
                </a:gridCol>
                <a:gridCol w="3258731">
                  <a:extLst>
                    <a:ext uri="{9D8B030D-6E8A-4147-A177-3AD203B41FA5}">
                      <a16:colId xmlns:a16="http://schemas.microsoft.com/office/drawing/2014/main" val="1351554130"/>
                    </a:ext>
                  </a:extLst>
                </a:gridCol>
                <a:gridCol w="2311991">
                  <a:extLst>
                    <a:ext uri="{9D8B030D-6E8A-4147-A177-3AD203B41FA5}">
                      <a16:colId xmlns:a16="http://schemas.microsoft.com/office/drawing/2014/main" val="2018496252"/>
                    </a:ext>
                  </a:extLst>
                </a:gridCol>
                <a:gridCol w="3420878">
                  <a:extLst>
                    <a:ext uri="{9D8B030D-6E8A-4147-A177-3AD203B41FA5}">
                      <a16:colId xmlns:a16="http://schemas.microsoft.com/office/drawing/2014/main" val="1952926462"/>
                    </a:ext>
                  </a:extLst>
                </a:gridCol>
                <a:gridCol w="1942362">
                  <a:extLst>
                    <a:ext uri="{9D8B030D-6E8A-4147-A177-3AD203B41FA5}">
                      <a16:colId xmlns:a16="http://schemas.microsoft.com/office/drawing/2014/main" val="2964414006"/>
                    </a:ext>
                  </a:extLst>
                </a:gridCol>
                <a:gridCol w="1942362">
                  <a:extLst>
                    <a:ext uri="{9D8B030D-6E8A-4147-A177-3AD203B41FA5}">
                      <a16:colId xmlns:a16="http://schemas.microsoft.com/office/drawing/2014/main" val="844868399"/>
                    </a:ext>
                  </a:extLst>
                </a:gridCol>
                <a:gridCol w="1942362">
                  <a:extLst>
                    <a:ext uri="{9D8B030D-6E8A-4147-A177-3AD203B41FA5}">
                      <a16:colId xmlns:a16="http://schemas.microsoft.com/office/drawing/2014/main" val="3567811396"/>
                    </a:ext>
                  </a:extLst>
                </a:gridCol>
              </a:tblGrid>
              <a:tr h="36446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700" kern="0" spc="0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공급년도</a:t>
                      </a:r>
                      <a:endParaRPr lang="ko-KR" altLang="en-US" sz="1700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단지명</a:t>
                      </a:r>
                      <a:endParaRPr lang="ko-KR" altLang="en-US" sz="1600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지하철역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총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공공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민간</a:t>
                      </a:r>
                    </a:p>
                  </a:txBody>
                  <a:tcPr marL="44566" marR="44566" marT="12321" marB="12321" anchor="ctr"/>
                </a:tc>
                <a:extLst>
                  <a:ext uri="{0D108BD9-81ED-4DB2-BD59-A6C34878D82A}">
                    <a16:rowId xmlns:a16="http://schemas.microsoft.com/office/drawing/2014/main" val="2027421847"/>
                  </a:ext>
                </a:extLst>
              </a:tr>
              <a:tr h="364466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2019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어바니엘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위드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더 스타일 충정로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서대문구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충정로역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499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49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450</a:t>
                      </a:r>
                    </a:p>
                  </a:txBody>
                  <a:tcPr marL="44566" marR="44566" marT="12321" marB="12321" anchor="ctr"/>
                </a:tc>
                <a:extLst>
                  <a:ext uri="{0D108BD9-81ED-4DB2-BD59-A6C34878D82A}">
                    <a16:rowId xmlns:a16="http://schemas.microsoft.com/office/drawing/2014/main" val="2854714672"/>
                  </a:ext>
                </a:extLst>
              </a:tr>
              <a:tr h="36446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옥산 그린타워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광진구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강변역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84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66</a:t>
                      </a:r>
                    </a:p>
                  </a:txBody>
                  <a:tcPr marL="44566" marR="44566" marT="12321" marB="12321" anchor="ctr"/>
                </a:tc>
                <a:extLst>
                  <a:ext uri="{0D108BD9-81ED-4DB2-BD59-A6C34878D82A}">
                    <a16:rowId xmlns:a16="http://schemas.microsoft.com/office/drawing/2014/main" val="2634732077"/>
                  </a:ext>
                </a:extLst>
              </a:tr>
              <a:tr h="36446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서교동 효성 </a:t>
                      </a: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해링턴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타워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마포구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합정역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1121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199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922</a:t>
                      </a:r>
                    </a:p>
                  </a:txBody>
                  <a:tcPr marL="44566" marR="44566" marT="12321" marB="12321" anchor="ctr"/>
                </a:tc>
                <a:extLst>
                  <a:ext uri="{0D108BD9-81ED-4DB2-BD59-A6C34878D82A}">
                    <a16:rowId xmlns:a16="http://schemas.microsoft.com/office/drawing/2014/main" val="1520030820"/>
                  </a:ext>
                </a:extLst>
              </a:tr>
              <a:tr h="36446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힐데스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하임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성동구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장한평역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170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148</a:t>
                      </a:r>
                    </a:p>
                  </a:txBody>
                  <a:tcPr marL="44566" marR="44566" marT="12321" marB="12321" anchor="ctr"/>
                </a:tc>
                <a:extLst>
                  <a:ext uri="{0D108BD9-81ED-4DB2-BD59-A6C34878D82A}">
                    <a16:rowId xmlns:a16="http://schemas.microsoft.com/office/drawing/2014/main" val="131193270"/>
                  </a:ext>
                </a:extLst>
              </a:tr>
              <a:tr h="36446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동대문 영하우스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종로구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동묘앞역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238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31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207</a:t>
                      </a:r>
                    </a:p>
                  </a:txBody>
                  <a:tcPr marL="44566" marR="44566" marT="12321" marB="12321" anchor="ctr"/>
                </a:tc>
                <a:extLst>
                  <a:ext uri="{0D108BD9-81ED-4DB2-BD59-A6C34878D82A}">
                    <a16:rowId xmlns:a16="http://schemas.microsoft.com/office/drawing/2014/main" val="3157588765"/>
                  </a:ext>
                </a:extLst>
              </a:tr>
              <a:tr h="364466">
                <a:tc rowSpan="8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2020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아임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2030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강서구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등촌역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285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266</a:t>
                      </a:r>
                    </a:p>
                  </a:txBody>
                  <a:tcPr marL="44566" marR="44566" marT="12321" marB="12321" anchor="ctr"/>
                </a:tc>
                <a:extLst>
                  <a:ext uri="{0D108BD9-81ED-4DB2-BD59-A6C34878D82A}">
                    <a16:rowId xmlns:a16="http://schemas.microsoft.com/office/drawing/2014/main" val="971734286"/>
                  </a:ext>
                </a:extLst>
              </a:tr>
              <a:tr h="36446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더클래식동작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동작구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노량진역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272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37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235</a:t>
                      </a:r>
                    </a:p>
                  </a:txBody>
                  <a:tcPr marL="44566" marR="44566" marT="12321" marB="12321" anchor="ctr"/>
                </a:tc>
                <a:extLst>
                  <a:ext uri="{0D108BD9-81ED-4DB2-BD59-A6C34878D82A}">
                    <a16:rowId xmlns:a16="http://schemas.microsoft.com/office/drawing/2014/main" val="908721054"/>
                  </a:ext>
                </a:extLst>
              </a:tr>
              <a:tr h="36446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센터스퀘어등촌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강서구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등촌역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520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49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471</a:t>
                      </a:r>
                    </a:p>
                  </a:txBody>
                  <a:tcPr marL="44566" marR="44566" marT="12321" marB="12321" anchor="ctr"/>
                </a:tc>
                <a:extLst>
                  <a:ext uri="{0D108BD9-81ED-4DB2-BD59-A6C34878D82A}">
                    <a16:rowId xmlns:a16="http://schemas.microsoft.com/office/drawing/2014/main" val="243937741"/>
                  </a:ext>
                </a:extLst>
              </a:tr>
              <a:tr h="36446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이랜드신촌청년주택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마포구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광흥창역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561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561</a:t>
                      </a:r>
                    </a:p>
                  </a:txBody>
                  <a:tcPr marL="44566" marR="44566" marT="12321" marB="12321" anchor="ctr"/>
                </a:tc>
                <a:extLst>
                  <a:ext uri="{0D108BD9-81ED-4DB2-BD59-A6C34878D82A}">
                    <a16:rowId xmlns:a16="http://schemas.microsoft.com/office/drawing/2014/main" val="3354767499"/>
                  </a:ext>
                </a:extLst>
              </a:tr>
              <a:tr h="36446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용산베르디움 프렌즈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용산구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삼각지역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1226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421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805</a:t>
                      </a:r>
                    </a:p>
                  </a:txBody>
                  <a:tcPr marL="44566" marR="44566" marT="12321" marB="12321" anchor="ctr"/>
                </a:tc>
                <a:extLst>
                  <a:ext uri="{0D108BD9-81ED-4DB2-BD59-A6C34878D82A}">
                    <a16:rowId xmlns:a16="http://schemas.microsoft.com/office/drawing/2014/main" val="30460979"/>
                  </a:ext>
                </a:extLst>
              </a:tr>
              <a:tr h="36446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보눔하우스 화곡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강서구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화곡역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57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48</a:t>
                      </a:r>
                    </a:p>
                  </a:txBody>
                  <a:tcPr marL="44566" marR="44566" marT="12321" marB="12321" anchor="ctr"/>
                </a:tc>
                <a:extLst>
                  <a:ext uri="{0D108BD9-81ED-4DB2-BD59-A6C34878D82A}">
                    <a16:rowId xmlns:a16="http://schemas.microsoft.com/office/drawing/2014/main" val="3058407045"/>
                  </a:ext>
                </a:extLst>
              </a:tr>
              <a:tr h="36446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휘경제이스카이시티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동대문구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회기역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99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90</a:t>
                      </a:r>
                    </a:p>
                  </a:txBody>
                  <a:tcPr marL="44566" marR="44566" marT="12321" marB="12321" anchor="ctr"/>
                </a:tc>
                <a:extLst>
                  <a:ext uri="{0D108BD9-81ED-4DB2-BD59-A6C34878D82A}">
                    <a16:rowId xmlns:a16="http://schemas.microsoft.com/office/drawing/2014/main" val="495971407"/>
                  </a:ext>
                </a:extLst>
              </a:tr>
              <a:tr h="36446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서초꽃마을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서초구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서초역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280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68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212</a:t>
                      </a:r>
                    </a:p>
                  </a:txBody>
                  <a:tcPr marL="44566" marR="44566" marT="12321" marB="12321" anchor="ctr"/>
                </a:tc>
                <a:extLst>
                  <a:ext uri="{0D108BD9-81ED-4DB2-BD59-A6C34878D82A}">
                    <a16:rowId xmlns:a16="http://schemas.microsoft.com/office/drawing/2014/main" val="914440816"/>
                  </a:ext>
                </a:extLst>
              </a:tr>
              <a:tr h="364466">
                <a:tc rowSpan="7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2021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천호역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한강 </a:t>
                      </a: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리슈빌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강동구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천호역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225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50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175</a:t>
                      </a:r>
                    </a:p>
                  </a:txBody>
                  <a:tcPr marL="44566" marR="44566" marT="12321" marB="12321" anchor="ctr"/>
                </a:tc>
                <a:extLst>
                  <a:ext uri="{0D108BD9-81ED-4DB2-BD59-A6C34878D82A}">
                    <a16:rowId xmlns:a16="http://schemas.microsoft.com/office/drawing/2014/main" val="389699104"/>
                  </a:ext>
                </a:extLst>
              </a:tr>
              <a:tr h="36446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홍대 </a:t>
                      </a: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크리원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마포구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상수역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95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27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68</a:t>
                      </a:r>
                    </a:p>
                  </a:txBody>
                  <a:tcPr marL="44566" marR="44566" marT="12321" marB="12321" anchor="ctr"/>
                </a:tc>
                <a:extLst>
                  <a:ext uri="{0D108BD9-81ED-4DB2-BD59-A6C34878D82A}">
                    <a16:rowId xmlns:a16="http://schemas.microsoft.com/office/drawing/2014/main" val="3547822326"/>
                  </a:ext>
                </a:extLst>
              </a:tr>
              <a:tr h="36446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제이스타상봉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중랑구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상봉역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83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77</a:t>
                      </a:r>
                    </a:p>
                  </a:txBody>
                  <a:tcPr marL="44566" marR="44566" marT="12321" marB="12321" anchor="ctr"/>
                </a:tc>
                <a:extLst>
                  <a:ext uri="{0D108BD9-81ED-4DB2-BD59-A6C34878D82A}">
                    <a16:rowId xmlns:a16="http://schemas.microsoft.com/office/drawing/2014/main" val="3222061159"/>
                  </a:ext>
                </a:extLst>
              </a:tr>
              <a:tr h="36446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우장산역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해링턴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타워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강서구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우장산역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533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87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446</a:t>
                      </a:r>
                    </a:p>
                  </a:txBody>
                  <a:tcPr marL="44566" marR="44566" marT="12321" marB="12321" anchor="ctr"/>
                </a:tc>
                <a:extLst>
                  <a:ext uri="{0D108BD9-81ED-4DB2-BD59-A6C34878D82A}">
                    <a16:rowId xmlns:a16="http://schemas.microsoft.com/office/drawing/2014/main" val="2753536714"/>
                  </a:ext>
                </a:extLst>
              </a:tr>
              <a:tr h="36446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와이엔타원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노원구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태릉입구역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270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75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195</a:t>
                      </a:r>
                    </a:p>
                  </a:txBody>
                  <a:tcPr marL="44566" marR="44566" marT="12321" marB="12321" anchor="ctr"/>
                </a:tc>
                <a:extLst>
                  <a:ext uri="{0D108BD9-81ED-4DB2-BD59-A6C34878D82A}">
                    <a16:rowId xmlns:a16="http://schemas.microsoft.com/office/drawing/2014/main" val="2446430237"/>
                  </a:ext>
                </a:extLst>
              </a:tr>
              <a:tr h="36446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비바힐스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강변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광진구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강변역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98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70</a:t>
                      </a:r>
                    </a:p>
                  </a:txBody>
                  <a:tcPr marL="44566" marR="44566" marT="12321" marB="12321" anchor="ctr"/>
                </a:tc>
                <a:extLst>
                  <a:ext uri="{0D108BD9-81ED-4DB2-BD59-A6C34878D82A}">
                    <a16:rowId xmlns:a16="http://schemas.microsoft.com/office/drawing/2014/main" val="3044047002"/>
                  </a:ext>
                </a:extLst>
              </a:tr>
              <a:tr h="36446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칼튼테라스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중랑구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먹골역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235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24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211</a:t>
                      </a:r>
                    </a:p>
                  </a:txBody>
                  <a:tcPr marL="44566" marR="44566" marT="12321" marB="12321" anchor="ctr"/>
                </a:tc>
                <a:extLst>
                  <a:ext uri="{0D108BD9-81ED-4DB2-BD59-A6C34878D82A}">
                    <a16:rowId xmlns:a16="http://schemas.microsoft.com/office/drawing/2014/main" val="3584068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3528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49DE67-4145-1C93-B509-F77596515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39BF4BC-0323-DACF-5ECA-44986BFEA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712200" y="2260600"/>
            <a:ext cx="3733800" cy="254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2C4E7550-05CA-EAC9-3F7B-6363A4273C28}"/>
              </a:ext>
            </a:extLst>
          </p:cNvPr>
          <p:cNvSpPr txBox="1"/>
          <p:nvPr/>
        </p:nvSpPr>
        <p:spPr>
          <a:xfrm>
            <a:off x="1346200" y="571500"/>
            <a:ext cx="54356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3100" b="0" i="0" u="none" strike="noStrike">
                <a:solidFill>
                  <a:srgbClr val="393939"/>
                </a:solidFill>
                <a:ea typeface="Pretendard Bold"/>
              </a:rPr>
              <a:t>청년안심주택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C9C402C-A186-51D9-D13E-2DCBBA015884}"/>
              </a:ext>
            </a:extLst>
          </p:cNvPr>
          <p:cNvSpPr txBox="1"/>
          <p:nvPr/>
        </p:nvSpPr>
        <p:spPr>
          <a:xfrm>
            <a:off x="698500" y="558800"/>
            <a:ext cx="5969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00" b="0" i="0" u="none" strike="noStrike" dirty="0">
                <a:solidFill>
                  <a:srgbClr val="08A5C1"/>
                </a:solidFill>
                <a:latin typeface="Montserrat Bold"/>
              </a:rPr>
              <a:t>1</a:t>
            </a:r>
            <a:r>
              <a:rPr lang="ko-KR" altLang="en-US" sz="3000" b="0" i="0" u="none" strike="noStrike" dirty="0">
                <a:solidFill>
                  <a:srgbClr val="08A5C1"/>
                </a:solidFill>
                <a:latin typeface="Montserrat Bold"/>
              </a:rPr>
              <a:t>절</a:t>
            </a:r>
            <a:endParaRPr lang="en-US" sz="3000" b="0" i="0" u="none" strike="noStrike" dirty="0">
              <a:solidFill>
                <a:srgbClr val="08A5C1"/>
              </a:solidFill>
              <a:latin typeface="Montserrat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25D4045-514B-88FD-BDD9-584FA9147DF0}"/>
              </a:ext>
            </a:extLst>
          </p:cNvPr>
          <p:cNvSpPr txBox="1"/>
          <p:nvPr/>
        </p:nvSpPr>
        <p:spPr>
          <a:xfrm>
            <a:off x="947783" y="1428388"/>
            <a:ext cx="44831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6990"/>
              </a:lnSpc>
            </a:pPr>
            <a:r>
              <a:rPr lang="ko-KR" sz="3000" b="1" i="0" u="none" strike="noStrike" dirty="0">
                <a:solidFill>
                  <a:srgbClr val="000000"/>
                </a:solidFill>
                <a:ea typeface="조선가는고딕"/>
              </a:rPr>
              <a:t>청년안심주택의</a:t>
            </a:r>
            <a:r>
              <a:rPr lang="en-US" sz="3000" b="1" i="0" u="none" strike="noStrike" dirty="0">
                <a:solidFill>
                  <a:srgbClr val="000000"/>
                </a:solidFill>
                <a:latin typeface="조선가는고딕"/>
              </a:rPr>
              <a:t> </a:t>
            </a:r>
            <a:r>
              <a:rPr lang="ko-KR" altLang="en-US" sz="3000" b="1" i="0" u="none" strike="noStrike" dirty="0">
                <a:solidFill>
                  <a:srgbClr val="000000"/>
                </a:solidFill>
                <a:ea typeface="조선가는고딕"/>
              </a:rPr>
              <a:t>목록</a:t>
            </a:r>
            <a:endParaRPr lang="ko-KR" sz="3000" b="1" i="0" u="none" strike="noStrike" dirty="0">
              <a:solidFill>
                <a:srgbClr val="000000"/>
              </a:solidFill>
              <a:ea typeface="조선가는고딕"/>
            </a:endParaRPr>
          </a:p>
        </p:txBody>
      </p:sp>
      <p:sp>
        <p:nvSpPr>
          <p:cNvPr id="17" name="슬라이드 번호 개체 틀 5">
            <a:extLst>
              <a:ext uri="{FF2B5EF4-FFF2-40B4-BE49-F238E27FC236}">
                <a16:creationId xmlns:a16="http://schemas.microsoft.com/office/drawing/2014/main" id="{68835674-49D0-FE2D-B6B8-CE8703F26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180889" y="9659937"/>
            <a:ext cx="586411" cy="365125"/>
          </a:xfrm>
        </p:spPr>
        <p:txBody>
          <a:bodyPr/>
          <a:lstStyle/>
          <a:p>
            <a:r>
              <a:rPr lang="en-US" altLang="ko-KR" sz="2000" dirty="0"/>
              <a:t>7</a:t>
            </a:r>
            <a:endParaRPr lang="ko-KR" altLang="en-US" sz="2000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955F1970-9F6C-320C-2FAD-EB9C2F704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2688" y="1570038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DF7686FB-59CB-9D23-E381-497D7A2A0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5313" y="1262063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4AD64A8-A649-A943-B437-C8E364E7BD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267340"/>
              </p:ext>
            </p:extLst>
          </p:nvPr>
        </p:nvGraphicFramePr>
        <p:xfrm>
          <a:off x="996950" y="2051913"/>
          <a:ext cx="16183937" cy="772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5251">
                  <a:extLst>
                    <a:ext uri="{9D8B030D-6E8A-4147-A177-3AD203B41FA5}">
                      <a16:colId xmlns:a16="http://schemas.microsoft.com/office/drawing/2014/main" val="2551833719"/>
                    </a:ext>
                  </a:extLst>
                </a:gridCol>
                <a:gridCol w="3258731">
                  <a:extLst>
                    <a:ext uri="{9D8B030D-6E8A-4147-A177-3AD203B41FA5}">
                      <a16:colId xmlns:a16="http://schemas.microsoft.com/office/drawing/2014/main" val="1351554130"/>
                    </a:ext>
                  </a:extLst>
                </a:gridCol>
                <a:gridCol w="2311991">
                  <a:extLst>
                    <a:ext uri="{9D8B030D-6E8A-4147-A177-3AD203B41FA5}">
                      <a16:colId xmlns:a16="http://schemas.microsoft.com/office/drawing/2014/main" val="2018496252"/>
                    </a:ext>
                  </a:extLst>
                </a:gridCol>
                <a:gridCol w="3420878">
                  <a:extLst>
                    <a:ext uri="{9D8B030D-6E8A-4147-A177-3AD203B41FA5}">
                      <a16:colId xmlns:a16="http://schemas.microsoft.com/office/drawing/2014/main" val="1952926462"/>
                    </a:ext>
                  </a:extLst>
                </a:gridCol>
                <a:gridCol w="1942362">
                  <a:extLst>
                    <a:ext uri="{9D8B030D-6E8A-4147-A177-3AD203B41FA5}">
                      <a16:colId xmlns:a16="http://schemas.microsoft.com/office/drawing/2014/main" val="2964414006"/>
                    </a:ext>
                  </a:extLst>
                </a:gridCol>
                <a:gridCol w="1942362">
                  <a:extLst>
                    <a:ext uri="{9D8B030D-6E8A-4147-A177-3AD203B41FA5}">
                      <a16:colId xmlns:a16="http://schemas.microsoft.com/office/drawing/2014/main" val="844868399"/>
                    </a:ext>
                  </a:extLst>
                </a:gridCol>
                <a:gridCol w="1942362">
                  <a:extLst>
                    <a:ext uri="{9D8B030D-6E8A-4147-A177-3AD203B41FA5}">
                      <a16:colId xmlns:a16="http://schemas.microsoft.com/office/drawing/2014/main" val="35678113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공급년도</a:t>
                      </a:r>
                      <a:endParaRPr lang="ko-KR" altLang="en-US" sz="1600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단지명</a:t>
                      </a:r>
                      <a:endParaRPr lang="ko-KR" altLang="en-US" sz="1600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지하철역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총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공공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민간</a:t>
                      </a:r>
                    </a:p>
                  </a:txBody>
                  <a:tcPr marL="44566" marR="44566" marT="12321" marB="12321" anchor="ctr"/>
                </a:tc>
                <a:extLst>
                  <a:ext uri="{0D108BD9-81ED-4DB2-BD59-A6C34878D82A}">
                    <a16:rowId xmlns:a16="http://schemas.microsoft.com/office/drawing/2014/main" val="2027421847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2021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발산역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엘크루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강서구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발산역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252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53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199</a:t>
                      </a:r>
                    </a:p>
                  </a:txBody>
                  <a:tcPr marL="44566" marR="44566" marT="12321" marB="12321" anchor="ctr"/>
                </a:tc>
                <a:extLst>
                  <a:ext uri="{0D108BD9-81ED-4DB2-BD59-A6C34878D82A}">
                    <a16:rowId xmlns:a16="http://schemas.microsoft.com/office/drawing/2014/main" val="285471467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도림브라보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영등포구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도림사거리역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99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81</a:t>
                      </a:r>
                    </a:p>
                  </a:txBody>
                  <a:tcPr marL="44566" marR="44566" marT="12321" marB="12321" anchor="ctr"/>
                </a:tc>
                <a:extLst>
                  <a:ext uri="{0D108BD9-81ED-4DB2-BD59-A6C34878D82A}">
                    <a16:rowId xmlns:a16="http://schemas.microsoft.com/office/drawing/2014/main" val="263473207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포르투나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블루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강서구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화곡역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82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67</a:t>
                      </a:r>
                    </a:p>
                  </a:txBody>
                  <a:tcPr marL="44566" marR="44566" marT="12321" marB="12321" anchor="ctr"/>
                </a:tc>
                <a:extLst>
                  <a:ext uri="{0D108BD9-81ED-4DB2-BD59-A6C34878D82A}">
                    <a16:rowId xmlns:a16="http://schemas.microsoft.com/office/drawing/2014/main" val="1520030820"/>
                  </a:ext>
                </a:extLst>
              </a:tr>
              <a:tr h="370840">
                <a:tc rowSpan="1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2022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리스트강남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강남구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신논현역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345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86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259</a:t>
                      </a:r>
                    </a:p>
                  </a:txBody>
                  <a:tcPr marL="30205" marR="30205" marT="8351" marB="8351" anchor="ctr"/>
                </a:tc>
                <a:extLst>
                  <a:ext uri="{0D108BD9-81ED-4DB2-BD59-A6C34878D82A}">
                    <a16:rowId xmlns:a16="http://schemas.microsoft.com/office/drawing/2014/main" val="13119327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용산원효루미니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용산구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남영역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774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295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479</a:t>
                      </a:r>
                    </a:p>
                  </a:txBody>
                  <a:tcPr marL="30205" marR="30205" marT="8351" marB="8351" anchor="ctr"/>
                </a:tc>
                <a:extLst>
                  <a:ext uri="{0D108BD9-81ED-4DB2-BD59-A6C34878D82A}">
                    <a16:rowId xmlns:a16="http://schemas.microsoft.com/office/drawing/2014/main" val="315758876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인히어쌍문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도봉구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쌍문역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288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70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218</a:t>
                      </a:r>
                    </a:p>
                  </a:txBody>
                  <a:tcPr marL="30205" marR="30205" marT="8351" marB="8351" anchor="ctr"/>
                </a:tc>
                <a:extLst>
                  <a:ext uri="{0D108BD9-81ED-4DB2-BD59-A6C34878D82A}">
                    <a16:rowId xmlns:a16="http://schemas.microsoft.com/office/drawing/2014/main" val="971734286"/>
                  </a:ext>
                </a:extLst>
              </a:tr>
              <a:tr h="31786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구산주택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은평구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구산역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238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217</a:t>
                      </a:r>
                    </a:p>
                  </a:txBody>
                  <a:tcPr marL="30205" marR="30205" marT="8351" marB="8351" anchor="ctr"/>
                </a:tc>
                <a:extLst>
                  <a:ext uri="{0D108BD9-81ED-4DB2-BD59-A6C34878D82A}">
                    <a16:rowId xmlns:a16="http://schemas.microsoft.com/office/drawing/2014/main" val="9087210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BX201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관악구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서울대입구역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31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170</a:t>
                      </a:r>
                    </a:p>
                  </a:txBody>
                  <a:tcPr marL="30205" marR="30205" marT="8351" marB="8351" anchor="ctr"/>
                </a:tc>
                <a:extLst>
                  <a:ext uri="{0D108BD9-81ED-4DB2-BD59-A6C34878D82A}">
                    <a16:rowId xmlns:a16="http://schemas.microsoft.com/office/drawing/2014/main" val="24393774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에드가쌍문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도봉구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솔밭공원역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253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48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205</a:t>
                      </a:r>
                    </a:p>
                  </a:txBody>
                  <a:tcPr marL="30205" marR="30205" marT="8351" marB="8351" anchor="ctr"/>
                </a:tc>
                <a:extLst>
                  <a:ext uri="{0D108BD9-81ED-4DB2-BD59-A6C34878D82A}">
                    <a16:rowId xmlns:a16="http://schemas.microsoft.com/office/drawing/2014/main" val="335476749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잠실엘타워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송파구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잠실새내역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298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88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210</a:t>
                      </a:r>
                    </a:p>
                  </a:txBody>
                  <a:tcPr marL="30205" marR="30205" marT="8351" marB="8351" anchor="ctr"/>
                </a:tc>
                <a:extLst>
                  <a:ext uri="{0D108BD9-81ED-4DB2-BD59-A6C34878D82A}">
                    <a16:rowId xmlns:a16="http://schemas.microsoft.com/office/drawing/2014/main" val="30460979"/>
                  </a:ext>
                </a:extLst>
              </a:tr>
              <a:tr h="26488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리마크빌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군자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광진구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군자역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299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84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215</a:t>
                      </a:r>
                    </a:p>
                  </a:txBody>
                  <a:tcPr marL="30205" marR="30205" marT="8351" marB="8351" anchor="ctr"/>
                </a:tc>
                <a:extLst>
                  <a:ext uri="{0D108BD9-81ED-4DB2-BD59-A6C34878D82A}">
                    <a16:rowId xmlns:a16="http://schemas.microsoft.com/office/drawing/2014/main" val="3058407045"/>
                  </a:ext>
                </a:extLst>
              </a:tr>
              <a:tr h="31786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호반베르디움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스테이원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은평구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불광역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977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347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6300</a:t>
                      </a:r>
                    </a:p>
                  </a:txBody>
                  <a:tcPr marL="30205" marR="30205" marT="8351" marB="8351" anchor="ctr"/>
                </a:tc>
                <a:extLst>
                  <a:ext uri="{0D108BD9-81ED-4DB2-BD59-A6C34878D82A}">
                    <a16:rowId xmlns:a16="http://schemas.microsoft.com/office/drawing/2014/main" val="4959714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하트리움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동대문구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회기역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582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80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502</a:t>
                      </a:r>
                    </a:p>
                  </a:txBody>
                  <a:tcPr marL="30205" marR="30205" marT="8351" marB="8351" anchor="ctr"/>
                </a:tc>
                <a:extLst>
                  <a:ext uri="{0D108BD9-81ED-4DB2-BD59-A6C34878D82A}">
                    <a16:rowId xmlns:a16="http://schemas.microsoft.com/office/drawing/2014/main" val="914440816"/>
                  </a:ext>
                </a:extLst>
              </a:tr>
              <a:tr h="12856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스타타워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서대문구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가좌역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124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109</a:t>
                      </a:r>
                    </a:p>
                  </a:txBody>
                  <a:tcPr marL="30205" marR="30205" marT="8351" marB="8351" anchor="ctr"/>
                </a:tc>
                <a:extLst>
                  <a:ext uri="{0D108BD9-81ED-4DB2-BD59-A6C34878D82A}">
                    <a16:rowId xmlns:a16="http://schemas.microsoft.com/office/drawing/2014/main" val="3896991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포레나 당산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영등포구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영등포구청역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496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87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409</a:t>
                      </a:r>
                    </a:p>
                  </a:txBody>
                  <a:tcPr marL="30205" marR="30205" marT="8351" marB="8351" anchor="ctr"/>
                </a:tc>
                <a:extLst>
                  <a:ext uri="{0D108BD9-81ED-4DB2-BD59-A6C34878D82A}">
                    <a16:rowId xmlns:a16="http://schemas.microsoft.com/office/drawing/2014/main" val="3547822326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2023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더원역삼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강남구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역삼역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78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59</a:t>
                      </a:r>
                    </a:p>
                  </a:txBody>
                  <a:tcPr marL="30205" marR="30205" marT="8351" marB="8351" anchor="ctr"/>
                </a:tc>
                <a:extLst>
                  <a:ext uri="{0D108BD9-81ED-4DB2-BD59-A6C34878D82A}">
                    <a16:rowId xmlns:a16="http://schemas.microsoft.com/office/drawing/2014/main" val="322206115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CONEST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서초구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양재역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379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90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289</a:t>
                      </a:r>
                    </a:p>
                  </a:txBody>
                  <a:tcPr marL="30205" marR="30205" marT="8351" marB="8351" anchor="ctr"/>
                </a:tc>
                <a:extLst>
                  <a:ext uri="{0D108BD9-81ED-4DB2-BD59-A6C34878D82A}">
                    <a16:rowId xmlns:a16="http://schemas.microsoft.com/office/drawing/2014/main" val="275353671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모아엘가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퍼스트홈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강남구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선정릉역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298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38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260</a:t>
                      </a:r>
                    </a:p>
                  </a:txBody>
                  <a:tcPr marL="30205" marR="30205" marT="8351" marB="8351" anchor="ctr"/>
                </a:tc>
                <a:extLst>
                  <a:ext uri="{0D108BD9-81ED-4DB2-BD59-A6C34878D82A}">
                    <a16:rowId xmlns:a16="http://schemas.microsoft.com/office/drawing/2014/main" val="244643023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천호역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효성해링턴타워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강동구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천호역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900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264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636</a:t>
                      </a:r>
                    </a:p>
                  </a:txBody>
                  <a:tcPr marL="30205" marR="30205" marT="8351" marB="8351" anchor="ctr"/>
                </a:tc>
                <a:extLst>
                  <a:ext uri="{0D108BD9-81ED-4DB2-BD59-A6C34878D82A}">
                    <a16:rowId xmlns:a16="http://schemas.microsoft.com/office/drawing/2014/main" val="3044047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센텀힐스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광진구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강변역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70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52</a:t>
                      </a:r>
                    </a:p>
                  </a:txBody>
                  <a:tcPr marL="30205" marR="30205" marT="8351" marB="8351" anchor="ctr"/>
                </a:tc>
                <a:extLst>
                  <a:ext uri="{0D108BD9-81ED-4DB2-BD59-A6C34878D82A}">
                    <a16:rowId xmlns:a16="http://schemas.microsoft.com/office/drawing/2014/main" val="3584068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7692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CEAA18-D443-0E43-A803-21CE46358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2B69376-34CC-1619-D10D-DDE8194A3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712200" y="2260600"/>
            <a:ext cx="3733800" cy="254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7C0480C4-5A76-9AF2-E6EA-52E0C110A3CF}"/>
              </a:ext>
            </a:extLst>
          </p:cNvPr>
          <p:cNvSpPr txBox="1"/>
          <p:nvPr/>
        </p:nvSpPr>
        <p:spPr>
          <a:xfrm>
            <a:off x="1346200" y="571500"/>
            <a:ext cx="54356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3100" b="0" i="0" u="none" strike="noStrike">
                <a:solidFill>
                  <a:srgbClr val="393939"/>
                </a:solidFill>
                <a:ea typeface="Pretendard Bold"/>
              </a:rPr>
              <a:t>청년안심주택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6CFB784-51A7-8473-75D0-76BBF873DD94}"/>
              </a:ext>
            </a:extLst>
          </p:cNvPr>
          <p:cNvSpPr txBox="1"/>
          <p:nvPr/>
        </p:nvSpPr>
        <p:spPr>
          <a:xfrm>
            <a:off x="698500" y="558800"/>
            <a:ext cx="5969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00" b="0" i="0" u="none" strike="noStrike" dirty="0">
                <a:solidFill>
                  <a:srgbClr val="08A5C1"/>
                </a:solidFill>
                <a:latin typeface="Montserrat Bold"/>
              </a:rPr>
              <a:t>1</a:t>
            </a:r>
            <a:r>
              <a:rPr lang="ko-KR" altLang="en-US" sz="3000" b="0" i="0" u="none" strike="noStrike" dirty="0">
                <a:solidFill>
                  <a:srgbClr val="08A5C1"/>
                </a:solidFill>
                <a:latin typeface="Montserrat Bold"/>
              </a:rPr>
              <a:t>절</a:t>
            </a:r>
            <a:endParaRPr lang="en-US" sz="3000" b="0" i="0" u="none" strike="noStrike" dirty="0">
              <a:solidFill>
                <a:srgbClr val="08A5C1"/>
              </a:solidFill>
              <a:latin typeface="Montserrat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1887F9C-A24E-A089-7D1C-ED23FD7F66E6}"/>
              </a:ext>
            </a:extLst>
          </p:cNvPr>
          <p:cNvSpPr txBox="1"/>
          <p:nvPr/>
        </p:nvSpPr>
        <p:spPr>
          <a:xfrm>
            <a:off x="947783" y="1428388"/>
            <a:ext cx="44831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6990"/>
              </a:lnSpc>
            </a:pPr>
            <a:r>
              <a:rPr lang="ko-KR" sz="3000" b="1" i="0" u="none" strike="noStrike" dirty="0">
                <a:solidFill>
                  <a:srgbClr val="000000"/>
                </a:solidFill>
                <a:ea typeface="조선가는고딕"/>
              </a:rPr>
              <a:t>청년안심주택의</a:t>
            </a:r>
            <a:r>
              <a:rPr lang="en-US" sz="3000" b="1" i="0" u="none" strike="noStrike" dirty="0">
                <a:solidFill>
                  <a:srgbClr val="000000"/>
                </a:solidFill>
                <a:latin typeface="조선가는고딕"/>
              </a:rPr>
              <a:t> </a:t>
            </a:r>
            <a:r>
              <a:rPr lang="ko-KR" altLang="en-US" sz="3000" b="1" i="0" u="none" strike="noStrike" dirty="0">
                <a:solidFill>
                  <a:srgbClr val="000000"/>
                </a:solidFill>
                <a:ea typeface="조선가는고딕"/>
              </a:rPr>
              <a:t>목록</a:t>
            </a:r>
            <a:endParaRPr lang="ko-KR" sz="3000" b="1" i="0" u="none" strike="noStrike" dirty="0">
              <a:solidFill>
                <a:srgbClr val="000000"/>
              </a:solidFill>
              <a:ea typeface="조선가는고딕"/>
            </a:endParaRPr>
          </a:p>
        </p:txBody>
      </p:sp>
      <p:sp>
        <p:nvSpPr>
          <p:cNvPr id="17" name="슬라이드 번호 개체 틀 5">
            <a:extLst>
              <a:ext uri="{FF2B5EF4-FFF2-40B4-BE49-F238E27FC236}">
                <a16:creationId xmlns:a16="http://schemas.microsoft.com/office/drawing/2014/main" id="{A19CE3CC-E796-C9BE-9FB5-E2837E696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180889" y="9659937"/>
            <a:ext cx="586411" cy="365125"/>
          </a:xfrm>
        </p:spPr>
        <p:txBody>
          <a:bodyPr/>
          <a:lstStyle/>
          <a:p>
            <a:r>
              <a:rPr lang="en-US" altLang="ko-KR" sz="2000" dirty="0"/>
              <a:t>8</a:t>
            </a:r>
            <a:endParaRPr lang="ko-KR" altLang="en-US" sz="2000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B67CA66A-EA2D-F686-9633-44E4B8328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2688" y="1570038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6FD095F7-20D9-331C-2128-076D80EC8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5313" y="1262063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0AC9165-C841-9221-08CC-24BA3BD2A1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034075"/>
              </p:ext>
            </p:extLst>
          </p:nvPr>
        </p:nvGraphicFramePr>
        <p:xfrm>
          <a:off x="1028326" y="2090013"/>
          <a:ext cx="16183937" cy="75668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5251">
                  <a:extLst>
                    <a:ext uri="{9D8B030D-6E8A-4147-A177-3AD203B41FA5}">
                      <a16:colId xmlns:a16="http://schemas.microsoft.com/office/drawing/2014/main" val="2551833719"/>
                    </a:ext>
                  </a:extLst>
                </a:gridCol>
                <a:gridCol w="3258731">
                  <a:extLst>
                    <a:ext uri="{9D8B030D-6E8A-4147-A177-3AD203B41FA5}">
                      <a16:colId xmlns:a16="http://schemas.microsoft.com/office/drawing/2014/main" val="1351554130"/>
                    </a:ext>
                  </a:extLst>
                </a:gridCol>
                <a:gridCol w="2311991">
                  <a:extLst>
                    <a:ext uri="{9D8B030D-6E8A-4147-A177-3AD203B41FA5}">
                      <a16:colId xmlns:a16="http://schemas.microsoft.com/office/drawing/2014/main" val="2018496252"/>
                    </a:ext>
                  </a:extLst>
                </a:gridCol>
                <a:gridCol w="3420878">
                  <a:extLst>
                    <a:ext uri="{9D8B030D-6E8A-4147-A177-3AD203B41FA5}">
                      <a16:colId xmlns:a16="http://schemas.microsoft.com/office/drawing/2014/main" val="1952926462"/>
                    </a:ext>
                  </a:extLst>
                </a:gridCol>
                <a:gridCol w="1942362">
                  <a:extLst>
                    <a:ext uri="{9D8B030D-6E8A-4147-A177-3AD203B41FA5}">
                      <a16:colId xmlns:a16="http://schemas.microsoft.com/office/drawing/2014/main" val="2964414006"/>
                    </a:ext>
                  </a:extLst>
                </a:gridCol>
                <a:gridCol w="1942362">
                  <a:extLst>
                    <a:ext uri="{9D8B030D-6E8A-4147-A177-3AD203B41FA5}">
                      <a16:colId xmlns:a16="http://schemas.microsoft.com/office/drawing/2014/main" val="844868399"/>
                    </a:ext>
                  </a:extLst>
                </a:gridCol>
                <a:gridCol w="1942362">
                  <a:extLst>
                    <a:ext uri="{9D8B030D-6E8A-4147-A177-3AD203B41FA5}">
                      <a16:colId xmlns:a16="http://schemas.microsoft.com/office/drawing/2014/main" val="3567811396"/>
                    </a:ext>
                  </a:extLst>
                </a:gridCol>
              </a:tblGrid>
              <a:tr h="3732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공급년도</a:t>
                      </a:r>
                      <a:endParaRPr lang="ko-KR" altLang="en-US" sz="1800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단지명</a:t>
                      </a:r>
                      <a:endParaRPr lang="ko-KR" altLang="en-US" sz="1800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지하철역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총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공공</a:t>
                      </a:r>
                    </a:p>
                  </a:txBody>
                  <a:tcPr marL="44566" marR="44566" marT="12321" marB="123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민간</a:t>
                      </a:r>
                    </a:p>
                  </a:txBody>
                  <a:tcPr marL="44566" marR="44566" marT="12321" marB="12321" anchor="ctr"/>
                </a:tc>
                <a:extLst>
                  <a:ext uri="{0D108BD9-81ED-4DB2-BD59-A6C34878D82A}">
                    <a16:rowId xmlns:a16="http://schemas.microsoft.com/office/drawing/2014/main" val="2027421847"/>
                  </a:ext>
                </a:extLst>
              </a:tr>
              <a:tr h="373255">
                <a:tc rowSpan="8"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2023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최강타워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관악구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신림역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354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95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259</a:t>
                      </a:r>
                    </a:p>
                  </a:txBody>
                  <a:tcPr marL="30205" marR="30205" marT="8351" marB="8351" anchor="ctr"/>
                </a:tc>
                <a:extLst>
                  <a:ext uri="{0D108BD9-81ED-4DB2-BD59-A6C34878D82A}">
                    <a16:rowId xmlns:a16="http://schemas.microsoft.com/office/drawing/2014/main" val="2854714672"/>
                  </a:ext>
                </a:extLst>
              </a:tr>
              <a:tr h="3732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잠실센트럴파크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송파구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잠실새내역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217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71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146</a:t>
                      </a:r>
                    </a:p>
                  </a:txBody>
                  <a:tcPr marL="30205" marR="30205" marT="8351" marB="8351" anchor="ctr"/>
                </a:tc>
                <a:extLst>
                  <a:ext uri="{0D108BD9-81ED-4DB2-BD59-A6C34878D82A}">
                    <a16:rowId xmlns:a16="http://schemas.microsoft.com/office/drawing/2014/main" val="2634732077"/>
                  </a:ext>
                </a:extLst>
              </a:tr>
              <a:tr h="3732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준타워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영등포구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신길역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162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128</a:t>
                      </a:r>
                    </a:p>
                  </a:txBody>
                  <a:tcPr marL="30205" marR="30205" marT="8351" marB="8351" anchor="ctr"/>
                </a:tc>
                <a:extLst>
                  <a:ext uri="{0D108BD9-81ED-4DB2-BD59-A6C34878D82A}">
                    <a16:rowId xmlns:a16="http://schemas.microsoft.com/office/drawing/2014/main" val="1520030820"/>
                  </a:ext>
                </a:extLst>
              </a:tr>
              <a:tr h="3732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청계로벤하임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종로구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동묘앞역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139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123</a:t>
                      </a:r>
                    </a:p>
                  </a:txBody>
                  <a:tcPr marL="30205" marR="30205" marT="8351" marB="8351" anchor="ctr"/>
                </a:tc>
                <a:extLst>
                  <a:ext uri="{0D108BD9-81ED-4DB2-BD59-A6C34878D82A}">
                    <a16:rowId xmlns:a16="http://schemas.microsoft.com/office/drawing/2014/main" val="131193270"/>
                  </a:ext>
                </a:extLst>
              </a:tr>
              <a:tr h="37325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삼성동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마에스트로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강남구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선릉역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299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82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217</a:t>
                      </a:r>
                    </a:p>
                  </a:txBody>
                  <a:tcPr marL="30205" marR="30205" marT="8351" marB="8351" anchor="ctr"/>
                </a:tc>
                <a:extLst>
                  <a:ext uri="{0D108BD9-81ED-4DB2-BD59-A6C34878D82A}">
                    <a16:rowId xmlns:a16="http://schemas.microsoft.com/office/drawing/2014/main" val="3157588765"/>
                  </a:ext>
                </a:extLst>
              </a:tr>
              <a:tr h="3732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166tower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중구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동대문역사문화공원역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105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84</a:t>
                      </a:r>
                    </a:p>
                  </a:txBody>
                  <a:tcPr marL="30205" marR="30205" marT="8351" marB="8351" anchor="ctr"/>
                </a:tc>
                <a:extLst>
                  <a:ext uri="{0D108BD9-81ED-4DB2-BD59-A6C34878D82A}">
                    <a16:rowId xmlns:a16="http://schemas.microsoft.com/office/drawing/2014/main" val="971734286"/>
                  </a:ext>
                </a:extLst>
              </a:tr>
              <a:tr h="27994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루체스테이션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은평구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연신내역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264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74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190</a:t>
                      </a:r>
                    </a:p>
                  </a:txBody>
                  <a:tcPr marL="30205" marR="30205" marT="8351" marB="8351" anchor="ctr"/>
                </a:tc>
                <a:extLst>
                  <a:ext uri="{0D108BD9-81ED-4DB2-BD59-A6C34878D82A}">
                    <a16:rowId xmlns:a16="http://schemas.microsoft.com/office/drawing/2014/main" val="908721054"/>
                  </a:ext>
                </a:extLst>
              </a:tr>
              <a:tr h="39771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골든노블레스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동작구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신대방삼거리역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110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23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87</a:t>
                      </a:r>
                    </a:p>
                  </a:txBody>
                  <a:tcPr marL="30205" marR="30205" marT="8351" marB="8351" anchor="ctr"/>
                </a:tc>
                <a:extLst>
                  <a:ext uri="{0D108BD9-81ED-4DB2-BD59-A6C34878D82A}">
                    <a16:rowId xmlns:a16="http://schemas.microsoft.com/office/drawing/2014/main" val="243937741"/>
                  </a:ext>
                </a:extLst>
              </a:tr>
              <a:tr h="373255">
                <a:tc rowSpan="10"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2024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문정역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마에스트로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송파구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문정역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438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153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285</a:t>
                      </a:r>
                    </a:p>
                  </a:txBody>
                  <a:tcPr marL="30205" marR="30205" marT="8351" marB="8351" anchor="ctr"/>
                </a:tc>
                <a:extLst>
                  <a:ext uri="{0D108BD9-81ED-4DB2-BD59-A6C34878D82A}">
                    <a16:rowId xmlns:a16="http://schemas.microsoft.com/office/drawing/2014/main" val="3354767499"/>
                  </a:ext>
                </a:extLst>
              </a:tr>
              <a:tr h="3732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더써밋타워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동작구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노량진역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299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40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259</a:t>
                      </a:r>
                    </a:p>
                  </a:txBody>
                  <a:tcPr marL="30205" marR="30205" marT="8351" marB="8351" anchor="ctr"/>
                </a:tc>
                <a:extLst>
                  <a:ext uri="{0D108BD9-81ED-4DB2-BD59-A6C34878D82A}">
                    <a16:rowId xmlns:a16="http://schemas.microsoft.com/office/drawing/2014/main" val="30460979"/>
                  </a:ext>
                </a:extLst>
              </a:tr>
              <a:tr h="3732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상봉동양엔파트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중랑구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상봉역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299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102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197</a:t>
                      </a:r>
                    </a:p>
                  </a:txBody>
                  <a:tcPr marL="30205" marR="30205" marT="8351" marB="8351" anchor="ctr"/>
                </a:tc>
                <a:extLst>
                  <a:ext uri="{0D108BD9-81ED-4DB2-BD59-A6C34878D82A}">
                    <a16:rowId xmlns:a16="http://schemas.microsoft.com/office/drawing/2014/main" val="3058407045"/>
                  </a:ext>
                </a:extLst>
              </a:tr>
              <a:tr h="3732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The studio 163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은평구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연신내역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163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23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140</a:t>
                      </a:r>
                    </a:p>
                  </a:txBody>
                  <a:tcPr marL="30205" marR="30205" marT="8351" marB="8351" anchor="ctr"/>
                </a:tc>
                <a:extLst>
                  <a:ext uri="{0D108BD9-81ED-4DB2-BD59-A6C34878D82A}">
                    <a16:rowId xmlns:a16="http://schemas.microsoft.com/office/drawing/2014/main" val="495971407"/>
                  </a:ext>
                </a:extLst>
              </a:tr>
              <a:tr h="3732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비스타 동원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영등포구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신풍역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576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70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506</a:t>
                      </a:r>
                    </a:p>
                  </a:txBody>
                  <a:tcPr marL="30205" marR="30205" marT="8351" marB="8351" anchor="ctr"/>
                </a:tc>
                <a:extLst>
                  <a:ext uri="{0D108BD9-81ED-4DB2-BD59-A6C34878D82A}">
                    <a16:rowId xmlns:a16="http://schemas.microsoft.com/office/drawing/2014/main" val="914440816"/>
                  </a:ext>
                </a:extLst>
              </a:tr>
              <a:tr h="37325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사당역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코브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cove)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동작구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사당역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153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24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129</a:t>
                      </a:r>
                    </a:p>
                  </a:txBody>
                  <a:tcPr marL="30205" marR="30205" marT="8351" marB="8351" anchor="ctr"/>
                </a:tc>
                <a:extLst>
                  <a:ext uri="{0D108BD9-81ED-4DB2-BD59-A6C34878D82A}">
                    <a16:rowId xmlns:a16="http://schemas.microsoft.com/office/drawing/2014/main" val="389699104"/>
                  </a:ext>
                </a:extLst>
              </a:tr>
              <a:tr h="3732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태릉입구역 이니티움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노원구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태릉입구역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49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51</a:t>
                      </a:r>
                    </a:p>
                  </a:txBody>
                  <a:tcPr marL="30205" marR="30205" marT="8351" marB="8351" anchor="ctr"/>
                </a:tc>
                <a:extLst>
                  <a:ext uri="{0D108BD9-81ED-4DB2-BD59-A6C34878D82A}">
                    <a16:rowId xmlns:a16="http://schemas.microsoft.com/office/drawing/2014/main" val="3547822326"/>
                  </a:ext>
                </a:extLst>
              </a:tr>
              <a:tr h="3732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센터스퀘어 서울대점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관악구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서울대벤처타운역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413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89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324</a:t>
                      </a:r>
                    </a:p>
                  </a:txBody>
                  <a:tcPr marL="30205" marR="30205" marT="8351" marB="8351" anchor="ctr"/>
                </a:tc>
                <a:extLst>
                  <a:ext uri="{0D108BD9-81ED-4DB2-BD59-A6C34878D82A}">
                    <a16:rowId xmlns:a16="http://schemas.microsoft.com/office/drawing/2014/main" val="3222061159"/>
                  </a:ext>
                </a:extLst>
              </a:tr>
              <a:tr h="3732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루미노</a:t>
                      </a: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816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은평구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연신내역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299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119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180</a:t>
                      </a:r>
                    </a:p>
                  </a:txBody>
                  <a:tcPr marL="30205" marR="30205" marT="8351" marB="8351" anchor="ctr"/>
                </a:tc>
                <a:extLst>
                  <a:ext uri="{0D108BD9-81ED-4DB2-BD59-A6C34878D82A}">
                    <a16:rowId xmlns:a16="http://schemas.microsoft.com/office/drawing/2014/main" val="2753536714"/>
                  </a:ext>
                </a:extLst>
              </a:tr>
              <a:tr h="3732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리스트안암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동대문구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고려대역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299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129</a:t>
                      </a:r>
                    </a:p>
                  </a:txBody>
                  <a:tcPr marL="30205" marR="30205" marT="8351" marB="835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170 </a:t>
                      </a:r>
                    </a:p>
                  </a:txBody>
                  <a:tcPr marL="30205" marR="30205" marT="8351" marB="8351" anchor="ctr"/>
                </a:tc>
                <a:extLst>
                  <a:ext uri="{0D108BD9-81ED-4DB2-BD59-A6C34878D82A}">
                    <a16:rowId xmlns:a16="http://schemas.microsoft.com/office/drawing/2014/main" val="2446430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104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9">
            <a:extLst>
              <a:ext uri="{FF2B5EF4-FFF2-40B4-BE49-F238E27FC236}">
                <a16:creationId xmlns:a16="http://schemas.microsoft.com/office/drawing/2014/main" id="{972F3FBA-88ED-4496-90C6-AB8D301B7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014" y="1844765"/>
            <a:ext cx="16802100" cy="1927135"/>
          </a:xfrm>
          <a:prstGeom prst="rect">
            <a:avLst/>
          </a:prstGeom>
        </p:spPr>
      </p:pic>
      <p:pic>
        <p:nvPicPr>
          <p:cNvPr id="13" name="Picture 10">
            <a:extLst>
              <a:ext uri="{FF2B5EF4-FFF2-40B4-BE49-F238E27FC236}">
                <a16:creationId xmlns:a16="http://schemas.microsoft.com/office/drawing/2014/main" id="{C4E8E992-79D1-4A5E-AEDE-5E79C8956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21014" y="1828800"/>
            <a:ext cx="342900" cy="342900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712200" y="2260600"/>
            <a:ext cx="3733800" cy="2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088" y="6821229"/>
            <a:ext cx="7524056" cy="2809967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422400" y="571500"/>
            <a:ext cx="54356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3100" b="0" i="0" u="none" strike="noStrike" dirty="0">
                <a:solidFill>
                  <a:srgbClr val="393939"/>
                </a:solidFill>
                <a:ea typeface="Pretendard Bold"/>
              </a:rPr>
              <a:t>1</a:t>
            </a:r>
            <a:r>
              <a:rPr lang="ko-KR" altLang="en-US" sz="3100" b="0" i="0" u="none" strike="noStrike" dirty="0">
                <a:solidFill>
                  <a:srgbClr val="393939"/>
                </a:solidFill>
                <a:ea typeface="Pretendard Bold"/>
              </a:rPr>
              <a:t>인 가구 면적 기준</a:t>
            </a:r>
            <a:endParaRPr lang="ko-KR" sz="3100" b="0" i="0" u="none" strike="noStrike" dirty="0">
              <a:solidFill>
                <a:srgbClr val="393939"/>
              </a:solidFill>
              <a:ea typeface="Pretendard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98500" y="558800"/>
            <a:ext cx="6477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3000" dirty="0">
                <a:solidFill>
                  <a:srgbClr val="08A5C1"/>
                </a:solidFill>
                <a:latin typeface="Montserrat Bold"/>
              </a:rPr>
              <a:t>2</a:t>
            </a:r>
            <a:r>
              <a:rPr lang="ko-KR" altLang="en-US" sz="3000" dirty="0">
                <a:solidFill>
                  <a:srgbClr val="08A5C1"/>
                </a:solidFill>
                <a:latin typeface="Montserrat Bold" panose="020B0600000101010101" charset="0"/>
              </a:rPr>
              <a:t>절</a:t>
            </a:r>
            <a:endParaRPr lang="en-US" sz="3000" b="0" i="0" u="none" strike="noStrike" dirty="0">
              <a:solidFill>
                <a:srgbClr val="08A5C1"/>
              </a:solidFill>
              <a:latin typeface="Montserrat Bold" panose="020B0600000101010101" charset="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31900" y="1333500"/>
            <a:ext cx="44831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6990"/>
              </a:lnSpc>
            </a:pPr>
            <a:r>
              <a:rPr lang="ko-KR" sz="2500" b="1" i="0" u="none" strike="noStrike" dirty="0">
                <a:solidFill>
                  <a:srgbClr val="000000"/>
                </a:solidFill>
                <a:ea typeface="조선가는고딕"/>
              </a:rPr>
              <a:t>임대주택</a:t>
            </a:r>
            <a:r>
              <a:rPr lang="en-US" sz="2500" b="1" i="0" u="none" strike="noStrike" dirty="0">
                <a:solidFill>
                  <a:srgbClr val="000000"/>
                </a:solidFill>
                <a:latin typeface="조선가는고딕"/>
              </a:rPr>
              <a:t> 1</a:t>
            </a:r>
            <a:r>
              <a:rPr lang="ko-KR" sz="2500" b="1" i="0" u="none" strike="noStrike" dirty="0">
                <a:solidFill>
                  <a:srgbClr val="000000"/>
                </a:solidFill>
                <a:ea typeface="조선가는고딕"/>
              </a:rPr>
              <a:t>인</a:t>
            </a:r>
            <a:r>
              <a:rPr lang="en-US" sz="2500" b="1" i="0" u="none" strike="noStrike" dirty="0">
                <a:solidFill>
                  <a:srgbClr val="000000"/>
                </a:solidFill>
                <a:latin typeface="조선가는고딕"/>
              </a:rPr>
              <a:t> </a:t>
            </a:r>
            <a:r>
              <a:rPr lang="ko-KR" sz="2500" b="1" i="0" u="none" strike="noStrike" dirty="0">
                <a:solidFill>
                  <a:srgbClr val="000000"/>
                </a:solidFill>
                <a:ea typeface="조선가는고딕"/>
              </a:rPr>
              <a:t>가구</a:t>
            </a:r>
            <a:r>
              <a:rPr lang="en-US" sz="2500" b="1" i="0" u="none" strike="noStrike" dirty="0">
                <a:solidFill>
                  <a:srgbClr val="000000"/>
                </a:solidFill>
                <a:latin typeface="조선가는고딕"/>
              </a:rPr>
              <a:t> </a:t>
            </a:r>
            <a:r>
              <a:rPr lang="ko-KR" sz="2500" b="1" i="0" u="none" strike="noStrike" dirty="0">
                <a:solidFill>
                  <a:srgbClr val="000000"/>
                </a:solidFill>
                <a:ea typeface="조선가는고딕"/>
              </a:rPr>
              <a:t>면적</a:t>
            </a:r>
            <a:r>
              <a:rPr lang="en-US" sz="2500" b="1" i="0" u="none" strike="noStrike" dirty="0">
                <a:solidFill>
                  <a:srgbClr val="000000"/>
                </a:solidFill>
                <a:latin typeface="조선가는고딕"/>
              </a:rPr>
              <a:t> </a:t>
            </a:r>
            <a:r>
              <a:rPr lang="ko-KR" sz="2500" b="1" i="0" u="none" strike="noStrike" dirty="0">
                <a:solidFill>
                  <a:srgbClr val="000000"/>
                </a:solidFill>
                <a:ea typeface="조선가는고딕"/>
              </a:rPr>
              <a:t>기준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95400" y="1756590"/>
            <a:ext cx="14363700" cy="192713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indent="-342900">
              <a:lnSpc>
                <a:spcPct val="126990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en-US" sz="2800" spc="-100" dirty="0">
                <a:solidFill>
                  <a:schemeClr val="tx1">
                    <a:alpha val="65882"/>
                  </a:schemeClr>
                </a:solidFill>
                <a:latin typeface="+mn-ea"/>
              </a:rPr>
              <a:t>현 </a:t>
            </a:r>
            <a:r>
              <a:rPr lang="ko-KR" altLang="en-US" sz="2800" spc="-100" dirty="0" err="1">
                <a:solidFill>
                  <a:schemeClr val="tx1">
                    <a:alpha val="65882"/>
                  </a:schemeClr>
                </a:solidFill>
                <a:latin typeface="+mn-ea"/>
              </a:rPr>
              <a:t>준공완료된</a:t>
            </a:r>
            <a:r>
              <a:rPr lang="ko-KR" altLang="en-US" sz="2800" spc="-100" dirty="0">
                <a:solidFill>
                  <a:schemeClr val="tx1">
                    <a:alpha val="65882"/>
                  </a:schemeClr>
                </a:solidFill>
                <a:latin typeface="+mn-ea"/>
              </a:rPr>
              <a:t> 청년안심주택 전유면적</a:t>
            </a:r>
            <a:r>
              <a:rPr lang="en-US" altLang="ko-KR" sz="2800" spc="-100" dirty="0">
                <a:solidFill>
                  <a:schemeClr val="tx1">
                    <a:alpha val="65882"/>
                  </a:schemeClr>
                </a:solidFill>
                <a:latin typeface="+mn-ea"/>
              </a:rPr>
              <a:t>(</a:t>
            </a:r>
            <a:r>
              <a:rPr lang="ko-KR" altLang="en-US" sz="2800" spc="-100" dirty="0">
                <a:solidFill>
                  <a:schemeClr val="tx1">
                    <a:alpha val="65882"/>
                  </a:schemeClr>
                </a:solidFill>
                <a:latin typeface="+mn-ea"/>
              </a:rPr>
              <a:t>㎡</a:t>
            </a:r>
            <a:r>
              <a:rPr lang="en-US" altLang="ko-KR" sz="2800" spc="-100" dirty="0">
                <a:solidFill>
                  <a:schemeClr val="tx1">
                    <a:alpha val="65882"/>
                  </a:schemeClr>
                </a:solidFill>
                <a:latin typeface="+mn-ea"/>
              </a:rPr>
              <a:t>)</a:t>
            </a:r>
            <a:r>
              <a:rPr lang="ko-KR" altLang="en-US" sz="2800" spc="-100" dirty="0">
                <a:solidFill>
                  <a:schemeClr val="tx1">
                    <a:alpha val="65882"/>
                  </a:schemeClr>
                </a:solidFill>
                <a:latin typeface="+mn-ea"/>
              </a:rPr>
              <a:t>은 일반적으로 호당 </a:t>
            </a:r>
            <a:r>
              <a:rPr lang="en-US" altLang="ko-KR" sz="2800" spc="-100" dirty="0">
                <a:solidFill>
                  <a:schemeClr val="tx1">
                    <a:alpha val="65882"/>
                  </a:schemeClr>
                </a:solidFill>
                <a:latin typeface="+mn-ea"/>
              </a:rPr>
              <a:t>15~40</a:t>
            </a:r>
            <a:r>
              <a:rPr lang="ko-KR" altLang="en-US" sz="2800" spc="-100" dirty="0">
                <a:solidFill>
                  <a:schemeClr val="tx1">
                    <a:alpha val="65882"/>
                  </a:schemeClr>
                </a:solidFill>
                <a:latin typeface="+mn-ea"/>
              </a:rPr>
              <a:t>㎡ 규모로 건축됨</a:t>
            </a:r>
            <a:r>
              <a:rPr lang="en-US" altLang="ko-KR" sz="2800" spc="-100" dirty="0">
                <a:solidFill>
                  <a:schemeClr val="tx1">
                    <a:alpha val="65882"/>
                  </a:schemeClr>
                </a:solidFill>
                <a:latin typeface="+mn-ea"/>
              </a:rPr>
              <a:t>.</a:t>
            </a:r>
          </a:p>
          <a:p>
            <a:pPr marL="342900" indent="-342900">
              <a:lnSpc>
                <a:spcPct val="126990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en-US" sz="2800" b="0" i="0" u="none" strike="noStrike" spc="-100" dirty="0">
                <a:solidFill>
                  <a:schemeClr val="tx1">
                    <a:alpha val="65882"/>
                  </a:schemeClr>
                </a:solidFill>
                <a:latin typeface="+mn-ea"/>
              </a:rPr>
              <a:t>통계청</a:t>
            </a:r>
            <a:r>
              <a:rPr lang="en-US" altLang="ko-KR" sz="2800" b="0" i="0" u="none" strike="noStrike" spc="-100" dirty="0">
                <a:solidFill>
                  <a:schemeClr val="tx1">
                    <a:alpha val="65882"/>
                  </a:schemeClr>
                </a:solidFill>
                <a:latin typeface="+mn-ea"/>
              </a:rPr>
              <a:t>(KOSIS) 2023</a:t>
            </a:r>
            <a:r>
              <a:rPr lang="ko-KR" altLang="en-US" sz="2800" b="0" i="0" u="none" strike="noStrike" spc="-100" dirty="0">
                <a:solidFill>
                  <a:schemeClr val="tx1">
                    <a:alpha val="65882"/>
                  </a:schemeClr>
                </a:solidFill>
                <a:latin typeface="+mn-ea"/>
              </a:rPr>
              <a:t>년 </a:t>
            </a:r>
            <a:r>
              <a:rPr lang="en-US" altLang="ko-KR" sz="2800" b="0" i="0" u="none" strike="noStrike" spc="-100" dirty="0">
                <a:solidFill>
                  <a:schemeClr val="tx1">
                    <a:alpha val="65882"/>
                  </a:schemeClr>
                </a:solidFill>
                <a:latin typeface="+mn-ea"/>
              </a:rPr>
              <a:t>1</a:t>
            </a:r>
            <a:r>
              <a:rPr lang="ko-KR" altLang="en-US" sz="2800" b="0" i="0" u="none" strike="noStrike" spc="-100" dirty="0">
                <a:solidFill>
                  <a:schemeClr val="tx1">
                    <a:alpha val="65882"/>
                  </a:schemeClr>
                </a:solidFill>
                <a:latin typeface="+mn-ea"/>
              </a:rPr>
              <a:t>인당 주거면적은 </a:t>
            </a:r>
            <a:r>
              <a:rPr lang="en-US" altLang="ko-KR" sz="2800" b="0" i="0" u="none" strike="noStrike" spc="-100" dirty="0">
                <a:solidFill>
                  <a:schemeClr val="tx1">
                    <a:alpha val="65882"/>
                  </a:schemeClr>
                </a:solidFill>
                <a:latin typeface="+mn-ea"/>
              </a:rPr>
              <a:t>23~30</a:t>
            </a:r>
            <a:r>
              <a:rPr lang="ko-KR" altLang="en-US" sz="2800" spc="-100" dirty="0">
                <a:solidFill>
                  <a:schemeClr val="tx1">
                    <a:alpha val="65882"/>
                  </a:schemeClr>
                </a:solidFill>
                <a:latin typeface="+mn-ea"/>
              </a:rPr>
              <a:t> ㎡ 수준임</a:t>
            </a:r>
            <a:endParaRPr lang="en-US" altLang="ko-KR" sz="2800" spc="-100" dirty="0">
              <a:solidFill>
                <a:schemeClr val="tx1">
                  <a:alpha val="65882"/>
                </a:schemeClr>
              </a:solidFill>
              <a:latin typeface="+mn-ea"/>
            </a:endParaRPr>
          </a:p>
          <a:p>
            <a:pPr marL="342900" indent="-342900">
              <a:lnSpc>
                <a:spcPct val="126990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ko-KR" sz="2800" spc="-100" dirty="0">
                <a:solidFill>
                  <a:schemeClr val="tx1">
                    <a:alpha val="65882"/>
                  </a:schemeClr>
                </a:solidFill>
                <a:latin typeface="+mn-ea"/>
              </a:rPr>
              <a:t>공공주택</a:t>
            </a:r>
            <a:r>
              <a:rPr lang="en-US" altLang="ko-KR" sz="2800" spc="-100" dirty="0">
                <a:solidFill>
                  <a:schemeClr val="tx1">
                    <a:alpha val="65882"/>
                  </a:schemeClr>
                </a:solidFill>
                <a:latin typeface="+mn-ea"/>
              </a:rPr>
              <a:t> </a:t>
            </a:r>
            <a:r>
              <a:rPr lang="ko-KR" altLang="ko-KR" sz="2800" spc="-100" dirty="0">
                <a:solidFill>
                  <a:schemeClr val="tx1">
                    <a:alpha val="65882"/>
                  </a:schemeClr>
                </a:solidFill>
                <a:latin typeface="+mn-ea"/>
              </a:rPr>
              <a:t>특별법</a:t>
            </a:r>
            <a:r>
              <a:rPr lang="en-US" altLang="ko-KR" sz="2800" spc="-100" dirty="0">
                <a:solidFill>
                  <a:schemeClr val="tx1">
                    <a:alpha val="65882"/>
                  </a:schemeClr>
                </a:solidFill>
                <a:latin typeface="+mn-ea"/>
              </a:rPr>
              <a:t> </a:t>
            </a:r>
            <a:r>
              <a:rPr lang="ko-KR" altLang="ko-KR" sz="2800" spc="-100" dirty="0">
                <a:solidFill>
                  <a:schemeClr val="tx1">
                    <a:alpha val="65882"/>
                  </a:schemeClr>
                </a:solidFill>
                <a:latin typeface="+mn-ea"/>
              </a:rPr>
              <a:t>시행규칙</a:t>
            </a:r>
            <a:r>
              <a:rPr lang="en-US" altLang="ko-KR" sz="2800" spc="-100" dirty="0">
                <a:solidFill>
                  <a:schemeClr val="tx1">
                    <a:alpha val="65882"/>
                  </a:schemeClr>
                </a:solidFill>
                <a:latin typeface="+mn-ea"/>
              </a:rPr>
              <a:t> [</a:t>
            </a:r>
            <a:r>
              <a:rPr lang="ko-KR" altLang="ko-KR" sz="2800" spc="-100" dirty="0">
                <a:solidFill>
                  <a:schemeClr val="tx1">
                    <a:alpha val="65882"/>
                  </a:schemeClr>
                </a:solidFill>
                <a:latin typeface="+mn-ea"/>
              </a:rPr>
              <a:t>별표</a:t>
            </a:r>
            <a:r>
              <a:rPr lang="en-US" altLang="ko-KR" sz="2800" spc="-100" dirty="0">
                <a:solidFill>
                  <a:schemeClr val="tx1">
                    <a:alpha val="65882"/>
                  </a:schemeClr>
                </a:solidFill>
                <a:latin typeface="+mn-ea"/>
              </a:rPr>
              <a:t> 3] &lt;</a:t>
            </a:r>
            <a:r>
              <a:rPr lang="ko-KR" altLang="ko-KR" sz="2800" spc="-100" dirty="0">
                <a:solidFill>
                  <a:schemeClr val="tx1">
                    <a:alpha val="65882"/>
                  </a:schemeClr>
                </a:solidFill>
                <a:latin typeface="+mn-ea"/>
              </a:rPr>
              <a:t>개정</a:t>
            </a:r>
            <a:r>
              <a:rPr lang="en-US" altLang="ko-KR" sz="2800" spc="-100" dirty="0">
                <a:solidFill>
                  <a:schemeClr val="tx1">
                    <a:alpha val="65882"/>
                  </a:schemeClr>
                </a:solidFill>
                <a:latin typeface="+mn-ea"/>
              </a:rPr>
              <a:t> 2024. 4. 25.&gt; : </a:t>
            </a:r>
            <a:r>
              <a:rPr lang="ko-KR" altLang="ko-KR" sz="2800" spc="-100" dirty="0">
                <a:solidFill>
                  <a:schemeClr val="tx1">
                    <a:alpha val="65882"/>
                  </a:schemeClr>
                </a:solidFill>
                <a:latin typeface="+mn-ea"/>
              </a:rPr>
              <a:t>임대주택</a:t>
            </a:r>
            <a:r>
              <a:rPr lang="en-US" altLang="ko-KR" sz="2800" spc="-100" dirty="0">
                <a:solidFill>
                  <a:schemeClr val="tx1">
                    <a:alpha val="65882"/>
                  </a:schemeClr>
                </a:solidFill>
                <a:latin typeface="+mn-ea"/>
              </a:rPr>
              <a:t> </a:t>
            </a:r>
            <a:r>
              <a:rPr lang="ko-KR" altLang="ko-KR" sz="2800" spc="-100" dirty="0">
                <a:solidFill>
                  <a:schemeClr val="tx1">
                    <a:alpha val="65882"/>
                  </a:schemeClr>
                </a:solidFill>
                <a:latin typeface="+mn-ea"/>
              </a:rPr>
              <a:t>면적</a:t>
            </a:r>
            <a:r>
              <a:rPr lang="en-US" altLang="ko-KR" sz="2800" spc="-100" dirty="0">
                <a:solidFill>
                  <a:schemeClr val="tx1">
                    <a:alpha val="65882"/>
                  </a:schemeClr>
                </a:solidFill>
                <a:latin typeface="+mn-ea"/>
              </a:rPr>
              <a:t> </a:t>
            </a:r>
            <a:r>
              <a:rPr lang="ko-KR" altLang="en-US" sz="2800" spc="-100" dirty="0">
                <a:solidFill>
                  <a:schemeClr val="tx1">
                    <a:alpha val="65882"/>
                  </a:schemeClr>
                </a:solidFill>
                <a:latin typeface="+mn-ea"/>
              </a:rPr>
              <a:t>규정 신설</a:t>
            </a:r>
            <a:endParaRPr lang="en-US" altLang="ko-KR" sz="2800" spc="-100" dirty="0">
              <a:solidFill>
                <a:schemeClr val="tx1">
                  <a:alpha val="65882"/>
                </a:schemeClr>
              </a:solidFill>
              <a:latin typeface="+mn-ea"/>
            </a:endParaRP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2B76C5D1-F0C2-4330-8401-0DD6D893FC11}"/>
              </a:ext>
            </a:extLst>
          </p:cNvPr>
          <p:cNvSpPr txBox="1"/>
          <p:nvPr/>
        </p:nvSpPr>
        <p:spPr>
          <a:xfrm>
            <a:off x="1498601" y="4111436"/>
            <a:ext cx="62230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00" b="0" i="0" u="none" strike="noStrike" dirty="0">
                <a:solidFill>
                  <a:srgbClr val="000000"/>
                </a:solidFill>
                <a:latin typeface="조선가는고딕" panose="020B0600000101010101" charset="-127"/>
                <a:ea typeface="조선가는고딕" panose="020B0600000101010101" charset="-127"/>
              </a:rPr>
              <a:t>&lt;</a:t>
            </a:r>
            <a:r>
              <a:rPr lang="ko-KR" altLang="en-US" sz="2000" b="0" i="0" u="none" strike="noStrike" dirty="0">
                <a:solidFill>
                  <a:srgbClr val="000000"/>
                </a:solidFill>
                <a:latin typeface="조선가는고딕" panose="020B0600000101010101" charset="-127"/>
                <a:ea typeface="조선가는고딕" panose="020B0600000101010101" charset="-127"/>
              </a:rPr>
              <a:t>표 </a:t>
            </a:r>
            <a:r>
              <a:rPr lang="en-US" altLang="ko-KR" sz="2000" b="0" i="0" u="none" strike="noStrike" dirty="0">
                <a:solidFill>
                  <a:srgbClr val="000000"/>
                </a:solidFill>
                <a:latin typeface="조선가는고딕" panose="020B0600000101010101" charset="-127"/>
                <a:ea typeface="조선가는고딕" panose="020B0600000101010101" charset="-127"/>
              </a:rPr>
              <a:t>3</a:t>
            </a:r>
            <a:r>
              <a:rPr lang="en-US" sz="2000" b="0" i="0" u="none" strike="noStrike" dirty="0">
                <a:solidFill>
                  <a:srgbClr val="000000"/>
                </a:solidFill>
                <a:latin typeface="조선가는고딕" panose="020B0600000101010101" charset="-127"/>
                <a:ea typeface="조선가는고딕" panose="020B0600000101010101" charset="-127"/>
              </a:rPr>
              <a:t>&gt; </a:t>
            </a:r>
            <a:r>
              <a:rPr lang="ko-KR" altLang="en-US" sz="2000" b="0" i="0" u="none" strike="noStrike" dirty="0">
                <a:solidFill>
                  <a:srgbClr val="000000"/>
                </a:solidFill>
                <a:latin typeface="조선가는고딕" panose="020B0600000101010101" charset="-127"/>
                <a:ea typeface="조선가는고딕" panose="020B0600000101010101" charset="-127"/>
              </a:rPr>
              <a:t>임대주택 면적 규정</a:t>
            </a:r>
            <a:endParaRPr lang="en-US" sz="2000" b="0" i="0" u="none" strike="noStrike" dirty="0">
              <a:solidFill>
                <a:srgbClr val="000000"/>
              </a:solidFill>
              <a:latin typeface="조선가는고딕" panose="020B0600000101010101" charset="-127"/>
              <a:ea typeface="조선가는고딕" panose="020B0600000101010101" charset="-127"/>
            </a:endParaRP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C1016E4E-6FA9-450E-8201-0F451A9A1F39}"/>
              </a:ext>
            </a:extLst>
          </p:cNvPr>
          <p:cNvSpPr txBox="1"/>
          <p:nvPr/>
        </p:nvSpPr>
        <p:spPr>
          <a:xfrm>
            <a:off x="10445411" y="4050575"/>
            <a:ext cx="62230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00" b="0" i="0" u="none" strike="noStrike" dirty="0">
                <a:solidFill>
                  <a:srgbClr val="000000"/>
                </a:solidFill>
                <a:latin typeface="조선가는고딕"/>
              </a:rPr>
              <a:t>&lt;</a:t>
            </a:r>
            <a:r>
              <a:rPr lang="ko-KR" altLang="en-US" sz="2000" dirty="0">
                <a:solidFill>
                  <a:srgbClr val="000000"/>
                </a:solidFill>
                <a:latin typeface="조선가는고딕"/>
                <a:ea typeface="조선가는고딕"/>
              </a:rPr>
              <a:t>표 </a:t>
            </a:r>
            <a:r>
              <a:rPr lang="en-US" altLang="ko-KR" sz="2000" dirty="0">
                <a:solidFill>
                  <a:srgbClr val="000000"/>
                </a:solidFill>
                <a:latin typeface="조선가는고딕"/>
                <a:ea typeface="조선가는고딕"/>
              </a:rPr>
              <a:t>4</a:t>
            </a:r>
            <a:r>
              <a:rPr lang="en-US" sz="2000" b="0" i="0" u="none" strike="noStrike" dirty="0">
                <a:solidFill>
                  <a:srgbClr val="000000"/>
                </a:solidFill>
                <a:latin typeface="조선가는고딕"/>
              </a:rPr>
              <a:t>&gt; 1</a:t>
            </a:r>
            <a:r>
              <a:rPr lang="ko-KR" sz="2000" b="0" i="0" u="none" strike="noStrike" dirty="0">
                <a:solidFill>
                  <a:srgbClr val="000000"/>
                </a:solidFill>
                <a:ea typeface="조선가는고딕"/>
              </a:rPr>
              <a:t>인</a:t>
            </a:r>
            <a:r>
              <a:rPr lang="ko-KR" altLang="en-US" sz="2000" dirty="0">
                <a:solidFill>
                  <a:srgbClr val="000000"/>
                </a:solidFill>
                <a:latin typeface="조선가는고딕"/>
                <a:ea typeface="조선가는고딕"/>
              </a:rPr>
              <a:t>당 주거면적</a:t>
            </a:r>
            <a:endParaRPr lang="en-US" sz="2000" b="0" i="0" u="none" strike="noStrike" dirty="0">
              <a:solidFill>
                <a:srgbClr val="000000"/>
              </a:solidFill>
              <a:latin typeface="조선가는고딕"/>
            </a:endParaRPr>
          </a:p>
        </p:txBody>
      </p:sp>
      <p:sp>
        <p:nvSpPr>
          <p:cNvPr id="17" name="슬라이드 번호 개체 틀 5">
            <a:extLst>
              <a:ext uri="{FF2B5EF4-FFF2-40B4-BE49-F238E27FC236}">
                <a16:creationId xmlns:a16="http://schemas.microsoft.com/office/drawing/2014/main" id="{4FD7DD3F-82A5-4166-984A-0F477BCE3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180889" y="9659937"/>
            <a:ext cx="586411" cy="365125"/>
          </a:xfrm>
        </p:spPr>
        <p:txBody>
          <a:bodyPr/>
          <a:lstStyle/>
          <a:p>
            <a:r>
              <a:rPr lang="en-US" altLang="ko-KR" sz="2000" dirty="0"/>
              <a:t>9</a:t>
            </a:r>
            <a:endParaRPr lang="ko-KR" altLang="en-US" sz="20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2B865AF-3195-4170-45FF-56D63B852C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600620"/>
              </p:ext>
            </p:extLst>
          </p:nvPr>
        </p:nvGraphicFramePr>
        <p:xfrm>
          <a:off x="1218837" y="4525893"/>
          <a:ext cx="6972297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963">
                  <a:extLst>
                    <a:ext uri="{9D8B030D-6E8A-4147-A177-3AD203B41FA5}">
                      <a16:colId xmlns:a16="http://schemas.microsoft.com/office/drawing/2014/main" val="1194801358"/>
                    </a:ext>
                  </a:extLst>
                </a:gridCol>
                <a:gridCol w="2990667">
                  <a:extLst>
                    <a:ext uri="{9D8B030D-6E8A-4147-A177-3AD203B41FA5}">
                      <a16:colId xmlns:a16="http://schemas.microsoft.com/office/drawing/2014/main" val="1749170799"/>
                    </a:ext>
                  </a:extLst>
                </a:gridCol>
                <a:gridCol w="2990667">
                  <a:extLst>
                    <a:ext uri="{9D8B030D-6E8A-4147-A177-3AD203B41FA5}">
                      <a16:colId xmlns:a16="http://schemas.microsoft.com/office/drawing/2014/main" val="8869341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변경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4788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40m2 </a:t>
                      </a:r>
                      <a:r>
                        <a:rPr lang="ko-KR" altLang="en-US" dirty="0"/>
                        <a:t>이하 주택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35m2 </a:t>
                      </a:r>
                      <a:r>
                        <a:rPr lang="ko-KR" altLang="en-US" dirty="0"/>
                        <a:t>이하 주택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003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제한 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25m2 </a:t>
                      </a:r>
                      <a:r>
                        <a:rPr lang="ko-KR" altLang="en-US" dirty="0"/>
                        <a:t>초과 </a:t>
                      </a:r>
                      <a:r>
                        <a:rPr lang="en-US" altLang="ko-KR" dirty="0"/>
                        <a:t>44m2 </a:t>
                      </a:r>
                      <a:r>
                        <a:rPr lang="ko-KR" altLang="en-US" dirty="0"/>
                        <a:t>이하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872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제한 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35m2 </a:t>
                      </a:r>
                      <a:r>
                        <a:rPr lang="ko-KR" altLang="en-US" dirty="0"/>
                        <a:t>초과 </a:t>
                      </a:r>
                      <a:r>
                        <a:rPr lang="en-US" altLang="ko-KR" dirty="0"/>
                        <a:t>50m2 </a:t>
                      </a:r>
                      <a:r>
                        <a:rPr lang="ko-KR" altLang="en-US" dirty="0"/>
                        <a:t>이하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195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r>
                        <a:rPr lang="ko-KR" altLang="en-US" dirty="0"/>
                        <a:t>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제한 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44m2 </a:t>
                      </a:r>
                      <a:r>
                        <a:rPr lang="ko-KR" altLang="en-US" dirty="0"/>
                        <a:t>초과 주택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5634816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B07152A-DCD5-2026-4DA4-EC4F96866E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349592"/>
              </p:ext>
            </p:extLst>
          </p:nvPr>
        </p:nvGraphicFramePr>
        <p:xfrm>
          <a:off x="9622686" y="4467036"/>
          <a:ext cx="7868451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2817">
                  <a:extLst>
                    <a:ext uri="{9D8B030D-6E8A-4147-A177-3AD203B41FA5}">
                      <a16:colId xmlns:a16="http://schemas.microsoft.com/office/drawing/2014/main" val="2376218513"/>
                    </a:ext>
                  </a:extLst>
                </a:gridCol>
                <a:gridCol w="2622817">
                  <a:extLst>
                    <a:ext uri="{9D8B030D-6E8A-4147-A177-3AD203B41FA5}">
                      <a16:colId xmlns:a16="http://schemas.microsoft.com/office/drawing/2014/main" val="851557921"/>
                    </a:ext>
                  </a:extLst>
                </a:gridCol>
                <a:gridCol w="2622817">
                  <a:extLst>
                    <a:ext uri="{9D8B030D-6E8A-4147-A177-3AD203B41FA5}">
                      <a16:colId xmlns:a16="http://schemas.microsoft.com/office/drawing/2014/main" val="33254447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행정구역별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 err="1"/>
                        <a:t>시군구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주택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오피스텔 포함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의 종류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2023</a:t>
                      </a:r>
                      <a:r>
                        <a:rPr lang="ko-KR" altLang="en-US" dirty="0"/>
                        <a:t>년 </a:t>
                      </a: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인당 주거면적</a:t>
                      </a:r>
                      <a:r>
                        <a:rPr lang="en-US" altLang="ko-KR" dirty="0"/>
                        <a:t>(m2)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5591685"/>
                  </a:ext>
                </a:extLst>
              </a:tr>
              <a:tr h="370840">
                <a:tc rowSpan="7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서울특별시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27.9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652434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단독주택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29.8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110788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아파트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29.6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896635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연립주택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873654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다세대주택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21.8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787525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비주거용 건물내 주택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27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587039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오피스텔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23.8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313355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712200" y="2260600"/>
            <a:ext cx="3733800" cy="25400"/>
          </a:xfrm>
          <a:prstGeom prst="rect">
            <a:avLst/>
          </a:prstGeom>
        </p:spPr>
      </p:pic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407281"/>
              </p:ext>
            </p:extLst>
          </p:nvPr>
        </p:nvGraphicFramePr>
        <p:xfrm>
          <a:off x="1346199" y="2857499"/>
          <a:ext cx="15834690" cy="6843685"/>
        </p:xfrm>
        <a:graphic>
          <a:graphicData uri="http://schemas.openxmlformats.org/drawingml/2006/table">
            <a:tbl>
              <a:tblPr/>
              <a:tblGrid>
                <a:gridCol w="2735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48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4882">
                  <a:extLst>
                    <a:ext uri="{9D8B030D-6E8A-4147-A177-3AD203B41FA5}">
                      <a16:colId xmlns:a16="http://schemas.microsoft.com/office/drawing/2014/main" val="1789145020"/>
                    </a:ext>
                  </a:extLst>
                </a:gridCol>
                <a:gridCol w="84092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779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000" b="1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연구자</a:t>
                      </a:r>
                      <a:r>
                        <a:rPr lang="en-US" sz="2000" b="1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(</a:t>
                      </a:r>
                      <a:r>
                        <a:rPr lang="ko-KR" sz="2000" b="1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연도</a:t>
                      </a:r>
                      <a:r>
                        <a:rPr lang="en-US" sz="2000" b="1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)</a:t>
                      </a:r>
                      <a:endParaRPr lang="en-US" sz="2000" b="1" dirty="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2000" b="1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제목</a:t>
                      </a:r>
                      <a:endParaRPr lang="en-US" sz="2000" b="1" dirty="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000" b="1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주제</a:t>
                      </a:r>
                      <a:endParaRPr lang="en-US" sz="2000" b="1" dirty="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000" b="1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내용</a:t>
                      </a:r>
                      <a:r>
                        <a:rPr lang="en-US" sz="2000" b="1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2000" b="1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및</a:t>
                      </a:r>
                      <a:r>
                        <a:rPr lang="en-US" sz="2000" b="1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2000" b="1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시사점</a:t>
                      </a:r>
                      <a:endParaRPr lang="en-US" sz="2000" b="1" dirty="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2677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이기훈</a:t>
                      </a:r>
                      <a:r>
                        <a:rPr lang="en-US" alt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,</a:t>
                      </a:r>
                      <a:r>
                        <a:rPr lang="ko-KR" altLang="en-US" sz="1600" b="0" i="0" u="none" strike="noStrike" dirty="0" err="1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마강래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(2022)</a:t>
                      </a:r>
                      <a:endParaRPr lang="en-US" sz="160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160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역세권 </a:t>
                      </a:r>
                      <a:r>
                        <a:rPr lang="en-US" altLang="ko-KR" sz="160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2030</a:t>
                      </a:r>
                      <a:r>
                        <a:rPr lang="ko-KR" altLang="en-US" sz="160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청년주택이 인근지역 주택가격에 미치는 영향</a:t>
                      </a:r>
                      <a:endParaRPr lang="en-US" sz="160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청년주택이 주변지역의 주택가격에 미치는 영향에 대해 검증</a:t>
                      </a:r>
                      <a:endParaRPr lang="en-US" sz="160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1,000m</a:t>
                      </a:r>
                      <a:r>
                        <a:rPr lang="ko-KR" alt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를 기준으로 지역 이내에는 부정적 영향력</a:t>
                      </a:r>
                      <a:r>
                        <a:rPr lang="en-US" alt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,1,500m </a:t>
                      </a:r>
                      <a:r>
                        <a:rPr lang="ko-KR" alt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기준으로 사업승인 후 주택가격이 상승</a:t>
                      </a:r>
                      <a:r>
                        <a:rPr lang="en-US" alt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,</a:t>
                      </a:r>
                    </a:p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단기적으론 부정적 영향을 미치나 장기적으로는 입주 후 긍정적인 효과</a:t>
                      </a:r>
                      <a:endParaRPr lang="en-US" sz="160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23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박인영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(2017)</a:t>
                      </a:r>
                      <a:endParaRPr lang="en-US" sz="160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altLang="ko-KR" sz="160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'</a:t>
                      </a:r>
                      <a:r>
                        <a:rPr lang="ko-KR" altLang="en-US" sz="160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도심 생활형 </a:t>
                      </a:r>
                      <a:r>
                        <a:rPr lang="en-US" altLang="ko-KR" sz="160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1</a:t>
                      </a:r>
                      <a:r>
                        <a:rPr lang="ko-KR" altLang="en-US" sz="160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인 주거</a:t>
                      </a:r>
                      <a:r>
                        <a:rPr lang="en-US" altLang="ko-KR" sz="160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'</a:t>
                      </a:r>
                      <a:r>
                        <a:rPr lang="ko-KR" altLang="en-US" sz="160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를 위한 새로운 복합건물의 계획</a:t>
                      </a:r>
                      <a:endParaRPr lang="en-US" sz="160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임대료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보조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방안</a:t>
                      </a:r>
                      <a:endParaRPr lang="en-US" sz="160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청년층의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경제적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어려움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고려한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임대료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보조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필요성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주장</a:t>
                      </a:r>
                      <a:endParaRPr lang="en-US" sz="160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523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조영범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(2022)</a:t>
                      </a:r>
                      <a:endParaRPr lang="en-US" sz="160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160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서울시 역세권 </a:t>
                      </a:r>
                      <a:r>
                        <a:rPr lang="en-US" altLang="ko-KR" sz="160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2030</a:t>
                      </a:r>
                      <a:r>
                        <a:rPr lang="ko-KR" altLang="en-US" sz="160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청년주택의 도시</a:t>
                      </a:r>
                      <a:r>
                        <a:rPr lang="en-US" altLang="ko-KR" sz="160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·</a:t>
                      </a:r>
                      <a:r>
                        <a:rPr lang="ko-KR" altLang="en-US" sz="160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건축적 특성</a:t>
                      </a:r>
                      <a:endParaRPr lang="en-US" sz="160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도시건축적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특성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분석</a:t>
                      </a:r>
                      <a:endParaRPr lang="en-US" sz="160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교통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접근성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높으나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상권에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집중된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입지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선정의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한계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지적</a:t>
                      </a:r>
                      <a:endParaRPr lang="en-US" sz="160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5817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이제승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(2023)</a:t>
                      </a:r>
                      <a:endParaRPr lang="en-US" sz="1600" b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1600" b="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공유주거</a:t>
                      </a:r>
                      <a:r>
                        <a:rPr lang="en-US" altLang="ko-KR" sz="1600" b="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, </a:t>
                      </a:r>
                      <a:r>
                        <a:rPr lang="ko-KR" altLang="en-US" sz="1600" b="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청년 </a:t>
                      </a:r>
                      <a:r>
                        <a:rPr lang="en-US" altLang="ko-KR" sz="1600" b="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1</a:t>
                      </a:r>
                      <a:r>
                        <a:rPr lang="ko-KR" altLang="en-US" sz="1600" b="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인가구의 주거 대안이 될 수 있는가</a:t>
                      </a:r>
                      <a:r>
                        <a:rPr lang="en-US" altLang="ko-KR" sz="1600" b="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?</a:t>
                      </a:r>
                      <a:endParaRPr lang="en-US" sz="1600" b="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청년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주거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수요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분석</a:t>
                      </a:r>
                      <a:endParaRPr lang="en-US" sz="1600" b="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임대료와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대중교통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접근성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간의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상관관계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도출</a:t>
                      </a:r>
                      <a:endParaRPr lang="en-US" sz="1600" b="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0608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박민호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,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김명훈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,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천상현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 </a:t>
                      </a:r>
                      <a:endParaRPr lang="en-US" sz="1600" b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(2020)</a:t>
                      </a: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1600" b="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서울시 역세권 청년주택 사업 적지평가 모형</a:t>
                      </a:r>
                      <a:r>
                        <a:rPr lang="en-US" altLang="ko-KR" sz="1600" b="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: 5 </a:t>
                      </a:r>
                      <a:r>
                        <a:rPr lang="ko-KR" altLang="en-US" sz="1600" b="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차 운영기준 개정과 청년수요의 반영을 중심으로</a:t>
                      </a:r>
                      <a:endParaRPr lang="en-US" sz="1600" b="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규제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완화의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영향과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청년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주거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문제</a:t>
                      </a:r>
                      <a:endParaRPr lang="en-US" sz="1600" b="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건설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규제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완화가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공급량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증대에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효과적이나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,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소규모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개발로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인한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환경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조화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문제를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지적함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.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청년층의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월세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부담이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높고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 err="1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다가구다세대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주택에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많이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거주하는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현실을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강조하며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,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공공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임대주택과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민간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사업자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참여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유도를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제안함</a:t>
                      </a:r>
                      <a:endParaRPr lang="en-US" sz="1600" b="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436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600" b="0" i="0" u="none" strike="noStrike" dirty="0" err="1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우시시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(2023)</a:t>
                      </a:r>
                      <a:endParaRPr lang="en-US" sz="1600" b="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1600" b="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역세권 청년주택이 도시재생에 미치는 영향</a:t>
                      </a:r>
                      <a:endParaRPr lang="en-US" sz="1600" b="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역세권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청년주택과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도시재생의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관계</a:t>
                      </a:r>
                      <a:endParaRPr lang="en-US" sz="1600" b="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역세권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청년주택이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청년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유입을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통해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지역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경제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활성화에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기여한다고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분석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.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다만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,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일부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입주민이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높은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임대료를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부담해야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하는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문제를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개선할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필요가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있음을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제시함</a:t>
                      </a:r>
                      <a:endParaRPr lang="en-US" sz="1600" b="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4523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1600" b="0" dirty="0" err="1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임연호</a:t>
                      </a:r>
                      <a:r>
                        <a:rPr lang="en-US" altLang="ko-KR" sz="1600" b="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(2024)</a:t>
                      </a:r>
                      <a:endParaRPr lang="en-US" sz="1600" b="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61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effectLst/>
                          <a:latin typeface="조선가는고딕" panose="020B0600000101010101" charset="-127"/>
                          <a:ea typeface="조선가는고딕" panose="020B0600000101010101" charset="-127"/>
                          <a:cs typeface="+mn-cs"/>
                        </a:rPr>
                        <a:t>서울시 역세권 청년주택 공급이 주변 주택 전</a:t>
                      </a:r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effectLst/>
                          <a:latin typeface="조선가는고딕" panose="020B0600000101010101" charset="-127"/>
                          <a:ea typeface="조선가는고딕" panose="020B0600000101010101" charset="-127"/>
                          <a:cs typeface="+mn-cs"/>
                        </a:rPr>
                        <a:t>·</a:t>
                      </a:r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effectLst/>
                          <a:latin typeface="조선가는고딕" panose="020B0600000101010101" charset="-127"/>
                          <a:ea typeface="조선가는고딕" panose="020B0600000101010101" charset="-127"/>
                          <a:cs typeface="+mn-cs"/>
                        </a:rPr>
                        <a:t>월세 가격에 미치는 영향</a:t>
                      </a: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1600" b="0" dirty="0" err="1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역세권청년주택과</a:t>
                      </a:r>
                      <a:r>
                        <a:rPr lang="ko-KR" altLang="en-US" sz="1600" b="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인근 전월세 미치는 영향 분석</a:t>
                      </a:r>
                      <a:endParaRPr lang="en-US" sz="1600" b="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fontAlgn="base" latinLnBrk="1"/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effectLst/>
                          <a:latin typeface="조선가는고딕" panose="020B0600000101010101" charset="-127"/>
                          <a:ea typeface="조선가는고딕" panose="020B0600000101010101" charset="-127"/>
                          <a:cs typeface="+mn-cs"/>
                        </a:rPr>
                        <a:t>청년주택이 비선호시설이라는 사회적 통념을 실거래가 데이터를 통해 비선호시설이 아님을 증명함</a:t>
                      </a:r>
                    </a:p>
                    <a:p>
                      <a:pPr lvl="0" fontAlgn="base" latinLnBrk="1"/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effectLst/>
                          <a:latin typeface="조선가는고딕" panose="020B0600000101010101" charset="-127"/>
                          <a:ea typeface="조선가는고딕" panose="020B0600000101010101" charset="-127"/>
                          <a:cs typeface="+mn-cs"/>
                        </a:rPr>
                        <a:t>청년주택의 세대수가 증가할수록 주택가격이 안정된다는 효과가 확인됨</a:t>
                      </a: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4125328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422400" y="571500"/>
            <a:ext cx="54356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3100" b="0" i="0" u="none" strike="noStrike" dirty="0">
                <a:solidFill>
                  <a:srgbClr val="393939"/>
                </a:solidFill>
                <a:ea typeface="Pretendard Bold"/>
              </a:rPr>
              <a:t>선행연구고찰</a:t>
            </a:r>
            <a:r>
              <a:rPr lang="en-US" sz="3100" b="0" i="0" u="none" strike="noStrike" dirty="0">
                <a:solidFill>
                  <a:srgbClr val="393939"/>
                </a:solidFill>
                <a:latin typeface="Pretendard Bold"/>
              </a:rPr>
              <a:t> 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98500" y="558800"/>
            <a:ext cx="6477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00" dirty="0">
                <a:solidFill>
                  <a:srgbClr val="08A5C1"/>
                </a:solidFill>
                <a:latin typeface="Montserrat Bold"/>
              </a:rPr>
              <a:t>3</a:t>
            </a:r>
            <a:r>
              <a:rPr lang="ko-KR" altLang="en-US" sz="3000" dirty="0">
                <a:solidFill>
                  <a:srgbClr val="08A5C1"/>
                </a:solidFill>
                <a:latin typeface="Montserrat Bold"/>
              </a:rPr>
              <a:t>절</a:t>
            </a:r>
            <a:endParaRPr lang="en-US" sz="3000" b="0" i="0" u="none" strike="noStrike" dirty="0">
              <a:solidFill>
                <a:srgbClr val="08A5C1"/>
              </a:solidFill>
              <a:latin typeface="Montserra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65200" y="2032000"/>
            <a:ext cx="44831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6990"/>
              </a:lnSpc>
            </a:pPr>
            <a:r>
              <a:rPr lang="ko-KR" sz="2500" b="1" i="0" u="none" strike="noStrike" dirty="0">
                <a:solidFill>
                  <a:srgbClr val="000000"/>
                </a:solidFill>
                <a:ea typeface="조선가는고딕"/>
              </a:rPr>
              <a:t>역세권</a:t>
            </a:r>
            <a:r>
              <a:rPr lang="en-US" sz="2500" b="1" i="0" u="none" strike="noStrike" dirty="0">
                <a:solidFill>
                  <a:srgbClr val="000000"/>
                </a:solidFill>
                <a:latin typeface="조선가는고딕"/>
              </a:rPr>
              <a:t> </a:t>
            </a:r>
            <a:r>
              <a:rPr lang="ko-KR" sz="2500" b="1" i="0" u="none" strike="noStrike" dirty="0">
                <a:solidFill>
                  <a:srgbClr val="000000"/>
                </a:solidFill>
                <a:ea typeface="조선가는고딕"/>
              </a:rPr>
              <a:t>청년주택</a:t>
            </a:r>
            <a:r>
              <a:rPr lang="en-US" sz="2500" b="1" i="0" u="none" strike="noStrike" dirty="0">
                <a:solidFill>
                  <a:srgbClr val="000000"/>
                </a:solidFill>
                <a:latin typeface="조선가는고딕"/>
              </a:rPr>
              <a:t> </a:t>
            </a:r>
            <a:r>
              <a:rPr lang="ko-KR" sz="2500" b="1" i="0" u="none" strike="noStrike" dirty="0">
                <a:solidFill>
                  <a:srgbClr val="000000"/>
                </a:solidFill>
                <a:ea typeface="조선가는고딕"/>
              </a:rPr>
              <a:t>관련</a:t>
            </a:r>
            <a:r>
              <a:rPr lang="en-US" sz="2500" b="1" i="0" u="none" strike="noStrike" dirty="0">
                <a:solidFill>
                  <a:srgbClr val="000000"/>
                </a:solidFill>
                <a:latin typeface="조선가는고딕"/>
              </a:rPr>
              <a:t> </a:t>
            </a:r>
            <a:r>
              <a:rPr lang="ko-KR" sz="2500" b="1" i="0" u="none" strike="noStrike" dirty="0">
                <a:solidFill>
                  <a:srgbClr val="000000"/>
                </a:solidFill>
                <a:ea typeface="조선가는고딕"/>
              </a:rPr>
              <a:t>선행연구</a:t>
            </a:r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297747F3-F994-4DF6-80EE-B54D72296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180889" y="9659937"/>
            <a:ext cx="586411" cy="365125"/>
          </a:xfrm>
        </p:spPr>
        <p:txBody>
          <a:bodyPr/>
          <a:lstStyle/>
          <a:p>
            <a:r>
              <a:rPr lang="en-US" altLang="ko-KR" sz="2000" dirty="0"/>
              <a:t>10</a:t>
            </a:r>
            <a:endParaRPr lang="ko-KR" alt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712200" y="2260600"/>
            <a:ext cx="3733800" cy="25400"/>
          </a:xfrm>
          <a:prstGeom prst="rect">
            <a:avLst/>
          </a:prstGeom>
        </p:spPr>
      </p:pic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442752"/>
              </p:ext>
            </p:extLst>
          </p:nvPr>
        </p:nvGraphicFramePr>
        <p:xfrm>
          <a:off x="1346200" y="2857500"/>
          <a:ext cx="16078201" cy="6874771"/>
        </p:xfrm>
        <a:graphic>
          <a:graphicData uri="http://schemas.openxmlformats.org/drawingml/2006/table">
            <a:tbl>
              <a:tblPr/>
              <a:tblGrid>
                <a:gridCol w="2777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9855">
                  <a:extLst>
                    <a:ext uri="{9D8B030D-6E8A-4147-A177-3AD203B41FA5}">
                      <a16:colId xmlns:a16="http://schemas.microsoft.com/office/drawing/2014/main" val="3017678811"/>
                    </a:ext>
                  </a:extLst>
                </a:gridCol>
                <a:gridCol w="61165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092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000" b="1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연구자</a:t>
                      </a:r>
                      <a:r>
                        <a:rPr lang="en-US" sz="2000" b="1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(</a:t>
                      </a:r>
                      <a:r>
                        <a:rPr lang="ko-KR" sz="2000" b="1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연도</a:t>
                      </a:r>
                      <a:r>
                        <a:rPr lang="en-US" sz="2000" b="1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)</a:t>
                      </a:r>
                      <a:endParaRPr lang="en-US" sz="2000" b="1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2000" b="1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제목</a:t>
                      </a:r>
                      <a:endParaRPr lang="en-US" sz="2000" b="1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000" b="1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주제</a:t>
                      </a:r>
                      <a:endParaRPr lang="en-US" sz="2000" b="1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000" b="1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내용</a:t>
                      </a:r>
                      <a:r>
                        <a:rPr lang="en-US" sz="2000" b="1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2000" b="1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및</a:t>
                      </a:r>
                      <a:r>
                        <a:rPr lang="en-US" sz="2000" b="1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2000" b="1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시사점</a:t>
                      </a:r>
                      <a:endParaRPr lang="en-US" sz="2000" b="1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546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800" b="0" i="0" u="none" strike="noStrike" dirty="0" err="1">
                          <a:solidFill>
                            <a:srgbClr val="1F1F1F"/>
                          </a:solidFill>
                          <a:ea typeface="조선가는고딕"/>
                        </a:rPr>
                        <a:t>심종원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(2019)</a:t>
                      </a:r>
                      <a:endParaRPr lang="en-US" sz="1800" dirty="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180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전세가격 추정 모형의 적정성 검증</a:t>
                      </a:r>
                      <a:endParaRPr lang="en-US" sz="180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임대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형태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변화와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경제적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요인</a:t>
                      </a:r>
                      <a:endParaRPr lang="en-US" sz="1800" dirty="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외환위기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이후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 err="1">
                          <a:solidFill>
                            <a:srgbClr val="1F1F1F"/>
                          </a:solidFill>
                          <a:ea typeface="조선가는고딕"/>
                        </a:rPr>
                        <a:t>보증부월세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비중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증가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확인</a:t>
                      </a:r>
                      <a:endParaRPr lang="en-US" sz="1800" dirty="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741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800" b="0" i="0" u="none" strike="noStrike" dirty="0" err="1">
                          <a:solidFill>
                            <a:srgbClr val="1F1F1F"/>
                          </a:solidFill>
                          <a:ea typeface="조선가는고딕"/>
                        </a:rPr>
                        <a:t>정의철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, </a:t>
                      </a:r>
                      <a:r>
                        <a:rPr lang="ko-KR" sz="1800" b="0" i="0" u="none" strike="noStrike" dirty="0" err="1">
                          <a:solidFill>
                            <a:srgbClr val="1F1F1F"/>
                          </a:solidFill>
                          <a:ea typeface="조선가는고딕"/>
                        </a:rPr>
                        <a:t>이창무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(2018)</a:t>
                      </a:r>
                      <a:endParaRPr lang="en-US" sz="1800" dirty="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180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주택임대시장 균형조건을 </a:t>
                      </a:r>
                      <a:r>
                        <a:rPr lang="ko-KR" altLang="en-US" sz="1800" dirty="0" err="1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이용한주택매매가격</a:t>
                      </a:r>
                      <a:r>
                        <a:rPr lang="ko-KR" altLang="en-US" sz="180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대비 전세가격 비율 결정요인 분석</a:t>
                      </a:r>
                      <a:r>
                        <a:rPr lang="en-US" altLang="ko-KR" sz="180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: </a:t>
                      </a:r>
                      <a:r>
                        <a:rPr lang="ko-KR" altLang="en-US" sz="180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주택매매가격 변동성을 중심으로</a:t>
                      </a:r>
                      <a:endParaRPr lang="en-US" sz="180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매매가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대비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전세가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비율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분석</a:t>
                      </a:r>
                      <a:endParaRPr lang="en-US" sz="1800" dirty="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매매가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변동성이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전세가에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미치는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영향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분석</a:t>
                      </a:r>
                      <a:endParaRPr lang="en-US" sz="1800" dirty="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59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800" b="0" i="0" u="none" strike="noStrike">
                          <a:solidFill>
                            <a:srgbClr val="1F1F1F"/>
                          </a:solidFill>
                          <a:ea typeface="조선가는고딕"/>
                        </a:rPr>
                        <a:t>박동웅</a:t>
                      </a:r>
                      <a:r>
                        <a:rPr lang="en-US" sz="1800" b="0" i="0" u="none" strike="noStrike">
                          <a:solidFill>
                            <a:srgbClr val="1F1F1F"/>
                          </a:solidFill>
                          <a:latin typeface="조선가는고딕"/>
                        </a:rPr>
                        <a:t>, </a:t>
                      </a:r>
                      <a:r>
                        <a:rPr lang="ko-KR" sz="1800" b="0" i="0" u="none" strike="noStrike">
                          <a:solidFill>
                            <a:srgbClr val="1F1F1F"/>
                          </a:solidFill>
                          <a:ea typeface="조선가는고딕"/>
                        </a:rPr>
                        <a:t>이주형</a:t>
                      </a:r>
                      <a:r>
                        <a:rPr lang="en-US" sz="1800" b="0" i="0" u="none" strike="noStrike">
                          <a:solidFill>
                            <a:srgbClr val="1F1F1F"/>
                          </a:solidFill>
                          <a:latin typeface="조선가는고딕"/>
                        </a:rPr>
                        <a:t> (2012)</a:t>
                      </a:r>
                      <a:endParaRPr lang="en-US" sz="18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180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첨단산업단지 주변지역 아파트 전세 및 매매가격 결정요인 분석</a:t>
                      </a:r>
                      <a:endParaRPr lang="en-US" sz="180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첨단산업단지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주변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임대료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분석</a:t>
                      </a:r>
                      <a:endParaRPr lang="en-US" sz="1800" dirty="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800" b="0" i="0" u="none" strike="noStrike">
                          <a:solidFill>
                            <a:srgbClr val="1F1F1F"/>
                          </a:solidFill>
                          <a:ea typeface="조선가는고딕"/>
                        </a:rPr>
                        <a:t>상업</a:t>
                      </a:r>
                      <a:r>
                        <a:rPr lang="en-US" sz="1800" b="0" i="0" u="none" strike="noStrike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>
                          <a:solidFill>
                            <a:srgbClr val="1F1F1F"/>
                          </a:solidFill>
                          <a:ea typeface="조선가는고딕"/>
                        </a:rPr>
                        <a:t>시설과</a:t>
                      </a:r>
                      <a:r>
                        <a:rPr lang="en-US" sz="1800" b="0" i="0" u="none" strike="noStrike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>
                          <a:solidFill>
                            <a:srgbClr val="1F1F1F"/>
                          </a:solidFill>
                          <a:ea typeface="조선가는고딕"/>
                        </a:rPr>
                        <a:t>교육</a:t>
                      </a:r>
                      <a:r>
                        <a:rPr lang="en-US" sz="1800" b="0" i="0" u="none" strike="noStrike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>
                          <a:solidFill>
                            <a:srgbClr val="1F1F1F"/>
                          </a:solidFill>
                          <a:ea typeface="조선가는고딕"/>
                        </a:rPr>
                        <a:t>기관</a:t>
                      </a:r>
                      <a:r>
                        <a:rPr lang="en-US" sz="1800" b="0" i="0" u="none" strike="noStrike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>
                          <a:solidFill>
                            <a:srgbClr val="1F1F1F"/>
                          </a:solidFill>
                          <a:ea typeface="조선가는고딕"/>
                        </a:rPr>
                        <a:t>근접성이</a:t>
                      </a:r>
                      <a:r>
                        <a:rPr lang="en-US" sz="1800" b="0" i="0" u="none" strike="noStrike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>
                          <a:solidFill>
                            <a:srgbClr val="1F1F1F"/>
                          </a:solidFill>
                          <a:ea typeface="조선가는고딕"/>
                        </a:rPr>
                        <a:t>가격에</a:t>
                      </a:r>
                      <a:r>
                        <a:rPr lang="en-US" sz="1800" b="0" i="0" u="none" strike="noStrike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>
                          <a:solidFill>
                            <a:srgbClr val="1F1F1F"/>
                          </a:solidFill>
                          <a:ea typeface="조선가는고딕"/>
                        </a:rPr>
                        <a:t>영향</a:t>
                      </a:r>
                      <a:endParaRPr lang="en-US" sz="18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59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800" b="0" i="0" u="none" strike="noStrike">
                          <a:solidFill>
                            <a:srgbClr val="1F1F1F"/>
                          </a:solidFill>
                          <a:ea typeface="조선가는고딕"/>
                        </a:rPr>
                        <a:t>이주석</a:t>
                      </a:r>
                      <a:r>
                        <a:rPr lang="en-US" sz="1800" b="0" i="0" u="none" strike="noStrike">
                          <a:solidFill>
                            <a:srgbClr val="1F1F1F"/>
                          </a:solidFill>
                          <a:latin typeface="조선가는고딕"/>
                        </a:rPr>
                        <a:t>, </a:t>
                      </a:r>
                      <a:r>
                        <a:rPr lang="ko-KR" sz="1800" b="0" i="0" u="none" strike="noStrike">
                          <a:solidFill>
                            <a:srgbClr val="1F1F1F"/>
                          </a:solidFill>
                          <a:ea typeface="조선가는고딕"/>
                        </a:rPr>
                        <a:t>조주현</a:t>
                      </a:r>
                      <a:r>
                        <a:rPr lang="en-US" sz="1800" b="0" i="0" u="none" strike="noStrike">
                          <a:solidFill>
                            <a:srgbClr val="1F1F1F"/>
                          </a:solidFill>
                          <a:latin typeface="조선가는고딕"/>
                        </a:rPr>
                        <a:t> (2010)</a:t>
                      </a:r>
                      <a:endParaRPr lang="en-US" sz="18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180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강남지역과 강북지역의 아파트 가격 결정요인 분석</a:t>
                      </a:r>
                      <a:endParaRPr lang="en-US" sz="180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800" b="0" i="0" u="none" strike="noStrike" dirty="0" err="1">
                          <a:solidFill>
                            <a:srgbClr val="1F1F1F"/>
                          </a:solidFill>
                          <a:ea typeface="조선가는고딕"/>
                        </a:rPr>
                        <a:t>강남강북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간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전월세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가격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비교</a:t>
                      </a:r>
                      <a:endParaRPr lang="en-US" sz="1800" dirty="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녹지와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교통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인프라가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가격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형성에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미치는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영향</a:t>
                      </a:r>
                      <a:endParaRPr lang="en-US" sz="1800" dirty="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59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800" b="0" i="0" u="none" strike="noStrike">
                          <a:solidFill>
                            <a:srgbClr val="1F1F1F"/>
                          </a:solidFill>
                          <a:ea typeface="조선가는고딕"/>
                        </a:rPr>
                        <a:t>전해정</a:t>
                      </a:r>
                      <a:r>
                        <a:rPr lang="en-US" sz="1800" b="0" i="0" u="none" strike="noStrike">
                          <a:solidFill>
                            <a:srgbClr val="1F1F1F"/>
                          </a:solidFill>
                          <a:latin typeface="조선가는고딕"/>
                        </a:rPr>
                        <a:t> (2012)</a:t>
                      </a:r>
                      <a:endParaRPr lang="en-US" sz="18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180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매매와 전월세 시장의 상관관계 분석</a:t>
                      </a:r>
                      <a:endParaRPr lang="en-US" sz="180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매매와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임대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시장의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상관관계</a:t>
                      </a:r>
                      <a:endParaRPr lang="en-US" sz="1800" dirty="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매매가가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전세와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월세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시장에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미치는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영향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분석</a:t>
                      </a:r>
                      <a:endParaRPr lang="en-US" sz="1800" dirty="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859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800" b="0" i="0" u="none" strike="noStrike">
                          <a:solidFill>
                            <a:srgbClr val="1F1F1F"/>
                          </a:solidFill>
                          <a:ea typeface="조선가는고딕"/>
                        </a:rPr>
                        <a:t>김태경</a:t>
                      </a:r>
                      <a:r>
                        <a:rPr lang="en-US" sz="1800" b="0" i="0" u="none" strike="noStrike">
                          <a:solidFill>
                            <a:srgbClr val="1F1F1F"/>
                          </a:solidFill>
                          <a:latin typeface="조선가는고딕"/>
                        </a:rPr>
                        <a:t> (2013)</a:t>
                      </a:r>
                      <a:endParaRPr lang="en-US" sz="18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180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월세 전환율의 결정 요인 연구</a:t>
                      </a:r>
                      <a:endParaRPr lang="en-US" sz="180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월세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 err="1">
                          <a:solidFill>
                            <a:srgbClr val="1F1F1F"/>
                          </a:solidFill>
                          <a:ea typeface="조선가는고딕"/>
                        </a:rPr>
                        <a:t>전환율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결정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요인</a:t>
                      </a:r>
                      <a:endParaRPr lang="en-US" sz="1800" dirty="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대출금리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상승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시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월세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 err="1">
                          <a:solidFill>
                            <a:srgbClr val="1F1F1F"/>
                          </a:solidFill>
                          <a:ea typeface="조선가는고딕"/>
                        </a:rPr>
                        <a:t>전환율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증가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확인</a:t>
                      </a:r>
                      <a:endParaRPr lang="en-US" sz="1800" dirty="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859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800" b="0" i="0" u="none" strike="noStrike">
                          <a:solidFill>
                            <a:srgbClr val="1F1F1F"/>
                          </a:solidFill>
                          <a:ea typeface="조선가는고딕"/>
                        </a:rPr>
                        <a:t>남형권</a:t>
                      </a:r>
                      <a:r>
                        <a:rPr lang="en-US" sz="1800" b="0" i="0" u="none" strike="noStrike">
                          <a:solidFill>
                            <a:srgbClr val="1F1F1F"/>
                          </a:solidFill>
                          <a:latin typeface="조선가는고딕"/>
                        </a:rPr>
                        <a:t>, </a:t>
                      </a:r>
                      <a:r>
                        <a:rPr lang="ko-KR" sz="1800" b="0" i="0" u="none" strike="noStrike">
                          <a:solidFill>
                            <a:srgbClr val="1F1F1F"/>
                          </a:solidFill>
                          <a:ea typeface="조선가는고딕"/>
                        </a:rPr>
                        <a:t>서원석</a:t>
                      </a:r>
                      <a:r>
                        <a:rPr lang="en-US" sz="1800" b="0" i="0" u="none" strike="noStrike">
                          <a:solidFill>
                            <a:srgbClr val="1F1F1F"/>
                          </a:solidFill>
                          <a:latin typeface="조선가는고딕"/>
                        </a:rPr>
                        <a:t> (2016)</a:t>
                      </a:r>
                      <a:endParaRPr lang="en-US" sz="18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180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교육 시설과 주거 가격의 관계 연구</a:t>
                      </a:r>
                      <a:endParaRPr lang="en-US" sz="180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교육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시설과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주거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가격</a:t>
                      </a:r>
                      <a:endParaRPr lang="en-US" sz="1800" dirty="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교육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시설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근접성이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임대료에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부정적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영향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미침</a:t>
                      </a:r>
                      <a:endParaRPr lang="en-US" sz="1800" dirty="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1859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800" b="0" i="0" u="none" strike="noStrike">
                          <a:solidFill>
                            <a:srgbClr val="1F1F1F"/>
                          </a:solidFill>
                          <a:ea typeface="조선가는고딕"/>
                        </a:rPr>
                        <a:t>김준형</a:t>
                      </a:r>
                      <a:r>
                        <a:rPr lang="en-US" sz="1800" b="0" i="0" u="none" strike="noStrike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>
                          <a:solidFill>
                            <a:srgbClr val="1F1F1F"/>
                          </a:solidFill>
                          <a:ea typeface="조선가는고딕"/>
                        </a:rPr>
                        <a:t>외</a:t>
                      </a:r>
                      <a:r>
                        <a:rPr lang="en-US" sz="1800" b="0" i="0" u="none" strike="noStrike">
                          <a:solidFill>
                            <a:srgbClr val="1F1F1F"/>
                          </a:solidFill>
                          <a:latin typeface="조선가는고딕"/>
                        </a:rPr>
                        <a:t> (2011)</a:t>
                      </a:r>
                      <a:endParaRPr lang="en-US" sz="18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180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거래 빈도가 임대료에 미치는 영향</a:t>
                      </a:r>
                      <a:endParaRPr lang="en-US" sz="180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거래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빈도와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임대료의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상관관계</a:t>
                      </a:r>
                      <a:endParaRPr lang="en-US" sz="1800" dirty="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거래가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활발한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지역에서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임대료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상승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경향</a:t>
                      </a:r>
                      <a:r>
                        <a:rPr lang="en-US" sz="1800" b="0" i="0" u="none" strike="noStrike" dirty="0">
                          <a:solidFill>
                            <a:srgbClr val="1F1F1F"/>
                          </a:solidFill>
                          <a:latin typeface="조선가는고딕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1F1F1F"/>
                          </a:solidFill>
                          <a:ea typeface="조선가는고딕"/>
                        </a:rPr>
                        <a:t>확인</a:t>
                      </a:r>
                      <a:endParaRPr lang="en-US" sz="1800" dirty="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422400" y="571500"/>
            <a:ext cx="54356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3100" b="0" i="0" u="none" strike="noStrike" dirty="0">
                <a:solidFill>
                  <a:srgbClr val="393939"/>
                </a:solidFill>
                <a:ea typeface="Pretendard Bold"/>
              </a:rPr>
              <a:t>선행연구고찰</a:t>
            </a:r>
            <a:r>
              <a:rPr lang="en-US" sz="3100" b="0" i="0" u="none" strike="noStrike" dirty="0">
                <a:solidFill>
                  <a:srgbClr val="393939"/>
                </a:solidFill>
                <a:latin typeface="Pretendard Bold"/>
              </a:rPr>
              <a:t> 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98500" y="558800"/>
            <a:ext cx="6477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00" b="0" i="0" u="none" strike="noStrike" dirty="0">
                <a:solidFill>
                  <a:srgbClr val="08A5C1"/>
                </a:solidFill>
                <a:latin typeface="Montserrat Bold"/>
              </a:rPr>
              <a:t>3</a:t>
            </a:r>
            <a:r>
              <a:rPr lang="ko-KR" altLang="en-US" sz="3000" b="0" i="0" u="none" strike="noStrike" dirty="0">
                <a:solidFill>
                  <a:srgbClr val="08A5C1"/>
                </a:solidFill>
                <a:latin typeface="Montserrat Bold"/>
              </a:rPr>
              <a:t>절</a:t>
            </a:r>
            <a:endParaRPr lang="en-US" sz="3000" b="0" i="0" u="none" strike="noStrike" dirty="0">
              <a:solidFill>
                <a:srgbClr val="08A5C1"/>
              </a:solidFill>
              <a:latin typeface="Montserra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65200" y="2032000"/>
            <a:ext cx="55626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6990"/>
              </a:lnSpc>
            </a:pPr>
            <a:r>
              <a:rPr lang="ko-KR" sz="2500" b="1" i="0" u="none" strike="noStrike">
                <a:solidFill>
                  <a:srgbClr val="000000"/>
                </a:solidFill>
                <a:ea typeface="조선가는고딕"/>
              </a:rPr>
              <a:t>전월세</a:t>
            </a:r>
            <a:r>
              <a:rPr lang="en-US" sz="2500" b="1" i="0" u="none" strike="noStrike">
                <a:solidFill>
                  <a:srgbClr val="000000"/>
                </a:solidFill>
                <a:latin typeface="조선가는고딕"/>
              </a:rPr>
              <a:t> </a:t>
            </a:r>
            <a:r>
              <a:rPr lang="ko-KR" sz="2500" b="1" i="0" u="none" strike="noStrike">
                <a:solidFill>
                  <a:srgbClr val="000000"/>
                </a:solidFill>
                <a:ea typeface="조선가는고딕"/>
              </a:rPr>
              <a:t>가격</a:t>
            </a:r>
            <a:r>
              <a:rPr lang="en-US" sz="2500" b="1" i="0" u="none" strike="noStrike">
                <a:solidFill>
                  <a:srgbClr val="000000"/>
                </a:solidFill>
                <a:latin typeface="조선가는고딕"/>
              </a:rPr>
              <a:t> </a:t>
            </a:r>
            <a:r>
              <a:rPr lang="ko-KR" sz="2500" b="1" i="0" u="none" strike="noStrike">
                <a:solidFill>
                  <a:srgbClr val="000000"/>
                </a:solidFill>
                <a:ea typeface="조선가는고딕"/>
              </a:rPr>
              <a:t>결정</a:t>
            </a:r>
            <a:r>
              <a:rPr lang="en-US" sz="2500" b="1" i="0" u="none" strike="noStrike">
                <a:solidFill>
                  <a:srgbClr val="000000"/>
                </a:solidFill>
                <a:latin typeface="조선가는고딕"/>
              </a:rPr>
              <a:t> </a:t>
            </a:r>
            <a:r>
              <a:rPr lang="ko-KR" sz="2500" b="1" i="0" u="none" strike="noStrike">
                <a:solidFill>
                  <a:srgbClr val="000000"/>
                </a:solidFill>
                <a:ea typeface="조선가는고딕"/>
              </a:rPr>
              <a:t>요인에</a:t>
            </a:r>
            <a:r>
              <a:rPr lang="en-US" sz="2500" b="1" i="0" u="none" strike="noStrike">
                <a:solidFill>
                  <a:srgbClr val="000000"/>
                </a:solidFill>
                <a:latin typeface="조선가는고딕"/>
              </a:rPr>
              <a:t> </a:t>
            </a:r>
            <a:r>
              <a:rPr lang="ko-KR" sz="2500" b="1" i="0" u="none" strike="noStrike">
                <a:solidFill>
                  <a:srgbClr val="000000"/>
                </a:solidFill>
                <a:ea typeface="조선가는고딕"/>
              </a:rPr>
              <a:t>관한</a:t>
            </a:r>
            <a:r>
              <a:rPr lang="en-US" sz="2500" b="1" i="0" u="none" strike="noStrike">
                <a:solidFill>
                  <a:srgbClr val="000000"/>
                </a:solidFill>
                <a:latin typeface="조선가는고딕"/>
              </a:rPr>
              <a:t> </a:t>
            </a:r>
            <a:r>
              <a:rPr lang="ko-KR" sz="2500" b="1" i="0" u="none" strike="noStrike">
                <a:solidFill>
                  <a:srgbClr val="000000"/>
                </a:solidFill>
                <a:ea typeface="조선가는고딕"/>
              </a:rPr>
              <a:t>연구</a:t>
            </a:r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C7EECC39-15D2-4C3C-9997-B3B0F6CE6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180889" y="9659937"/>
            <a:ext cx="586411" cy="365125"/>
          </a:xfrm>
        </p:spPr>
        <p:txBody>
          <a:bodyPr/>
          <a:lstStyle/>
          <a:p>
            <a:r>
              <a:rPr lang="en-US" altLang="ko-KR" sz="2000" dirty="0"/>
              <a:t>11</a:t>
            </a:r>
            <a:endParaRPr lang="ko-KR" alt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712200" y="2260600"/>
            <a:ext cx="3733800" cy="25400"/>
          </a:xfrm>
          <a:prstGeom prst="rect">
            <a:avLst/>
          </a:prstGeom>
        </p:spPr>
      </p:pic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8388012"/>
              </p:ext>
            </p:extLst>
          </p:nvPr>
        </p:nvGraphicFramePr>
        <p:xfrm>
          <a:off x="965200" y="2857500"/>
          <a:ext cx="16459199" cy="6802437"/>
        </p:xfrm>
        <a:graphic>
          <a:graphicData uri="http://schemas.openxmlformats.org/drawingml/2006/table">
            <a:tbl>
              <a:tblPr/>
              <a:tblGrid>
                <a:gridCol w="2843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7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7362">
                  <a:extLst>
                    <a:ext uri="{9D8B030D-6E8A-4147-A177-3AD203B41FA5}">
                      <a16:colId xmlns:a16="http://schemas.microsoft.com/office/drawing/2014/main" val="1139028120"/>
                    </a:ext>
                  </a:extLst>
                </a:gridCol>
                <a:gridCol w="87408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633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000" b="1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연구자</a:t>
                      </a:r>
                      <a:r>
                        <a:rPr lang="en-US" sz="2000" b="1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(</a:t>
                      </a:r>
                      <a:r>
                        <a:rPr lang="ko-KR" sz="2000" b="1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연도</a:t>
                      </a:r>
                      <a:r>
                        <a:rPr lang="en-US" sz="2000" b="1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)</a:t>
                      </a:r>
                      <a:endParaRPr lang="en-US" sz="2000" b="1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2000" b="1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제목</a:t>
                      </a:r>
                      <a:endParaRPr lang="en-US" sz="2000" b="1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000" b="1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주제</a:t>
                      </a:r>
                      <a:endParaRPr lang="en-US" sz="2000" b="1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000" b="1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내용</a:t>
                      </a:r>
                      <a:r>
                        <a:rPr lang="en-US" sz="2000" b="1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2000" b="1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및</a:t>
                      </a:r>
                      <a:r>
                        <a:rPr lang="en-US" sz="2000" b="1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2000" b="1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시사점</a:t>
                      </a:r>
                      <a:endParaRPr lang="en-US" sz="2000" b="1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423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600" b="0" i="0" u="none" strike="noStrike" dirty="0" err="1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박나예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, </a:t>
                      </a:r>
                      <a:r>
                        <a:rPr lang="ko-KR" sz="1600" b="0" i="0" u="none" strike="noStrike" dirty="0" err="1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이상경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(2013)</a:t>
                      </a:r>
                      <a:endParaRPr lang="en-US" sz="160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160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지역 및 근린생활환경이 주상복합아파트 가격에 미치는 영향 연구</a:t>
                      </a:r>
                      <a:r>
                        <a:rPr lang="en-US" altLang="ko-KR" sz="160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.</a:t>
                      </a:r>
                      <a:endParaRPr lang="en-US" sz="160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근린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생활환경과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소득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수준</a:t>
                      </a:r>
                      <a:endParaRPr lang="en-US" sz="160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도심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지역의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생활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편의성을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중시하며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,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상업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시설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근접성이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주거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선택의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주요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요인으로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작용함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.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소득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수준이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높은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지역일수록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전세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가격이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높게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형성됨</a:t>
                      </a:r>
                      <a:endParaRPr lang="en-US" sz="160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423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600" b="0" i="0" u="none" strike="noStrike" dirty="0" err="1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김송이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(2020)</a:t>
                      </a:r>
                      <a:endParaRPr lang="en-US" sz="160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160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지역 및 근린생활환경이 주상복합아파트 가격에 미치는 영향 연구</a:t>
                      </a:r>
                      <a:endParaRPr lang="en-US" sz="160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수도권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1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인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가구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주택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수요</a:t>
                      </a:r>
                      <a:endParaRPr lang="en-US" sz="160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소득과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자산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부족으로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자가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구매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대신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임대를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선호하며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,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교통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접근성이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좋은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소형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주택과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저렴한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월세를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선호함</a:t>
                      </a:r>
                      <a:endParaRPr lang="en-US" sz="160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6606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조하은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,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김의준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(2018)</a:t>
                      </a:r>
                      <a:endParaRPr lang="en-US" sz="160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160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서울시 청년 </a:t>
                      </a:r>
                      <a:r>
                        <a:rPr lang="en-US" altLang="ko-KR" sz="160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1 </a:t>
                      </a:r>
                      <a:r>
                        <a:rPr lang="ko-KR" altLang="en-US" sz="160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인 가구 주거 문제 분석</a:t>
                      </a:r>
                      <a:r>
                        <a:rPr lang="en-US" altLang="ko-KR" sz="160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: </a:t>
                      </a:r>
                      <a:r>
                        <a:rPr lang="ko-KR" altLang="en-US" sz="160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주거소비 면적 감소 현상을 중심으로</a:t>
                      </a:r>
                      <a:endParaRPr lang="en-US" sz="160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청년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1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인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가구의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주거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비용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문제</a:t>
                      </a:r>
                      <a:endParaRPr lang="en-US" sz="160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주거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면적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감소를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통한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비용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절감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경향이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있으며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,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항상소득과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금융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지원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부족이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주거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문제를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악화시킴을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지적</a:t>
                      </a:r>
                      <a:endParaRPr lang="en-US" sz="160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06606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이영준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,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최은희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(2017)</a:t>
                      </a:r>
                      <a:endParaRPr lang="en-US" sz="160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160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국민임대주택 입주에 따른 주거개선효과</a:t>
                      </a:r>
                      <a:r>
                        <a:rPr lang="en-US" altLang="ko-KR" sz="160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: </a:t>
                      </a:r>
                      <a:r>
                        <a:rPr lang="ko-KR" altLang="en-US" sz="160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주거비 부담 수준 비교를 중심으로</a:t>
                      </a:r>
                      <a:r>
                        <a:rPr lang="en-US" altLang="ko-KR" sz="160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.</a:t>
                      </a:r>
                      <a:endParaRPr lang="en-US" sz="160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청년층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월세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수요와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직장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근접성</a:t>
                      </a:r>
                      <a:endParaRPr lang="en-US" sz="160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직장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접근성을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고려해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교통이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편리한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역세권에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월세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수요가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집중되며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,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공공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임대주택의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필요성을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강조함</a:t>
                      </a:r>
                      <a:endParaRPr lang="en-US" sz="160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82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홍</a:t>
                      </a:r>
                      <a:r>
                        <a:rPr lang="ko-KR" alt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유경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(2017)</a:t>
                      </a:r>
                      <a:endParaRPr lang="en-US" sz="160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160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서울시 주택 보급률과 임대료의 관계</a:t>
                      </a:r>
                      <a:endParaRPr lang="en-US" sz="160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고령층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1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인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가구와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전세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수요</a:t>
                      </a:r>
                      <a:endParaRPr lang="en-US" sz="160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고령층은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외곽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지역에서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안정적인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전세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거주를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선호하며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,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이러한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수요가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외곽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지역의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전세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가격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상승을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초래함</a:t>
                      </a:r>
                      <a:endParaRPr lang="en-US" sz="160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06606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박상우</a:t>
                      </a:r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(2020)</a:t>
                      </a:r>
                      <a:endParaRPr lang="en-US" sz="160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160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지역별 청년층 월세 가구의 거주환경 및 주거비 부담 결정요인 분석</a:t>
                      </a:r>
                      <a:r>
                        <a:rPr lang="en-US" altLang="ko-KR" sz="1600" dirty="0"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.</a:t>
                      </a:r>
                      <a:endParaRPr lang="en-US" sz="160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직장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접근성과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단기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임대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선호</a:t>
                      </a:r>
                      <a:endParaRPr lang="en-US" sz="160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생활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편의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시설과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직장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근접성을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중시하며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,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단기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월세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계약을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선호하는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경향이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도심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임대료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상승을</a:t>
                      </a: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1F1F1F"/>
                          </a:solidFill>
                          <a:latin typeface="조선가는고딕" panose="020B0600000101010101" charset="-127"/>
                          <a:ea typeface="조선가는고딕" panose="020B0600000101010101" charset="-127"/>
                        </a:rPr>
                        <a:t>유도함</a:t>
                      </a:r>
                      <a:endParaRPr lang="en-US" sz="1600" dirty="0">
                        <a:latin typeface="조선가는고딕" panose="020B0600000101010101" charset="-127"/>
                        <a:ea typeface="조선가는고딕" panose="020B0600000101010101" charset="-127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422400" y="571500"/>
            <a:ext cx="54356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3100" b="0" i="0" u="none" strike="noStrike" dirty="0">
                <a:solidFill>
                  <a:srgbClr val="393939"/>
                </a:solidFill>
                <a:ea typeface="Pretendard Bold"/>
              </a:rPr>
              <a:t>선행연구고찰</a:t>
            </a:r>
            <a:r>
              <a:rPr lang="en-US" sz="3100" b="0" i="0" u="none" strike="noStrike" dirty="0">
                <a:solidFill>
                  <a:srgbClr val="393939"/>
                </a:solidFill>
                <a:latin typeface="Pretendard Bold"/>
              </a:rPr>
              <a:t> 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98500" y="558800"/>
            <a:ext cx="6477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100" b="0" i="0" u="none" strike="noStrike">
                <a:solidFill>
                  <a:srgbClr val="08A5C1"/>
                </a:solidFill>
                <a:latin typeface="Montserrat Bold"/>
              </a:rPr>
              <a:t>3</a:t>
            </a:r>
            <a:r>
              <a:rPr lang="ko-KR" altLang="en-US" sz="3100" b="0" i="0" u="none" strike="noStrike" dirty="0">
                <a:solidFill>
                  <a:srgbClr val="08A5C1"/>
                </a:solidFill>
                <a:latin typeface="Montserrat Bold"/>
              </a:rPr>
              <a:t>절</a:t>
            </a:r>
            <a:endParaRPr lang="en-US" sz="3100" b="0" i="0" u="none" strike="noStrike" dirty="0">
              <a:solidFill>
                <a:srgbClr val="08A5C1"/>
              </a:solidFill>
              <a:latin typeface="Montserra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65200" y="2032000"/>
            <a:ext cx="55626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6990"/>
              </a:lnSpc>
            </a:pPr>
            <a:r>
              <a:rPr lang="en-US" sz="2500" b="1" i="0" u="none" strike="noStrike">
                <a:solidFill>
                  <a:srgbClr val="000000"/>
                </a:solidFill>
                <a:latin typeface="조선가는고딕"/>
              </a:rPr>
              <a:t>1</a:t>
            </a:r>
            <a:r>
              <a:rPr lang="ko-KR" sz="2500" b="1" i="0" u="none" strike="noStrike">
                <a:solidFill>
                  <a:srgbClr val="000000"/>
                </a:solidFill>
                <a:ea typeface="조선가는고딕"/>
              </a:rPr>
              <a:t>인</a:t>
            </a:r>
            <a:r>
              <a:rPr lang="en-US" sz="2500" b="1" i="0" u="none" strike="noStrike">
                <a:solidFill>
                  <a:srgbClr val="000000"/>
                </a:solidFill>
                <a:latin typeface="조선가는고딕"/>
              </a:rPr>
              <a:t> </a:t>
            </a:r>
            <a:r>
              <a:rPr lang="ko-KR" sz="2500" b="1" i="0" u="none" strike="noStrike">
                <a:solidFill>
                  <a:srgbClr val="000000"/>
                </a:solidFill>
                <a:ea typeface="조선가는고딕"/>
              </a:rPr>
              <a:t>가구에</a:t>
            </a:r>
            <a:r>
              <a:rPr lang="en-US" sz="2500" b="1" i="0" u="none" strike="noStrike">
                <a:solidFill>
                  <a:srgbClr val="000000"/>
                </a:solidFill>
                <a:latin typeface="조선가는고딕"/>
              </a:rPr>
              <a:t> </a:t>
            </a:r>
            <a:r>
              <a:rPr lang="ko-KR" sz="2500" b="1" i="0" u="none" strike="noStrike">
                <a:solidFill>
                  <a:srgbClr val="000000"/>
                </a:solidFill>
                <a:ea typeface="조선가는고딕"/>
              </a:rPr>
              <a:t>관한</a:t>
            </a:r>
            <a:r>
              <a:rPr lang="en-US" sz="2500" b="1" i="0" u="none" strike="noStrike">
                <a:solidFill>
                  <a:srgbClr val="000000"/>
                </a:solidFill>
                <a:latin typeface="조선가는고딕"/>
              </a:rPr>
              <a:t> </a:t>
            </a:r>
            <a:r>
              <a:rPr lang="ko-KR" sz="2500" b="1" i="0" u="none" strike="noStrike">
                <a:solidFill>
                  <a:srgbClr val="000000"/>
                </a:solidFill>
                <a:ea typeface="조선가는고딕"/>
              </a:rPr>
              <a:t>연구</a:t>
            </a:r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BFFB6756-499C-4E66-AB33-9B8B1CEBF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180889" y="9659937"/>
            <a:ext cx="586411" cy="365125"/>
          </a:xfrm>
        </p:spPr>
        <p:txBody>
          <a:bodyPr/>
          <a:lstStyle/>
          <a:p>
            <a:r>
              <a:rPr lang="en-US" altLang="ko-KR" sz="2000" dirty="0"/>
              <a:t>12</a:t>
            </a:r>
            <a:endParaRPr lang="ko-KR" alt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712200" y="2260600"/>
            <a:ext cx="3733800" cy="254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422400" y="558800"/>
            <a:ext cx="54356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3100" b="0" i="0" u="none" strike="noStrike" dirty="0">
                <a:solidFill>
                  <a:srgbClr val="393939"/>
                </a:solidFill>
                <a:ea typeface="Pretendard Bold"/>
              </a:rPr>
              <a:t>선행연구고찰</a:t>
            </a:r>
            <a:r>
              <a:rPr lang="en-US" sz="3100" b="0" i="0" u="none" strike="noStrike" dirty="0">
                <a:solidFill>
                  <a:srgbClr val="393939"/>
                </a:solidFill>
                <a:latin typeface="Pretendard Bold"/>
              </a:rPr>
              <a:t> 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98500" y="558800"/>
            <a:ext cx="6477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100">
                <a:solidFill>
                  <a:srgbClr val="08A5C1"/>
                </a:solidFill>
                <a:latin typeface="Montserrat Bold"/>
              </a:rPr>
              <a:t>3</a:t>
            </a:r>
            <a:r>
              <a:rPr lang="ko-KR" altLang="en-US" sz="3100" dirty="0">
                <a:solidFill>
                  <a:srgbClr val="08A5C1"/>
                </a:solidFill>
                <a:latin typeface="Montserrat Bold"/>
              </a:rPr>
              <a:t>절</a:t>
            </a:r>
            <a:endParaRPr lang="en-US" sz="3100" b="0" i="0" u="none" strike="noStrike" dirty="0">
              <a:solidFill>
                <a:srgbClr val="08A5C1"/>
              </a:solidFill>
              <a:latin typeface="Montserrat Bold"/>
            </a:endParaRPr>
          </a:p>
        </p:txBody>
      </p:sp>
      <p:pic>
        <p:nvPicPr>
          <p:cNvPr id="18" name="Picture 5">
            <a:extLst>
              <a:ext uri="{FF2B5EF4-FFF2-40B4-BE49-F238E27FC236}">
                <a16:creationId xmlns:a16="http://schemas.microsoft.com/office/drawing/2014/main" id="{3C867B8B-33E8-47C2-824D-27669744D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5550" y="2844799"/>
            <a:ext cx="7239000" cy="4978401"/>
          </a:xfrm>
          <a:prstGeom prst="rect">
            <a:avLst/>
          </a:prstGeom>
        </p:spPr>
      </p:pic>
      <p:sp>
        <p:nvSpPr>
          <p:cNvPr id="25" name="TextBox 12">
            <a:extLst>
              <a:ext uri="{FF2B5EF4-FFF2-40B4-BE49-F238E27FC236}">
                <a16:creationId xmlns:a16="http://schemas.microsoft.com/office/drawing/2014/main" id="{BAB85058-1C9D-453A-8078-67974663E379}"/>
              </a:ext>
            </a:extLst>
          </p:cNvPr>
          <p:cNvSpPr txBox="1"/>
          <p:nvPr/>
        </p:nvSpPr>
        <p:spPr>
          <a:xfrm>
            <a:off x="10236200" y="2247900"/>
            <a:ext cx="69977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400" b="0" i="0" u="none" strike="noStrike" dirty="0">
                <a:solidFill>
                  <a:srgbClr val="393939"/>
                </a:solidFill>
                <a:ea typeface="Pretendard Bold"/>
              </a:rPr>
              <a:t>선행연구와의 차별성</a:t>
            </a:r>
            <a:endParaRPr lang="ko-KR" sz="2400" b="0" i="0" u="none" strike="noStrike" dirty="0">
              <a:solidFill>
                <a:srgbClr val="393939"/>
              </a:solidFill>
              <a:ea typeface="Pretendard Bold"/>
            </a:endParaRPr>
          </a:p>
        </p:txBody>
      </p:sp>
      <p:sp>
        <p:nvSpPr>
          <p:cNvPr id="26" name="TextBox 13">
            <a:extLst>
              <a:ext uri="{FF2B5EF4-FFF2-40B4-BE49-F238E27FC236}">
                <a16:creationId xmlns:a16="http://schemas.microsoft.com/office/drawing/2014/main" id="{0E9E2233-65A0-4A52-9AE2-9CA244F4EB96}"/>
              </a:ext>
            </a:extLst>
          </p:cNvPr>
          <p:cNvSpPr txBox="1"/>
          <p:nvPr/>
        </p:nvSpPr>
        <p:spPr>
          <a:xfrm>
            <a:off x="10236200" y="2616200"/>
            <a:ext cx="7137400" cy="5207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41100"/>
              </a:lnSpc>
            </a:pPr>
            <a:endParaRPr lang="en-US" altLang="ko-KR" sz="2400" b="0" i="0" u="none" strike="noStrike" spc="-100" dirty="0">
              <a:solidFill>
                <a:srgbClr val="FFFFFF"/>
              </a:solidFill>
              <a:ea typeface="Pretendard SemiBold"/>
            </a:endParaRPr>
          </a:p>
          <a:p>
            <a:pPr lvl="0">
              <a:lnSpc>
                <a:spcPct val="141100"/>
              </a:lnSpc>
            </a:pPr>
            <a:r>
              <a:rPr lang="ko-KR" altLang="en-US" sz="2400" b="0" i="0" u="none" strike="noStrike" spc="-100" dirty="0">
                <a:solidFill>
                  <a:srgbClr val="FFFFFF"/>
                </a:solidFill>
                <a:ea typeface="Pretendard SemiBold"/>
              </a:rPr>
              <a:t> </a:t>
            </a:r>
            <a:r>
              <a:rPr lang="ko-KR" altLang="en-US" sz="2400" b="0" i="0" u="none" strike="noStrike" spc="-100" dirty="0">
                <a:solidFill>
                  <a:srgbClr val="FFFFFF"/>
                </a:solidFill>
                <a:latin typeface="Pretendard Regular" panose="020B0600000101010101" charset="-127"/>
                <a:ea typeface="Pretendard Regular" panose="020B0600000101010101" charset="-127"/>
              </a:rPr>
              <a:t>① 청년안심주택으로 인한 영향을 매매시장이 아닌 임대시장의 </a:t>
            </a:r>
            <a:r>
              <a:rPr lang="en-US" altLang="ko-KR" sz="2400" spc="-100" dirty="0">
                <a:solidFill>
                  <a:srgbClr val="FFFFFF"/>
                </a:solidFill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en-US" sz="2400" b="0" i="0" u="none" strike="noStrike" spc="-100" dirty="0">
                <a:solidFill>
                  <a:srgbClr val="FFFFFF"/>
                </a:solidFill>
                <a:latin typeface="Pretendard Regular" panose="020B0600000101010101" charset="-127"/>
                <a:ea typeface="Pretendard Regular" panose="020B0600000101010101" charset="-127"/>
              </a:rPr>
              <a:t>영역에서 분석</a:t>
            </a:r>
            <a:endParaRPr lang="en-US" altLang="ko-KR" sz="2400" b="0" i="0" u="none" strike="noStrike" spc="-100" dirty="0">
              <a:solidFill>
                <a:srgbClr val="FFFFFF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>
              <a:lnSpc>
                <a:spcPct val="141100"/>
              </a:lnSpc>
            </a:pPr>
            <a:endParaRPr lang="en-US" altLang="ko-KR" sz="2400" spc="-100" dirty="0">
              <a:solidFill>
                <a:srgbClr val="FFFFFF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>
              <a:lnSpc>
                <a:spcPct val="141100"/>
              </a:lnSpc>
            </a:pPr>
            <a:r>
              <a:rPr lang="ko-KR" altLang="en-US" sz="2400" spc="-100" dirty="0">
                <a:solidFill>
                  <a:srgbClr val="FFFFFF"/>
                </a:solidFill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en-US" sz="2400" spc="-100" dirty="0">
                <a:solidFill>
                  <a:schemeClr val="bg1"/>
                </a:solidFill>
                <a:latin typeface="Pretendard Regular" panose="020B0600000101010101" charset="-127"/>
                <a:ea typeface="Pretendard Regular" panose="020B0600000101010101" charset="-127"/>
              </a:rPr>
              <a:t>② 연립</a:t>
            </a:r>
            <a:r>
              <a:rPr lang="en-US" altLang="ko-KR" sz="2400" spc="-100" dirty="0">
                <a:solidFill>
                  <a:schemeClr val="bg1"/>
                </a:solidFill>
                <a:latin typeface="Pretendard Regular" panose="020B0600000101010101" charset="-127"/>
                <a:ea typeface="Pretendard Regular" panose="020B0600000101010101" charset="-127"/>
              </a:rPr>
              <a:t>/</a:t>
            </a:r>
            <a:r>
              <a:rPr lang="ko-KR" altLang="en-US" sz="2400" spc="-100" dirty="0">
                <a:solidFill>
                  <a:schemeClr val="bg1"/>
                </a:solidFill>
                <a:latin typeface="Pretendard Regular" panose="020B0600000101010101" charset="-127"/>
                <a:ea typeface="Pretendard Regular" panose="020B0600000101010101" charset="-127"/>
              </a:rPr>
              <a:t>다세대 주택을 대상으로 분석하였으며</a:t>
            </a:r>
            <a:r>
              <a:rPr lang="en-US" altLang="ko-KR" sz="2400" spc="-100" dirty="0">
                <a:solidFill>
                  <a:schemeClr val="bg1"/>
                </a:solidFill>
                <a:latin typeface="Pretendard Regular" panose="020B0600000101010101" charset="-127"/>
                <a:ea typeface="Pretendard Regular" panose="020B0600000101010101" charset="-127"/>
              </a:rPr>
              <a:t>, 2024</a:t>
            </a:r>
            <a:r>
              <a:rPr lang="ko-KR" altLang="en-US" sz="2400" spc="-100" dirty="0">
                <a:solidFill>
                  <a:schemeClr val="bg1"/>
                </a:solidFill>
                <a:latin typeface="Pretendard Regular" panose="020B0600000101010101" charset="-127"/>
                <a:ea typeface="Pretendard Regular" panose="020B0600000101010101" charset="-127"/>
              </a:rPr>
              <a:t>년 신설된 </a:t>
            </a:r>
            <a:r>
              <a:rPr lang="en-US" altLang="ko-KR" sz="2400" spc="-100" dirty="0">
                <a:solidFill>
                  <a:schemeClr val="bg1"/>
                </a:solidFill>
                <a:latin typeface="Pretendard Regular" panose="020B0600000101010101" charset="-127"/>
                <a:ea typeface="Pretendard Regular" panose="020B0600000101010101" charset="-127"/>
              </a:rPr>
              <a:t>1</a:t>
            </a:r>
            <a:r>
              <a:rPr lang="ko-KR" altLang="en-US" sz="2400" spc="-100" dirty="0">
                <a:solidFill>
                  <a:schemeClr val="bg1"/>
                </a:solidFill>
                <a:latin typeface="Pretendard Regular" panose="020B0600000101010101" charset="-127"/>
                <a:ea typeface="Pretendard Regular" panose="020B0600000101010101" charset="-127"/>
              </a:rPr>
              <a:t>인 가구의 전용면적 </a:t>
            </a:r>
            <a:r>
              <a:rPr lang="en-US" altLang="ko-KR" sz="2400" spc="-100" dirty="0">
                <a:solidFill>
                  <a:schemeClr val="bg1"/>
                </a:solidFill>
                <a:latin typeface="Pretendard Regular" panose="020B0600000101010101" charset="-127"/>
                <a:ea typeface="Pretendard Regular" panose="020B0600000101010101" charset="-127"/>
              </a:rPr>
              <a:t>35</a:t>
            </a:r>
            <a:r>
              <a:rPr lang="ko-KR" altLang="en-US" sz="2400" spc="-100" dirty="0">
                <a:solidFill>
                  <a:schemeClr val="bg1"/>
                </a:solidFill>
                <a:latin typeface="Pretendard Regular" panose="020B0600000101010101" charset="-127"/>
                <a:ea typeface="Pretendard Regular" panose="020B0600000101010101" charset="-127"/>
              </a:rPr>
              <a:t>㎡이하를 적용하여 분석함</a:t>
            </a:r>
            <a:r>
              <a:rPr lang="en-US" altLang="ko-KR" sz="2400" spc="-100" dirty="0">
                <a:solidFill>
                  <a:schemeClr val="bg1"/>
                </a:solidFill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</a:p>
          <a:p>
            <a:pPr>
              <a:lnSpc>
                <a:spcPct val="141100"/>
              </a:lnSpc>
            </a:pPr>
            <a:endParaRPr lang="en-US" altLang="ko-KR" sz="2400" b="0" i="0" u="none" strike="noStrike" spc="-100" dirty="0">
              <a:solidFill>
                <a:schemeClr val="bg1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>
              <a:lnSpc>
                <a:spcPct val="141100"/>
              </a:lnSpc>
            </a:pPr>
            <a:r>
              <a:rPr lang="ko-KR" altLang="en-US" sz="2400" spc="-100" dirty="0">
                <a:solidFill>
                  <a:schemeClr val="bg1"/>
                </a:solidFill>
                <a:latin typeface="Pretendard Regular" panose="020B0600000101010101" charset="-127"/>
                <a:ea typeface="Pretendard Regular" panose="020B0600000101010101" charset="-127"/>
              </a:rPr>
              <a:t> ③ 청년안심주택의 영향을 </a:t>
            </a:r>
            <a:r>
              <a:rPr lang="en-US" altLang="ko-KR" sz="2400" spc="-100" dirty="0">
                <a:solidFill>
                  <a:schemeClr val="bg1"/>
                </a:solidFill>
                <a:latin typeface="Pretendard Regular" panose="020B0600000101010101" charset="-127"/>
                <a:ea typeface="Pretendard Regular" panose="020B0600000101010101" charset="-127"/>
              </a:rPr>
              <a:t>5</a:t>
            </a:r>
            <a:r>
              <a:rPr lang="ko-KR" altLang="en-US" sz="2400" spc="-100" dirty="0">
                <a:solidFill>
                  <a:schemeClr val="bg1"/>
                </a:solidFill>
                <a:latin typeface="Pretendard Regular" panose="020B0600000101010101" charset="-127"/>
                <a:ea typeface="Pretendard Regular" panose="020B0600000101010101" charset="-127"/>
              </a:rPr>
              <a:t>대권역권으로 세분화하여</a:t>
            </a:r>
            <a:endParaRPr lang="en-US" altLang="ko-KR" sz="2400" spc="-100" dirty="0">
              <a:solidFill>
                <a:schemeClr val="bg1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>
              <a:lnSpc>
                <a:spcPct val="141100"/>
              </a:lnSpc>
            </a:pPr>
            <a:r>
              <a:rPr lang="en-US" altLang="ko-KR" sz="2400" spc="-100" dirty="0">
                <a:solidFill>
                  <a:schemeClr val="bg1"/>
                </a:solidFill>
                <a:latin typeface="Pretendard Regular" panose="020B0600000101010101" charset="-127"/>
                <a:ea typeface="Pretendard Regular" panose="020B0600000101010101" charset="-127"/>
              </a:rPr>
              <a:t>  </a:t>
            </a:r>
            <a:r>
              <a:rPr lang="ko-KR" altLang="en-US" sz="2400" spc="-100" dirty="0">
                <a:solidFill>
                  <a:schemeClr val="bg1"/>
                </a:solidFill>
                <a:latin typeface="Pretendard Regular" panose="020B0600000101010101" charset="-127"/>
                <a:ea typeface="Pretendard Regular" panose="020B0600000101010101" charset="-127"/>
              </a:rPr>
              <a:t>분석함으로써</a:t>
            </a:r>
            <a:r>
              <a:rPr lang="en-US" altLang="ko-KR" sz="2400" spc="-100" dirty="0">
                <a:solidFill>
                  <a:schemeClr val="bg1"/>
                </a:solidFill>
                <a:latin typeface="Pretendard Regular" panose="020B0600000101010101" charset="-127"/>
                <a:ea typeface="Pretendard Regular" panose="020B0600000101010101" charset="-127"/>
              </a:rPr>
              <a:t>  </a:t>
            </a:r>
            <a:r>
              <a:rPr lang="ko-KR" altLang="en-US" sz="2400" spc="-100" dirty="0">
                <a:solidFill>
                  <a:schemeClr val="bg1"/>
                </a:solidFill>
                <a:latin typeface="Pretendard Regular" panose="020B0600000101010101" charset="-127"/>
                <a:ea typeface="Pretendard Regular" panose="020B0600000101010101" charset="-127"/>
              </a:rPr>
              <a:t> 청년안심주택 공급에 대한 정책적 시사점</a:t>
            </a:r>
            <a:r>
              <a:rPr lang="en-US" altLang="ko-KR" sz="2400" spc="-100" dirty="0">
                <a:solidFill>
                  <a:schemeClr val="bg1"/>
                </a:solidFill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en-US" sz="2400" spc="-100" dirty="0">
                <a:solidFill>
                  <a:schemeClr val="bg1"/>
                </a:solidFill>
                <a:latin typeface="Pretendard Regular" panose="020B0600000101010101" charset="-127"/>
                <a:ea typeface="Pretendard Regular" panose="020B0600000101010101" charset="-127"/>
              </a:rPr>
              <a:t> 제시</a:t>
            </a:r>
            <a:endParaRPr lang="en-US" altLang="ko-KR" sz="2400" spc="-100" dirty="0">
              <a:solidFill>
                <a:schemeClr val="bg1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>
              <a:lnSpc>
                <a:spcPct val="141100"/>
              </a:lnSpc>
            </a:pPr>
            <a:endParaRPr lang="ko-KR" sz="2400" b="0" i="0" u="none" strike="noStrike" spc="-100" dirty="0">
              <a:solidFill>
                <a:srgbClr val="FFFFFF"/>
              </a:solidFill>
              <a:ea typeface="Pretendard SemiBold"/>
            </a:endParaRPr>
          </a:p>
        </p:txBody>
      </p:sp>
      <p:pic>
        <p:nvPicPr>
          <p:cNvPr id="29" name="Picture 16">
            <a:extLst>
              <a:ext uri="{FF2B5EF4-FFF2-40B4-BE49-F238E27FC236}">
                <a16:creationId xmlns:a16="http://schemas.microsoft.com/office/drawing/2014/main" id="{494553D3-273D-4EB5-8F00-5D853E446C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557" y="2832100"/>
            <a:ext cx="6451600" cy="4991100"/>
          </a:xfrm>
          <a:prstGeom prst="rect">
            <a:avLst/>
          </a:prstGeom>
        </p:spPr>
      </p:pic>
      <p:pic>
        <p:nvPicPr>
          <p:cNvPr id="30" name="Picture 17">
            <a:extLst>
              <a:ext uri="{FF2B5EF4-FFF2-40B4-BE49-F238E27FC236}">
                <a16:creationId xmlns:a16="http://schemas.microsoft.com/office/drawing/2014/main" id="{30489985-4D80-49CE-9801-CFE5BF001D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66800" y="2848791"/>
            <a:ext cx="292100" cy="292100"/>
          </a:xfrm>
          <a:prstGeom prst="rect">
            <a:avLst/>
          </a:prstGeom>
        </p:spPr>
      </p:pic>
      <p:sp>
        <p:nvSpPr>
          <p:cNvPr id="37" name="TextBox 24">
            <a:extLst>
              <a:ext uri="{FF2B5EF4-FFF2-40B4-BE49-F238E27FC236}">
                <a16:creationId xmlns:a16="http://schemas.microsoft.com/office/drawing/2014/main" id="{105F1991-A2E2-4340-B681-DA707FF45930}"/>
              </a:ext>
            </a:extLst>
          </p:cNvPr>
          <p:cNvSpPr txBox="1"/>
          <p:nvPr/>
        </p:nvSpPr>
        <p:spPr>
          <a:xfrm>
            <a:off x="1206500" y="2247900"/>
            <a:ext cx="63246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400" b="0" i="0" u="none" strike="noStrike" dirty="0">
                <a:solidFill>
                  <a:srgbClr val="393939"/>
                </a:solidFill>
                <a:ea typeface="Pretendard Bold"/>
              </a:rPr>
              <a:t>선행연구의 한계</a:t>
            </a:r>
            <a:endParaRPr lang="ko-KR" sz="2400" b="0" i="0" u="none" strike="noStrike" dirty="0">
              <a:solidFill>
                <a:srgbClr val="393939"/>
              </a:solidFill>
              <a:ea typeface="Pretendard Bold"/>
            </a:endParaRPr>
          </a:p>
        </p:txBody>
      </p:sp>
      <p:sp>
        <p:nvSpPr>
          <p:cNvPr id="38" name="TextBox 25">
            <a:extLst>
              <a:ext uri="{FF2B5EF4-FFF2-40B4-BE49-F238E27FC236}">
                <a16:creationId xmlns:a16="http://schemas.microsoft.com/office/drawing/2014/main" id="{767AC4B8-733E-4E3F-94C2-C6E2BB745434}"/>
              </a:ext>
            </a:extLst>
          </p:cNvPr>
          <p:cNvSpPr txBox="1"/>
          <p:nvPr/>
        </p:nvSpPr>
        <p:spPr>
          <a:xfrm>
            <a:off x="1206500" y="3175000"/>
            <a:ext cx="63373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41100"/>
              </a:lnSpc>
            </a:pPr>
            <a:r>
              <a:rPr lang="ko-KR" altLang="en-US" sz="2400" b="0" i="0" u="none" strike="noStrike" spc="-100" dirty="0">
                <a:solidFill>
                  <a:srgbClr val="393939"/>
                </a:solidFill>
                <a:ea typeface="Pretendard Regular"/>
              </a:rPr>
              <a:t> ① </a:t>
            </a:r>
            <a:r>
              <a:rPr lang="ko-KR" altLang="en-US" sz="2400" b="0" i="0" u="none" strike="noStrike" spc="-100" dirty="0">
                <a:solidFill>
                  <a:srgbClr val="393939"/>
                </a:solidFill>
                <a:latin typeface="Pretendard Regular" panose="020B0600000101010101" charset="-127"/>
                <a:ea typeface="Pretendard Regular" panose="020B0600000101010101" charset="-127"/>
              </a:rPr>
              <a:t>청년안심주택 공급이 인근 주택가격에 미치는 영향 연구가 많음</a:t>
            </a:r>
            <a:r>
              <a:rPr lang="en-US" altLang="ko-KR" sz="2400" b="0" i="0" u="none" strike="noStrike" spc="-100" dirty="0">
                <a:solidFill>
                  <a:srgbClr val="393939"/>
                </a:solidFill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</a:p>
          <a:p>
            <a:pPr lvl="0">
              <a:lnSpc>
                <a:spcPct val="141100"/>
              </a:lnSpc>
            </a:pPr>
            <a:endParaRPr lang="en-US" altLang="ko-KR" sz="2400" spc="-100" dirty="0">
              <a:solidFill>
                <a:srgbClr val="393939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>
              <a:lnSpc>
                <a:spcPct val="141100"/>
              </a:lnSpc>
            </a:pPr>
            <a:r>
              <a:rPr lang="ko-KR" altLang="en-US" sz="2400" spc="-100" dirty="0">
                <a:solidFill>
                  <a:srgbClr val="393939"/>
                </a:solidFill>
                <a:latin typeface="Pretendard Regular" panose="020B0600000101010101" charset="-127"/>
                <a:ea typeface="Pretendard Regular" panose="020B0600000101010101" charset="-127"/>
              </a:rPr>
              <a:t> ② </a:t>
            </a:r>
            <a:r>
              <a:rPr lang="ko-KR" altLang="en-US" sz="2400" spc="-100" dirty="0">
                <a:latin typeface="Pretendard Regular" panose="020B0600000101010101" charset="-127"/>
                <a:ea typeface="Pretendard Regular" panose="020B0600000101010101" charset="-127"/>
              </a:rPr>
              <a:t>아파트 및 오피스텔을 대상으로 분석한 연구가 대부분이며</a:t>
            </a:r>
            <a:r>
              <a:rPr lang="en-US" altLang="ko-KR" sz="2400" spc="-1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400" spc="-100" dirty="0">
                <a:latin typeface="Pretendard Regular" panose="020B0600000101010101" charset="-127"/>
                <a:ea typeface="Pretendard Regular" panose="020B0600000101010101" charset="-127"/>
              </a:rPr>
              <a:t>연립</a:t>
            </a:r>
            <a:r>
              <a:rPr lang="en-US" altLang="ko-KR" sz="2400" spc="-100" dirty="0">
                <a:latin typeface="Pretendard Regular" panose="020B0600000101010101" charset="-127"/>
                <a:ea typeface="Pretendard Regular" panose="020B0600000101010101" charset="-127"/>
              </a:rPr>
              <a:t>/</a:t>
            </a:r>
            <a:r>
              <a:rPr lang="ko-KR" altLang="en-US" sz="2400" spc="-100" dirty="0">
                <a:latin typeface="Pretendard Regular" panose="020B0600000101010101" charset="-127"/>
                <a:ea typeface="Pretendard Regular" panose="020B0600000101010101" charset="-127"/>
              </a:rPr>
              <a:t>다세대주택 연구는 미흡함</a:t>
            </a:r>
            <a:r>
              <a:rPr lang="en-US" altLang="ko-KR" sz="2400" spc="-1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</a:p>
          <a:p>
            <a:pPr>
              <a:lnSpc>
                <a:spcPct val="141100"/>
              </a:lnSpc>
            </a:pPr>
            <a:r>
              <a:rPr lang="ko-KR" altLang="en-US" sz="2400" spc="-100" dirty="0">
                <a:latin typeface="Pretendard Regular" panose="020B0600000101010101" charset="-127"/>
                <a:ea typeface="Pretendard Regular" panose="020B0600000101010101" charset="-127"/>
              </a:rPr>
              <a:t>이 연구는 전용면적 </a:t>
            </a:r>
            <a:r>
              <a:rPr lang="en-US" altLang="ko-KR" sz="2400" spc="-100" dirty="0">
                <a:latin typeface="Pretendard Regular" panose="020B0600000101010101" charset="-127"/>
                <a:ea typeface="Pretendard Regular" panose="020B0600000101010101" charset="-127"/>
              </a:rPr>
              <a:t>60</a:t>
            </a:r>
            <a:r>
              <a:rPr lang="ko-KR" altLang="en-US" sz="2400" spc="-100" dirty="0">
                <a:latin typeface="Pretendard Regular" panose="020B0600000101010101" charset="-127"/>
                <a:ea typeface="Pretendard Regular" panose="020B0600000101010101" charset="-127"/>
              </a:rPr>
              <a:t>㎡ 이하를 기준으로 분석하였음</a:t>
            </a:r>
            <a:r>
              <a:rPr lang="en-US" altLang="ko-KR" sz="2400" spc="-100" dirty="0">
                <a:solidFill>
                  <a:srgbClr val="FF0000"/>
                </a:solidFill>
                <a:latin typeface="Pretendard Regular" panose="020B0600000101010101" charset="-127"/>
                <a:ea typeface="Pretendard Regular" panose="020B0600000101010101" charset="-127"/>
              </a:rPr>
              <a:t>. </a:t>
            </a:r>
          </a:p>
          <a:p>
            <a:pPr>
              <a:lnSpc>
                <a:spcPct val="141100"/>
              </a:lnSpc>
            </a:pPr>
            <a:endParaRPr lang="en-US" altLang="ko-KR" sz="2400" spc="-1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>
              <a:lnSpc>
                <a:spcPct val="141100"/>
              </a:lnSpc>
            </a:pPr>
            <a:r>
              <a:rPr lang="ko-KR" altLang="en-US" sz="2400" spc="-100" dirty="0">
                <a:solidFill>
                  <a:srgbClr val="393939"/>
                </a:solidFill>
                <a:latin typeface="Pretendard Regular" panose="020B0600000101010101" charset="-127"/>
                <a:ea typeface="Pretendard Regular" panose="020B0600000101010101" charset="-127"/>
              </a:rPr>
              <a:t> ③ 지역구분 없이 서울시 전체를 대상으로 함</a:t>
            </a:r>
            <a:r>
              <a:rPr lang="en-US" altLang="ko-KR" sz="2400" spc="-100" dirty="0">
                <a:solidFill>
                  <a:srgbClr val="393939"/>
                </a:solidFill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endParaRPr lang="ko-KR" altLang="ko-KR" sz="2400" spc="-100" dirty="0">
              <a:solidFill>
                <a:srgbClr val="393939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>
              <a:lnSpc>
                <a:spcPct val="141100"/>
              </a:lnSpc>
            </a:pPr>
            <a:endParaRPr lang="ko-KR" sz="2400" b="0" i="0" u="none" strike="noStrike" spc="-100" dirty="0">
              <a:solidFill>
                <a:srgbClr val="393939"/>
              </a:solidFill>
              <a:ea typeface="Pretendard Regular"/>
            </a:endParaRPr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1CF3EDE1-FDE5-4820-9F6F-2514871A106B}"/>
              </a:ext>
            </a:extLst>
          </p:cNvPr>
          <p:cNvSpPr/>
          <p:nvPr/>
        </p:nvSpPr>
        <p:spPr>
          <a:xfrm>
            <a:off x="8001000" y="4533900"/>
            <a:ext cx="1676400" cy="1828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슬라이드 번호 개체 틀 5">
            <a:extLst>
              <a:ext uri="{FF2B5EF4-FFF2-40B4-BE49-F238E27FC236}">
                <a16:creationId xmlns:a16="http://schemas.microsoft.com/office/drawing/2014/main" id="{3CC5FFB9-4313-4A3E-8B6E-9A8C6AC13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180889" y="9659937"/>
            <a:ext cx="586411" cy="365125"/>
          </a:xfrm>
        </p:spPr>
        <p:txBody>
          <a:bodyPr/>
          <a:lstStyle/>
          <a:p>
            <a:r>
              <a:rPr lang="en-US" altLang="ko-KR" sz="2000" dirty="0"/>
              <a:t>13</a:t>
            </a:r>
            <a:endParaRPr lang="ko-KR" alt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39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2700" y="3657600"/>
            <a:ext cx="6019800" cy="61722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-2006600" y="2260600"/>
            <a:ext cx="8280400" cy="4597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5900" b="0" i="0" u="none" strike="noStrike" dirty="0">
                <a:solidFill>
                  <a:srgbClr val="08A5C1"/>
                </a:solidFill>
                <a:latin typeface="Montserrat SemiBold"/>
              </a:rPr>
              <a:t>03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16500" y="4660900"/>
            <a:ext cx="9829800" cy="160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34460"/>
              </a:lnSpc>
              <a:buAutoNum type="arabicPeriod"/>
            </a:pPr>
            <a:r>
              <a:rPr lang="ko-KR" sz="2600" b="0" i="0" u="none" strike="noStrike" dirty="0">
                <a:solidFill>
                  <a:srgbClr val="FFFFFF"/>
                </a:solidFill>
                <a:ea typeface="Pretendard Light"/>
              </a:rPr>
              <a:t>연구의</a:t>
            </a:r>
            <a:r>
              <a:rPr lang="en-US" sz="2600" b="0" i="0" u="none" strike="noStrike" dirty="0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altLang="en-US" sz="2600" b="0" i="0" u="none" strike="noStrike" dirty="0">
                <a:solidFill>
                  <a:srgbClr val="FFFFFF"/>
                </a:solidFill>
                <a:latin typeface="Pretendard Light"/>
              </a:rPr>
              <a:t>흐름</a:t>
            </a:r>
            <a:endParaRPr lang="en-US" altLang="ko-KR" sz="2600" b="0" i="0" u="none" strike="noStrike" dirty="0">
              <a:solidFill>
                <a:srgbClr val="FFFFFF"/>
              </a:solidFill>
              <a:latin typeface="Pretendard Light"/>
            </a:endParaRPr>
          </a:p>
          <a:p>
            <a:pPr marL="342900" lvl="0" indent="-342900" algn="l">
              <a:lnSpc>
                <a:spcPct val="134460"/>
              </a:lnSpc>
              <a:buAutoNum type="arabicPeriod"/>
            </a:pPr>
            <a:r>
              <a:rPr lang="ko-KR" altLang="en-US" sz="2600" b="0" i="0" u="none" strike="noStrike" dirty="0">
                <a:solidFill>
                  <a:srgbClr val="FFFFFF"/>
                </a:solidFill>
                <a:latin typeface="Pretendard Light"/>
                <a:ea typeface="Pretendard Light"/>
              </a:rPr>
              <a:t>연구방법 및 변수설정</a:t>
            </a:r>
            <a:endParaRPr lang="ko-KR" sz="2600" b="0" i="0" u="none" strike="noStrike" dirty="0">
              <a:solidFill>
                <a:srgbClr val="FFFFFF"/>
              </a:solidFill>
              <a:ea typeface="Pretendard Light"/>
            </a:endParaRPr>
          </a:p>
          <a:p>
            <a:pPr marL="342900" lvl="0" indent="-342900" algn="l">
              <a:lnSpc>
                <a:spcPct val="134460"/>
              </a:lnSpc>
              <a:buAutoNum type="arabicPeriod"/>
            </a:pPr>
            <a:r>
              <a:rPr lang="ko-KR" altLang="en-US" sz="2600" b="0" i="0" u="none" strike="noStrike" dirty="0">
                <a:solidFill>
                  <a:srgbClr val="FFFFFF"/>
                </a:solidFill>
                <a:ea typeface="Pretendard Light"/>
              </a:rPr>
              <a:t>분석방법론</a:t>
            </a:r>
            <a:endParaRPr lang="ko-KR" sz="2600" b="0" i="0" u="none" strike="noStrike" dirty="0">
              <a:solidFill>
                <a:srgbClr val="FFFFFF"/>
              </a:solidFill>
              <a:ea typeface="Pretendard Ligh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016500" y="2933700"/>
            <a:ext cx="12433300" cy="154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8800" b="0" i="0" u="none" strike="noStrike">
                <a:solidFill>
                  <a:srgbClr val="FFFFFF"/>
                </a:solidFill>
                <a:ea typeface="Pretendard Bold"/>
              </a:rPr>
              <a:t>분석의</a:t>
            </a:r>
            <a:r>
              <a:rPr lang="en-US" sz="88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8800" b="0" i="0" u="none" strike="noStrike">
                <a:solidFill>
                  <a:srgbClr val="FFFFFF"/>
                </a:solidFill>
                <a:ea typeface="Pretendard Bold"/>
              </a:rPr>
              <a:t>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422400" y="571500"/>
            <a:ext cx="54356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100" dirty="0">
                <a:solidFill>
                  <a:srgbClr val="393939"/>
                </a:solidFill>
                <a:latin typeface="Pretendard Bold"/>
              </a:rPr>
              <a:t>연구의 흐름</a:t>
            </a:r>
            <a:r>
              <a:rPr lang="en-US" sz="3100" b="0" i="0" u="none" strike="noStrike" dirty="0">
                <a:solidFill>
                  <a:srgbClr val="393939"/>
                </a:solidFill>
                <a:latin typeface="Pretendard Bold"/>
              </a:rPr>
              <a:t> 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98500" y="558800"/>
            <a:ext cx="6477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3100" b="0" i="0" u="none" strike="noStrike" dirty="0">
                <a:solidFill>
                  <a:srgbClr val="08A5C1"/>
                </a:solidFill>
                <a:latin typeface="Montserrat Bold"/>
              </a:rPr>
              <a:t>1</a:t>
            </a:r>
            <a:r>
              <a:rPr lang="ko-KR" altLang="en-US" sz="3100" b="0" i="0" u="none" strike="noStrike" dirty="0">
                <a:solidFill>
                  <a:srgbClr val="08A5C1"/>
                </a:solidFill>
                <a:latin typeface="Montserrat Bold"/>
              </a:rPr>
              <a:t>절</a:t>
            </a:r>
            <a:endParaRPr lang="en-US" sz="3100" b="0" i="0" u="none" strike="noStrike" dirty="0">
              <a:solidFill>
                <a:srgbClr val="08A5C1"/>
              </a:solidFill>
              <a:latin typeface="Montserrat Bold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75506F3-76A2-4165-A2B2-A16A614D4B2B}"/>
              </a:ext>
            </a:extLst>
          </p:cNvPr>
          <p:cNvSpPr/>
          <p:nvPr/>
        </p:nvSpPr>
        <p:spPr>
          <a:xfrm>
            <a:off x="292920" y="7434050"/>
            <a:ext cx="17715681" cy="2165312"/>
          </a:xfrm>
          <a:prstGeom prst="rect">
            <a:avLst/>
          </a:prstGeom>
          <a:gradFill>
            <a:gsLst>
              <a:gs pos="10000">
                <a:schemeClr val="tx2">
                  <a:lumMod val="5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1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149F5F2-0DCC-4EDF-8778-A195ECF12B7C}"/>
              </a:ext>
            </a:extLst>
          </p:cNvPr>
          <p:cNvSpPr/>
          <p:nvPr/>
        </p:nvSpPr>
        <p:spPr>
          <a:xfrm>
            <a:off x="292920" y="4910669"/>
            <a:ext cx="17995080" cy="2165312"/>
          </a:xfrm>
          <a:prstGeom prst="rect">
            <a:avLst/>
          </a:pr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1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BD66950-3363-4F51-9524-0D7963CFB4B0}"/>
              </a:ext>
            </a:extLst>
          </p:cNvPr>
          <p:cNvSpPr/>
          <p:nvPr/>
        </p:nvSpPr>
        <p:spPr>
          <a:xfrm>
            <a:off x="292920" y="2392540"/>
            <a:ext cx="17715681" cy="2165312"/>
          </a:xfrm>
          <a:prstGeom prst="rect">
            <a:avLst/>
          </a:pr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100" dirty="0">
              <a:solidFill>
                <a:schemeClr val="tx1"/>
              </a:solidFill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1CDB186-D65E-48E9-8A66-AD6D584356F8}"/>
              </a:ext>
            </a:extLst>
          </p:cNvPr>
          <p:cNvGrpSpPr/>
          <p:nvPr/>
        </p:nvGrpSpPr>
        <p:grpSpPr>
          <a:xfrm>
            <a:off x="3676653" y="2518219"/>
            <a:ext cx="3780000" cy="1829523"/>
            <a:chOff x="2451102" y="1678812"/>
            <a:chExt cx="2520000" cy="1219682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FAF4E472-E4D6-4498-9A72-FB5B4B2DFE95}"/>
                </a:ext>
              </a:extLst>
            </p:cNvPr>
            <p:cNvSpPr/>
            <p:nvPr/>
          </p:nvSpPr>
          <p:spPr>
            <a:xfrm>
              <a:off x="2451102" y="1818494"/>
              <a:ext cx="2520000" cy="1080000"/>
            </a:xfrm>
            <a:prstGeom prst="roundRect">
              <a:avLst>
                <a:gd name="adj" fmla="val 8200"/>
              </a:avLst>
            </a:prstGeom>
            <a:solidFill>
              <a:srgbClr val="F2F2F2"/>
            </a:solidFill>
            <a:ln w="9525">
              <a:solidFill>
                <a:schemeClr val="accent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00" dirty="0">
                <a:solidFill>
                  <a:schemeClr val="tx1"/>
                </a:solidFill>
              </a:endParaRPr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B704A329-4A6A-4B49-BCD7-6C11D146F5DA}"/>
                </a:ext>
              </a:extLst>
            </p:cNvPr>
            <p:cNvSpPr/>
            <p:nvPr/>
          </p:nvSpPr>
          <p:spPr>
            <a:xfrm>
              <a:off x="3005703" y="1678812"/>
              <a:ext cx="1440000" cy="282674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75000"/>
              </a:schemeClr>
            </a:solidFill>
            <a:ln w="6350">
              <a:solidFill>
                <a:srgbClr val="F2F2F2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rgbClr val="F2F2F2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대상지선정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FA504B5-0B85-4A7D-B492-A864F9FAD829}"/>
                </a:ext>
              </a:extLst>
            </p:cNvPr>
            <p:cNvSpPr txBox="1"/>
            <p:nvPr/>
          </p:nvSpPr>
          <p:spPr>
            <a:xfrm>
              <a:off x="2560320" y="1958837"/>
              <a:ext cx="2272937" cy="8602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57175" indent="-257175">
                <a:lnSpc>
                  <a:spcPct val="150000"/>
                </a:lnSpc>
                <a:buFont typeface="Wingdings" panose="05000000000000000000" pitchFamily="2" charset="2"/>
                <a:buChar char="v"/>
              </a:pPr>
              <a:r>
                <a:rPr lang="ko-KR" altLang="en-US" dirty="0">
                  <a:solidFill>
                    <a:srgbClr val="0B172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연구대상지 선정</a:t>
              </a:r>
              <a:endParaRPr lang="en-US" altLang="ko-KR" dirty="0">
                <a:solidFill>
                  <a:srgbClr val="0B1726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257175" indent="-257175">
                <a:lnSpc>
                  <a:spcPct val="150000"/>
                </a:lnSpc>
                <a:buFont typeface="Wingdings" panose="05000000000000000000" pitchFamily="2" charset="2"/>
                <a:buChar char="v"/>
              </a:pPr>
              <a:r>
                <a:rPr lang="ko-KR" altLang="en-US" dirty="0">
                  <a:solidFill>
                    <a:srgbClr val="0B172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청년안심주택 내용적</a:t>
              </a:r>
              <a:r>
                <a:rPr lang="en-US" altLang="ko-KR" dirty="0">
                  <a:solidFill>
                    <a:srgbClr val="0B172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dirty="0">
                  <a:solidFill>
                    <a:srgbClr val="0B172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시간적</a:t>
              </a:r>
              <a:r>
                <a:rPr lang="en-US" altLang="ko-KR" dirty="0">
                  <a:solidFill>
                    <a:srgbClr val="0B172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dirty="0">
                  <a:solidFill>
                    <a:srgbClr val="0B172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공간적 범위 설정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70B9558-DD6F-488F-8F01-8B48EE8CBA2D}"/>
              </a:ext>
            </a:extLst>
          </p:cNvPr>
          <p:cNvGrpSpPr/>
          <p:nvPr/>
        </p:nvGrpSpPr>
        <p:grpSpPr>
          <a:xfrm>
            <a:off x="8393064" y="2518219"/>
            <a:ext cx="3780000" cy="1829523"/>
            <a:chOff x="5595376" y="1678812"/>
            <a:chExt cx="2520000" cy="1219682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7D83B035-ED53-4AD7-A590-C453AD2365AE}"/>
                </a:ext>
              </a:extLst>
            </p:cNvPr>
            <p:cNvSpPr/>
            <p:nvPr/>
          </p:nvSpPr>
          <p:spPr>
            <a:xfrm>
              <a:off x="5595376" y="1818494"/>
              <a:ext cx="2520000" cy="1080000"/>
            </a:xfrm>
            <a:prstGeom prst="roundRect">
              <a:avLst>
                <a:gd name="adj" fmla="val 8200"/>
              </a:avLst>
            </a:prstGeom>
            <a:solidFill>
              <a:srgbClr val="F2F2F2"/>
            </a:solidFill>
            <a:ln w="9525">
              <a:solidFill>
                <a:schemeClr val="accent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00" dirty="0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5FDD7767-1C82-4EA6-B2D1-AD578A453EC4}"/>
                </a:ext>
              </a:extLst>
            </p:cNvPr>
            <p:cNvSpPr/>
            <p:nvPr/>
          </p:nvSpPr>
          <p:spPr>
            <a:xfrm>
              <a:off x="6149977" y="1678812"/>
              <a:ext cx="1440000" cy="282674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75000"/>
              </a:schemeClr>
            </a:solidFill>
            <a:ln w="6350">
              <a:solidFill>
                <a:srgbClr val="F2F2F2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2F2F2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DATA</a:t>
              </a:r>
              <a:r>
                <a:rPr lang="ko-KR" altLang="en-US" b="1" dirty="0">
                  <a:solidFill>
                    <a:srgbClr val="F2F2F2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구축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C187AFC-D0B3-4D45-9A39-0266149F51D4}"/>
                </a:ext>
              </a:extLst>
            </p:cNvPr>
            <p:cNvSpPr txBox="1"/>
            <p:nvPr/>
          </p:nvSpPr>
          <p:spPr>
            <a:xfrm>
              <a:off x="5704594" y="1958837"/>
              <a:ext cx="2272937" cy="5832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57175" indent="-257175">
                <a:lnSpc>
                  <a:spcPct val="150000"/>
                </a:lnSpc>
                <a:buFont typeface="Wingdings" panose="05000000000000000000" pitchFamily="2" charset="2"/>
                <a:buChar char="v"/>
              </a:pPr>
              <a:r>
                <a:rPr lang="ko-KR" altLang="en-US" dirty="0">
                  <a:solidFill>
                    <a:srgbClr val="0B172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임대료 </a:t>
              </a:r>
              <a:r>
                <a:rPr lang="en-US" altLang="ko-KR" dirty="0">
                  <a:solidFill>
                    <a:srgbClr val="0B172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DATA </a:t>
              </a:r>
              <a:r>
                <a:rPr lang="ko-KR" altLang="en-US" dirty="0">
                  <a:solidFill>
                    <a:srgbClr val="0B172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구축</a:t>
              </a:r>
              <a:endParaRPr lang="en-US" altLang="ko-KR" dirty="0">
                <a:solidFill>
                  <a:srgbClr val="0B1726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257175" indent="-257175">
                <a:lnSpc>
                  <a:spcPct val="150000"/>
                </a:lnSpc>
                <a:buFont typeface="Wingdings" panose="05000000000000000000" pitchFamily="2" charset="2"/>
                <a:buChar char="v"/>
              </a:pPr>
              <a:r>
                <a:rPr lang="ko-KR" altLang="en-US" dirty="0">
                  <a:solidFill>
                    <a:srgbClr val="0B172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건물특성</a:t>
              </a:r>
              <a:r>
                <a:rPr lang="en-US" altLang="ko-KR" dirty="0">
                  <a:solidFill>
                    <a:srgbClr val="0B172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ko-KR" altLang="en-US" dirty="0">
                  <a:solidFill>
                    <a:srgbClr val="0B172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등 </a:t>
              </a:r>
              <a:r>
                <a:rPr lang="en-US" altLang="ko-KR" dirty="0">
                  <a:solidFill>
                    <a:srgbClr val="0B172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DATA </a:t>
              </a:r>
              <a:r>
                <a:rPr lang="ko-KR" altLang="en-US" dirty="0">
                  <a:solidFill>
                    <a:srgbClr val="0B172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구축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570E286-A175-41FB-B7DA-3C9E54CCC660}"/>
              </a:ext>
            </a:extLst>
          </p:cNvPr>
          <p:cNvGrpSpPr/>
          <p:nvPr/>
        </p:nvGrpSpPr>
        <p:grpSpPr>
          <a:xfrm>
            <a:off x="13109475" y="2518219"/>
            <a:ext cx="3780000" cy="1829523"/>
            <a:chOff x="8739650" y="1678812"/>
            <a:chExt cx="2520000" cy="1219682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A612BE90-47AC-43D2-889B-EE62631E193A}"/>
                </a:ext>
              </a:extLst>
            </p:cNvPr>
            <p:cNvSpPr/>
            <p:nvPr/>
          </p:nvSpPr>
          <p:spPr>
            <a:xfrm>
              <a:off x="8739650" y="1818494"/>
              <a:ext cx="2520000" cy="1080000"/>
            </a:xfrm>
            <a:prstGeom prst="roundRect">
              <a:avLst>
                <a:gd name="adj" fmla="val 8200"/>
              </a:avLst>
            </a:prstGeom>
            <a:solidFill>
              <a:srgbClr val="F2F2F2"/>
            </a:solidFill>
            <a:ln w="9525">
              <a:solidFill>
                <a:schemeClr val="accent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00" dirty="0">
                <a:solidFill>
                  <a:schemeClr val="tx1"/>
                </a:solidFill>
              </a:endParaRPr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A37192E4-05AC-42B1-9C6A-6F5795C15FA5}"/>
                </a:ext>
              </a:extLst>
            </p:cNvPr>
            <p:cNvSpPr/>
            <p:nvPr/>
          </p:nvSpPr>
          <p:spPr>
            <a:xfrm>
              <a:off x="9294251" y="1678812"/>
              <a:ext cx="1440000" cy="282674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75000"/>
              </a:schemeClr>
            </a:solidFill>
            <a:ln w="6350">
              <a:solidFill>
                <a:srgbClr val="F2F2F2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rgbClr val="F2F2F2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변수선정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9EACAE3-6AAB-4BD1-87A1-82DAFA22D9A8}"/>
                </a:ext>
              </a:extLst>
            </p:cNvPr>
            <p:cNvSpPr txBox="1"/>
            <p:nvPr/>
          </p:nvSpPr>
          <p:spPr>
            <a:xfrm>
              <a:off x="8848868" y="1958837"/>
              <a:ext cx="2272937" cy="8602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57175" indent="-257175">
                <a:lnSpc>
                  <a:spcPct val="150000"/>
                </a:lnSpc>
                <a:buFont typeface="Wingdings" panose="05000000000000000000" pitchFamily="2" charset="2"/>
                <a:buChar char="v"/>
              </a:pPr>
              <a:r>
                <a:rPr lang="ko-KR" altLang="en-US" dirty="0">
                  <a:solidFill>
                    <a:srgbClr val="0B172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선행연구를 통한 변수 선정</a:t>
              </a:r>
              <a:endParaRPr lang="en-US" altLang="ko-KR" dirty="0">
                <a:solidFill>
                  <a:srgbClr val="0B1726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257175" indent="-257175">
                <a:lnSpc>
                  <a:spcPct val="150000"/>
                </a:lnSpc>
                <a:buFont typeface="Wingdings" panose="05000000000000000000" pitchFamily="2" charset="2"/>
                <a:buChar char="v"/>
              </a:pPr>
              <a:r>
                <a:rPr lang="ko-KR" altLang="en-US" dirty="0">
                  <a:solidFill>
                    <a:srgbClr val="0B172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선행연구와의 차별성을 고려한 추가 변수 선정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F623BA4E-960A-42DE-83CA-06807AFAD9A7}"/>
              </a:ext>
            </a:extLst>
          </p:cNvPr>
          <p:cNvGrpSpPr/>
          <p:nvPr/>
        </p:nvGrpSpPr>
        <p:grpSpPr>
          <a:xfrm>
            <a:off x="3676653" y="5044518"/>
            <a:ext cx="3780000" cy="1829523"/>
            <a:chOff x="2451102" y="3363012"/>
            <a:chExt cx="2520000" cy="1219682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5A85F9C6-835F-4219-BC30-AAF70CE64A81}"/>
                </a:ext>
              </a:extLst>
            </p:cNvPr>
            <p:cNvSpPr/>
            <p:nvPr/>
          </p:nvSpPr>
          <p:spPr>
            <a:xfrm>
              <a:off x="2451102" y="3502694"/>
              <a:ext cx="2520000" cy="1080000"/>
            </a:xfrm>
            <a:prstGeom prst="roundRect">
              <a:avLst>
                <a:gd name="adj" fmla="val 8200"/>
              </a:avLst>
            </a:prstGeom>
            <a:solidFill>
              <a:srgbClr val="F2F2F2"/>
            </a:solidFill>
            <a:ln w="9525">
              <a:solidFill>
                <a:schemeClr val="accent3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00" dirty="0">
                <a:solidFill>
                  <a:schemeClr val="tx1"/>
                </a:solidFill>
              </a:endParaRPr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242FB571-F724-434D-9627-823B6CC5F3EC}"/>
                </a:ext>
              </a:extLst>
            </p:cNvPr>
            <p:cNvSpPr/>
            <p:nvPr/>
          </p:nvSpPr>
          <p:spPr>
            <a:xfrm>
              <a:off x="3005703" y="3363012"/>
              <a:ext cx="1440000" cy="282674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50000"/>
              </a:schemeClr>
            </a:solidFill>
            <a:ln w="6350">
              <a:solidFill>
                <a:srgbClr val="F2F2F2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 err="1">
                  <a:solidFill>
                    <a:srgbClr val="F2F2F2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기술통계량</a:t>
              </a:r>
              <a:r>
                <a:rPr lang="ko-KR" altLang="en-US" b="1" dirty="0">
                  <a:solidFill>
                    <a:srgbClr val="F2F2F2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분석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C6ECE5E-30E3-4932-B6F3-06AB42389841}"/>
                </a:ext>
              </a:extLst>
            </p:cNvPr>
            <p:cNvSpPr txBox="1"/>
            <p:nvPr/>
          </p:nvSpPr>
          <p:spPr>
            <a:xfrm>
              <a:off x="2560320" y="3643037"/>
              <a:ext cx="2272937" cy="5832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57175" indent="-257175">
                <a:lnSpc>
                  <a:spcPct val="150000"/>
                </a:lnSpc>
                <a:buFont typeface="Wingdings" panose="05000000000000000000" pitchFamily="2" charset="2"/>
                <a:buChar char="v"/>
              </a:pPr>
              <a:r>
                <a:rPr lang="ko-KR" altLang="en-US" dirty="0">
                  <a:solidFill>
                    <a:srgbClr val="0B172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각 </a:t>
              </a:r>
              <a:r>
                <a:rPr lang="ko-KR" altLang="en-US" dirty="0" err="1">
                  <a:solidFill>
                    <a:srgbClr val="0B172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변수별</a:t>
              </a:r>
              <a:r>
                <a:rPr lang="ko-KR" altLang="en-US" dirty="0">
                  <a:solidFill>
                    <a:srgbClr val="0B172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기초통계 분석</a:t>
              </a:r>
              <a:endParaRPr lang="en-US" altLang="ko-KR" dirty="0">
                <a:solidFill>
                  <a:srgbClr val="0B1726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257175" indent="-257175">
                <a:lnSpc>
                  <a:spcPct val="150000"/>
                </a:lnSpc>
                <a:buFont typeface="Wingdings" panose="05000000000000000000" pitchFamily="2" charset="2"/>
                <a:buChar char="v"/>
              </a:pPr>
              <a:r>
                <a:rPr lang="ko-KR" altLang="en-US" dirty="0">
                  <a:solidFill>
                    <a:srgbClr val="0B172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평균</a:t>
              </a:r>
              <a:r>
                <a:rPr lang="en-US" altLang="ko-KR" dirty="0">
                  <a:solidFill>
                    <a:srgbClr val="0B172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dirty="0">
                  <a:solidFill>
                    <a:srgbClr val="0B172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표준편차 등 분석</a:t>
              </a:r>
              <a:endParaRPr lang="en-US" altLang="ko-KR" dirty="0">
                <a:solidFill>
                  <a:srgbClr val="0B1726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D09F369F-9B60-4288-9A62-85A84758B789}"/>
              </a:ext>
            </a:extLst>
          </p:cNvPr>
          <p:cNvGrpSpPr/>
          <p:nvPr/>
        </p:nvGrpSpPr>
        <p:grpSpPr>
          <a:xfrm>
            <a:off x="8393064" y="5044518"/>
            <a:ext cx="3780000" cy="1829523"/>
            <a:chOff x="5595376" y="3363012"/>
            <a:chExt cx="2520000" cy="1219682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A0BA5195-82D0-4D06-A870-4DA398EAAFC7}"/>
                </a:ext>
              </a:extLst>
            </p:cNvPr>
            <p:cNvSpPr/>
            <p:nvPr/>
          </p:nvSpPr>
          <p:spPr>
            <a:xfrm>
              <a:off x="5595376" y="3502694"/>
              <a:ext cx="2520000" cy="1080000"/>
            </a:xfrm>
            <a:prstGeom prst="roundRect">
              <a:avLst>
                <a:gd name="adj" fmla="val 8200"/>
              </a:avLst>
            </a:prstGeom>
            <a:solidFill>
              <a:srgbClr val="F2F2F2"/>
            </a:solidFill>
            <a:ln w="9525">
              <a:solidFill>
                <a:schemeClr val="accent3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00" dirty="0">
                <a:solidFill>
                  <a:schemeClr val="tx1"/>
                </a:solidFill>
              </a:endParaRPr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8CA24BFA-C7C0-4904-A9FC-11E4247E40A1}"/>
                </a:ext>
              </a:extLst>
            </p:cNvPr>
            <p:cNvSpPr/>
            <p:nvPr/>
          </p:nvSpPr>
          <p:spPr>
            <a:xfrm>
              <a:off x="6149977" y="3363012"/>
              <a:ext cx="1440000" cy="282674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50000"/>
              </a:schemeClr>
            </a:solidFill>
            <a:ln w="6350">
              <a:solidFill>
                <a:srgbClr val="F2F2F2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rgbClr val="F2F2F2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상관관계 분석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8BB942F-D30C-45A2-B315-FAE140455F7F}"/>
                </a:ext>
              </a:extLst>
            </p:cNvPr>
            <p:cNvSpPr txBox="1"/>
            <p:nvPr/>
          </p:nvSpPr>
          <p:spPr>
            <a:xfrm>
              <a:off x="5704594" y="3643037"/>
              <a:ext cx="2272937" cy="5832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57175" indent="-257175">
                <a:lnSpc>
                  <a:spcPct val="150000"/>
                </a:lnSpc>
                <a:buFont typeface="Wingdings" panose="05000000000000000000" pitchFamily="2" charset="2"/>
                <a:buChar char="v"/>
              </a:pPr>
              <a:r>
                <a:rPr lang="ko-KR" altLang="en-US" dirty="0">
                  <a:solidFill>
                    <a:srgbClr val="0B172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종속변수와 독립변수의 관계의 정도</a:t>
              </a:r>
              <a:r>
                <a:rPr lang="en-US" altLang="ko-KR" dirty="0">
                  <a:solidFill>
                    <a:srgbClr val="0B172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(magnitude)</a:t>
              </a:r>
              <a:r>
                <a:rPr lang="ko-KR" altLang="en-US" dirty="0">
                  <a:solidFill>
                    <a:srgbClr val="0B172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측정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C41C40A9-87AB-47D7-A961-5E80A1763F1F}"/>
              </a:ext>
            </a:extLst>
          </p:cNvPr>
          <p:cNvGrpSpPr/>
          <p:nvPr/>
        </p:nvGrpSpPr>
        <p:grpSpPr>
          <a:xfrm>
            <a:off x="13109475" y="5044518"/>
            <a:ext cx="3780000" cy="1829523"/>
            <a:chOff x="8739650" y="3363012"/>
            <a:chExt cx="2520000" cy="1219682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CC6CF434-53FF-43AF-9335-409077DE1468}"/>
                </a:ext>
              </a:extLst>
            </p:cNvPr>
            <p:cNvSpPr/>
            <p:nvPr/>
          </p:nvSpPr>
          <p:spPr>
            <a:xfrm>
              <a:off x="8739650" y="3502694"/>
              <a:ext cx="2520000" cy="1080000"/>
            </a:xfrm>
            <a:prstGeom prst="roundRect">
              <a:avLst>
                <a:gd name="adj" fmla="val 8200"/>
              </a:avLst>
            </a:prstGeom>
            <a:solidFill>
              <a:srgbClr val="F2F2F2"/>
            </a:solidFill>
            <a:ln w="9525">
              <a:solidFill>
                <a:schemeClr val="accent3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00" dirty="0">
                <a:solidFill>
                  <a:schemeClr val="tx1"/>
                </a:solidFill>
              </a:endParaRPr>
            </a:p>
          </p:txBody>
        </p:sp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4F6033DD-64B5-4704-AC22-FC988215E605}"/>
                </a:ext>
              </a:extLst>
            </p:cNvPr>
            <p:cNvSpPr/>
            <p:nvPr/>
          </p:nvSpPr>
          <p:spPr>
            <a:xfrm>
              <a:off x="9294251" y="3363012"/>
              <a:ext cx="1440000" cy="282674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50000"/>
              </a:schemeClr>
            </a:solidFill>
            <a:ln w="6350">
              <a:solidFill>
                <a:srgbClr val="F2F2F2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2F2F2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ANOVA</a:t>
              </a:r>
              <a:r>
                <a:rPr lang="ko-KR" altLang="en-US" b="1" dirty="0">
                  <a:solidFill>
                    <a:srgbClr val="F2F2F2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분석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34BE59F-D959-47F8-9CD7-381C83855810}"/>
                </a:ext>
              </a:extLst>
            </p:cNvPr>
            <p:cNvSpPr txBox="1"/>
            <p:nvPr/>
          </p:nvSpPr>
          <p:spPr>
            <a:xfrm>
              <a:off x="8848868" y="3643037"/>
              <a:ext cx="2272937" cy="8602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57175" indent="-257175">
                <a:lnSpc>
                  <a:spcPct val="150000"/>
                </a:lnSpc>
                <a:buFont typeface="Wingdings" panose="05000000000000000000" pitchFamily="2" charset="2"/>
                <a:buChar char="v"/>
              </a:pPr>
              <a:r>
                <a:rPr lang="ko-KR" altLang="en-US" dirty="0">
                  <a:solidFill>
                    <a:srgbClr val="0B172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집단간에서 나타나는 평균의 차이가 통계적으로 유의한지 검정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97939B85-D15C-4540-B6D3-2D02DA5CAD0A}"/>
              </a:ext>
            </a:extLst>
          </p:cNvPr>
          <p:cNvGrpSpPr/>
          <p:nvPr/>
        </p:nvGrpSpPr>
        <p:grpSpPr>
          <a:xfrm>
            <a:off x="3676653" y="7575456"/>
            <a:ext cx="3780000" cy="1829523"/>
            <a:chOff x="2451102" y="5050304"/>
            <a:chExt cx="2520000" cy="1219682"/>
          </a:xfrm>
        </p:grpSpPr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4426F801-F892-46EA-B594-5F1ABD2103F8}"/>
                </a:ext>
              </a:extLst>
            </p:cNvPr>
            <p:cNvSpPr/>
            <p:nvPr/>
          </p:nvSpPr>
          <p:spPr>
            <a:xfrm>
              <a:off x="2451102" y="5189986"/>
              <a:ext cx="2520000" cy="1080000"/>
            </a:xfrm>
            <a:prstGeom prst="roundRect">
              <a:avLst>
                <a:gd name="adj" fmla="val 8200"/>
              </a:avLst>
            </a:prstGeom>
            <a:solidFill>
              <a:srgbClr val="F2F2F2"/>
            </a:solidFill>
            <a:ln w="9525">
              <a:solidFill>
                <a:schemeClr val="tx2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00" dirty="0">
                <a:solidFill>
                  <a:schemeClr val="tx1"/>
                </a:solidFill>
              </a:endParaRPr>
            </a:p>
          </p:txBody>
        </p:sp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9A115999-A1E0-47D4-8011-ABC8521372B1}"/>
                </a:ext>
              </a:extLst>
            </p:cNvPr>
            <p:cNvSpPr/>
            <p:nvPr/>
          </p:nvSpPr>
          <p:spPr>
            <a:xfrm>
              <a:off x="3005703" y="5050304"/>
              <a:ext cx="1440000" cy="282674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50000"/>
              </a:schemeClr>
            </a:solidFill>
            <a:ln w="6350">
              <a:solidFill>
                <a:srgbClr val="F2F2F2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rgbClr val="F2F2F2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다중회귀분석 검토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1B1CCBA-25B0-46D2-9852-8E3ADF10C261}"/>
                </a:ext>
              </a:extLst>
            </p:cNvPr>
            <p:cNvSpPr txBox="1"/>
            <p:nvPr/>
          </p:nvSpPr>
          <p:spPr>
            <a:xfrm>
              <a:off x="2560320" y="5330329"/>
              <a:ext cx="2272937" cy="5832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57175" indent="-257175">
                <a:lnSpc>
                  <a:spcPct val="150000"/>
                </a:lnSpc>
                <a:buFont typeface="Wingdings" panose="05000000000000000000" pitchFamily="2" charset="2"/>
                <a:buChar char="v"/>
              </a:pPr>
              <a:r>
                <a:rPr lang="ko-KR" altLang="en-US" dirty="0">
                  <a:solidFill>
                    <a:srgbClr val="0B172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독립변수의 </a:t>
              </a:r>
              <a:r>
                <a:rPr lang="ko-KR" altLang="en-US" dirty="0" err="1">
                  <a:solidFill>
                    <a:srgbClr val="0B172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다중공선성</a:t>
              </a:r>
              <a:r>
                <a:rPr lang="ko-KR" altLang="en-US" dirty="0">
                  <a:solidFill>
                    <a:srgbClr val="0B172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검토 후 공선성 높은 변수 제거</a:t>
              </a:r>
              <a:endParaRPr lang="en-US" altLang="ko-KR" dirty="0">
                <a:solidFill>
                  <a:srgbClr val="0B1726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794B98C1-B6AC-4052-906A-6BD54FD3BC5B}"/>
              </a:ext>
            </a:extLst>
          </p:cNvPr>
          <p:cNvGrpSpPr/>
          <p:nvPr/>
        </p:nvGrpSpPr>
        <p:grpSpPr>
          <a:xfrm>
            <a:off x="8393064" y="7575456"/>
            <a:ext cx="3780000" cy="1829523"/>
            <a:chOff x="5595376" y="5050304"/>
            <a:chExt cx="2520000" cy="1219682"/>
          </a:xfrm>
        </p:grpSpPr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7B7B96A6-9108-4287-92C4-902F7AD4F732}"/>
                </a:ext>
              </a:extLst>
            </p:cNvPr>
            <p:cNvSpPr/>
            <p:nvPr/>
          </p:nvSpPr>
          <p:spPr>
            <a:xfrm>
              <a:off x="5595376" y="5189986"/>
              <a:ext cx="2520000" cy="1080000"/>
            </a:xfrm>
            <a:prstGeom prst="roundRect">
              <a:avLst>
                <a:gd name="adj" fmla="val 8200"/>
              </a:avLst>
            </a:prstGeom>
            <a:solidFill>
              <a:srgbClr val="F2F2F2"/>
            </a:solidFill>
            <a:ln w="9525">
              <a:solidFill>
                <a:schemeClr val="tx2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00" dirty="0">
                <a:solidFill>
                  <a:schemeClr val="tx1"/>
                </a:solidFill>
              </a:endParaRPr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FB6A1E53-006E-4508-88B1-4D6DA1FA4BCE}"/>
                </a:ext>
              </a:extLst>
            </p:cNvPr>
            <p:cNvSpPr/>
            <p:nvPr/>
          </p:nvSpPr>
          <p:spPr>
            <a:xfrm>
              <a:off x="6149977" y="5050304"/>
              <a:ext cx="1440000" cy="282674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50000"/>
              </a:schemeClr>
            </a:solidFill>
            <a:ln w="6350">
              <a:solidFill>
                <a:srgbClr val="F2F2F2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rgbClr val="F2F2F2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회귀분석 검정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765DA58-0C9B-4EA8-89EA-6A62458B650A}"/>
                </a:ext>
              </a:extLst>
            </p:cNvPr>
            <p:cNvSpPr txBox="1"/>
            <p:nvPr/>
          </p:nvSpPr>
          <p:spPr>
            <a:xfrm>
              <a:off x="5704594" y="5330329"/>
              <a:ext cx="2272937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57175" indent="-257175">
                <a:lnSpc>
                  <a:spcPct val="150000"/>
                </a:lnSpc>
                <a:buFont typeface="Wingdings" panose="05000000000000000000" pitchFamily="2" charset="2"/>
                <a:buChar char="v"/>
              </a:pPr>
              <a:r>
                <a:rPr lang="ko-KR" altLang="en-US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청년안심주택 공급이 주변 전월세 가격에 미치는 영향 분석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2C941EA3-6C87-42BE-AA3E-41E35B0BF950}"/>
              </a:ext>
            </a:extLst>
          </p:cNvPr>
          <p:cNvGrpSpPr/>
          <p:nvPr/>
        </p:nvGrpSpPr>
        <p:grpSpPr>
          <a:xfrm>
            <a:off x="13109475" y="7575456"/>
            <a:ext cx="3780000" cy="1829523"/>
            <a:chOff x="8739650" y="5050304"/>
            <a:chExt cx="2520000" cy="1219682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BB5D21B2-504C-458D-B06F-31FA60513C76}"/>
                </a:ext>
              </a:extLst>
            </p:cNvPr>
            <p:cNvSpPr/>
            <p:nvPr/>
          </p:nvSpPr>
          <p:spPr>
            <a:xfrm>
              <a:off x="8739650" y="5189986"/>
              <a:ext cx="2520000" cy="1080000"/>
            </a:xfrm>
            <a:prstGeom prst="roundRect">
              <a:avLst>
                <a:gd name="adj" fmla="val 8200"/>
              </a:avLst>
            </a:prstGeom>
            <a:solidFill>
              <a:srgbClr val="F2F2F2"/>
            </a:solidFill>
            <a:ln w="9525">
              <a:solidFill>
                <a:schemeClr val="tx2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00" dirty="0">
                <a:solidFill>
                  <a:schemeClr val="tx1"/>
                </a:solidFill>
              </a:endParaRPr>
            </a:p>
          </p:txBody>
        </p:sp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CFA0E2B3-4AA5-4B99-87A8-B0974D3D04D8}"/>
                </a:ext>
              </a:extLst>
            </p:cNvPr>
            <p:cNvSpPr/>
            <p:nvPr/>
          </p:nvSpPr>
          <p:spPr>
            <a:xfrm>
              <a:off x="9294251" y="5050304"/>
              <a:ext cx="1440000" cy="282674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50000"/>
              </a:schemeClr>
            </a:solidFill>
            <a:ln w="6350">
              <a:solidFill>
                <a:srgbClr val="F2F2F2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rgbClr val="F2F2F2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분석 결과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C7DE610-BD2C-48C2-B86C-8823B34F0E8F}"/>
                </a:ext>
              </a:extLst>
            </p:cNvPr>
            <p:cNvSpPr txBox="1"/>
            <p:nvPr/>
          </p:nvSpPr>
          <p:spPr>
            <a:xfrm>
              <a:off x="8848868" y="5330329"/>
              <a:ext cx="2272937" cy="5832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57175" indent="-257175">
                <a:lnSpc>
                  <a:spcPct val="150000"/>
                </a:lnSpc>
                <a:buFont typeface="Wingdings" panose="05000000000000000000" pitchFamily="2" charset="2"/>
                <a:buChar char="v"/>
              </a:pPr>
              <a:r>
                <a:rPr lang="ko-KR" altLang="en-US" dirty="0">
                  <a:solidFill>
                    <a:srgbClr val="0B172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종합결과 및 시사점 제시</a:t>
              </a:r>
              <a:endParaRPr lang="en-US" altLang="ko-KR" dirty="0">
                <a:solidFill>
                  <a:srgbClr val="0B1726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257175" indent="-257175">
                <a:lnSpc>
                  <a:spcPct val="150000"/>
                </a:lnSpc>
                <a:buFont typeface="Wingdings" panose="05000000000000000000" pitchFamily="2" charset="2"/>
                <a:buChar char="v"/>
              </a:pPr>
              <a:r>
                <a:rPr lang="ko-KR" altLang="en-US" dirty="0">
                  <a:solidFill>
                    <a:srgbClr val="0B172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연구 기대효과 및 한계점 도출</a:t>
              </a:r>
            </a:p>
          </p:txBody>
        </p:sp>
      </p:grpSp>
      <p:sp>
        <p:nvSpPr>
          <p:cNvPr id="46" name="화살표: 갈매기형 수장 45">
            <a:extLst>
              <a:ext uri="{FF2B5EF4-FFF2-40B4-BE49-F238E27FC236}">
                <a16:creationId xmlns:a16="http://schemas.microsoft.com/office/drawing/2014/main" id="{D33A4A1B-288D-40DB-8731-752F82A79C85}"/>
              </a:ext>
            </a:extLst>
          </p:cNvPr>
          <p:cNvSpPr/>
          <p:nvPr/>
        </p:nvSpPr>
        <p:spPr>
          <a:xfrm>
            <a:off x="7800931" y="3151753"/>
            <a:ext cx="287756" cy="720842"/>
          </a:xfrm>
          <a:prstGeom prst="chevron">
            <a:avLst/>
          </a:prstGeom>
          <a:solidFill>
            <a:schemeClr val="accent2">
              <a:lumMod val="50000"/>
            </a:schemeClr>
          </a:solidFill>
          <a:ln w="9525">
            <a:solidFill>
              <a:srgbClr val="F2F2F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100" dirty="0">
              <a:solidFill>
                <a:schemeClr val="tx1"/>
              </a:solidFill>
            </a:endParaRPr>
          </a:p>
        </p:txBody>
      </p:sp>
      <p:sp>
        <p:nvSpPr>
          <p:cNvPr id="47" name="화살표: 갈매기형 수장 46">
            <a:extLst>
              <a:ext uri="{FF2B5EF4-FFF2-40B4-BE49-F238E27FC236}">
                <a16:creationId xmlns:a16="http://schemas.microsoft.com/office/drawing/2014/main" id="{4DE0B698-7EEC-4FAA-B23B-9949C9E24ED7}"/>
              </a:ext>
            </a:extLst>
          </p:cNvPr>
          <p:cNvSpPr/>
          <p:nvPr/>
        </p:nvSpPr>
        <p:spPr>
          <a:xfrm>
            <a:off x="12498350" y="3151753"/>
            <a:ext cx="287756" cy="720842"/>
          </a:xfrm>
          <a:prstGeom prst="chevron">
            <a:avLst/>
          </a:prstGeom>
          <a:solidFill>
            <a:schemeClr val="accent2">
              <a:lumMod val="50000"/>
            </a:schemeClr>
          </a:solidFill>
          <a:ln w="9525">
            <a:solidFill>
              <a:srgbClr val="F2F2F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100" dirty="0">
              <a:solidFill>
                <a:schemeClr val="tx1"/>
              </a:solidFill>
            </a:endParaRPr>
          </a:p>
        </p:txBody>
      </p:sp>
      <p:sp>
        <p:nvSpPr>
          <p:cNvPr id="48" name="화살표: 갈매기형 수장 47">
            <a:extLst>
              <a:ext uri="{FF2B5EF4-FFF2-40B4-BE49-F238E27FC236}">
                <a16:creationId xmlns:a16="http://schemas.microsoft.com/office/drawing/2014/main" id="{220B7A50-ACDC-4273-A129-F43DD5AE845A}"/>
              </a:ext>
            </a:extLst>
          </p:cNvPr>
          <p:cNvSpPr/>
          <p:nvPr/>
        </p:nvSpPr>
        <p:spPr>
          <a:xfrm>
            <a:off x="7800931" y="5680420"/>
            <a:ext cx="287756" cy="720842"/>
          </a:xfrm>
          <a:prstGeom prst="chevron">
            <a:avLst/>
          </a:prstGeom>
          <a:solidFill>
            <a:schemeClr val="accent3">
              <a:lumMod val="50000"/>
            </a:schemeClr>
          </a:solidFill>
          <a:ln w="9525">
            <a:solidFill>
              <a:srgbClr val="F2F2F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100" dirty="0">
              <a:solidFill>
                <a:schemeClr val="tx1"/>
              </a:solidFill>
            </a:endParaRPr>
          </a:p>
        </p:txBody>
      </p:sp>
      <p:sp>
        <p:nvSpPr>
          <p:cNvPr id="49" name="화살표: 갈매기형 수장 48">
            <a:extLst>
              <a:ext uri="{FF2B5EF4-FFF2-40B4-BE49-F238E27FC236}">
                <a16:creationId xmlns:a16="http://schemas.microsoft.com/office/drawing/2014/main" id="{19C156C3-2F25-4C66-875D-8A9D63063543}"/>
              </a:ext>
            </a:extLst>
          </p:cNvPr>
          <p:cNvSpPr/>
          <p:nvPr/>
        </p:nvSpPr>
        <p:spPr>
          <a:xfrm>
            <a:off x="12498350" y="5680420"/>
            <a:ext cx="287756" cy="720842"/>
          </a:xfrm>
          <a:prstGeom prst="chevron">
            <a:avLst/>
          </a:prstGeom>
          <a:solidFill>
            <a:schemeClr val="accent3">
              <a:lumMod val="50000"/>
            </a:schemeClr>
          </a:solidFill>
          <a:ln w="9525">
            <a:solidFill>
              <a:srgbClr val="F2F2F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100" dirty="0">
              <a:solidFill>
                <a:schemeClr val="tx1"/>
              </a:solidFill>
            </a:endParaRPr>
          </a:p>
        </p:txBody>
      </p:sp>
      <p:sp>
        <p:nvSpPr>
          <p:cNvPr id="50" name="화살표: 갈매기형 수장 49">
            <a:extLst>
              <a:ext uri="{FF2B5EF4-FFF2-40B4-BE49-F238E27FC236}">
                <a16:creationId xmlns:a16="http://schemas.microsoft.com/office/drawing/2014/main" id="{06148B3A-1E7E-49CE-9F9F-40BE969987DF}"/>
              </a:ext>
            </a:extLst>
          </p:cNvPr>
          <p:cNvSpPr/>
          <p:nvPr/>
        </p:nvSpPr>
        <p:spPr>
          <a:xfrm>
            <a:off x="7800931" y="8211358"/>
            <a:ext cx="287756" cy="720842"/>
          </a:xfrm>
          <a:prstGeom prst="chevron">
            <a:avLst/>
          </a:prstGeom>
          <a:solidFill>
            <a:schemeClr val="tx2">
              <a:lumMod val="50000"/>
            </a:schemeClr>
          </a:solidFill>
          <a:ln w="9525">
            <a:solidFill>
              <a:srgbClr val="F2F2F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100" dirty="0">
              <a:solidFill>
                <a:schemeClr val="tx1"/>
              </a:solidFill>
            </a:endParaRPr>
          </a:p>
        </p:txBody>
      </p:sp>
      <p:sp>
        <p:nvSpPr>
          <p:cNvPr id="51" name="화살표: 갈매기형 수장 50">
            <a:extLst>
              <a:ext uri="{FF2B5EF4-FFF2-40B4-BE49-F238E27FC236}">
                <a16:creationId xmlns:a16="http://schemas.microsoft.com/office/drawing/2014/main" id="{79B6F248-079C-46DF-B046-4B788D40C5D3}"/>
              </a:ext>
            </a:extLst>
          </p:cNvPr>
          <p:cNvSpPr/>
          <p:nvPr/>
        </p:nvSpPr>
        <p:spPr>
          <a:xfrm>
            <a:off x="12498350" y="8211358"/>
            <a:ext cx="287756" cy="720842"/>
          </a:xfrm>
          <a:prstGeom prst="chevron">
            <a:avLst/>
          </a:prstGeom>
          <a:solidFill>
            <a:schemeClr val="tx2">
              <a:lumMod val="50000"/>
            </a:schemeClr>
          </a:solidFill>
          <a:ln w="9525">
            <a:solidFill>
              <a:srgbClr val="F2F2F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100" dirty="0">
              <a:solidFill>
                <a:schemeClr val="tx1"/>
              </a:solidFill>
            </a:endParaRPr>
          </a:p>
        </p:txBody>
      </p: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77426514-9B54-447E-B3D7-349B76F2AEDB}"/>
              </a:ext>
            </a:extLst>
          </p:cNvPr>
          <p:cNvCxnSpPr>
            <a:stCxn id="19" idx="2"/>
            <a:endCxn id="24" idx="0"/>
          </p:cNvCxnSpPr>
          <p:nvPr/>
        </p:nvCxnSpPr>
        <p:spPr>
          <a:xfrm rot="5400000">
            <a:off x="9945627" y="-9330"/>
            <a:ext cx="696777" cy="9410921"/>
          </a:xfrm>
          <a:prstGeom prst="bentConnector3">
            <a:avLst/>
          </a:prstGeom>
          <a:ln w="31750">
            <a:solidFill>
              <a:srgbClr val="111D40"/>
            </a:solidFill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91F31229-4814-439D-9533-4D48755DEA7E}"/>
              </a:ext>
            </a:extLst>
          </p:cNvPr>
          <p:cNvCxnSpPr>
            <a:stCxn id="31" idx="2"/>
            <a:endCxn id="36" idx="0"/>
          </p:cNvCxnSpPr>
          <p:nvPr/>
        </p:nvCxnSpPr>
        <p:spPr>
          <a:xfrm rot="5400000">
            <a:off x="9943308" y="2519290"/>
            <a:ext cx="701415" cy="9410921"/>
          </a:xfrm>
          <a:prstGeom prst="bentConnector3">
            <a:avLst/>
          </a:prstGeom>
          <a:ln w="31750">
            <a:solidFill>
              <a:srgbClr val="111D40"/>
            </a:solidFill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C67C7FA5-37E4-48A6-8AAD-FAE6904A3D19}"/>
              </a:ext>
            </a:extLst>
          </p:cNvPr>
          <p:cNvSpPr txBox="1"/>
          <p:nvPr/>
        </p:nvSpPr>
        <p:spPr>
          <a:xfrm>
            <a:off x="292921" y="2957402"/>
            <a:ext cx="2874954" cy="1005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100" b="1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[ 1</a:t>
            </a:r>
            <a:r>
              <a:rPr lang="ko-KR" altLang="en-US" sz="2100" b="1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단계 </a:t>
            </a:r>
            <a:r>
              <a:rPr lang="en-US" altLang="ko-KR" sz="2100" b="1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</a:p>
          <a:p>
            <a:pPr algn="ctr">
              <a:lnSpc>
                <a:spcPct val="150000"/>
              </a:lnSpc>
            </a:pPr>
            <a:r>
              <a:rPr lang="en-US" altLang="ko-KR" sz="2100" b="1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DATA </a:t>
            </a:r>
            <a:r>
              <a:rPr lang="ko-KR" altLang="en-US" sz="2100" b="1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구축 및 변수선정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9820113-9E5C-4559-B9B0-3763285CF80D}"/>
              </a:ext>
            </a:extLst>
          </p:cNvPr>
          <p:cNvSpPr txBox="1"/>
          <p:nvPr/>
        </p:nvSpPr>
        <p:spPr>
          <a:xfrm>
            <a:off x="676264" y="5156971"/>
            <a:ext cx="2108269" cy="14900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100" b="1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[ 2</a:t>
            </a:r>
            <a:r>
              <a:rPr lang="ko-KR" altLang="en-US" sz="2100" b="1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단계 </a:t>
            </a:r>
            <a:r>
              <a:rPr lang="en-US" altLang="ko-KR" sz="2100" b="1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</a:p>
          <a:p>
            <a:pPr algn="ctr">
              <a:lnSpc>
                <a:spcPct val="150000"/>
              </a:lnSpc>
            </a:pPr>
            <a:r>
              <a:rPr lang="ko-KR" altLang="en-US" sz="2100" b="1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기초통계분석 및 </a:t>
            </a:r>
            <a:endParaRPr lang="en-US" altLang="ko-KR" sz="2100" b="1" dirty="0">
              <a:solidFill>
                <a:srgbClr val="F2F2F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100" b="1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ANOVA</a:t>
            </a:r>
            <a:r>
              <a:rPr lang="ko-KR" altLang="en-US" sz="2100" b="1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분석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60BCE1B-B63D-494F-9FB1-22D9B22C77B3}"/>
              </a:ext>
            </a:extLst>
          </p:cNvPr>
          <p:cNvSpPr txBox="1"/>
          <p:nvPr/>
        </p:nvSpPr>
        <p:spPr>
          <a:xfrm>
            <a:off x="929537" y="7687909"/>
            <a:ext cx="1601721" cy="15465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100" b="1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[ 3</a:t>
            </a:r>
            <a:r>
              <a:rPr lang="ko-KR" altLang="en-US" sz="2100" b="1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단계 </a:t>
            </a:r>
            <a:r>
              <a:rPr lang="en-US" altLang="ko-KR" sz="2100" b="1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</a:p>
          <a:p>
            <a:pPr algn="ctr">
              <a:lnSpc>
                <a:spcPct val="150000"/>
              </a:lnSpc>
            </a:pPr>
            <a:r>
              <a:rPr lang="ko-KR" altLang="en-US" sz="2100" b="1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회귀분석 및 </a:t>
            </a:r>
            <a:endParaRPr lang="en-US" altLang="ko-KR" sz="2100" b="1" dirty="0">
              <a:solidFill>
                <a:srgbClr val="F2F2F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100" b="1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분석결과</a:t>
            </a:r>
          </a:p>
        </p:txBody>
      </p:sp>
      <p:sp>
        <p:nvSpPr>
          <p:cNvPr id="57" name="슬라이드 번호 개체 틀 5">
            <a:extLst>
              <a:ext uri="{FF2B5EF4-FFF2-40B4-BE49-F238E27FC236}">
                <a16:creationId xmlns:a16="http://schemas.microsoft.com/office/drawing/2014/main" id="{EB11F73E-3322-42A8-B406-B3D983568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180889" y="9659937"/>
            <a:ext cx="586411" cy="365125"/>
          </a:xfrm>
        </p:spPr>
        <p:txBody>
          <a:bodyPr/>
          <a:lstStyle/>
          <a:p>
            <a:r>
              <a:rPr lang="en-US" altLang="ko-KR" sz="2000" dirty="0"/>
              <a:t>14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792854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2253A0-4B8C-B374-B5B6-08E0519F6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7259C8F6-FAC9-80F3-DFD3-D0C2C2ECA9B1}"/>
              </a:ext>
            </a:extLst>
          </p:cNvPr>
          <p:cNvSpPr txBox="1"/>
          <p:nvPr/>
        </p:nvSpPr>
        <p:spPr>
          <a:xfrm>
            <a:off x="1422400" y="571500"/>
            <a:ext cx="54356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ko-KR" altLang="en-US" sz="3100" dirty="0">
                <a:solidFill>
                  <a:srgbClr val="393939"/>
                </a:solidFill>
                <a:latin typeface="Pretendard Bold"/>
              </a:rPr>
              <a:t>연구방법 및 변수설정</a:t>
            </a:r>
            <a:r>
              <a:rPr lang="en-US" altLang="ko-KR" sz="3100" dirty="0">
                <a:solidFill>
                  <a:srgbClr val="393939"/>
                </a:solidFill>
                <a:latin typeface="Pretendard Bold"/>
              </a:rPr>
              <a:t> 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CEC1CE9-28FF-36E3-4EED-CA4BCADEF716}"/>
              </a:ext>
            </a:extLst>
          </p:cNvPr>
          <p:cNvSpPr txBox="1"/>
          <p:nvPr/>
        </p:nvSpPr>
        <p:spPr>
          <a:xfrm>
            <a:off x="698500" y="558800"/>
            <a:ext cx="6477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3100" dirty="0">
                <a:solidFill>
                  <a:srgbClr val="08A5C1"/>
                </a:solidFill>
                <a:latin typeface="Montserrat Bold"/>
              </a:rPr>
              <a:t>2</a:t>
            </a:r>
            <a:r>
              <a:rPr lang="ko-KR" altLang="en-US" sz="3100" b="0" i="0" u="none" strike="noStrike" dirty="0">
                <a:solidFill>
                  <a:srgbClr val="08A5C1"/>
                </a:solidFill>
                <a:latin typeface="Montserrat Bold"/>
              </a:rPr>
              <a:t>절</a:t>
            </a:r>
            <a:endParaRPr lang="en-US" sz="3100" b="0" i="0" u="none" strike="noStrike" dirty="0">
              <a:solidFill>
                <a:srgbClr val="08A5C1"/>
              </a:solidFill>
              <a:latin typeface="Montserrat Bold"/>
            </a:endParaRPr>
          </a:p>
        </p:txBody>
      </p:sp>
      <p:sp>
        <p:nvSpPr>
          <p:cNvPr id="57" name="슬라이드 번호 개체 틀 5">
            <a:extLst>
              <a:ext uri="{FF2B5EF4-FFF2-40B4-BE49-F238E27FC236}">
                <a16:creationId xmlns:a16="http://schemas.microsoft.com/office/drawing/2014/main" id="{9A80350D-FAA5-E7F5-7DCD-D0DC892F4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180889" y="9659937"/>
            <a:ext cx="586411" cy="365125"/>
          </a:xfrm>
        </p:spPr>
        <p:txBody>
          <a:bodyPr/>
          <a:lstStyle/>
          <a:p>
            <a:r>
              <a:rPr lang="en-US" altLang="ko-KR" sz="2000" dirty="0"/>
              <a:t>15</a:t>
            </a:r>
            <a:endParaRPr lang="ko-KR" altLang="en-US" sz="2000" dirty="0"/>
          </a:p>
        </p:txBody>
      </p:sp>
      <p:sp>
        <p:nvSpPr>
          <p:cNvPr id="2" name="TextBox 9">
            <a:extLst>
              <a:ext uri="{FF2B5EF4-FFF2-40B4-BE49-F238E27FC236}">
                <a16:creationId xmlns:a16="http://schemas.microsoft.com/office/drawing/2014/main" id="{3B0C2F3D-9D66-1DE2-E079-587C360B4C9B}"/>
              </a:ext>
            </a:extLst>
          </p:cNvPr>
          <p:cNvSpPr txBox="1"/>
          <p:nvPr/>
        </p:nvSpPr>
        <p:spPr>
          <a:xfrm>
            <a:off x="1143000" y="1866900"/>
            <a:ext cx="16319500" cy="411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50000"/>
              </a:lnSpc>
              <a:buClr>
                <a:srgbClr val="040000"/>
              </a:buClr>
              <a:buFont typeface="Arial" panose="020B0604020202020204" pitchFamily="34" charset="0"/>
              <a:buChar char="•"/>
            </a:pPr>
            <a:r>
              <a:rPr lang="ko-KR" altLang="en-US" sz="2800" b="0" i="0" u="none" strike="noStrike" dirty="0">
                <a:solidFill>
                  <a:srgbClr val="040000"/>
                </a:solidFill>
                <a:ea typeface="조선가는고딕"/>
              </a:rPr>
              <a:t>서울시 청년안심주택 공급이 주변 지역 전월세 가격에 미치는 영향을 실증적으로 분석</a:t>
            </a:r>
            <a:r>
              <a:rPr lang="en-US" altLang="ko-KR" sz="2800" b="0" i="0" u="none" strike="noStrike" dirty="0">
                <a:solidFill>
                  <a:srgbClr val="040000"/>
                </a:solidFill>
                <a:ea typeface="조선가는고딕"/>
              </a:rPr>
              <a:t>.</a:t>
            </a:r>
          </a:p>
          <a:p>
            <a:pPr marL="342900" lvl="0" indent="-342900" algn="l">
              <a:lnSpc>
                <a:spcPct val="150000"/>
              </a:lnSpc>
              <a:buClr>
                <a:srgbClr val="040000"/>
              </a:buClr>
              <a:buFont typeface="Arial" panose="020B0604020202020204" pitchFamily="34" charset="0"/>
              <a:buChar char="•"/>
            </a:pPr>
            <a:r>
              <a:rPr lang="ko-KR" altLang="en-US" sz="2800" dirty="0">
                <a:solidFill>
                  <a:srgbClr val="040000"/>
                </a:solidFill>
                <a:ea typeface="조선가는고딕"/>
              </a:rPr>
              <a:t>분석 단위</a:t>
            </a:r>
            <a:r>
              <a:rPr lang="en-US" altLang="ko-KR" sz="2800" dirty="0">
                <a:solidFill>
                  <a:srgbClr val="040000"/>
                </a:solidFill>
                <a:ea typeface="조선가는고딕"/>
              </a:rPr>
              <a:t>: </a:t>
            </a:r>
            <a:r>
              <a:rPr lang="ko-KR" altLang="en-US" sz="2800" dirty="0">
                <a:solidFill>
                  <a:srgbClr val="040000"/>
                </a:solidFill>
                <a:ea typeface="조선가는고딕"/>
              </a:rPr>
              <a:t>서울시 </a:t>
            </a:r>
            <a:r>
              <a:rPr lang="en-US" altLang="ko-KR" sz="2800" dirty="0">
                <a:solidFill>
                  <a:srgbClr val="040000"/>
                </a:solidFill>
                <a:ea typeface="조선가는고딕"/>
              </a:rPr>
              <a:t>5</a:t>
            </a:r>
            <a:r>
              <a:rPr lang="ko-KR" altLang="en-US" sz="2800" dirty="0">
                <a:solidFill>
                  <a:srgbClr val="040000"/>
                </a:solidFill>
                <a:ea typeface="조선가는고딕"/>
              </a:rPr>
              <a:t>대 생활권역 </a:t>
            </a:r>
            <a:r>
              <a:rPr lang="en-US" altLang="ko-KR" sz="2800" dirty="0">
                <a:solidFill>
                  <a:srgbClr val="040000"/>
                </a:solidFill>
                <a:ea typeface="조선가는고딕"/>
              </a:rPr>
              <a:t>(</a:t>
            </a:r>
            <a:r>
              <a:rPr lang="ko-KR" altLang="en-US" sz="2800" dirty="0" err="1">
                <a:solidFill>
                  <a:srgbClr val="040000"/>
                </a:solidFill>
                <a:ea typeface="조선가는고딕"/>
              </a:rPr>
              <a:t>도심권</a:t>
            </a:r>
            <a:r>
              <a:rPr lang="en-US" altLang="ko-KR" sz="2800" dirty="0">
                <a:solidFill>
                  <a:srgbClr val="040000"/>
                </a:solidFill>
                <a:ea typeface="조선가는고딕"/>
              </a:rPr>
              <a:t>, </a:t>
            </a:r>
            <a:r>
              <a:rPr lang="ko-KR" altLang="en-US" sz="2800" dirty="0">
                <a:solidFill>
                  <a:srgbClr val="040000"/>
                </a:solidFill>
                <a:ea typeface="조선가는고딕"/>
              </a:rPr>
              <a:t>동남권</a:t>
            </a:r>
            <a:r>
              <a:rPr lang="en-US" altLang="ko-KR" sz="2800" dirty="0">
                <a:solidFill>
                  <a:srgbClr val="040000"/>
                </a:solidFill>
                <a:ea typeface="조선가는고딕"/>
              </a:rPr>
              <a:t>, </a:t>
            </a:r>
            <a:r>
              <a:rPr lang="ko-KR" altLang="en-US" sz="2800" dirty="0" err="1">
                <a:solidFill>
                  <a:srgbClr val="040000"/>
                </a:solidFill>
                <a:ea typeface="조선가는고딕"/>
              </a:rPr>
              <a:t>동북권</a:t>
            </a:r>
            <a:r>
              <a:rPr lang="en-US" altLang="ko-KR" sz="2800" dirty="0">
                <a:solidFill>
                  <a:srgbClr val="040000"/>
                </a:solidFill>
                <a:ea typeface="조선가는고딕"/>
              </a:rPr>
              <a:t>, </a:t>
            </a:r>
            <a:r>
              <a:rPr lang="ko-KR" altLang="en-US" sz="2800" dirty="0" err="1">
                <a:solidFill>
                  <a:srgbClr val="040000"/>
                </a:solidFill>
                <a:ea typeface="조선가는고딕"/>
              </a:rPr>
              <a:t>서북권</a:t>
            </a:r>
            <a:r>
              <a:rPr lang="en-US" altLang="ko-KR" sz="2800" dirty="0">
                <a:solidFill>
                  <a:srgbClr val="040000"/>
                </a:solidFill>
                <a:ea typeface="조선가는고딕"/>
              </a:rPr>
              <a:t>, </a:t>
            </a:r>
            <a:r>
              <a:rPr lang="ko-KR" altLang="en-US" sz="2800" dirty="0">
                <a:solidFill>
                  <a:srgbClr val="040000"/>
                </a:solidFill>
                <a:ea typeface="조선가는고딕"/>
              </a:rPr>
              <a:t>서남권</a:t>
            </a:r>
            <a:r>
              <a:rPr lang="en-US" altLang="ko-KR" sz="2800" dirty="0">
                <a:solidFill>
                  <a:srgbClr val="040000"/>
                </a:solidFill>
                <a:ea typeface="조선가는고딕"/>
              </a:rPr>
              <a:t>).</a:t>
            </a:r>
          </a:p>
          <a:p>
            <a:pPr marL="342900" lvl="0" indent="-342900" algn="l">
              <a:lnSpc>
                <a:spcPct val="150000"/>
              </a:lnSpc>
              <a:buClr>
                <a:srgbClr val="040000"/>
              </a:buClr>
              <a:buFont typeface="Arial" panose="020B0604020202020204" pitchFamily="34" charset="0"/>
              <a:buChar char="•"/>
            </a:pPr>
            <a:r>
              <a:rPr lang="ko-KR" altLang="en-US" sz="2800" b="0" i="0" u="none" strike="noStrike" dirty="0">
                <a:solidFill>
                  <a:srgbClr val="040000"/>
                </a:solidFill>
                <a:ea typeface="조선가는고딕"/>
              </a:rPr>
              <a:t>분석 대상</a:t>
            </a:r>
            <a:r>
              <a:rPr lang="en-US" altLang="ko-KR" sz="2800" b="0" i="0" u="none" strike="noStrike" dirty="0">
                <a:solidFill>
                  <a:srgbClr val="040000"/>
                </a:solidFill>
                <a:ea typeface="조선가는고딕"/>
              </a:rPr>
              <a:t>: 1</a:t>
            </a:r>
            <a:r>
              <a:rPr lang="ko-KR" altLang="en-US" sz="2800" b="0" i="0" u="none" strike="noStrike" dirty="0">
                <a:solidFill>
                  <a:srgbClr val="040000"/>
                </a:solidFill>
                <a:ea typeface="조선가는고딕"/>
              </a:rPr>
              <a:t>인 가구 중심의 연립</a:t>
            </a:r>
            <a:r>
              <a:rPr lang="en-US" altLang="ko-KR" sz="2800" b="0" i="0" u="none" strike="noStrike" dirty="0">
                <a:solidFill>
                  <a:srgbClr val="040000"/>
                </a:solidFill>
                <a:ea typeface="조선가는고딕"/>
              </a:rPr>
              <a:t>, </a:t>
            </a:r>
            <a:r>
              <a:rPr lang="ko-KR" altLang="en-US" sz="2800" b="0" i="0" u="none" strike="noStrike" dirty="0" err="1">
                <a:solidFill>
                  <a:srgbClr val="040000"/>
                </a:solidFill>
                <a:ea typeface="조선가는고딕"/>
              </a:rPr>
              <a:t>연립다세대</a:t>
            </a:r>
            <a:r>
              <a:rPr lang="en-US" altLang="ko-KR" sz="2800" b="0" i="0" u="none" strike="noStrike" dirty="0">
                <a:solidFill>
                  <a:srgbClr val="040000"/>
                </a:solidFill>
                <a:ea typeface="조선가는고딕"/>
              </a:rPr>
              <a:t>, </a:t>
            </a:r>
            <a:r>
              <a:rPr lang="ko-KR" altLang="en-US" sz="2800" b="0" i="0" u="none" strike="noStrike" dirty="0">
                <a:solidFill>
                  <a:srgbClr val="040000"/>
                </a:solidFill>
                <a:ea typeface="조선가는고딕"/>
              </a:rPr>
              <a:t>다세대 주택</a:t>
            </a:r>
            <a:r>
              <a:rPr lang="en-US" altLang="ko-KR" sz="2800" b="0" i="0" u="none" strike="noStrike" dirty="0">
                <a:solidFill>
                  <a:srgbClr val="040000"/>
                </a:solidFill>
                <a:ea typeface="조선가는고딕"/>
              </a:rPr>
              <a:t>.</a:t>
            </a:r>
          </a:p>
          <a:p>
            <a:pPr lvl="0" algn="l">
              <a:lnSpc>
                <a:spcPct val="150000"/>
              </a:lnSpc>
              <a:buClr>
                <a:srgbClr val="040000"/>
              </a:buClr>
            </a:pPr>
            <a:r>
              <a:rPr lang="en-US" altLang="ko-KR" sz="2800" dirty="0">
                <a:solidFill>
                  <a:srgbClr val="040000"/>
                </a:solidFill>
                <a:ea typeface="조선가는고딕"/>
              </a:rPr>
              <a:t>               (1</a:t>
            </a:r>
            <a:r>
              <a:rPr lang="ko-KR" altLang="en-US" sz="2800" dirty="0">
                <a:solidFill>
                  <a:srgbClr val="040000"/>
                </a:solidFill>
                <a:ea typeface="조선가는고딕"/>
              </a:rPr>
              <a:t>인 가구의 기준</a:t>
            </a:r>
            <a:r>
              <a:rPr lang="en-US" altLang="ko-KR" sz="2800" dirty="0">
                <a:solidFill>
                  <a:srgbClr val="040000"/>
                </a:solidFill>
                <a:ea typeface="조선가는고딕"/>
              </a:rPr>
              <a:t>: 35㎡ </a:t>
            </a:r>
            <a:r>
              <a:rPr lang="ko-KR" altLang="en-US" sz="2800" dirty="0">
                <a:solidFill>
                  <a:srgbClr val="040000"/>
                </a:solidFill>
                <a:ea typeface="조선가는고딕"/>
              </a:rPr>
              <a:t>이하</a:t>
            </a:r>
            <a:r>
              <a:rPr lang="en-US" altLang="ko-KR" sz="2800" dirty="0">
                <a:solidFill>
                  <a:srgbClr val="040000"/>
                </a:solidFill>
                <a:ea typeface="조선가는고딕"/>
              </a:rPr>
              <a:t>(</a:t>
            </a:r>
            <a:r>
              <a:rPr lang="ko-KR" altLang="en-US" sz="2800" dirty="0">
                <a:solidFill>
                  <a:srgbClr val="040000"/>
                </a:solidFill>
                <a:ea typeface="조선가는고딕"/>
              </a:rPr>
              <a:t>「공공주택 특별법 시행규칙」 </a:t>
            </a:r>
            <a:r>
              <a:rPr lang="en-US" altLang="ko-KR" sz="2800" dirty="0">
                <a:solidFill>
                  <a:srgbClr val="040000"/>
                </a:solidFill>
                <a:ea typeface="조선가는고딕"/>
              </a:rPr>
              <a:t>[</a:t>
            </a:r>
            <a:r>
              <a:rPr lang="ko-KR" altLang="en-US" sz="2800" dirty="0">
                <a:solidFill>
                  <a:srgbClr val="040000"/>
                </a:solidFill>
                <a:ea typeface="조선가는고딕"/>
              </a:rPr>
              <a:t>별표</a:t>
            </a:r>
            <a:r>
              <a:rPr lang="en-US" altLang="ko-KR" sz="2800" dirty="0">
                <a:solidFill>
                  <a:srgbClr val="040000"/>
                </a:solidFill>
                <a:ea typeface="조선가는고딕"/>
              </a:rPr>
              <a:t>3] </a:t>
            </a:r>
            <a:r>
              <a:rPr lang="ko-KR" altLang="en-US" sz="2800" dirty="0">
                <a:solidFill>
                  <a:srgbClr val="040000"/>
                </a:solidFill>
                <a:ea typeface="조선가는고딕"/>
              </a:rPr>
              <a:t>참고</a:t>
            </a:r>
            <a:r>
              <a:rPr lang="en-US" altLang="ko-KR" sz="2800" dirty="0">
                <a:solidFill>
                  <a:srgbClr val="040000"/>
                </a:solidFill>
                <a:ea typeface="조선가는고딕"/>
              </a:rPr>
              <a:t>))</a:t>
            </a:r>
          </a:p>
          <a:p>
            <a:pPr marL="342900" lvl="0" indent="-342900" algn="l">
              <a:lnSpc>
                <a:spcPct val="150000"/>
              </a:lnSpc>
              <a:buClr>
                <a:srgbClr val="040000"/>
              </a:buClr>
              <a:buFont typeface="Arial" panose="020B0604020202020204" pitchFamily="34" charset="0"/>
              <a:buChar char="•"/>
            </a:pPr>
            <a:endParaRPr lang="en-US" altLang="ko-KR" sz="2800" dirty="0">
              <a:solidFill>
                <a:srgbClr val="040000"/>
              </a:solidFill>
              <a:ea typeface="조선가는고딕"/>
            </a:endParaRPr>
          </a:p>
          <a:p>
            <a:pPr marL="342900" lvl="0" indent="-342900" algn="l">
              <a:lnSpc>
                <a:spcPct val="150000"/>
              </a:lnSpc>
              <a:buClr>
                <a:srgbClr val="040000"/>
              </a:buClr>
              <a:buFont typeface="Arial" panose="020B0604020202020204" pitchFamily="34" charset="0"/>
              <a:buChar char="•"/>
            </a:pPr>
            <a:r>
              <a:rPr lang="ko-KR" altLang="en-US" sz="2800" b="0" i="0" u="none" strike="noStrike" dirty="0">
                <a:solidFill>
                  <a:srgbClr val="040000"/>
                </a:solidFill>
                <a:ea typeface="조선가는고딕"/>
              </a:rPr>
              <a:t>분석 단위</a:t>
            </a:r>
            <a:r>
              <a:rPr lang="en-US" altLang="ko-KR" sz="2800" b="0" i="0" u="none" strike="noStrike" dirty="0">
                <a:solidFill>
                  <a:srgbClr val="040000"/>
                </a:solidFill>
                <a:ea typeface="조선가는고딕"/>
              </a:rPr>
              <a:t>: </a:t>
            </a:r>
            <a:r>
              <a:rPr lang="ko-KR" altLang="en-US" sz="2800" b="0" i="0" u="none" strike="noStrike" dirty="0">
                <a:solidFill>
                  <a:srgbClr val="040000"/>
                </a:solidFill>
                <a:ea typeface="조선가는고딕"/>
              </a:rPr>
              <a:t>서울시 </a:t>
            </a:r>
            <a:r>
              <a:rPr lang="en-US" altLang="ko-KR" sz="2800" b="0" i="0" u="none" strike="noStrike" dirty="0">
                <a:solidFill>
                  <a:srgbClr val="040000"/>
                </a:solidFill>
                <a:ea typeface="조선가는고딕"/>
              </a:rPr>
              <a:t>5</a:t>
            </a:r>
            <a:r>
              <a:rPr lang="ko-KR" altLang="en-US" sz="2800" b="0" i="0" u="none" strike="noStrike" dirty="0">
                <a:solidFill>
                  <a:srgbClr val="040000"/>
                </a:solidFill>
                <a:ea typeface="조선가는고딕"/>
              </a:rPr>
              <a:t>대 생활권역 </a:t>
            </a:r>
            <a:r>
              <a:rPr lang="en-US" altLang="ko-KR" sz="2800" b="0" i="0" u="none" strike="noStrike" dirty="0">
                <a:solidFill>
                  <a:srgbClr val="040000"/>
                </a:solidFill>
                <a:ea typeface="조선가는고딕"/>
              </a:rPr>
              <a:t>(</a:t>
            </a:r>
            <a:r>
              <a:rPr lang="ko-KR" altLang="en-US" sz="2800" b="0" i="0" u="none" strike="noStrike" dirty="0" err="1">
                <a:solidFill>
                  <a:srgbClr val="040000"/>
                </a:solidFill>
                <a:ea typeface="조선가는고딕"/>
              </a:rPr>
              <a:t>도심권</a:t>
            </a:r>
            <a:r>
              <a:rPr lang="en-US" altLang="ko-KR" sz="2800" b="0" i="0" u="none" strike="noStrike" dirty="0">
                <a:solidFill>
                  <a:srgbClr val="040000"/>
                </a:solidFill>
                <a:ea typeface="조선가는고딕"/>
              </a:rPr>
              <a:t>, </a:t>
            </a:r>
            <a:r>
              <a:rPr lang="ko-KR" altLang="en-US" sz="2800" b="0" i="0" u="none" strike="noStrike" dirty="0">
                <a:solidFill>
                  <a:srgbClr val="040000"/>
                </a:solidFill>
                <a:ea typeface="조선가는고딕"/>
              </a:rPr>
              <a:t>동남권</a:t>
            </a:r>
            <a:r>
              <a:rPr lang="en-US" altLang="ko-KR" sz="2800" b="0" i="0" u="none" strike="noStrike" dirty="0">
                <a:solidFill>
                  <a:srgbClr val="040000"/>
                </a:solidFill>
                <a:ea typeface="조선가는고딕"/>
              </a:rPr>
              <a:t>, </a:t>
            </a:r>
            <a:r>
              <a:rPr lang="ko-KR" altLang="en-US" sz="2800" b="0" i="0" u="none" strike="noStrike" dirty="0" err="1">
                <a:solidFill>
                  <a:srgbClr val="040000"/>
                </a:solidFill>
                <a:ea typeface="조선가는고딕"/>
              </a:rPr>
              <a:t>동북권</a:t>
            </a:r>
            <a:r>
              <a:rPr lang="en-US" altLang="ko-KR" sz="2800" b="0" i="0" u="none" strike="noStrike" dirty="0">
                <a:solidFill>
                  <a:srgbClr val="040000"/>
                </a:solidFill>
                <a:ea typeface="조선가는고딕"/>
              </a:rPr>
              <a:t>, </a:t>
            </a:r>
            <a:r>
              <a:rPr lang="ko-KR" altLang="en-US" sz="2800" b="0" i="0" u="none" strike="noStrike" dirty="0" err="1">
                <a:solidFill>
                  <a:srgbClr val="040000"/>
                </a:solidFill>
                <a:ea typeface="조선가는고딕"/>
              </a:rPr>
              <a:t>서북권</a:t>
            </a:r>
            <a:r>
              <a:rPr lang="en-US" altLang="ko-KR" sz="2800" b="0" i="0" u="none" strike="noStrike" dirty="0">
                <a:solidFill>
                  <a:srgbClr val="040000"/>
                </a:solidFill>
                <a:ea typeface="조선가는고딕"/>
              </a:rPr>
              <a:t>, </a:t>
            </a:r>
            <a:r>
              <a:rPr lang="ko-KR" altLang="en-US" sz="2800" b="0" i="0" u="none" strike="noStrike" dirty="0">
                <a:solidFill>
                  <a:srgbClr val="040000"/>
                </a:solidFill>
                <a:ea typeface="조선가는고딕"/>
              </a:rPr>
              <a:t>서남권</a:t>
            </a:r>
            <a:r>
              <a:rPr lang="en-US" altLang="ko-KR" sz="2800" b="0" i="0" u="none" strike="noStrike" dirty="0">
                <a:solidFill>
                  <a:srgbClr val="040000"/>
                </a:solidFill>
                <a:ea typeface="조선가는고딕"/>
              </a:rPr>
              <a:t>) </a:t>
            </a:r>
            <a:r>
              <a:rPr lang="ko-KR" altLang="en-US" sz="2800" dirty="0">
                <a:solidFill>
                  <a:srgbClr val="040000"/>
                </a:solidFill>
                <a:ea typeface="조선가는고딕"/>
              </a:rPr>
              <a:t> </a:t>
            </a:r>
            <a:r>
              <a:rPr lang="en-US" altLang="ko-KR" sz="2800" dirty="0">
                <a:solidFill>
                  <a:srgbClr val="040000"/>
                </a:solidFill>
                <a:ea typeface="조선가는고딕"/>
              </a:rPr>
              <a:t>&gt;&gt;</a:t>
            </a:r>
            <a:r>
              <a:rPr lang="ko-KR" altLang="en-US" sz="2800" dirty="0">
                <a:solidFill>
                  <a:srgbClr val="040000"/>
                </a:solidFill>
                <a:ea typeface="조선가는고딕"/>
              </a:rPr>
              <a:t> 권역별 경제</a:t>
            </a:r>
            <a:r>
              <a:rPr lang="en-US" altLang="ko-KR" sz="2800" dirty="0">
                <a:solidFill>
                  <a:srgbClr val="040000"/>
                </a:solidFill>
                <a:ea typeface="조선가는고딕"/>
              </a:rPr>
              <a:t>·</a:t>
            </a:r>
            <a:r>
              <a:rPr lang="ko-KR" altLang="en-US" sz="2800" dirty="0">
                <a:solidFill>
                  <a:srgbClr val="040000"/>
                </a:solidFill>
                <a:ea typeface="조선가는고딕"/>
              </a:rPr>
              <a:t>사회적 차이와 주거 환경에 따른 전월세 가격 변동 및 정책 효과 비교</a:t>
            </a:r>
            <a:endParaRPr lang="en-US" altLang="ko-KR" sz="2800" b="0" i="0" u="none" strike="noStrike" dirty="0">
              <a:solidFill>
                <a:srgbClr val="040000"/>
              </a:solidFill>
              <a:ea typeface="조선가는고딕"/>
            </a:endParaRPr>
          </a:p>
        </p:txBody>
      </p:sp>
    </p:spTree>
    <p:extLst>
      <p:ext uri="{BB962C8B-B14F-4D97-AF65-F5344CB8AC3E}">
        <p14:creationId xmlns:p14="http://schemas.microsoft.com/office/powerpoint/2010/main" val="18376725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574800" y="736600"/>
            <a:ext cx="54356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ko-KR" altLang="en-US" sz="3100" dirty="0">
                <a:solidFill>
                  <a:srgbClr val="393939"/>
                </a:solidFill>
                <a:latin typeface="Pretendard Bold"/>
              </a:rPr>
              <a:t>연구방법 및 변수설정</a:t>
            </a:r>
            <a:r>
              <a:rPr lang="en-US" altLang="ko-KR" sz="3100" dirty="0">
                <a:solidFill>
                  <a:srgbClr val="393939"/>
                </a:solidFill>
                <a:latin typeface="Pretendard Bold"/>
              </a:rPr>
              <a:t> 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89000" y="723900"/>
            <a:ext cx="8255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3100" b="0" i="0" u="none" strike="noStrike" dirty="0">
                <a:solidFill>
                  <a:srgbClr val="08A5C1"/>
                </a:solidFill>
                <a:latin typeface="Montserrat Bold"/>
              </a:rPr>
              <a:t>2</a:t>
            </a:r>
            <a:r>
              <a:rPr lang="ko-KR" altLang="en-US" sz="3100" b="0" i="0" u="none" strike="noStrike" dirty="0">
                <a:solidFill>
                  <a:srgbClr val="08A5C1"/>
                </a:solidFill>
                <a:latin typeface="Montserrat Bold"/>
              </a:rPr>
              <a:t>절</a:t>
            </a:r>
            <a:endParaRPr lang="en-US" sz="3100" b="0" i="0" u="none" strike="noStrike" dirty="0">
              <a:solidFill>
                <a:srgbClr val="08A5C1"/>
              </a:solidFill>
              <a:latin typeface="Montserrat Bold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56E0DD3F-6347-4F52-9DAB-116F9F0E5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180889" y="9659937"/>
            <a:ext cx="586411" cy="365125"/>
          </a:xfrm>
        </p:spPr>
        <p:txBody>
          <a:bodyPr/>
          <a:lstStyle/>
          <a:p>
            <a:r>
              <a:rPr lang="en-US" altLang="ko-KR" sz="2000" dirty="0"/>
              <a:t>16</a:t>
            </a:r>
            <a:endParaRPr lang="ko-KR" altLang="en-US" sz="20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5ECD02F-010A-0BB5-8F1D-AA456A5205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0974"/>
              </p:ext>
            </p:extLst>
          </p:nvPr>
        </p:nvGraphicFramePr>
        <p:xfrm>
          <a:off x="908050" y="2228384"/>
          <a:ext cx="6946902" cy="7764183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3955682670"/>
                    </a:ext>
                  </a:extLst>
                </a:gridCol>
                <a:gridCol w="2869228">
                  <a:extLst>
                    <a:ext uri="{9D8B030D-6E8A-4147-A177-3AD203B41FA5}">
                      <a16:colId xmlns:a16="http://schemas.microsoft.com/office/drawing/2014/main" val="75645387"/>
                    </a:ext>
                  </a:extLst>
                </a:gridCol>
                <a:gridCol w="374772">
                  <a:extLst>
                    <a:ext uri="{9D8B030D-6E8A-4147-A177-3AD203B41FA5}">
                      <a16:colId xmlns:a16="http://schemas.microsoft.com/office/drawing/2014/main" val="4032033084"/>
                    </a:ext>
                  </a:extLst>
                </a:gridCol>
                <a:gridCol w="374772">
                  <a:extLst>
                    <a:ext uri="{9D8B030D-6E8A-4147-A177-3AD203B41FA5}">
                      <a16:colId xmlns:a16="http://schemas.microsoft.com/office/drawing/2014/main" val="3493551515"/>
                    </a:ext>
                  </a:extLst>
                </a:gridCol>
                <a:gridCol w="374772">
                  <a:extLst>
                    <a:ext uri="{9D8B030D-6E8A-4147-A177-3AD203B41FA5}">
                      <a16:colId xmlns:a16="http://schemas.microsoft.com/office/drawing/2014/main" val="3673889076"/>
                    </a:ext>
                  </a:extLst>
                </a:gridCol>
                <a:gridCol w="374772">
                  <a:extLst>
                    <a:ext uri="{9D8B030D-6E8A-4147-A177-3AD203B41FA5}">
                      <a16:colId xmlns:a16="http://schemas.microsoft.com/office/drawing/2014/main" val="2067383767"/>
                    </a:ext>
                  </a:extLst>
                </a:gridCol>
                <a:gridCol w="374772">
                  <a:extLst>
                    <a:ext uri="{9D8B030D-6E8A-4147-A177-3AD203B41FA5}">
                      <a16:colId xmlns:a16="http://schemas.microsoft.com/office/drawing/2014/main" val="23575018"/>
                    </a:ext>
                  </a:extLst>
                </a:gridCol>
                <a:gridCol w="374772">
                  <a:extLst>
                    <a:ext uri="{9D8B030D-6E8A-4147-A177-3AD203B41FA5}">
                      <a16:colId xmlns:a16="http://schemas.microsoft.com/office/drawing/2014/main" val="3452085487"/>
                    </a:ext>
                  </a:extLst>
                </a:gridCol>
                <a:gridCol w="374772">
                  <a:extLst>
                    <a:ext uri="{9D8B030D-6E8A-4147-A177-3AD203B41FA5}">
                      <a16:colId xmlns:a16="http://schemas.microsoft.com/office/drawing/2014/main" val="3794921626"/>
                    </a:ext>
                  </a:extLst>
                </a:gridCol>
                <a:gridCol w="539870">
                  <a:extLst>
                    <a:ext uri="{9D8B030D-6E8A-4147-A177-3AD203B41FA5}">
                      <a16:colId xmlns:a16="http://schemas.microsoft.com/office/drawing/2014/main" val="3306256823"/>
                    </a:ext>
                  </a:extLst>
                </a:gridCol>
              </a:tblGrid>
              <a:tr h="826135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구분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(1)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(2)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(3)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(4)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(5)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(6)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(7)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본 연구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667717"/>
                  </a:ext>
                </a:extLst>
              </a:tr>
              <a:tr h="334652">
                <a:tc rowSpan="7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종속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단위면적당 전세가격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만원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/m2)</a:t>
                      </a: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715653"/>
                  </a:ext>
                </a:extLst>
              </a:tr>
              <a:tr h="3346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log(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단위면적당 가격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9990015"/>
                  </a:ext>
                </a:extLst>
              </a:tr>
              <a:tr h="3346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log(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매매가격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전용면적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801231"/>
                  </a:ext>
                </a:extLst>
              </a:tr>
              <a:tr h="3346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전세가격지수변동률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5432073"/>
                  </a:ext>
                </a:extLst>
              </a:tr>
              <a:tr h="3346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전세가격상승률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9716862"/>
                  </a:ext>
                </a:extLst>
              </a:tr>
              <a:tr h="3346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입주 전후 전세가격 증가율 차이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159313"/>
                  </a:ext>
                </a:extLst>
              </a:tr>
              <a:tr h="5796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인근 민간임대주택과의 인접 여부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7994395"/>
                  </a:ext>
                </a:extLst>
              </a:tr>
              <a:tr h="334652">
                <a:tc rowSpan="1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지역특성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전용면적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m2)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0394906"/>
                  </a:ext>
                </a:extLst>
              </a:tr>
              <a:tr h="3346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층수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층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636663"/>
                  </a:ext>
                </a:extLst>
              </a:tr>
              <a:tr h="3346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경과연수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7819916"/>
                  </a:ext>
                </a:extLst>
              </a:tr>
              <a:tr h="3346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해당단지 세대수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세대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433223"/>
                  </a:ext>
                </a:extLst>
              </a:tr>
              <a:tr h="3346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지하철역과의 거리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(m)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878183"/>
                  </a:ext>
                </a:extLst>
              </a:tr>
              <a:tr h="3346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공원과의 거리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(m)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3339153"/>
                  </a:ext>
                </a:extLst>
              </a:tr>
              <a:tr h="3346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청년임대주택과의 거리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(m)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668208"/>
                  </a:ext>
                </a:extLst>
              </a:tr>
              <a:tr h="3346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청년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임대주택의 </a:t>
                      </a:r>
                      <a:r>
                        <a:rPr lang="ko-KR" altLang="en-US" sz="1400" kern="0" spc="-5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세대수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세대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4081935"/>
                  </a:ext>
                </a:extLst>
              </a:tr>
              <a:tr h="3346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버스정류장과의 거리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(m)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030369"/>
                  </a:ext>
                </a:extLst>
              </a:tr>
              <a:tr h="3346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도심지와의 거리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(m)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184115"/>
                  </a:ext>
                </a:extLst>
              </a:tr>
              <a:tr h="3346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인접도로폭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m)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8884213"/>
                  </a:ext>
                </a:extLst>
              </a:tr>
              <a:tr h="3346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광역범위 전세가격 상승률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450526"/>
                  </a:ext>
                </a:extLst>
              </a:tr>
              <a:tr h="3346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용적률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7273" marR="67273" marT="33637" marB="336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937149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89A7D0D0-BFF0-388F-22E3-FC928C449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8063" y="151130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1620ABC-CD18-3A4E-9632-A473D3728A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953549"/>
              </p:ext>
            </p:extLst>
          </p:nvPr>
        </p:nvGraphicFramePr>
        <p:xfrm>
          <a:off x="8007352" y="2193926"/>
          <a:ext cx="7801007" cy="6020186"/>
        </p:xfrm>
        <a:graphic>
          <a:graphicData uri="http://schemas.openxmlformats.org/drawingml/2006/table">
            <a:tbl>
              <a:tblPr/>
              <a:tblGrid>
                <a:gridCol w="1285043">
                  <a:extLst>
                    <a:ext uri="{9D8B030D-6E8A-4147-A177-3AD203B41FA5}">
                      <a16:colId xmlns:a16="http://schemas.microsoft.com/office/drawing/2014/main" val="570150103"/>
                    </a:ext>
                  </a:extLst>
                </a:gridCol>
                <a:gridCol w="2292684">
                  <a:extLst>
                    <a:ext uri="{9D8B030D-6E8A-4147-A177-3AD203B41FA5}">
                      <a16:colId xmlns:a16="http://schemas.microsoft.com/office/drawing/2014/main" val="1466689892"/>
                    </a:ext>
                  </a:extLst>
                </a:gridCol>
                <a:gridCol w="527910">
                  <a:extLst>
                    <a:ext uri="{9D8B030D-6E8A-4147-A177-3AD203B41FA5}">
                      <a16:colId xmlns:a16="http://schemas.microsoft.com/office/drawing/2014/main" val="1827944905"/>
                    </a:ext>
                  </a:extLst>
                </a:gridCol>
                <a:gridCol w="527910">
                  <a:extLst>
                    <a:ext uri="{9D8B030D-6E8A-4147-A177-3AD203B41FA5}">
                      <a16:colId xmlns:a16="http://schemas.microsoft.com/office/drawing/2014/main" val="1185644782"/>
                    </a:ext>
                  </a:extLst>
                </a:gridCol>
                <a:gridCol w="527910">
                  <a:extLst>
                    <a:ext uri="{9D8B030D-6E8A-4147-A177-3AD203B41FA5}">
                      <a16:colId xmlns:a16="http://schemas.microsoft.com/office/drawing/2014/main" val="3693323872"/>
                    </a:ext>
                  </a:extLst>
                </a:gridCol>
                <a:gridCol w="527910">
                  <a:extLst>
                    <a:ext uri="{9D8B030D-6E8A-4147-A177-3AD203B41FA5}">
                      <a16:colId xmlns:a16="http://schemas.microsoft.com/office/drawing/2014/main" val="3613806199"/>
                    </a:ext>
                  </a:extLst>
                </a:gridCol>
                <a:gridCol w="527910">
                  <a:extLst>
                    <a:ext uri="{9D8B030D-6E8A-4147-A177-3AD203B41FA5}">
                      <a16:colId xmlns:a16="http://schemas.microsoft.com/office/drawing/2014/main" val="174771893"/>
                    </a:ext>
                  </a:extLst>
                </a:gridCol>
                <a:gridCol w="527910">
                  <a:extLst>
                    <a:ext uri="{9D8B030D-6E8A-4147-A177-3AD203B41FA5}">
                      <a16:colId xmlns:a16="http://schemas.microsoft.com/office/drawing/2014/main" val="3033330058"/>
                    </a:ext>
                  </a:extLst>
                </a:gridCol>
                <a:gridCol w="527910">
                  <a:extLst>
                    <a:ext uri="{9D8B030D-6E8A-4147-A177-3AD203B41FA5}">
                      <a16:colId xmlns:a16="http://schemas.microsoft.com/office/drawing/2014/main" val="3732791350"/>
                    </a:ext>
                  </a:extLst>
                </a:gridCol>
                <a:gridCol w="527910">
                  <a:extLst>
                    <a:ext uri="{9D8B030D-6E8A-4147-A177-3AD203B41FA5}">
                      <a16:colId xmlns:a16="http://schemas.microsoft.com/office/drawing/2014/main" val="766585080"/>
                    </a:ext>
                  </a:extLst>
                </a:gridCol>
              </a:tblGrid>
              <a:tr h="871769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구분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(1)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(2)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(3)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(4)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(5)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(6)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(7)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본 연구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2038992"/>
                  </a:ext>
                </a:extLst>
              </a:tr>
              <a:tr h="506689">
                <a:tc row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통제변수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인구수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325627"/>
                  </a:ext>
                </a:extLst>
              </a:tr>
              <a:tr h="3570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주택수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0763950"/>
                  </a:ext>
                </a:extLst>
              </a:tr>
              <a:tr h="3570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고용률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0885183"/>
                  </a:ext>
                </a:extLst>
              </a:tr>
              <a:tr h="3570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이사 성수기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7741392"/>
                  </a:ext>
                </a:extLst>
              </a:tr>
              <a:tr h="3570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지역 더미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024643"/>
                  </a:ext>
                </a:extLst>
              </a:tr>
              <a:tr h="357056">
                <a:tc rowSpan="9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가변수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청년임대주택사업고시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289129"/>
                  </a:ext>
                </a:extLst>
              </a:tr>
              <a:tr h="3570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청년임대주택 착공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1274728"/>
                  </a:ext>
                </a:extLst>
              </a:tr>
              <a:tr h="3570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청년임대주택 입주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0903226"/>
                  </a:ext>
                </a:extLst>
              </a:tr>
              <a:tr h="3570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계약유형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전세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=1)</a:t>
                      </a: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●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2630092"/>
                  </a:ext>
                </a:extLst>
              </a:tr>
              <a:tr h="3570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주택유형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●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1454072"/>
                  </a:ext>
                </a:extLst>
              </a:tr>
              <a:tr h="3570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신축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289612"/>
                  </a:ext>
                </a:extLst>
              </a:tr>
              <a:tr h="3570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리모델링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5086086"/>
                  </a:ext>
                </a:extLst>
              </a:tr>
              <a:tr h="3570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시장금리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(CD </a:t>
                      </a: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금리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428814"/>
                  </a:ext>
                </a:extLst>
              </a:tr>
              <a:tr h="3570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계절성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1076793"/>
                  </a:ext>
                </a:extLst>
              </a:tr>
            </a:tbl>
          </a:graphicData>
        </a:graphic>
      </p:graphicFrame>
      <p:sp>
        <p:nvSpPr>
          <p:cNvPr id="11" name="Rectangle 2">
            <a:extLst>
              <a:ext uri="{FF2B5EF4-FFF2-40B4-BE49-F238E27FC236}">
                <a16:creationId xmlns:a16="http://schemas.microsoft.com/office/drawing/2014/main" id="{01267352-9CD1-9B73-88F5-A57971D16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4150" y="1624013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1C01B8-EF00-0C08-AAE1-96C63DD9DB31}"/>
              </a:ext>
            </a:extLst>
          </p:cNvPr>
          <p:cNvSpPr txBox="1"/>
          <p:nvPr/>
        </p:nvSpPr>
        <p:spPr>
          <a:xfrm>
            <a:off x="8007352" y="8487028"/>
            <a:ext cx="7801007" cy="781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fontAlgn="base" latinLnBrk="0">
              <a:lnSpc>
                <a:spcPct val="130000"/>
              </a:lnSpc>
              <a:spcBef>
                <a:spcPts val="200"/>
              </a:spcBef>
            </a:pP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-윤고딕110"/>
                <a:ea typeface="-윤고딕110"/>
              </a:rPr>
              <a:t>(1)</a:t>
            </a:r>
            <a:r>
              <a:rPr lang="ko-KR" altLang="en-US" sz="1800" kern="0" spc="-50" dirty="0" err="1">
                <a:solidFill>
                  <a:srgbClr val="000000"/>
                </a:solidFill>
                <a:effectLst/>
                <a:latin typeface="-윤고딕110"/>
                <a:ea typeface="-윤고딕110"/>
              </a:rPr>
              <a:t>임연호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-윤고딕110"/>
                <a:ea typeface="-윤고딕110"/>
              </a:rPr>
              <a:t>(2024), (2)</a:t>
            </a:r>
            <a:r>
              <a:rPr lang="ko-KR" altLang="en-US" sz="1800" kern="0" spc="-50" dirty="0" err="1">
                <a:solidFill>
                  <a:srgbClr val="000000"/>
                </a:solidFill>
                <a:effectLst/>
                <a:latin typeface="-윤고딕110"/>
                <a:ea typeface="-윤고딕110"/>
              </a:rPr>
              <a:t>이호일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-윤고딕110"/>
                <a:ea typeface="-윤고딕110"/>
              </a:rPr>
              <a:t>, </a:t>
            </a:r>
            <a:r>
              <a:rPr lang="ko-KR" altLang="en-US" sz="1800" kern="0" spc="-50" dirty="0" err="1">
                <a:solidFill>
                  <a:srgbClr val="000000"/>
                </a:solidFill>
                <a:effectLst/>
                <a:latin typeface="-윤고딕110"/>
                <a:ea typeface="-윤고딕110"/>
              </a:rPr>
              <a:t>정용호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-윤고딕110"/>
                <a:ea typeface="-윤고딕110"/>
              </a:rPr>
              <a:t>, </a:t>
            </a:r>
            <a:r>
              <a:rPr lang="ko-KR" altLang="en-US" sz="1800" kern="0" spc="-50" dirty="0" err="1">
                <a:solidFill>
                  <a:srgbClr val="000000"/>
                </a:solidFill>
                <a:effectLst/>
                <a:latin typeface="-윤고딕110"/>
                <a:ea typeface="-윤고딕110"/>
              </a:rPr>
              <a:t>노승한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-윤고딕110"/>
                <a:ea typeface="-윤고딕110"/>
              </a:rPr>
              <a:t>(2022), (3)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-윤고딕110"/>
                <a:ea typeface="-윤고딕110"/>
              </a:rPr>
              <a:t>김천일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-윤고딕110"/>
                <a:ea typeface="-윤고딕110"/>
              </a:rPr>
              <a:t>, </a:t>
            </a:r>
            <a:r>
              <a:rPr lang="ko-KR" altLang="en-US" sz="1800" kern="0" spc="-50" dirty="0" err="1">
                <a:solidFill>
                  <a:srgbClr val="000000"/>
                </a:solidFill>
                <a:effectLst/>
                <a:latin typeface="-윤고딕110"/>
                <a:ea typeface="-윤고딕110"/>
              </a:rPr>
              <a:t>고진수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-윤고딕110"/>
                <a:ea typeface="-윤고딕110"/>
              </a:rPr>
              <a:t>(2020), (4)</a:t>
            </a:r>
            <a:r>
              <a:rPr lang="ko-KR" altLang="en-US" sz="1800" kern="0" spc="-50" dirty="0" err="1">
                <a:solidFill>
                  <a:srgbClr val="000000"/>
                </a:solidFill>
                <a:effectLst/>
                <a:latin typeface="-윤고딕110"/>
                <a:ea typeface="-윤고딕110"/>
              </a:rPr>
              <a:t>박승제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-윤고딕110"/>
                <a:ea typeface="-윤고딕110"/>
              </a:rPr>
              <a:t>(2021), (5)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-윤고딕110"/>
                <a:ea typeface="-윤고딕110"/>
              </a:rPr>
              <a:t>정민철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-윤고딕110"/>
                <a:ea typeface="-윤고딕110"/>
              </a:rPr>
              <a:t>(2023), (6)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-윤고딕110"/>
                <a:ea typeface="-윤고딕110"/>
              </a:rPr>
              <a:t>이상현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-윤고딕110"/>
                <a:ea typeface="-윤고딕110"/>
              </a:rPr>
              <a:t>(2016), (7)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-윤고딕110"/>
                <a:ea typeface="-윤고딕110"/>
              </a:rPr>
              <a:t>박상우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-윤고딕110"/>
                <a:ea typeface="-윤고딕110"/>
              </a:rPr>
              <a:t>(2015)</a:t>
            </a:r>
            <a:endParaRPr lang="ko-KR" altLang="en-US" sz="1800" kern="0" spc="-50" dirty="0">
              <a:solidFill>
                <a:srgbClr val="000000"/>
              </a:solidFill>
              <a:effectLst/>
              <a:latin typeface="-윤고딕11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74800" y="736600"/>
            <a:ext cx="54356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ko-KR" altLang="en-US" sz="3100" dirty="0">
                <a:solidFill>
                  <a:srgbClr val="393939"/>
                </a:solidFill>
                <a:latin typeface="Pretendard Bold"/>
              </a:rPr>
              <a:t>연구방법 및 변수설정</a:t>
            </a:r>
            <a:r>
              <a:rPr lang="en-US" altLang="ko-KR" sz="3100" dirty="0">
                <a:solidFill>
                  <a:srgbClr val="393939"/>
                </a:solidFill>
                <a:latin typeface="Pretendard Bold"/>
              </a:rPr>
              <a:t> 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9000" y="723900"/>
            <a:ext cx="8255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00" dirty="0">
                <a:solidFill>
                  <a:srgbClr val="08A5C1"/>
                </a:solidFill>
                <a:latin typeface="Montserrat Bold"/>
              </a:rPr>
              <a:t>2</a:t>
            </a:r>
            <a:r>
              <a:rPr lang="ko-KR" altLang="en-US" sz="3000" dirty="0">
                <a:solidFill>
                  <a:srgbClr val="08A5C1"/>
                </a:solidFill>
                <a:latin typeface="Montserrat Bold"/>
              </a:rPr>
              <a:t>절</a:t>
            </a:r>
            <a:endParaRPr lang="en-US" sz="3000" b="0" i="0" u="none" strike="noStrike" dirty="0">
              <a:solidFill>
                <a:srgbClr val="08A5C1"/>
              </a:solidFill>
              <a:latin typeface="Montserrat Bold"/>
            </a:endParaRPr>
          </a:p>
        </p:txBody>
      </p:sp>
      <p:sp>
        <p:nvSpPr>
          <p:cNvPr id="30" name="슬라이드 번호 개체 틀 5">
            <a:extLst>
              <a:ext uri="{FF2B5EF4-FFF2-40B4-BE49-F238E27FC236}">
                <a16:creationId xmlns:a16="http://schemas.microsoft.com/office/drawing/2014/main" id="{812D49FD-9BB2-4FD6-A9B9-CE1BF3CCF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180889" y="9659937"/>
            <a:ext cx="586411" cy="365125"/>
          </a:xfrm>
        </p:spPr>
        <p:txBody>
          <a:bodyPr/>
          <a:lstStyle/>
          <a:p>
            <a:r>
              <a:rPr lang="en-US" altLang="ko-KR" sz="2000" dirty="0"/>
              <a:t>17</a:t>
            </a:r>
            <a:endParaRPr lang="ko-KR" altLang="en-US" sz="2000" dirty="0"/>
          </a:p>
        </p:txBody>
      </p: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D9F52A63-F22F-04CE-E094-D42EE27A43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474810"/>
              </p:ext>
            </p:extLst>
          </p:nvPr>
        </p:nvGraphicFramePr>
        <p:xfrm>
          <a:off x="913295" y="2291398"/>
          <a:ext cx="16560799" cy="6168390"/>
        </p:xfrm>
        <a:graphic>
          <a:graphicData uri="http://schemas.openxmlformats.org/drawingml/2006/table">
            <a:tbl>
              <a:tblPr/>
              <a:tblGrid>
                <a:gridCol w="1320800">
                  <a:extLst>
                    <a:ext uri="{9D8B030D-6E8A-4147-A177-3AD203B41FA5}">
                      <a16:colId xmlns:a16="http://schemas.microsoft.com/office/drawing/2014/main" val="316764075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92174412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729046444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1239492947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287713478"/>
                    </a:ext>
                  </a:extLst>
                </a:gridCol>
                <a:gridCol w="7010399">
                  <a:extLst>
                    <a:ext uri="{9D8B030D-6E8A-4147-A177-3AD203B41FA5}">
                      <a16:colId xmlns:a16="http://schemas.microsoft.com/office/drawing/2014/main" val="1887389689"/>
                    </a:ext>
                  </a:extLst>
                </a:gridCol>
              </a:tblGrid>
              <a:tr h="132455"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구축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1132440"/>
                  </a:ext>
                </a:extLst>
              </a:tr>
              <a:tr h="186055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종속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단위면적당 전세가격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만원</a:t>
                      </a:r>
                      <a:r>
                        <a:rPr lang="en-US" altLang="ko-KR" sz="2000" kern="0" spc="-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서울 부동산 정보광장</a:t>
                      </a:r>
                      <a:r>
                        <a:rPr lang="en-US" altLang="ko-KR" sz="2000" kern="0" spc="-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서울특별시</a:t>
                      </a:r>
                      <a:r>
                        <a:rPr lang="en-US" altLang="ko-KR" sz="2000" kern="0" spc="-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), </a:t>
                      </a: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한국부동산원 실거래 자료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868557"/>
                  </a:ext>
                </a:extLst>
              </a:tr>
              <a:tr h="221996">
                <a:tc rowSpan="1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독립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지역 특성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altLang="ko-KR" sz="2000" kern="0" spc="-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개권역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서울시 기준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249215"/>
                  </a:ext>
                </a:extLst>
              </a:tr>
              <a:tr h="1860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주변 청년안심주택 </a:t>
                      </a:r>
                      <a:r>
                        <a:rPr lang="ko-KR" altLang="en-US" sz="2000" kern="0" spc="-5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세대수</a:t>
                      </a:r>
                      <a:endParaRPr lang="ko-KR" altLang="en-US" sz="2000" kern="0" spc="-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청년안심주택 홈페이지</a:t>
                      </a:r>
                      <a:r>
                        <a:rPr lang="en-US" altLang="ko-KR" sz="20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20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네이버 지도</a:t>
                      </a:r>
                      <a:r>
                        <a:rPr lang="en-US" altLang="ko-KR" sz="20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20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일반건축물대장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714243"/>
                  </a:ext>
                </a:extLst>
              </a:tr>
              <a:tr h="1860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지하철역과의 거리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네이버 지도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440922"/>
                  </a:ext>
                </a:extLst>
              </a:tr>
              <a:tr h="1860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임대주택 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청년안심주택 홈페이지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825743"/>
                  </a:ext>
                </a:extLst>
              </a:tr>
              <a:tr h="384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청년 임대주택과의 거리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네이버 지도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3630782"/>
                  </a:ext>
                </a:extLst>
              </a:tr>
              <a:tr h="1860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8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주택 특성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전용면적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8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서울 부동산 정보광장</a:t>
                      </a:r>
                      <a:r>
                        <a:rPr lang="en-US" altLang="ko-KR" sz="20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20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서울특별시</a:t>
                      </a:r>
                      <a:r>
                        <a:rPr lang="en-US" altLang="ko-KR" sz="20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), </a:t>
                      </a:r>
                    </a:p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한국부동산원 </a:t>
                      </a:r>
                      <a:r>
                        <a:rPr lang="ko-KR" altLang="en-US" sz="2000" kern="0" spc="-5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실거래</a:t>
                      </a:r>
                      <a:r>
                        <a:rPr lang="ko-KR" altLang="en-US" sz="20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자료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820167"/>
                  </a:ext>
                </a:extLst>
              </a:tr>
              <a:tr h="1860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층수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층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846027"/>
                  </a:ext>
                </a:extLst>
              </a:tr>
              <a:tr h="1860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경과연수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7220715"/>
                  </a:ext>
                </a:extLst>
              </a:tr>
              <a:tr h="1860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주택유형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다세대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28313"/>
                  </a:ext>
                </a:extLst>
              </a:tr>
              <a:tr h="3819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연립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862461"/>
                  </a:ext>
                </a:extLst>
              </a:tr>
              <a:tr h="1860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연립다세대</a:t>
                      </a:r>
                    </a:p>
                  </a:txBody>
                  <a:tcPr marL="64770" marR="64770" marT="17907" marB="17907" anchor="ctr"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39017063"/>
                  </a:ext>
                </a:extLst>
              </a:tr>
              <a:tr h="1860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전월세 구분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전세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255035"/>
                  </a:ext>
                </a:extLst>
              </a:tr>
              <a:tr h="1959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월세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00648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00B145-371A-BDEF-A173-6F51834B9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DBC84DE-3B1B-1C57-BD8C-602F5A8A36F9}"/>
              </a:ext>
            </a:extLst>
          </p:cNvPr>
          <p:cNvSpPr txBox="1"/>
          <p:nvPr/>
        </p:nvSpPr>
        <p:spPr>
          <a:xfrm>
            <a:off x="1574800" y="736600"/>
            <a:ext cx="54356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3100" b="0" i="0" u="none" strike="noStrike" dirty="0">
                <a:solidFill>
                  <a:srgbClr val="393939"/>
                </a:solidFill>
                <a:ea typeface="Pretendard Bold"/>
              </a:rPr>
              <a:t>분석방법</a:t>
            </a:r>
            <a:r>
              <a:rPr lang="ko-KR" altLang="en-US" sz="3100" b="0" i="0" u="none" strike="noStrike" dirty="0">
                <a:solidFill>
                  <a:srgbClr val="393939"/>
                </a:solidFill>
                <a:ea typeface="Pretendard Bold"/>
              </a:rPr>
              <a:t>론</a:t>
            </a:r>
            <a:endParaRPr lang="ko-KR" sz="3100" b="0" i="0" u="none" strike="noStrike" dirty="0">
              <a:solidFill>
                <a:srgbClr val="393939"/>
              </a:solidFill>
              <a:ea typeface="Pretendard Bold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8D1399D-C5C6-E130-2D2A-5490735279DC}"/>
              </a:ext>
            </a:extLst>
          </p:cNvPr>
          <p:cNvSpPr txBox="1"/>
          <p:nvPr/>
        </p:nvSpPr>
        <p:spPr>
          <a:xfrm>
            <a:off x="889000" y="723900"/>
            <a:ext cx="8255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00" dirty="0">
                <a:solidFill>
                  <a:srgbClr val="08A5C1"/>
                </a:solidFill>
                <a:latin typeface="Montserrat Bold"/>
              </a:rPr>
              <a:t>3</a:t>
            </a:r>
            <a:r>
              <a:rPr lang="ko-KR" altLang="en-US" sz="3000" dirty="0">
                <a:solidFill>
                  <a:srgbClr val="08A5C1"/>
                </a:solidFill>
                <a:latin typeface="Montserrat Bold"/>
              </a:rPr>
              <a:t>절</a:t>
            </a:r>
            <a:endParaRPr lang="en-US" sz="3000" b="0" i="0" u="none" strike="noStrike" dirty="0">
              <a:solidFill>
                <a:srgbClr val="08A5C1"/>
              </a:solidFill>
              <a:latin typeface="Montserrat 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5926DA2-729C-764C-396B-34FEFB65FFE2}"/>
              </a:ext>
            </a:extLst>
          </p:cNvPr>
          <p:cNvSpPr txBox="1"/>
          <p:nvPr/>
        </p:nvSpPr>
        <p:spPr>
          <a:xfrm>
            <a:off x="965200" y="2032000"/>
            <a:ext cx="97790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6990"/>
              </a:lnSpc>
            </a:pPr>
            <a:r>
              <a:rPr lang="en-US" altLang="ko-KR" sz="2500" b="1" i="0" u="none" strike="noStrike" dirty="0">
                <a:solidFill>
                  <a:srgbClr val="000000"/>
                </a:solidFill>
                <a:ea typeface="조선가는고딕"/>
              </a:rPr>
              <a:t>1. </a:t>
            </a:r>
            <a:r>
              <a:rPr lang="ko-KR" sz="2500" b="1" i="0" u="none" strike="noStrike" dirty="0">
                <a:solidFill>
                  <a:srgbClr val="000000"/>
                </a:solidFill>
                <a:ea typeface="조선가는고딕"/>
              </a:rPr>
              <a:t>집단</a:t>
            </a:r>
            <a:r>
              <a:rPr lang="en-US" sz="2500" b="1" i="0" u="none" strike="noStrike" dirty="0">
                <a:solidFill>
                  <a:srgbClr val="000000"/>
                </a:solidFill>
                <a:latin typeface="조선가는고딕"/>
              </a:rPr>
              <a:t> </a:t>
            </a:r>
            <a:r>
              <a:rPr lang="ko-KR" sz="2500" b="1" i="0" u="none" strike="noStrike" dirty="0">
                <a:solidFill>
                  <a:srgbClr val="000000"/>
                </a:solidFill>
                <a:ea typeface="조선가는고딕"/>
              </a:rPr>
              <a:t>간</a:t>
            </a:r>
            <a:r>
              <a:rPr lang="en-US" sz="2500" b="1" i="0" u="none" strike="noStrike" dirty="0">
                <a:solidFill>
                  <a:srgbClr val="000000"/>
                </a:solidFill>
                <a:latin typeface="조선가는고딕"/>
              </a:rPr>
              <a:t> </a:t>
            </a:r>
            <a:r>
              <a:rPr lang="ko-KR" sz="2500" b="1" i="0" u="none" strike="noStrike" dirty="0">
                <a:solidFill>
                  <a:srgbClr val="000000"/>
                </a:solidFill>
                <a:ea typeface="조선가는고딕"/>
              </a:rPr>
              <a:t>차이분석</a:t>
            </a:r>
            <a:r>
              <a:rPr lang="en-US" sz="2500" b="1" i="0" u="none" strike="noStrike" dirty="0">
                <a:solidFill>
                  <a:srgbClr val="000000"/>
                </a:solidFill>
                <a:latin typeface="조선가는고딕"/>
              </a:rPr>
              <a:t>(</a:t>
            </a:r>
            <a:r>
              <a:rPr lang="ko-KR" sz="2500" b="1" i="0" u="none" strike="noStrike" dirty="0">
                <a:solidFill>
                  <a:srgbClr val="000000"/>
                </a:solidFill>
                <a:ea typeface="조선가는고딕"/>
              </a:rPr>
              <a:t>일원배치</a:t>
            </a:r>
            <a:r>
              <a:rPr lang="en-US" sz="2500" b="1" i="0" u="none" strike="noStrike" dirty="0">
                <a:solidFill>
                  <a:srgbClr val="000000"/>
                </a:solidFill>
                <a:latin typeface="조선가는고딕"/>
              </a:rPr>
              <a:t> </a:t>
            </a:r>
            <a:r>
              <a:rPr lang="ko-KR" sz="2500" b="1" i="0" u="none" strike="noStrike" dirty="0">
                <a:solidFill>
                  <a:srgbClr val="000000"/>
                </a:solidFill>
                <a:ea typeface="조선가는고딕"/>
              </a:rPr>
              <a:t>분산분석</a:t>
            </a:r>
            <a:r>
              <a:rPr lang="en-US" sz="2500" b="1" i="0" u="none" strike="noStrike" dirty="0">
                <a:solidFill>
                  <a:srgbClr val="000000"/>
                </a:solidFill>
                <a:latin typeface="조선가는고딕"/>
              </a:rPr>
              <a:t>)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2F40E143-E3B2-65A7-3575-DB1A8AC55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0700" y="5041900"/>
            <a:ext cx="1447800" cy="14478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4A47633F-6894-4FAB-9F72-9A0B49D8A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2768600"/>
            <a:ext cx="16802100" cy="22733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3239E586-B934-49B9-4FFE-07BE18D617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9448800" y="8978900"/>
            <a:ext cx="3733800" cy="254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548D892C-F795-5D0C-1C26-33703637D0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89000" y="2857500"/>
            <a:ext cx="342900" cy="3429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EBCAB38B-0ABB-ECDD-5358-CBB8C9E5AD16}"/>
              </a:ext>
            </a:extLst>
          </p:cNvPr>
          <p:cNvSpPr txBox="1"/>
          <p:nvPr/>
        </p:nvSpPr>
        <p:spPr>
          <a:xfrm>
            <a:off x="1219200" y="3289300"/>
            <a:ext cx="16319500" cy="180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변수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간의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관계를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분석하는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방법으로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,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주로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범주형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변수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간의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상관성을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파악하는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데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사용됨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. </a:t>
            </a:r>
          </a:p>
          <a:p>
            <a:pPr marL="342900" lvl="0" indent="-342900" algn="l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관측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빈도와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기대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빈도의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차이의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제곱합을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계산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후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 err="1">
                <a:solidFill>
                  <a:srgbClr val="040000"/>
                </a:solidFill>
                <a:ea typeface="조선가는고딕"/>
              </a:rPr>
              <a:t>카이제곱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분포의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 err="1">
                <a:solidFill>
                  <a:srgbClr val="040000"/>
                </a:solidFill>
                <a:ea typeface="조선가는고딕"/>
              </a:rPr>
              <a:t>임계값과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비교하여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 err="1">
                <a:solidFill>
                  <a:srgbClr val="040000"/>
                </a:solidFill>
                <a:ea typeface="조선가는고딕"/>
              </a:rPr>
              <a:t>귀무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가설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기각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여부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결정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.</a:t>
            </a:r>
          </a:p>
          <a:p>
            <a:pPr marL="342900" lvl="0" indent="-342900" algn="l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자유도는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테이블의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행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(r)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과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열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(c)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에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의해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결정</a:t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676FD3D1-BCD3-6411-C6AB-2CDA050FF7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" y="6489700"/>
            <a:ext cx="16802100" cy="22352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ECEF16FC-866A-174C-6C0D-5A103DAF7F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89000" y="6489700"/>
            <a:ext cx="342900" cy="3429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F53D5B6E-0465-1CAF-04E3-A2E9BA8302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4400" y="4203700"/>
            <a:ext cx="2311400" cy="800100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DEE15A70-6308-7375-6E40-B91B99B45D4D}"/>
              </a:ext>
            </a:extLst>
          </p:cNvPr>
          <p:cNvSpPr txBox="1"/>
          <p:nvPr/>
        </p:nvSpPr>
        <p:spPr>
          <a:xfrm>
            <a:off x="1219200" y="6921500"/>
            <a:ext cx="16319500" cy="1346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sz="2400" b="0" i="0" u="none" strike="noStrike">
                <a:solidFill>
                  <a:srgbClr val="040000"/>
                </a:solidFill>
                <a:ea typeface="조선가는고딕"/>
              </a:rPr>
              <a:t>변수를</a:t>
            </a:r>
            <a:r>
              <a:rPr lang="en-US" sz="2400" b="0" i="0" u="none" strike="noStrike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>
                <a:solidFill>
                  <a:srgbClr val="040000"/>
                </a:solidFill>
                <a:ea typeface="조선가는고딕"/>
              </a:rPr>
              <a:t>범주화하여</a:t>
            </a:r>
            <a:r>
              <a:rPr lang="en-US" sz="2400" b="0" i="0" u="none" strike="noStrike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>
                <a:solidFill>
                  <a:srgbClr val="040000"/>
                </a:solidFill>
                <a:ea typeface="조선가는고딕"/>
              </a:rPr>
              <a:t>집단</a:t>
            </a:r>
            <a:r>
              <a:rPr lang="en-US" sz="2400" b="0" i="0" u="none" strike="noStrike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>
                <a:solidFill>
                  <a:srgbClr val="040000"/>
                </a:solidFill>
                <a:ea typeface="조선가는고딕"/>
              </a:rPr>
              <a:t>간의</a:t>
            </a:r>
            <a:r>
              <a:rPr lang="en-US" sz="2400" b="0" i="0" u="none" strike="noStrike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>
                <a:solidFill>
                  <a:srgbClr val="040000"/>
                </a:solidFill>
                <a:ea typeface="조선가는고딕"/>
              </a:rPr>
              <a:t>차이를</a:t>
            </a:r>
            <a:r>
              <a:rPr lang="en-US" sz="2400" b="0" i="0" u="none" strike="noStrike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>
                <a:solidFill>
                  <a:srgbClr val="040000"/>
                </a:solidFill>
                <a:ea typeface="조선가는고딕"/>
              </a:rPr>
              <a:t>밝히는</a:t>
            </a:r>
            <a:r>
              <a:rPr lang="en-US" sz="2400" b="0" i="0" u="none" strike="noStrike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>
                <a:solidFill>
                  <a:srgbClr val="040000"/>
                </a:solidFill>
                <a:ea typeface="조선가는고딕"/>
              </a:rPr>
              <a:t>데</a:t>
            </a:r>
            <a:r>
              <a:rPr lang="en-US" sz="2400" b="0" i="0" u="none" strike="noStrike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>
                <a:solidFill>
                  <a:srgbClr val="040000"/>
                </a:solidFill>
                <a:ea typeface="조선가는고딕"/>
              </a:rPr>
              <a:t>목적이</a:t>
            </a:r>
            <a:r>
              <a:rPr lang="en-US" sz="2400" b="0" i="0" u="none" strike="noStrike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>
                <a:solidFill>
                  <a:srgbClr val="040000"/>
                </a:solidFill>
                <a:ea typeface="조선가는고딕"/>
              </a:rPr>
              <a:t>있음</a:t>
            </a:r>
            <a:r>
              <a:rPr lang="en-US" sz="2400" b="0" i="0" u="none" strike="noStrike">
                <a:solidFill>
                  <a:srgbClr val="040000"/>
                </a:solidFill>
                <a:latin typeface="조선가는고딕"/>
              </a:rPr>
              <a:t>.</a:t>
            </a:r>
          </a:p>
          <a:p>
            <a:pPr marL="342900" lvl="0" indent="-342900" algn="l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en-US" sz="2400" b="0" i="0" u="none" strike="noStrike">
                <a:solidFill>
                  <a:srgbClr val="040000"/>
                </a:solidFill>
                <a:latin typeface="조선가는고딕"/>
              </a:rPr>
              <a:t>(</a:t>
            </a:r>
            <a:r>
              <a:rPr lang="ko-KR" sz="2400" b="0" i="0" u="none" strike="noStrike">
                <a:solidFill>
                  <a:srgbClr val="040000"/>
                </a:solidFill>
                <a:ea typeface="조선가는고딕"/>
              </a:rPr>
              <a:t>본</a:t>
            </a:r>
            <a:r>
              <a:rPr lang="en-US" sz="2400" b="0" i="0" u="none" strike="noStrike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>
                <a:solidFill>
                  <a:srgbClr val="040000"/>
                </a:solidFill>
                <a:ea typeface="조선가는고딕"/>
              </a:rPr>
              <a:t>연구의</a:t>
            </a:r>
            <a:r>
              <a:rPr lang="en-US" sz="2400" b="0" i="0" u="none" strike="noStrike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>
                <a:solidFill>
                  <a:srgbClr val="040000"/>
                </a:solidFill>
                <a:ea typeface="조선가는고딕"/>
              </a:rPr>
              <a:t>적용</a:t>
            </a:r>
            <a:r>
              <a:rPr lang="en-US" sz="2400" b="0" i="0" u="none" strike="noStrike">
                <a:solidFill>
                  <a:srgbClr val="040000"/>
                </a:solidFill>
                <a:latin typeface="조선가는고딕"/>
              </a:rPr>
              <a:t>) </a:t>
            </a:r>
            <a:r>
              <a:rPr lang="ko-KR" sz="2400" b="0" i="0" u="none" strike="noStrike">
                <a:solidFill>
                  <a:srgbClr val="040000"/>
                </a:solidFill>
                <a:ea typeface="조선가는고딕"/>
              </a:rPr>
              <a:t>각</a:t>
            </a:r>
            <a:r>
              <a:rPr lang="en-US" sz="2400" b="0" i="0" u="none" strike="noStrike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>
                <a:solidFill>
                  <a:srgbClr val="040000"/>
                </a:solidFill>
                <a:ea typeface="조선가는고딕"/>
              </a:rPr>
              <a:t>변수</a:t>
            </a:r>
            <a:r>
              <a:rPr lang="en-US" sz="2400" b="0" i="0" u="none" strike="noStrike">
                <a:solidFill>
                  <a:srgbClr val="040000"/>
                </a:solidFill>
                <a:latin typeface="조선가는고딕"/>
              </a:rPr>
              <a:t>(</a:t>
            </a:r>
            <a:r>
              <a:rPr lang="ko-KR" sz="2400" b="0" i="0" u="none" strike="noStrike">
                <a:solidFill>
                  <a:srgbClr val="040000"/>
                </a:solidFill>
                <a:ea typeface="조선가는고딕"/>
              </a:rPr>
              <a:t>지역변수</a:t>
            </a:r>
            <a:r>
              <a:rPr lang="en-US" sz="2400" b="0" i="0" u="none" strike="noStrike">
                <a:solidFill>
                  <a:srgbClr val="040000"/>
                </a:solidFill>
                <a:latin typeface="조선가는고딕"/>
              </a:rPr>
              <a:t>, </a:t>
            </a:r>
            <a:r>
              <a:rPr lang="ko-KR" sz="2400" b="0" i="0" u="none" strike="noStrike">
                <a:solidFill>
                  <a:srgbClr val="040000"/>
                </a:solidFill>
                <a:ea typeface="조선가는고딕"/>
              </a:rPr>
              <a:t>건물특성</a:t>
            </a:r>
            <a:r>
              <a:rPr lang="en-US" sz="2400" b="0" i="0" u="none" strike="noStrike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>
                <a:solidFill>
                  <a:srgbClr val="040000"/>
                </a:solidFill>
                <a:ea typeface="조선가는고딕"/>
              </a:rPr>
              <a:t>변수</a:t>
            </a:r>
            <a:r>
              <a:rPr lang="en-US" sz="2400" b="0" i="0" u="none" strike="noStrike">
                <a:solidFill>
                  <a:srgbClr val="040000"/>
                </a:solidFill>
                <a:latin typeface="조선가는고딕"/>
              </a:rPr>
              <a:t>)</a:t>
            </a:r>
            <a:r>
              <a:rPr lang="ko-KR" sz="2400" b="0" i="0" u="none" strike="noStrike">
                <a:solidFill>
                  <a:srgbClr val="040000"/>
                </a:solidFill>
                <a:ea typeface="조선가는고딕"/>
              </a:rPr>
              <a:t>에</a:t>
            </a:r>
            <a:r>
              <a:rPr lang="en-US" sz="2400" b="0" i="0" u="none" strike="noStrike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>
                <a:solidFill>
                  <a:srgbClr val="040000"/>
                </a:solidFill>
                <a:ea typeface="조선가는고딕"/>
              </a:rPr>
              <a:t>따른</a:t>
            </a:r>
            <a:r>
              <a:rPr lang="en-US" sz="2400" b="0" i="0" u="none" strike="noStrike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>
                <a:solidFill>
                  <a:srgbClr val="040000"/>
                </a:solidFill>
                <a:ea typeface="조선가는고딕"/>
              </a:rPr>
              <a:t>전월세</a:t>
            </a:r>
            <a:r>
              <a:rPr lang="en-US" sz="2400" b="0" i="0" u="none" strike="noStrike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>
                <a:solidFill>
                  <a:srgbClr val="040000"/>
                </a:solidFill>
                <a:ea typeface="조선가는고딕"/>
              </a:rPr>
              <a:t>가격</a:t>
            </a:r>
            <a:r>
              <a:rPr lang="en-US" sz="2400" b="0" i="0" u="none" strike="noStrike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>
                <a:solidFill>
                  <a:srgbClr val="040000"/>
                </a:solidFill>
                <a:ea typeface="조선가는고딕"/>
              </a:rPr>
              <a:t>차이를</a:t>
            </a:r>
            <a:r>
              <a:rPr lang="en-US" sz="2400" b="0" i="0" u="none" strike="noStrike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>
                <a:solidFill>
                  <a:srgbClr val="040000"/>
                </a:solidFill>
                <a:ea typeface="조선가는고딕"/>
              </a:rPr>
              <a:t>파악할</a:t>
            </a:r>
            <a:r>
              <a:rPr lang="en-US" sz="2400" b="0" i="0" u="none" strike="noStrike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>
                <a:solidFill>
                  <a:srgbClr val="040000"/>
                </a:solidFill>
                <a:ea typeface="조선가는고딕"/>
              </a:rPr>
              <a:t>수</a:t>
            </a:r>
            <a:r>
              <a:rPr lang="en-US" sz="2400" b="0" i="0" u="none" strike="noStrike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>
                <a:solidFill>
                  <a:srgbClr val="040000"/>
                </a:solidFill>
                <a:ea typeface="조선가는고딕"/>
              </a:rPr>
              <a:t>있음</a:t>
            </a:r>
            <a:r>
              <a:rPr lang="en-US" sz="2400" b="0" i="0" u="none" strike="noStrike">
                <a:solidFill>
                  <a:srgbClr val="040000"/>
                </a:solidFill>
                <a:latin typeface="조선가는고딕"/>
              </a:rPr>
              <a:t>.</a:t>
            </a:r>
          </a:p>
          <a:p>
            <a:pPr lvl="0" algn="l">
              <a:lnSpc>
                <a:spcPct val="124499"/>
              </a:lnSpc>
            </a:pPr>
            <a:r>
              <a:rPr lang="en-US" sz="2400" b="0" i="0" u="none" strike="noStrike">
                <a:solidFill>
                  <a:srgbClr val="040000"/>
                </a:solidFill>
                <a:latin typeface="조선가는고딕"/>
              </a:rPr>
              <a:t>                            </a:t>
            </a:r>
            <a:r>
              <a:rPr lang="ko-KR" sz="2400" b="0" i="0" u="none" strike="noStrike">
                <a:solidFill>
                  <a:srgbClr val="040000"/>
                </a:solidFill>
                <a:ea typeface="조선가는고딕"/>
              </a:rPr>
              <a:t>서울시</a:t>
            </a:r>
            <a:r>
              <a:rPr lang="en-US" sz="2400" b="0" i="0" u="none" strike="noStrike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>
                <a:solidFill>
                  <a:srgbClr val="040000"/>
                </a:solidFill>
                <a:ea typeface="조선가는고딕"/>
              </a:rPr>
              <a:t>권역별</a:t>
            </a:r>
            <a:r>
              <a:rPr lang="en-US" sz="2400" b="0" i="0" u="none" strike="noStrike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>
                <a:solidFill>
                  <a:srgbClr val="040000"/>
                </a:solidFill>
                <a:ea typeface="조선가는고딕"/>
              </a:rPr>
              <a:t>전월세</a:t>
            </a:r>
            <a:r>
              <a:rPr lang="en-US" sz="2400" b="0" i="0" u="none" strike="noStrike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>
                <a:solidFill>
                  <a:srgbClr val="040000"/>
                </a:solidFill>
                <a:ea typeface="조선가는고딕"/>
              </a:rPr>
              <a:t>가격</a:t>
            </a:r>
            <a:r>
              <a:rPr lang="en-US" sz="2400" b="0" i="0" u="none" strike="noStrike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>
                <a:solidFill>
                  <a:srgbClr val="040000"/>
                </a:solidFill>
                <a:ea typeface="조선가는고딕"/>
              </a:rPr>
              <a:t>차이를</a:t>
            </a:r>
            <a:r>
              <a:rPr lang="en-US" sz="2400" b="0" i="0" u="none" strike="noStrike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>
                <a:solidFill>
                  <a:srgbClr val="040000"/>
                </a:solidFill>
                <a:ea typeface="조선가는고딕"/>
              </a:rPr>
              <a:t>파악할</a:t>
            </a:r>
            <a:r>
              <a:rPr lang="en-US" sz="2400" b="0" i="0" u="none" strike="noStrike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>
                <a:solidFill>
                  <a:srgbClr val="040000"/>
                </a:solidFill>
                <a:ea typeface="조선가는고딕"/>
              </a:rPr>
              <a:t>수</a:t>
            </a:r>
            <a:r>
              <a:rPr lang="en-US" sz="2400" b="0" i="0" u="none" strike="noStrike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>
                <a:solidFill>
                  <a:srgbClr val="040000"/>
                </a:solidFill>
                <a:ea typeface="조선가는고딕"/>
              </a:rPr>
              <a:t>있음</a:t>
            </a:r>
            <a:r>
              <a:rPr lang="en-US" sz="2400" b="0" i="0" u="none" strike="noStrike">
                <a:solidFill>
                  <a:srgbClr val="040000"/>
                </a:solidFill>
                <a:latin typeface="조선가는고딕"/>
              </a:rPr>
              <a:t>.</a:t>
            </a:r>
          </a:p>
        </p:txBody>
      </p:sp>
      <p:sp>
        <p:nvSpPr>
          <p:cNvPr id="14" name="슬라이드 번호 개체 틀 5">
            <a:extLst>
              <a:ext uri="{FF2B5EF4-FFF2-40B4-BE49-F238E27FC236}">
                <a16:creationId xmlns:a16="http://schemas.microsoft.com/office/drawing/2014/main" id="{4D38433B-F8D5-715F-575C-A69D62174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180889" y="9659937"/>
            <a:ext cx="586411" cy="365125"/>
          </a:xfrm>
        </p:spPr>
        <p:txBody>
          <a:bodyPr/>
          <a:lstStyle/>
          <a:p>
            <a:r>
              <a:rPr lang="en-US" altLang="ko-KR" sz="2000" dirty="0"/>
              <a:t>18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147125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74800" y="736600"/>
            <a:ext cx="54356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3100" b="0" i="0" u="none" strike="noStrike" dirty="0">
                <a:solidFill>
                  <a:srgbClr val="393939"/>
                </a:solidFill>
                <a:ea typeface="Pretendard Bold"/>
              </a:rPr>
              <a:t>분석방법</a:t>
            </a:r>
            <a:r>
              <a:rPr lang="ko-KR" altLang="en-US" sz="3100" b="0" i="0" u="none" strike="noStrike" dirty="0">
                <a:solidFill>
                  <a:srgbClr val="393939"/>
                </a:solidFill>
                <a:ea typeface="Pretendard Bold"/>
              </a:rPr>
              <a:t>론</a:t>
            </a:r>
            <a:endParaRPr lang="ko-KR" sz="3100" b="0" i="0" u="none" strike="noStrike" dirty="0">
              <a:solidFill>
                <a:srgbClr val="393939"/>
              </a:solidFill>
              <a:ea typeface="Pretendard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889000" y="723900"/>
            <a:ext cx="8255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00" b="0" i="0" u="none" strike="noStrike" dirty="0">
                <a:solidFill>
                  <a:srgbClr val="08A5C1"/>
                </a:solidFill>
                <a:latin typeface="Montserrat Bold"/>
              </a:rPr>
              <a:t>3</a:t>
            </a:r>
            <a:r>
              <a:rPr lang="ko-KR" altLang="en-US" sz="3000" b="0" i="0" u="none" strike="noStrike" dirty="0">
                <a:solidFill>
                  <a:srgbClr val="08A5C1"/>
                </a:solidFill>
                <a:latin typeface="Montserrat Bold"/>
              </a:rPr>
              <a:t>절</a:t>
            </a:r>
            <a:endParaRPr lang="en-US" altLang="ko-KR" sz="3000" b="0" i="0" u="none" strike="noStrike" dirty="0">
              <a:solidFill>
                <a:srgbClr val="08A5C1"/>
              </a:solidFill>
              <a:latin typeface="Montserrat Bold"/>
            </a:endParaRPr>
          </a:p>
          <a:p>
            <a:pPr lvl="0" algn="l">
              <a:lnSpc>
                <a:spcPct val="116199"/>
              </a:lnSpc>
            </a:pPr>
            <a:endParaRPr lang="en-US" altLang="ko-KR" sz="3100" b="0" i="0" u="none" strike="noStrike" dirty="0">
              <a:solidFill>
                <a:srgbClr val="08A5C1"/>
              </a:solidFill>
              <a:latin typeface="Montserrat Bold"/>
            </a:endParaRPr>
          </a:p>
          <a:p>
            <a:pPr lvl="0" algn="l">
              <a:lnSpc>
                <a:spcPct val="116199"/>
              </a:lnSpc>
            </a:pPr>
            <a:endParaRPr lang="en-US" sz="3100" b="0" i="0" u="none" strike="noStrike" dirty="0">
              <a:solidFill>
                <a:srgbClr val="08A5C1"/>
              </a:solidFill>
              <a:latin typeface="Montserrat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65200" y="2032000"/>
            <a:ext cx="78359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6990"/>
              </a:lnSpc>
            </a:pPr>
            <a:r>
              <a:rPr lang="en-US" altLang="ko-KR" sz="2500" b="1" i="0" u="none" strike="noStrike" dirty="0">
                <a:solidFill>
                  <a:srgbClr val="000000"/>
                </a:solidFill>
                <a:ea typeface="조선가는고딕"/>
              </a:rPr>
              <a:t>2. </a:t>
            </a:r>
            <a:r>
              <a:rPr lang="ko-KR" sz="2500" b="1" i="0" u="none" strike="noStrike" dirty="0">
                <a:solidFill>
                  <a:srgbClr val="000000"/>
                </a:solidFill>
                <a:ea typeface="조선가는고딕"/>
              </a:rPr>
              <a:t>다중회귀분석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0700" y="5435600"/>
            <a:ext cx="1447800" cy="1447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2857500"/>
            <a:ext cx="16802100" cy="2641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9448800" y="8978900"/>
            <a:ext cx="3733800" cy="25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89000" y="2857500"/>
            <a:ext cx="342900" cy="3429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219200" y="3289300"/>
            <a:ext cx="16319500" cy="180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여러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독립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변수를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통해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하나의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연속적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종속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변수를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예측하거나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설명하는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통계적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방법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.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독립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변수들이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종속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변수에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미치는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개별적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영향을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평가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가능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.</a:t>
            </a:r>
          </a:p>
          <a:p>
            <a:pPr marL="342900" lvl="0" indent="-342900" algn="l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탐색적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데이터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분석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(EDA)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으로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변수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간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관계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및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이상치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검토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.</a:t>
            </a:r>
          </a:p>
          <a:p>
            <a:pPr marL="342900" lvl="0" indent="-342900" algn="l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모델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가정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: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선형성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,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독립성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,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등분산성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,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정규성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검토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, </a:t>
            </a:r>
            <a:r>
              <a:rPr lang="ko-KR" sz="2400" b="0" i="0" u="none" strike="noStrike" dirty="0" err="1">
                <a:solidFill>
                  <a:srgbClr val="040000"/>
                </a:solidFill>
                <a:ea typeface="조선가는고딕"/>
              </a:rPr>
              <a:t>다중공선성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해결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: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공차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한계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및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 err="1">
                <a:solidFill>
                  <a:srgbClr val="040000"/>
                </a:solidFill>
                <a:ea typeface="조선가는고딕"/>
              </a:rPr>
              <a:t>분산팽창지수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(VIF)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사용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.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" y="6946900"/>
            <a:ext cx="16802100" cy="2603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89000" y="6946900"/>
            <a:ext cx="342900" cy="342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6300" y="8801100"/>
            <a:ext cx="3543300" cy="3175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19200" y="7378700"/>
            <a:ext cx="16319500" cy="1346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(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모델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평가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)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회귀계수의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통계적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유의성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평가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. </a:t>
            </a:r>
            <a:r>
              <a:rPr lang="ko-KR" sz="2400" b="0" i="0" u="none" strike="noStrike" dirty="0" err="1">
                <a:solidFill>
                  <a:srgbClr val="040000"/>
                </a:solidFill>
                <a:ea typeface="조선가는고딕"/>
              </a:rPr>
              <a:t>결정계수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(R²):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모델이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데이터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변동성을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얼마나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설명하는지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평가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.</a:t>
            </a:r>
          </a:p>
          <a:p>
            <a:pPr lvl="0" algn="l">
              <a:lnSpc>
                <a:spcPct val="124499"/>
              </a:lnSpc>
            </a:pP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                   F-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통계량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: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모델의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전체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적합성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평가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, t-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검정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: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개별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회귀계수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평가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.</a:t>
            </a:r>
          </a:p>
          <a:p>
            <a:pPr marL="342900" lvl="0" indent="-342900" algn="l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(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본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연구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적용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) 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청년안심주택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공급이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주변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전월세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가격에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미치는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영향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분석을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위해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다중회귀분석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실시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. 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변수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간의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영향관계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 </a:t>
            </a:r>
            <a:r>
              <a:rPr lang="ko-KR" sz="2400" b="0" i="0" u="none" strike="noStrike" dirty="0">
                <a:solidFill>
                  <a:srgbClr val="040000"/>
                </a:solidFill>
                <a:ea typeface="조선가는고딕"/>
              </a:rPr>
              <a:t>도출</a:t>
            </a: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</a:rPr>
              <a:t>.</a:t>
            </a:r>
          </a:p>
        </p:txBody>
      </p:sp>
      <p:sp>
        <p:nvSpPr>
          <p:cNvPr id="14" name="슬라이드 번호 개체 틀 5">
            <a:extLst>
              <a:ext uri="{FF2B5EF4-FFF2-40B4-BE49-F238E27FC236}">
                <a16:creationId xmlns:a16="http://schemas.microsoft.com/office/drawing/2014/main" id="{F56C32E4-6424-4785-A362-E485F26FF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180889" y="9659937"/>
            <a:ext cx="586411" cy="365125"/>
          </a:xfrm>
        </p:spPr>
        <p:txBody>
          <a:bodyPr/>
          <a:lstStyle/>
          <a:p>
            <a:r>
              <a:rPr lang="en-US" altLang="ko-KR" sz="2000" dirty="0"/>
              <a:t>19</a:t>
            </a:r>
            <a:endParaRPr lang="ko-KR" alt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E1D2AC-D504-D57F-1555-54DA71081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2A120A8-C8A4-B79F-490F-9C3957C0B9E5}"/>
              </a:ext>
            </a:extLst>
          </p:cNvPr>
          <p:cNvSpPr txBox="1"/>
          <p:nvPr/>
        </p:nvSpPr>
        <p:spPr>
          <a:xfrm>
            <a:off x="1574800" y="736600"/>
            <a:ext cx="54356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3100" b="0" i="0" u="none" strike="noStrike" dirty="0">
                <a:solidFill>
                  <a:srgbClr val="393939"/>
                </a:solidFill>
                <a:ea typeface="Pretendard Bold"/>
              </a:rPr>
              <a:t>분석방법</a:t>
            </a:r>
            <a:r>
              <a:rPr lang="ko-KR" altLang="en-US" sz="3100" b="0" i="0" u="none" strike="noStrike" dirty="0">
                <a:solidFill>
                  <a:srgbClr val="393939"/>
                </a:solidFill>
                <a:ea typeface="Pretendard Bold"/>
              </a:rPr>
              <a:t>론</a:t>
            </a:r>
            <a:endParaRPr lang="ko-KR" sz="3100" b="0" i="0" u="none" strike="noStrike" dirty="0">
              <a:solidFill>
                <a:srgbClr val="393939"/>
              </a:solidFill>
              <a:ea typeface="Pretendard Bold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6DAD692-835C-F6A7-8005-49A8FE9BE860}"/>
              </a:ext>
            </a:extLst>
          </p:cNvPr>
          <p:cNvSpPr txBox="1"/>
          <p:nvPr/>
        </p:nvSpPr>
        <p:spPr>
          <a:xfrm>
            <a:off x="889000" y="723900"/>
            <a:ext cx="8255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00" b="0" i="0" u="none" strike="noStrike" dirty="0">
                <a:solidFill>
                  <a:srgbClr val="08A5C1"/>
                </a:solidFill>
                <a:latin typeface="Montserrat Bold"/>
              </a:rPr>
              <a:t>3</a:t>
            </a:r>
            <a:r>
              <a:rPr lang="ko-KR" altLang="en-US" sz="3000" b="0" i="0" u="none" strike="noStrike" dirty="0">
                <a:solidFill>
                  <a:srgbClr val="08A5C1"/>
                </a:solidFill>
                <a:latin typeface="Montserrat Bold"/>
              </a:rPr>
              <a:t>절</a:t>
            </a:r>
            <a:endParaRPr lang="en-US" altLang="ko-KR" sz="3000" b="0" i="0" u="none" strike="noStrike" dirty="0">
              <a:solidFill>
                <a:srgbClr val="08A5C1"/>
              </a:solidFill>
              <a:latin typeface="Montserrat Bold"/>
            </a:endParaRPr>
          </a:p>
          <a:p>
            <a:pPr lvl="0" algn="l">
              <a:lnSpc>
                <a:spcPct val="116199"/>
              </a:lnSpc>
            </a:pPr>
            <a:endParaRPr lang="en-US" altLang="ko-KR" sz="3100" b="0" i="0" u="none" strike="noStrike" dirty="0">
              <a:solidFill>
                <a:srgbClr val="08A5C1"/>
              </a:solidFill>
              <a:latin typeface="Montserrat Bold"/>
            </a:endParaRPr>
          </a:p>
          <a:p>
            <a:pPr lvl="0" algn="l">
              <a:lnSpc>
                <a:spcPct val="116199"/>
              </a:lnSpc>
            </a:pPr>
            <a:endParaRPr lang="en-US" sz="3100" b="0" i="0" u="none" strike="noStrike" dirty="0">
              <a:solidFill>
                <a:srgbClr val="08A5C1"/>
              </a:solidFill>
              <a:latin typeface="Montserrat 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ED5B95F-634E-D64E-8BEA-1C2FDDD6DCF3}"/>
              </a:ext>
            </a:extLst>
          </p:cNvPr>
          <p:cNvSpPr txBox="1"/>
          <p:nvPr/>
        </p:nvSpPr>
        <p:spPr>
          <a:xfrm>
            <a:off x="965200" y="2032000"/>
            <a:ext cx="78359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6990"/>
              </a:lnSpc>
            </a:pPr>
            <a:r>
              <a:rPr lang="en-US" altLang="ko-KR" sz="2500" b="1" i="0" u="none" strike="noStrike" dirty="0">
                <a:solidFill>
                  <a:srgbClr val="000000"/>
                </a:solidFill>
                <a:ea typeface="조선가는고딕"/>
              </a:rPr>
              <a:t>3. </a:t>
            </a:r>
            <a:r>
              <a:rPr lang="ko-KR" altLang="en-US" sz="2500" b="1" i="0" u="none" strike="noStrike" dirty="0">
                <a:solidFill>
                  <a:srgbClr val="000000"/>
                </a:solidFill>
                <a:ea typeface="조선가는고딕"/>
              </a:rPr>
              <a:t>자료분석방법</a:t>
            </a:r>
            <a:endParaRPr lang="ko-KR" sz="2500" b="1" i="0" u="none" strike="noStrike" dirty="0">
              <a:solidFill>
                <a:srgbClr val="000000"/>
              </a:solidFill>
              <a:ea typeface="조선가는고딕"/>
            </a:endParaRP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F7067E95-5E7B-4C30-626F-F6CC80F18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9448800" y="8978900"/>
            <a:ext cx="3733800" cy="254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FB69D72E-D334-0D44-DA1A-976BC4D94D8E}"/>
              </a:ext>
            </a:extLst>
          </p:cNvPr>
          <p:cNvSpPr txBox="1"/>
          <p:nvPr/>
        </p:nvSpPr>
        <p:spPr>
          <a:xfrm>
            <a:off x="1219200" y="3289300"/>
            <a:ext cx="16319500" cy="147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24499"/>
              </a:lnSpc>
              <a:buClr>
                <a:srgbClr val="040000"/>
              </a:buClr>
              <a:buFont typeface="Arial" panose="020B0604020202020204" pitchFamily="34" charset="0"/>
              <a:buChar char="•"/>
            </a:pPr>
            <a:r>
              <a:rPr lang="ko-KR" altLang="en-US" sz="2400" b="1" dirty="0"/>
              <a:t>선별 기준</a:t>
            </a:r>
            <a:r>
              <a:rPr lang="en-US" altLang="ko-KR" sz="2400" dirty="0"/>
              <a:t>: </a:t>
            </a:r>
            <a:r>
              <a:rPr lang="ko-KR" altLang="en-US" sz="2400" dirty="0"/>
              <a:t>전용면적 </a:t>
            </a:r>
            <a:r>
              <a:rPr lang="en-US" altLang="ko-KR" sz="2400" dirty="0"/>
              <a:t>35㎡ </a:t>
            </a:r>
            <a:r>
              <a:rPr lang="ko-KR" altLang="en-US" sz="2400" dirty="0"/>
              <a:t>이하의 연립 및 다세대 주택 데이터</a:t>
            </a:r>
            <a:r>
              <a:rPr lang="en-US" altLang="ko-KR" sz="2400" dirty="0"/>
              <a:t>.</a:t>
            </a:r>
          </a:p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 panose="020B0604020202020204" pitchFamily="34" charset="0"/>
              <a:buChar char="•"/>
            </a:pPr>
            <a:r>
              <a:rPr lang="en-US" altLang="ko-KR" sz="2400" dirty="0"/>
              <a:t>Stata </a:t>
            </a:r>
            <a:r>
              <a:rPr lang="ko-KR" altLang="en-US" sz="2400" dirty="0"/>
              <a:t>필터링 명령어</a:t>
            </a:r>
            <a:r>
              <a:rPr lang="en-US" altLang="ko-KR" sz="2400" dirty="0"/>
              <a:t>: keep if </a:t>
            </a:r>
            <a:r>
              <a:rPr lang="ko-KR" altLang="en-US" sz="2400" dirty="0"/>
              <a:t>면적 </a:t>
            </a:r>
            <a:r>
              <a:rPr lang="en-US" altLang="ko-KR" sz="2400" dirty="0"/>
              <a:t>&lt;= 35</a:t>
            </a:r>
            <a:endParaRPr lang="en-US" altLang="ko-KR" sz="2400" dirty="0">
              <a:solidFill>
                <a:srgbClr val="040000"/>
              </a:solidFill>
              <a:latin typeface="조선가는고딕"/>
            </a:endParaRPr>
          </a:p>
        </p:txBody>
      </p:sp>
      <p:sp>
        <p:nvSpPr>
          <p:cNvPr id="14" name="슬라이드 번호 개체 틀 5">
            <a:extLst>
              <a:ext uri="{FF2B5EF4-FFF2-40B4-BE49-F238E27FC236}">
                <a16:creationId xmlns:a16="http://schemas.microsoft.com/office/drawing/2014/main" id="{B3F6D4D6-9F00-6052-B2BB-EB3732111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180889" y="9659937"/>
            <a:ext cx="586411" cy="365125"/>
          </a:xfrm>
        </p:spPr>
        <p:txBody>
          <a:bodyPr/>
          <a:lstStyle/>
          <a:p>
            <a:r>
              <a:rPr lang="en-US" altLang="ko-KR" sz="2000" dirty="0"/>
              <a:t>20</a:t>
            </a:r>
            <a:endParaRPr lang="ko-KR" altLang="en-US" sz="2000" dirty="0"/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B842B4E6-0760-B72D-379F-FEE30670CFBD}"/>
              </a:ext>
            </a:extLst>
          </p:cNvPr>
          <p:cNvSpPr txBox="1"/>
          <p:nvPr/>
        </p:nvSpPr>
        <p:spPr>
          <a:xfrm>
            <a:off x="730250" y="4025900"/>
            <a:ext cx="16319500" cy="3556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 panose="020B0604020202020204" pitchFamily="34" charset="0"/>
              <a:buChar char="•"/>
            </a:pPr>
            <a:endParaRPr lang="en-US" altLang="ko-KR" sz="2400" dirty="0">
              <a:solidFill>
                <a:srgbClr val="040000"/>
              </a:solidFill>
              <a:latin typeface="조선가는고딕"/>
            </a:endParaRPr>
          </a:p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 panose="020B0604020202020204" pitchFamily="34" charset="0"/>
              <a:buChar char="•"/>
            </a:pPr>
            <a:r>
              <a:rPr lang="ko-KR" altLang="en-US" sz="2400" dirty="0"/>
              <a:t>기술 통계 분석</a:t>
            </a:r>
            <a:r>
              <a:rPr lang="en-US" altLang="ko-KR" sz="2400" dirty="0"/>
              <a:t>: </a:t>
            </a:r>
            <a:r>
              <a:rPr lang="ko-KR" altLang="en-US" sz="2400" dirty="0"/>
              <a:t>주요 변수의 분포 확인 및 데이터 적합성 검토</a:t>
            </a:r>
            <a:r>
              <a:rPr lang="en-US" altLang="ko-KR" sz="2400" dirty="0"/>
              <a:t>.</a:t>
            </a:r>
          </a:p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 panose="020B0604020202020204" pitchFamily="34" charset="0"/>
              <a:buChar char="•"/>
            </a:pPr>
            <a:r>
              <a:rPr lang="ko-KR" altLang="en-US" sz="2400" dirty="0"/>
              <a:t>다중회귀분석</a:t>
            </a:r>
            <a:r>
              <a:rPr lang="en-US" altLang="ko-KR" sz="2400" dirty="0"/>
              <a:t>:</a:t>
            </a:r>
          </a:p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 panose="020B0604020202020204" pitchFamily="34" charset="0"/>
              <a:buChar char="•"/>
            </a:pPr>
            <a:r>
              <a:rPr lang="ko-KR" altLang="en-US" sz="2400" dirty="0"/>
              <a:t>독립 변수</a:t>
            </a:r>
            <a:r>
              <a:rPr lang="en-US" altLang="ko-KR" sz="2400" dirty="0"/>
              <a:t>: </a:t>
            </a:r>
            <a:r>
              <a:rPr lang="ko-KR" altLang="en-US" sz="2400" dirty="0"/>
              <a:t>생활권역</a:t>
            </a:r>
            <a:r>
              <a:rPr lang="en-US" altLang="ko-KR" sz="2400" dirty="0"/>
              <a:t>, </a:t>
            </a:r>
            <a:r>
              <a:rPr lang="ko-KR" altLang="en-US" sz="2400" dirty="0"/>
              <a:t>청년안심주택 </a:t>
            </a:r>
            <a:r>
              <a:rPr lang="ko-KR" altLang="en-US" sz="2400" dirty="0" err="1"/>
              <a:t>세대수</a:t>
            </a:r>
            <a:r>
              <a:rPr lang="en-US" altLang="ko-KR" sz="2400" dirty="0"/>
              <a:t>, </a:t>
            </a:r>
            <a:r>
              <a:rPr lang="ko-KR" altLang="en-US" sz="2400" dirty="0"/>
              <a:t>지하철역 거리</a:t>
            </a:r>
            <a:r>
              <a:rPr lang="en-US" altLang="ko-KR" sz="2400" dirty="0"/>
              <a:t>, </a:t>
            </a:r>
            <a:r>
              <a:rPr lang="ko-KR" altLang="en-US" sz="2400" dirty="0"/>
              <a:t>임대주택 수</a:t>
            </a:r>
            <a:r>
              <a:rPr lang="en-US" altLang="ko-KR" sz="2400" dirty="0"/>
              <a:t>, </a:t>
            </a:r>
            <a:r>
              <a:rPr lang="ko-KR" altLang="en-US" sz="2400" dirty="0"/>
              <a:t>전용면적</a:t>
            </a:r>
            <a:r>
              <a:rPr lang="en-US" altLang="ko-KR" sz="2400" dirty="0"/>
              <a:t>, </a:t>
            </a:r>
            <a:r>
              <a:rPr lang="ko-KR" altLang="en-US" sz="2400" dirty="0"/>
              <a:t>층수</a:t>
            </a:r>
            <a:r>
              <a:rPr lang="en-US" altLang="ko-KR" sz="2400" dirty="0"/>
              <a:t>, </a:t>
            </a:r>
            <a:r>
              <a:rPr lang="ko-KR" altLang="en-US" sz="2400" dirty="0"/>
              <a:t>경과연수</a:t>
            </a:r>
            <a:r>
              <a:rPr lang="en-US" altLang="ko-KR" sz="2400" dirty="0"/>
              <a:t>, </a:t>
            </a:r>
            <a:r>
              <a:rPr lang="ko-KR" altLang="en-US" sz="2400" dirty="0"/>
              <a:t>주택 유형</a:t>
            </a:r>
            <a:r>
              <a:rPr lang="en-US" altLang="ko-KR" sz="2400" dirty="0"/>
              <a:t>.</a:t>
            </a:r>
          </a:p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 panose="020B0604020202020204" pitchFamily="34" charset="0"/>
              <a:buChar char="•"/>
            </a:pPr>
            <a:r>
              <a:rPr lang="ko-KR" altLang="en-US" sz="2400" dirty="0"/>
              <a:t>종속 변수</a:t>
            </a:r>
            <a:r>
              <a:rPr lang="en-US" altLang="ko-KR" sz="2400" dirty="0"/>
              <a:t>: </a:t>
            </a:r>
            <a:r>
              <a:rPr lang="ko-KR" altLang="en-US" sz="2400" dirty="0"/>
              <a:t>단위면적당 전세 가격</a:t>
            </a:r>
            <a:r>
              <a:rPr lang="en-US" altLang="ko-KR" sz="2400" dirty="0"/>
              <a:t>.</a:t>
            </a:r>
          </a:p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 panose="020B0604020202020204" pitchFamily="34" charset="0"/>
              <a:buChar char="•"/>
            </a:pPr>
            <a:r>
              <a:rPr lang="en-US" altLang="ko-KR" sz="2400" dirty="0"/>
              <a:t>Stata </a:t>
            </a:r>
            <a:r>
              <a:rPr lang="ko-KR" altLang="en-US" sz="2400" dirty="0"/>
              <a:t>명령어</a:t>
            </a:r>
            <a:r>
              <a:rPr lang="en-US" altLang="ko-KR" sz="2400" dirty="0"/>
              <a:t>: reg </a:t>
            </a:r>
            <a:r>
              <a:rPr lang="ko-KR" altLang="en-US" sz="2400" dirty="0"/>
              <a:t>종속변수 독립변수</a:t>
            </a:r>
            <a:r>
              <a:rPr lang="en-US" altLang="ko-KR" sz="2400" dirty="0"/>
              <a:t>1, </a:t>
            </a:r>
            <a:r>
              <a:rPr lang="ko-KR" altLang="en-US" sz="2400" dirty="0"/>
              <a:t>독립변수</a:t>
            </a:r>
            <a:r>
              <a:rPr lang="en-US" altLang="ko-KR" sz="2400" dirty="0"/>
              <a:t>2, ..., </a:t>
            </a:r>
            <a:r>
              <a:rPr lang="ko-KR" altLang="en-US" sz="2400" dirty="0"/>
              <a:t>독립변수</a:t>
            </a:r>
            <a:r>
              <a:rPr lang="en-US" altLang="ko-KR" sz="2400" dirty="0"/>
              <a:t>N.</a:t>
            </a:r>
          </a:p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 panose="020B0604020202020204" pitchFamily="34" charset="0"/>
              <a:buChar char="•"/>
            </a:pPr>
            <a:r>
              <a:rPr lang="ko-KR" altLang="en-US" sz="2400" dirty="0"/>
              <a:t>심층 분석</a:t>
            </a:r>
            <a:r>
              <a:rPr lang="en-US" altLang="ko-KR" sz="2400" dirty="0"/>
              <a:t>: </a:t>
            </a:r>
            <a:r>
              <a:rPr lang="ko-KR" altLang="en-US" sz="2400" dirty="0"/>
              <a:t>상호작용 항</a:t>
            </a:r>
            <a:r>
              <a:rPr lang="en-US" altLang="ko-KR" sz="2400" dirty="0"/>
              <a:t>(interaction term)</a:t>
            </a:r>
            <a:r>
              <a:rPr lang="ko-KR" altLang="en-US" sz="2400" dirty="0"/>
              <a:t>을 포함한 회귀분석</a:t>
            </a:r>
            <a:r>
              <a:rPr lang="en-US" altLang="ko-K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610968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39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2700" y="3657600"/>
            <a:ext cx="6019800" cy="61722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-1892300" y="2260600"/>
            <a:ext cx="8280400" cy="4597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5900" b="0" i="0" u="none" strike="noStrike" dirty="0">
                <a:solidFill>
                  <a:srgbClr val="08A5C1"/>
                </a:solidFill>
                <a:latin typeface="Montserrat SemiBold"/>
              </a:rPr>
              <a:t>04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16500" y="4660900"/>
            <a:ext cx="9829800" cy="215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34460"/>
              </a:lnSpc>
              <a:buAutoNum type="arabicPeriod"/>
            </a:pPr>
            <a:r>
              <a:rPr lang="ko-KR" sz="2600" b="0" i="0" u="none" strike="noStrike" dirty="0">
                <a:solidFill>
                  <a:srgbClr val="FFFFFF"/>
                </a:solidFill>
                <a:ea typeface="Pretendard Light"/>
              </a:rPr>
              <a:t>기초통계분석</a:t>
            </a:r>
          </a:p>
          <a:p>
            <a:pPr marL="342900" lvl="0" indent="-342900" algn="l">
              <a:lnSpc>
                <a:spcPct val="134460"/>
              </a:lnSpc>
              <a:buAutoNum type="arabicPeriod"/>
            </a:pPr>
            <a:r>
              <a:rPr lang="ko-KR" sz="2600" b="0" i="0" u="none" strike="noStrike" dirty="0">
                <a:solidFill>
                  <a:srgbClr val="FFFFFF"/>
                </a:solidFill>
                <a:ea typeface="Pretendard Light"/>
              </a:rPr>
              <a:t>상관관계분석</a:t>
            </a:r>
          </a:p>
          <a:p>
            <a:pPr marL="342900" lvl="0" indent="-342900" algn="l">
              <a:lnSpc>
                <a:spcPct val="134460"/>
              </a:lnSpc>
              <a:buAutoNum type="arabicPeriod"/>
            </a:pPr>
            <a:r>
              <a:rPr lang="ko-KR" sz="2600" b="0" i="0" u="none" strike="noStrike" dirty="0">
                <a:solidFill>
                  <a:srgbClr val="FFFFFF"/>
                </a:solidFill>
                <a:ea typeface="Pretendard Light"/>
              </a:rPr>
              <a:t>차이분석</a:t>
            </a:r>
          </a:p>
          <a:p>
            <a:pPr marL="342900" lvl="0" indent="-342900" algn="l">
              <a:lnSpc>
                <a:spcPct val="134460"/>
              </a:lnSpc>
              <a:buAutoNum type="arabicPeriod"/>
            </a:pPr>
            <a:r>
              <a:rPr lang="ko-KR" sz="2600" b="0" i="0" u="none" strike="noStrike" dirty="0">
                <a:solidFill>
                  <a:srgbClr val="FFFFFF"/>
                </a:solidFill>
                <a:ea typeface="Pretendard Light"/>
              </a:rPr>
              <a:t>다중회귀분석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16500" y="2933700"/>
            <a:ext cx="12433300" cy="154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8800" b="0" i="0" u="none" strike="noStrike">
                <a:solidFill>
                  <a:srgbClr val="FFFFFF"/>
                </a:solidFill>
                <a:ea typeface="Pretendard Bold"/>
              </a:rPr>
              <a:t>분석결과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74800" y="736600"/>
            <a:ext cx="54356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3100" b="0" i="0" u="none" strike="noStrike" dirty="0" err="1">
                <a:solidFill>
                  <a:srgbClr val="393939"/>
                </a:solidFill>
                <a:ea typeface="Pretendard Bold"/>
              </a:rPr>
              <a:t>기술통계량</a:t>
            </a:r>
            <a:endParaRPr lang="ko-KR" sz="3100" b="0" i="0" u="none" strike="noStrike" dirty="0">
              <a:solidFill>
                <a:srgbClr val="393939"/>
              </a:solidFill>
              <a:ea typeface="Pretendard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889000" y="723900"/>
            <a:ext cx="8255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00" b="0" i="0" u="none" strike="noStrike" dirty="0">
                <a:solidFill>
                  <a:srgbClr val="08A5C1"/>
                </a:solidFill>
                <a:latin typeface="Montserrat Bold"/>
              </a:rPr>
              <a:t>1</a:t>
            </a:r>
            <a:r>
              <a:rPr lang="ko-KR" altLang="en-US" sz="3000" b="0" i="0" u="none" strike="noStrike" dirty="0">
                <a:solidFill>
                  <a:srgbClr val="08A5C1"/>
                </a:solidFill>
                <a:latin typeface="Montserrat Bold"/>
              </a:rPr>
              <a:t>절</a:t>
            </a:r>
            <a:endParaRPr lang="en-US" sz="3000" b="0" i="0" u="none" strike="noStrike" dirty="0">
              <a:solidFill>
                <a:srgbClr val="08A5C1"/>
              </a:solidFill>
              <a:latin typeface="Montserrat Bold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5533851-FA2E-D5F0-96BB-1C8154F87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6313" y="1763713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9EC07B7-C63F-C4CC-A558-23D15D0B5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0" y="198755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00BA4945-592F-4731-ABC9-F724FC4F2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180889" y="9659937"/>
            <a:ext cx="586411" cy="365125"/>
          </a:xfrm>
        </p:spPr>
        <p:txBody>
          <a:bodyPr/>
          <a:lstStyle/>
          <a:p>
            <a:r>
              <a:rPr lang="en-US" altLang="ko-KR" sz="2000" dirty="0"/>
              <a:t>21</a:t>
            </a:r>
            <a:endParaRPr lang="ko-KR" altLang="en-US" sz="20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06B5776-CDC8-5D48-A689-CD9BA0B47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820947"/>
              </p:ext>
            </p:extLst>
          </p:nvPr>
        </p:nvGraphicFramePr>
        <p:xfrm>
          <a:off x="1066800" y="2000250"/>
          <a:ext cx="14630401" cy="6655188"/>
        </p:xfrm>
        <a:graphic>
          <a:graphicData uri="http://schemas.openxmlformats.org/drawingml/2006/table">
            <a:tbl>
              <a:tblPr/>
              <a:tblGrid>
                <a:gridCol w="1830135">
                  <a:extLst>
                    <a:ext uri="{9D8B030D-6E8A-4147-A177-3AD203B41FA5}">
                      <a16:colId xmlns:a16="http://schemas.microsoft.com/office/drawing/2014/main" val="3363673854"/>
                    </a:ext>
                  </a:extLst>
                </a:gridCol>
                <a:gridCol w="855831">
                  <a:extLst>
                    <a:ext uri="{9D8B030D-6E8A-4147-A177-3AD203B41FA5}">
                      <a16:colId xmlns:a16="http://schemas.microsoft.com/office/drawing/2014/main" val="3569397769"/>
                    </a:ext>
                  </a:extLst>
                </a:gridCol>
                <a:gridCol w="1830135">
                  <a:extLst>
                    <a:ext uri="{9D8B030D-6E8A-4147-A177-3AD203B41FA5}">
                      <a16:colId xmlns:a16="http://schemas.microsoft.com/office/drawing/2014/main" val="4203071562"/>
                    </a:ext>
                  </a:extLst>
                </a:gridCol>
                <a:gridCol w="1299761">
                  <a:extLst>
                    <a:ext uri="{9D8B030D-6E8A-4147-A177-3AD203B41FA5}">
                      <a16:colId xmlns:a16="http://schemas.microsoft.com/office/drawing/2014/main" val="690685072"/>
                    </a:ext>
                  </a:extLst>
                </a:gridCol>
                <a:gridCol w="1299761">
                  <a:extLst>
                    <a:ext uri="{9D8B030D-6E8A-4147-A177-3AD203B41FA5}">
                      <a16:colId xmlns:a16="http://schemas.microsoft.com/office/drawing/2014/main" val="3995661717"/>
                    </a:ext>
                  </a:extLst>
                </a:gridCol>
                <a:gridCol w="1405491">
                  <a:extLst>
                    <a:ext uri="{9D8B030D-6E8A-4147-A177-3AD203B41FA5}">
                      <a16:colId xmlns:a16="http://schemas.microsoft.com/office/drawing/2014/main" val="2936226813"/>
                    </a:ext>
                  </a:extLst>
                </a:gridCol>
                <a:gridCol w="1405491">
                  <a:extLst>
                    <a:ext uri="{9D8B030D-6E8A-4147-A177-3AD203B41FA5}">
                      <a16:colId xmlns:a16="http://schemas.microsoft.com/office/drawing/2014/main" val="1914386203"/>
                    </a:ext>
                  </a:extLst>
                </a:gridCol>
                <a:gridCol w="1697885">
                  <a:extLst>
                    <a:ext uri="{9D8B030D-6E8A-4147-A177-3AD203B41FA5}">
                      <a16:colId xmlns:a16="http://schemas.microsoft.com/office/drawing/2014/main" val="272433712"/>
                    </a:ext>
                  </a:extLst>
                </a:gridCol>
                <a:gridCol w="1697885">
                  <a:extLst>
                    <a:ext uri="{9D8B030D-6E8A-4147-A177-3AD203B41FA5}">
                      <a16:colId xmlns:a16="http://schemas.microsoft.com/office/drawing/2014/main" val="2670127683"/>
                    </a:ext>
                  </a:extLst>
                </a:gridCol>
                <a:gridCol w="1308026">
                  <a:extLst>
                    <a:ext uri="{9D8B030D-6E8A-4147-A177-3AD203B41FA5}">
                      <a16:colId xmlns:a16="http://schemas.microsoft.com/office/drawing/2014/main" val="749480927"/>
                    </a:ext>
                  </a:extLst>
                </a:gridCol>
              </a:tblGrid>
              <a:tr h="346075"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변수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N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평균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표준 편차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최대값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최소값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915670"/>
                  </a:ext>
                </a:extLst>
              </a:tr>
              <a:tr h="382016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종속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단위면적당 전세가격</a:t>
                      </a:r>
                      <a:r>
                        <a:rPr lang="en-US" altLang="ko-KR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원</a:t>
                      </a:r>
                      <a:r>
                        <a:rPr lang="en-US" altLang="ko-KR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㎡</a:t>
                      </a:r>
                      <a:r>
                        <a:rPr lang="en-US" altLang="ko-KR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20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9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14,895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9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456.2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125.5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550,000.0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1000.0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4430779"/>
                  </a:ext>
                </a:extLst>
              </a:tr>
              <a:tr h="221996">
                <a:tc rowSpan="1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독립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지역 특성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altLang="ko-KR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</a:t>
                      </a: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개권역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2.56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3.15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5363736"/>
                  </a:ext>
                </a:extLst>
              </a:tr>
              <a:tr h="3820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청년안심주택 세대수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254.5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215.2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1,226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6787197"/>
                  </a:ext>
                </a:extLst>
              </a:tr>
              <a:tr h="2219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지하철역과의 거리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5.36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1.02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350.0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58.0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674671"/>
                  </a:ext>
                </a:extLst>
              </a:tr>
              <a:tr h="2219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임대주택 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325.25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257.93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3,452.0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7802563"/>
                  </a:ext>
                </a:extLst>
              </a:tr>
              <a:tr h="3820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청년 임대주택과의 거리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302.57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94.39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3,542.0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235.0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266293"/>
                  </a:ext>
                </a:extLst>
              </a:tr>
              <a:tr h="2219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8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주택 특성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전용면적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29.62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10.54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35.0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10.0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8945158"/>
                  </a:ext>
                </a:extLst>
              </a:tr>
              <a:tr h="2219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층수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8.54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5.08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4.0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-1.0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2885358"/>
                  </a:ext>
                </a:extLst>
              </a:tr>
              <a:tr h="2219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경과연수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2.15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1.22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42.0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041260"/>
                  </a:ext>
                </a:extLst>
              </a:tr>
              <a:tr h="2219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주택유형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다세대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14,895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7,014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383,743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95.48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endParaRPr lang="ko-KR" altLang="en-US" sz="20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813351"/>
                  </a:ext>
                </a:extLst>
              </a:tr>
              <a:tr h="2219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연립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7,712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11,652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2.90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172625"/>
                  </a:ext>
                </a:extLst>
              </a:tr>
              <a:tr h="3820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연립</a:t>
                      </a:r>
                    </a:p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다세대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169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6,518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1.62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3577596"/>
                  </a:ext>
                </a:extLst>
              </a:tr>
              <a:tr h="2219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전월세 구분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전세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14,895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8,639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235,194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58.52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291694"/>
                  </a:ext>
                </a:extLst>
              </a:tr>
              <a:tr h="2319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월세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6,256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166,719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20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41.48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155675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C25B65B4-CD17-6E56-9D9D-0B291DED8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4838" y="177165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9">
            <a:extLst>
              <a:ext uri="{FF2B5EF4-FFF2-40B4-BE49-F238E27FC236}">
                <a16:creationId xmlns:a16="http://schemas.microsoft.com/office/drawing/2014/main" id="{8B54BA2F-3F87-43A7-AFDC-BA611F9BF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7296920"/>
            <a:ext cx="16319500" cy="1877197"/>
          </a:xfrm>
          <a:prstGeom prst="rect">
            <a:avLst/>
          </a:prstGeom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D3658AAA-8351-4B31-93B3-490F91EBE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008543" y="7240878"/>
            <a:ext cx="220965" cy="333051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1574800" y="736600"/>
            <a:ext cx="54356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3100" b="0" i="0" u="none" strike="noStrike" dirty="0">
                <a:solidFill>
                  <a:srgbClr val="393939"/>
                </a:solidFill>
                <a:ea typeface="Pretendard Bold"/>
              </a:rPr>
              <a:t>상관관계분석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9000" y="723900"/>
            <a:ext cx="7239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00" b="0" i="0" u="none" strike="noStrike" dirty="0">
                <a:solidFill>
                  <a:srgbClr val="08A5C1"/>
                </a:solidFill>
                <a:latin typeface="Montserrat Bold"/>
              </a:rPr>
              <a:t>2</a:t>
            </a:r>
            <a:r>
              <a:rPr lang="ko-KR" altLang="en-US" sz="3000" b="0" i="0" u="none" strike="noStrike" dirty="0">
                <a:solidFill>
                  <a:srgbClr val="08A5C1"/>
                </a:solidFill>
                <a:latin typeface="Montserrat Bold"/>
              </a:rPr>
              <a:t>절</a:t>
            </a:r>
            <a:endParaRPr lang="en-US" sz="3000" b="0" i="0" u="none" strike="noStrike" dirty="0">
              <a:solidFill>
                <a:srgbClr val="08A5C1"/>
              </a:solidFill>
              <a:latin typeface="Montserrat Bold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F3518C2-A106-80BC-D6F0-37EE0CC1C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1236159"/>
              </p:ext>
            </p:extLst>
          </p:nvPr>
        </p:nvGraphicFramePr>
        <p:xfrm>
          <a:off x="1255069" y="1943100"/>
          <a:ext cx="15255024" cy="43861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26207">
                  <a:extLst>
                    <a:ext uri="{9D8B030D-6E8A-4147-A177-3AD203B41FA5}">
                      <a16:colId xmlns:a16="http://schemas.microsoft.com/office/drawing/2014/main" val="1009320047"/>
                    </a:ext>
                  </a:extLst>
                </a:gridCol>
                <a:gridCol w="1175347">
                  <a:extLst>
                    <a:ext uri="{9D8B030D-6E8A-4147-A177-3AD203B41FA5}">
                      <a16:colId xmlns:a16="http://schemas.microsoft.com/office/drawing/2014/main" val="4155682831"/>
                    </a:ext>
                  </a:extLst>
                </a:gridCol>
                <a:gridCol w="1175347">
                  <a:extLst>
                    <a:ext uri="{9D8B030D-6E8A-4147-A177-3AD203B41FA5}">
                      <a16:colId xmlns:a16="http://schemas.microsoft.com/office/drawing/2014/main" val="4231402023"/>
                    </a:ext>
                  </a:extLst>
                </a:gridCol>
                <a:gridCol w="1175347">
                  <a:extLst>
                    <a:ext uri="{9D8B030D-6E8A-4147-A177-3AD203B41FA5}">
                      <a16:colId xmlns:a16="http://schemas.microsoft.com/office/drawing/2014/main" val="3337239555"/>
                    </a:ext>
                  </a:extLst>
                </a:gridCol>
                <a:gridCol w="1175347">
                  <a:extLst>
                    <a:ext uri="{9D8B030D-6E8A-4147-A177-3AD203B41FA5}">
                      <a16:colId xmlns:a16="http://schemas.microsoft.com/office/drawing/2014/main" val="3633044365"/>
                    </a:ext>
                  </a:extLst>
                </a:gridCol>
                <a:gridCol w="1175347">
                  <a:extLst>
                    <a:ext uri="{9D8B030D-6E8A-4147-A177-3AD203B41FA5}">
                      <a16:colId xmlns:a16="http://schemas.microsoft.com/office/drawing/2014/main" val="176875087"/>
                    </a:ext>
                  </a:extLst>
                </a:gridCol>
                <a:gridCol w="1175347">
                  <a:extLst>
                    <a:ext uri="{9D8B030D-6E8A-4147-A177-3AD203B41FA5}">
                      <a16:colId xmlns:a16="http://schemas.microsoft.com/office/drawing/2014/main" val="1437192173"/>
                    </a:ext>
                  </a:extLst>
                </a:gridCol>
                <a:gridCol w="1175347">
                  <a:extLst>
                    <a:ext uri="{9D8B030D-6E8A-4147-A177-3AD203B41FA5}">
                      <a16:colId xmlns:a16="http://schemas.microsoft.com/office/drawing/2014/main" val="2863777824"/>
                    </a:ext>
                  </a:extLst>
                </a:gridCol>
                <a:gridCol w="1175347">
                  <a:extLst>
                    <a:ext uri="{9D8B030D-6E8A-4147-A177-3AD203B41FA5}">
                      <a16:colId xmlns:a16="http://schemas.microsoft.com/office/drawing/2014/main" val="680765446"/>
                    </a:ext>
                  </a:extLst>
                </a:gridCol>
                <a:gridCol w="1175347">
                  <a:extLst>
                    <a:ext uri="{9D8B030D-6E8A-4147-A177-3AD203B41FA5}">
                      <a16:colId xmlns:a16="http://schemas.microsoft.com/office/drawing/2014/main" val="2242766355"/>
                    </a:ext>
                  </a:extLst>
                </a:gridCol>
                <a:gridCol w="1175347">
                  <a:extLst>
                    <a:ext uri="{9D8B030D-6E8A-4147-A177-3AD203B41FA5}">
                      <a16:colId xmlns:a16="http://schemas.microsoft.com/office/drawing/2014/main" val="2757737709"/>
                    </a:ext>
                  </a:extLst>
                </a:gridCol>
                <a:gridCol w="1175347">
                  <a:extLst>
                    <a:ext uri="{9D8B030D-6E8A-4147-A177-3AD203B41FA5}">
                      <a16:colId xmlns:a16="http://schemas.microsoft.com/office/drawing/2014/main" val="3697738699"/>
                    </a:ext>
                  </a:extLst>
                </a:gridCol>
              </a:tblGrid>
              <a:tr h="665508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면적당 가격</a:t>
                      </a:r>
                      <a:endParaRPr lang="ko-KR" altLang="en-US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개 권역</a:t>
                      </a:r>
                      <a:endParaRPr lang="ko-KR" altLang="en-US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청년주택 세대수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지하철역과의 거리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임대주택 수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청년임대주택 거리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전용면적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층수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경과연수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주택유형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전월세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extLst>
                  <a:ext uri="{0D108BD9-81ED-4DB2-BD59-A6C34878D82A}">
                    <a16:rowId xmlns:a16="http://schemas.microsoft.com/office/drawing/2014/main" val="280607828"/>
                  </a:ext>
                </a:extLst>
              </a:tr>
              <a:tr h="338241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면적당 가격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extLst>
                  <a:ext uri="{0D108BD9-81ED-4DB2-BD59-A6C34878D82A}">
                    <a16:rowId xmlns:a16="http://schemas.microsoft.com/office/drawing/2014/main" val="1415028846"/>
                  </a:ext>
                </a:extLst>
              </a:tr>
              <a:tr h="338241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개 권역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0.592**</a:t>
                      </a:r>
                      <a:endParaRPr lang="en-US" altLang="ko-KR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extLst>
                  <a:ext uri="{0D108BD9-81ED-4DB2-BD59-A6C34878D82A}">
                    <a16:rowId xmlns:a16="http://schemas.microsoft.com/office/drawing/2014/main" val="3131621533"/>
                  </a:ext>
                </a:extLst>
              </a:tr>
              <a:tr h="338241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청년주택 세대수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-0.125**</a:t>
                      </a:r>
                      <a:endParaRPr lang="en-US" altLang="ko-KR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0.002</a:t>
                      </a:r>
                      <a:endParaRPr lang="en-US" altLang="ko-KR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extLst>
                  <a:ext uri="{0D108BD9-81ED-4DB2-BD59-A6C34878D82A}">
                    <a16:rowId xmlns:a16="http://schemas.microsoft.com/office/drawing/2014/main" val="3489557619"/>
                  </a:ext>
                </a:extLst>
              </a:tr>
              <a:tr h="338241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지하철역과의 거리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0.265**</a:t>
                      </a:r>
                      <a:endParaRPr lang="en-US" altLang="ko-KR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0.085</a:t>
                      </a:r>
                      <a:endParaRPr lang="en-US" altLang="ko-KR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0.009</a:t>
                      </a:r>
                      <a:endParaRPr lang="en-US" altLang="ko-KR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extLst>
                  <a:ext uri="{0D108BD9-81ED-4DB2-BD59-A6C34878D82A}">
                    <a16:rowId xmlns:a16="http://schemas.microsoft.com/office/drawing/2014/main" val="507101068"/>
                  </a:ext>
                </a:extLst>
              </a:tr>
              <a:tr h="338241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임대주택 수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-0.125**</a:t>
                      </a:r>
                      <a:endParaRPr lang="en-US" altLang="ko-KR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0.012</a:t>
                      </a:r>
                      <a:endParaRPr lang="en-US" altLang="ko-KR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0.011</a:t>
                      </a:r>
                      <a:endParaRPr lang="en-US" altLang="ko-KR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0.252**</a:t>
                      </a:r>
                      <a:endParaRPr lang="en-US" altLang="ko-KR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extLst>
                  <a:ext uri="{0D108BD9-81ED-4DB2-BD59-A6C34878D82A}">
                    <a16:rowId xmlns:a16="http://schemas.microsoft.com/office/drawing/2014/main" val="1626953611"/>
                  </a:ext>
                </a:extLst>
              </a:tr>
              <a:tr h="338241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청년임대주택 거리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-0.222**</a:t>
                      </a:r>
                      <a:endParaRPr lang="en-US" altLang="ko-KR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0.062</a:t>
                      </a:r>
                      <a:endParaRPr lang="en-US" altLang="ko-KR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0.002</a:t>
                      </a:r>
                      <a:endParaRPr lang="en-US" altLang="ko-KR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0.066</a:t>
                      </a:r>
                      <a:endParaRPr lang="en-US" altLang="ko-KR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0.027</a:t>
                      </a:r>
                      <a:endParaRPr lang="en-US" altLang="ko-KR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extLst>
                  <a:ext uri="{0D108BD9-81ED-4DB2-BD59-A6C34878D82A}">
                    <a16:rowId xmlns:a16="http://schemas.microsoft.com/office/drawing/2014/main" val="4448777"/>
                  </a:ext>
                </a:extLst>
              </a:tr>
              <a:tr h="338241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전용면적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0.328**</a:t>
                      </a:r>
                      <a:endParaRPr lang="en-US" altLang="ko-KR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0.095*</a:t>
                      </a:r>
                      <a:endParaRPr lang="en-US" altLang="ko-KR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0.124*</a:t>
                      </a:r>
                      <a:endParaRPr lang="en-US" altLang="ko-KR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0.014</a:t>
                      </a:r>
                      <a:endParaRPr lang="en-US" altLang="ko-KR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0.033</a:t>
                      </a:r>
                      <a:endParaRPr lang="en-US" altLang="ko-KR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0.008</a:t>
                      </a:r>
                      <a:endParaRPr lang="en-US" altLang="ko-KR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extLst>
                  <a:ext uri="{0D108BD9-81ED-4DB2-BD59-A6C34878D82A}">
                    <a16:rowId xmlns:a16="http://schemas.microsoft.com/office/drawing/2014/main" val="1347197454"/>
                  </a:ext>
                </a:extLst>
              </a:tr>
              <a:tr h="338241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층수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0.195**</a:t>
                      </a:r>
                      <a:endParaRPr lang="en-US" altLang="ko-KR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0.006</a:t>
                      </a:r>
                      <a:endParaRPr lang="en-US" altLang="ko-KR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0.163*</a:t>
                      </a:r>
                      <a:endParaRPr lang="en-US" altLang="ko-KR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0.022</a:t>
                      </a:r>
                      <a:endParaRPr lang="en-US" altLang="ko-KR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0.007</a:t>
                      </a:r>
                      <a:endParaRPr lang="en-US" altLang="ko-KR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0.001</a:t>
                      </a:r>
                      <a:endParaRPr lang="en-US" altLang="ko-KR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0.005</a:t>
                      </a:r>
                      <a:endParaRPr lang="en-US" altLang="ko-KR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extLst>
                  <a:ext uri="{0D108BD9-81ED-4DB2-BD59-A6C34878D82A}">
                    <a16:rowId xmlns:a16="http://schemas.microsoft.com/office/drawing/2014/main" val="417719749"/>
                  </a:ext>
                </a:extLst>
              </a:tr>
              <a:tr h="338241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경과연수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-0.152**</a:t>
                      </a:r>
                      <a:endParaRPr lang="en-US" altLang="ko-KR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0.005</a:t>
                      </a:r>
                      <a:endParaRPr lang="en-US" altLang="ko-KR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0.008</a:t>
                      </a:r>
                      <a:endParaRPr lang="en-US" altLang="ko-KR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0.008</a:t>
                      </a:r>
                      <a:endParaRPr lang="en-US" altLang="ko-KR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0.085</a:t>
                      </a:r>
                      <a:endParaRPr lang="en-US" altLang="ko-KR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0.229**</a:t>
                      </a:r>
                      <a:endParaRPr lang="en-US" altLang="ko-KR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0.033</a:t>
                      </a:r>
                      <a:endParaRPr lang="en-US" altLang="ko-KR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0.002</a:t>
                      </a:r>
                      <a:endParaRPr lang="en-US" altLang="ko-KR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extLst>
                  <a:ext uri="{0D108BD9-81ED-4DB2-BD59-A6C34878D82A}">
                    <a16:rowId xmlns:a16="http://schemas.microsoft.com/office/drawing/2014/main" val="351239015"/>
                  </a:ext>
                </a:extLst>
              </a:tr>
              <a:tr h="338241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계약유형</a:t>
                      </a:r>
                      <a:endParaRPr lang="ko-KR" altLang="en-US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0.102**</a:t>
                      </a:r>
                      <a:endParaRPr lang="en-US" altLang="ko-KR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0.084</a:t>
                      </a:r>
                      <a:endParaRPr lang="en-US" altLang="ko-KR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0.012</a:t>
                      </a:r>
                      <a:endParaRPr lang="en-US" altLang="ko-KR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0.016</a:t>
                      </a:r>
                      <a:endParaRPr lang="en-US" altLang="ko-KR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0.004</a:t>
                      </a:r>
                      <a:endParaRPr lang="en-US" altLang="ko-KR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0.042</a:t>
                      </a:r>
                      <a:endParaRPr lang="en-US" altLang="ko-KR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0.015</a:t>
                      </a:r>
                      <a:endParaRPr lang="en-US" altLang="ko-KR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0.011</a:t>
                      </a:r>
                      <a:endParaRPr lang="en-US" altLang="ko-KR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0.006</a:t>
                      </a:r>
                      <a:endParaRPr lang="en-US" altLang="ko-KR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extLst>
                  <a:ext uri="{0D108BD9-81ED-4DB2-BD59-A6C34878D82A}">
                    <a16:rowId xmlns:a16="http://schemas.microsoft.com/office/drawing/2014/main" val="3899723327"/>
                  </a:ext>
                </a:extLst>
              </a:tr>
              <a:tr h="338241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전월세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0.089</a:t>
                      </a:r>
                      <a:endParaRPr lang="en-US" altLang="ko-KR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0.009</a:t>
                      </a:r>
                      <a:endParaRPr lang="en-US" altLang="ko-KR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0.053</a:t>
                      </a:r>
                      <a:endParaRPr lang="en-US" altLang="ko-KR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0.005</a:t>
                      </a:r>
                      <a:endParaRPr lang="en-US" altLang="ko-KR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0.011</a:t>
                      </a:r>
                      <a:endParaRPr lang="en-US" altLang="ko-KR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0.027</a:t>
                      </a:r>
                      <a:endParaRPr lang="en-US" altLang="ko-KR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0.008</a:t>
                      </a:r>
                      <a:endParaRPr lang="en-US" altLang="ko-KR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0.044</a:t>
                      </a:r>
                      <a:endParaRPr lang="en-US" altLang="ko-KR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0.012</a:t>
                      </a:r>
                      <a:endParaRPr lang="en-US" altLang="ko-KR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0.036</a:t>
                      </a:r>
                      <a:endParaRPr lang="en-US" altLang="ko-KR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199" marR="9199" marT="9199" marB="0" anchor="b"/>
                </a:tc>
                <a:extLst>
                  <a:ext uri="{0D108BD9-81ED-4DB2-BD59-A6C34878D82A}">
                    <a16:rowId xmlns:a16="http://schemas.microsoft.com/office/drawing/2014/main" val="69154902"/>
                  </a:ext>
                </a:extLst>
              </a:tr>
            </a:tbl>
          </a:graphicData>
        </a:graphic>
      </p:graphicFrame>
      <p:sp>
        <p:nvSpPr>
          <p:cNvPr id="5" name="TextBox 9">
            <a:extLst>
              <a:ext uri="{FF2B5EF4-FFF2-40B4-BE49-F238E27FC236}">
                <a16:creationId xmlns:a16="http://schemas.microsoft.com/office/drawing/2014/main" id="{5E3B631B-91FD-A470-4065-370FEEDBBD51}"/>
              </a:ext>
            </a:extLst>
          </p:cNvPr>
          <p:cNvSpPr txBox="1"/>
          <p:nvPr/>
        </p:nvSpPr>
        <p:spPr>
          <a:xfrm>
            <a:off x="1310504" y="7343003"/>
            <a:ext cx="16319500" cy="180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en-US" sz="2400" b="0" i="0" u="none" strike="noStrike" dirty="0">
                <a:solidFill>
                  <a:srgbClr val="040000"/>
                </a:solidFill>
                <a:ea typeface="조선가는고딕"/>
              </a:rPr>
              <a:t>면적당 임대료는 </a:t>
            </a:r>
            <a:r>
              <a:rPr lang="en-US" altLang="ko-KR" sz="2400" b="0" i="0" u="none" strike="noStrike" dirty="0">
                <a:solidFill>
                  <a:srgbClr val="040000"/>
                </a:solidFill>
                <a:ea typeface="조선가는고딕"/>
              </a:rPr>
              <a:t>5</a:t>
            </a:r>
            <a:r>
              <a:rPr lang="ko-KR" altLang="en-US" sz="2400" b="0" i="0" u="none" strike="noStrike" dirty="0" err="1">
                <a:solidFill>
                  <a:srgbClr val="040000"/>
                </a:solidFill>
                <a:ea typeface="조선가는고딕"/>
              </a:rPr>
              <a:t>개권역</a:t>
            </a:r>
            <a:r>
              <a:rPr lang="en-US" altLang="ko-KR" sz="2400" b="0" i="0" u="none" strike="noStrike" dirty="0">
                <a:solidFill>
                  <a:srgbClr val="040000"/>
                </a:solidFill>
                <a:ea typeface="조선가는고딕"/>
              </a:rPr>
              <a:t>(+), </a:t>
            </a:r>
            <a:r>
              <a:rPr lang="ko-KR" altLang="en-US" sz="2400" b="0" i="0" u="none" strike="noStrike" dirty="0">
                <a:solidFill>
                  <a:srgbClr val="040000"/>
                </a:solidFill>
                <a:ea typeface="조선가는고딕"/>
              </a:rPr>
              <a:t>청년주택 </a:t>
            </a:r>
            <a:r>
              <a:rPr lang="ko-KR" altLang="en-US" sz="2400" b="0" i="0" u="none" strike="noStrike" dirty="0" err="1">
                <a:solidFill>
                  <a:srgbClr val="040000"/>
                </a:solidFill>
                <a:ea typeface="조선가는고딕"/>
              </a:rPr>
              <a:t>세대수</a:t>
            </a:r>
            <a:r>
              <a:rPr lang="en-US" altLang="ko-KR" sz="2400" b="0" i="0" u="none" strike="noStrike" dirty="0">
                <a:solidFill>
                  <a:srgbClr val="040000"/>
                </a:solidFill>
                <a:ea typeface="조선가는고딕"/>
              </a:rPr>
              <a:t>(-), </a:t>
            </a:r>
            <a:r>
              <a:rPr lang="ko-KR" altLang="en-US" sz="2400" b="0" i="0" u="none" strike="noStrike" dirty="0">
                <a:solidFill>
                  <a:srgbClr val="040000"/>
                </a:solidFill>
                <a:ea typeface="조선가는고딕"/>
              </a:rPr>
              <a:t>지하철역과의 거리</a:t>
            </a:r>
            <a:r>
              <a:rPr lang="en-US" altLang="ko-KR" sz="2400" b="0" i="0" u="none" strike="noStrike" dirty="0">
                <a:solidFill>
                  <a:srgbClr val="040000"/>
                </a:solidFill>
                <a:ea typeface="조선가는고딕"/>
              </a:rPr>
              <a:t>(+), </a:t>
            </a:r>
            <a:r>
              <a:rPr lang="ko-KR" altLang="en-US" sz="2400" b="0" i="0" u="none" strike="noStrike" dirty="0">
                <a:solidFill>
                  <a:srgbClr val="040000"/>
                </a:solidFill>
                <a:ea typeface="조선가는고딕"/>
              </a:rPr>
              <a:t>임대주택 수</a:t>
            </a:r>
            <a:r>
              <a:rPr lang="en-US" altLang="ko-KR" sz="2400" b="0" i="0" u="none" strike="noStrike" dirty="0">
                <a:solidFill>
                  <a:srgbClr val="040000"/>
                </a:solidFill>
                <a:ea typeface="조선가는고딕"/>
              </a:rPr>
              <a:t>(-), </a:t>
            </a:r>
            <a:r>
              <a:rPr lang="ko-KR" altLang="en-US" sz="2400" b="0" i="0" u="none" strike="noStrike" dirty="0">
                <a:solidFill>
                  <a:srgbClr val="040000"/>
                </a:solidFill>
                <a:ea typeface="조선가는고딕"/>
              </a:rPr>
              <a:t>전용면적</a:t>
            </a:r>
            <a:r>
              <a:rPr lang="en-US" altLang="ko-KR" sz="2400" b="0" i="0" u="none" strike="noStrike" dirty="0">
                <a:solidFill>
                  <a:srgbClr val="040000"/>
                </a:solidFill>
                <a:ea typeface="조선가는고딕"/>
              </a:rPr>
              <a:t>(+), </a:t>
            </a:r>
            <a:r>
              <a:rPr lang="ko-KR" altLang="en-US" sz="2400" b="0" i="0" u="none" strike="noStrike" dirty="0">
                <a:solidFill>
                  <a:srgbClr val="040000"/>
                </a:solidFill>
                <a:ea typeface="조선가는고딕"/>
              </a:rPr>
              <a:t>층수</a:t>
            </a:r>
            <a:r>
              <a:rPr lang="en-US" altLang="ko-KR" sz="2400" dirty="0">
                <a:solidFill>
                  <a:srgbClr val="040000"/>
                </a:solidFill>
                <a:ea typeface="조선가는고딕"/>
              </a:rPr>
              <a:t>(+), </a:t>
            </a:r>
            <a:r>
              <a:rPr lang="ko-KR" altLang="en-US" sz="2400" dirty="0">
                <a:solidFill>
                  <a:srgbClr val="040000"/>
                </a:solidFill>
                <a:ea typeface="조선가는고딕"/>
              </a:rPr>
              <a:t>경과연수</a:t>
            </a:r>
            <a:r>
              <a:rPr lang="en-US" altLang="ko-KR" sz="2400" dirty="0">
                <a:solidFill>
                  <a:srgbClr val="040000"/>
                </a:solidFill>
                <a:ea typeface="조선가는고딕"/>
              </a:rPr>
              <a:t>(-), </a:t>
            </a:r>
            <a:r>
              <a:rPr lang="ko-KR" altLang="en-US" sz="2400" dirty="0">
                <a:solidFill>
                  <a:srgbClr val="040000"/>
                </a:solidFill>
                <a:ea typeface="조선가는고딕"/>
              </a:rPr>
              <a:t>주택유형</a:t>
            </a:r>
            <a:r>
              <a:rPr lang="en-US" altLang="ko-KR" sz="2400" dirty="0">
                <a:solidFill>
                  <a:srgbClr val="040000"/>
                </a:solidFill>
                <a:ea typeface="조선가는고딕"/>
              </a:rPr>
              <a:t>(+)</a:t>
            </a:r>
            <a:r>
              <a:rPr lang="ko-KR" altLang="en-US" sz="2400" dirty="0">
                <a:solidFill>
                  <a:srgbClr val="040000"/>
                </a:solidFill>
                <a:ea typeface="조선가는고딕"/>
              </a:rPr>
              <a:t>과 상관관계를 가지는 것으로 나타났다</a:t>
            </a:r>
            <a:r>
              <a:rPr lang="en-US" altLang="ko-KR" sz="2400" dirty="0">
                <a:solidFill>
                  <a:srgbClr val="040000"/>
                </a:solidFill>
                <a:ea typeface="조선가는고딕"/>
              </a:rPr>
              <a:t>.</a:t>
            </a:r>
          </a:p>
          <a:p>
            <a:pPr marL="342900" lvl="0" indent="-342900" algn="l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en-US" sz="2400" b="0" i="0" u="none" strike="noStrike" dirty="0">
                <a:solidFill>
                  <a:srgbClr val="040000"/>
                </a:solidFill>
                <a:latin typeface="조선가는고딕"/>
                <a:ea typeface="조선가는고딕"/>
              </a:rPr>
              <a:t>5</a:t>
            </a:r>
            <a:r>
              <a:rPr lang="ko-KR" altLang="en-US" sz="2400" b="0" i="0" u="none" strike="noStrike" dirty="0">
                <a:solidFill>
                  <a:srgbClr val="040000"/>
                </a:solidFill>
                <a:latin typeface="조선가는고딕"/>
                <a:ea typeface="조선가는고딕"/>
              </a:rPr>
              <a:t>개 권역은 전용면적</a:t>
            </a:r>
            <a:r>
              <a:rPr lang="en-US" altLang="ko-KR" sz="2400" b="0" i="0" u="none" strike="noStrike" dirty="0">
                <a:solidFill>
                  <a:srgbClr val="040000"/>
                </a:solidFill>
                <a:latin typeface="조선가는고딕"/>
                <a:ea typeface="조선가는고딕"/>
              </a:rPr>
              <a:t>(+), </a:t>
            </a:r>
            <a:r>
              <a:rPr lang="ko-KR" altLang="en-US" sz="2400" b="0" i="0" u="none" strike="noStrike" dirty="0">
                <a:solidFill>
                  <a:srgbClr val="040000"/>
                </a:solidFill>
                <a:latin typeface="조선가는고딕"/>
                <a:ea typeface="조선가는고딕"/>
              </a:rPr>
              <a:t>청년주택 세대수는 전용면적</a:t>
            </a:r>
            <a:r>
              <a:rPr lang="en-US" altLang="ko-KR" sz="2400" b="0" i="0" u="none" strike="noStrike" dirty="0">
                <a:solidFill>
                  <a:srgbClr val="040000"/>
                </a:solidFill>
                <a:latin typeface="조선가는고딕"/>
                <a:ea typeface="조선가는고딕"/>
              </a:rPr>
              <a:t>(+)</a:t>
            </a:r>
            <a:r>
              <a:rPr lang="ko-KR" altLang="en-US" sz="2400" b="0" i="0" u="none" strike="noStrike" dirty="0">
                <a:solidFill>
                  <a:srgbClr val="040000"/>
                </a:solidFill>
                <a:latin typeface="조선가는고딕"/>
                <a:ea typeface="조선가는고딕"/>
              </a:rPr>
              <a:t>과 층수</a:t>
            </a:r>
            <a:r>
              <a:rPr lang="en-US" altLang="ko-KR" sz="2400" b="0" i="0" u="none" strike="noStrike" dirty="0">
                <a:solidFill>
                  <a:srgbClr val="040000"/>
                </a:solidFill>
                <a:latin typeface="조선가는고딕"/>
                <a:ea typeface="조선가는고딕"/>
              </a:rPr>
              <a:t>(+), </a:t>
            </a:r>
            <a:r>
              <a:rPr lang="ko-KR" altLang="en-US" sz="2400" b="0" i="0" u="none" strike="noStrike" dirty="0">
                <a:solidFill>
                  <a:srgbClr val="040000"/>
                </a:solidFill>
                <a:latin typeface="조선가는고딕"/>
                <a:ea typeface="조선가는고딕"/>
              </a:rPr>
              <a:t>지하철역과의 거리는 임대주택 수</a:t>
            </a:r>
            <a:r>
              <a:rPr lang="en-US" altLang="ko-KR" sz="2400" b="0" i="0" u="none" strike="noStrike" dirty="0">
                <a:solidFill>
                  <a:srgbClr val="040000"/>
                </a:solidFill>
                <a:latin typeface="조선가는고딕"/>
                <a:ea typeface="조선가는고딕"/>
              </a:rPr>
              <a:t>(+), </a:t>
            </a:r>
            <a:r>
              <a:rPr lang="ko-KR" altLang="en-US" sz="2400" dirty="0">
                <a:solidFill>
                  <a:srgbClr val="040000"/>
                </a:solidFill>
                <a:latin typeface="조선가는고딕"/>
                <a:ea typeface="조선가는고딕"/>
              </a:rPr>
              <a:t>청년임대주택과의 거리는 경과연수</a:t>
            </a:r>
            <a:r>
              <a:rPr lang="en-US" altLang="ko-KR" sz="2400" dirty="0">
                <a:solidFill>
                  <a:srgbClr val="040000"/>
                </a:solidFill>
                <a:latin typeface="조선가는고딕"/>
                <a:ea typeface="조선가는고딕"/>
              </a:rPr>
              <a:t>(+)</a:t>
            </a:r>
            <a:r>
              <a:rPr lang="ko-KR" altLang="en-US" sz="2400" dirty="0">
                <a:solidFill>
                  <a:srgbClr val="040000"/>
                </a:solidFill>
                <a:latin typeface="조선가는고딕"/>
                <a:ea typeface="조선가는고딕"/>
              </a:rPr>
              <a:t>가 유의미한 상관관계를 가지는 것으로 나타났다</a:t>
            </a:r>
            <a:r>
              <a:rPr lang="en-US" altLang="ko-KR" sz="2400" dirty="0">
                <a:solidFill>
                  <a:srgbClr val="040000"/>
                </a:solidFill>
                <a:latin typeface="조선가는고딕"/>
                <a:ea typeface="조선가는고딕"/>
              </a:rPr>
              <a:t>.</a:t>
            </a:r>
            <a:endParaRPr lang="en-US" sz="2400" b="0" i="0" u="none" strike="noStrike" dirty="0">
              <a:solidFill>
                <a:srgbClr val="040000"/>
              </a:solidFill>
              <a:latin typeface="조선가는고딕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98A7E7-A1E2-4E8B-AE26-5934AC41D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180889" y="9659937"/>
            <a:ext cx="586411" cy="365125"/>
          </a:xfrm>
        </p:spPr>
        <p:txBody>
          <a:bodyPr/>
          <a:lstStyle/>
          <a:p>
            <a:r>
              <a:rPr lang="en-US" altLang="ko-KR" sz="2000" dirty="0"/>
              <a:t>22</a:t>
            </a:r>
            <a:endParaRPr lang="ko-KR" alt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74800" y="736600"/>
            <a:ext cx="54356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3100" b="0" i="0" u="none" strike="noStrike" dirty="0">
                <a:solidFill>
                  <a:srgbClr val="393939"/>
                </a:solidFill>
                <a:ea typeface="Pretendard Bold"/>
              </a:rPr>
              <a:t>차이분</a:t>
            </a:r>
            <a:r>
              <a:rPr lang="ko-KR" altLang="en-US" sz="3100" b="0" i="0" u="none" strike="noStrike" dirty="0">
                <a:solidFill>
                  <a:srgbClr val="393939"/>
                </a:solidFill>
                <a:ea typeface="Pretendard Bold"/>
              </a:rPr>
              <a:t>석</a:t>
            </a:r>
            <a:r>
              <a:rPr lang="en-US" altLang="ko-KR" sz="3100" b="0" i="0" u="none" strike="noStrike" dirty="0">
                <a:solidFill>
                  <a:srgbClr val="393939"/>
                </a:solidFill>
                <a:ea typeface="Pretendard Bold"/>
              </a:rPr>
              <a:t>(</a:t>
            </a:r>
            <a:r>
              <a:rPr lang="en-US" altLang="ko-KR" sz="3100" dirty="0">
                <a:solidFill>
                  <a:srgbClr val="393939"/>
                </a:solidFill>
                <a:ea typeface="Pretendard Bold"/>
              </a:rPr>
              <a:t>ANOVA</a:t>
            </a:r>
            <a:r>
              <a:rPr lang="ko-KR" altLang="en-US" sz="3100" dirty="0">
                <a:solidFill>
                  <a:srgbClr val="393939"/>
                </a:solidFill>
                <a:ea typeface="Pretendard Bold"/>
              </a:rPr>
              <a:t> 분석</a:t>
            </a:r>
            <a:r>
              <a:rPr lang="en-US" altLang="ko-KR" sz="3100" dirty="0">
                <a:solidFill>
                  <a:srgbClr val="393939"/>
                </a:solidFill>
                <a:ea typeface="Pretendard Bold"/>
              </a:rPr>
              <a:t>)</a:t>
            </a:r>
            <a:endParaRPr lang="ko-KR" sz="3100" b="0" i="0" u="none" strike="noStrike" dirty="0">
              <a:solidFill>
                <a:srgbClr val="393939"/>
              </a:solidFill>
              <a:ea typeface="Pretendard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889000" y="723900"/>
            <a:ext cx="6858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00" b="0" i="0" u="none" strike="noStrike" dirty="0">
                <a:solidFill>
                  <a:srgbClr val="08A5C1"/>
                </a:solidFill>
                <a:latin typeface="Montserrat Bold"/>
              </a:rPr>
              <a:t>3</a:t>
            </a:r>
            <a:r>
              <a:rPr lang="ko-KR" altLang="en-US" sz="3000" b="0" i="0" u="none" strike="noStrike" dirty="0">
                <a:solidFill>
                  <a:srgbClr val="08A5C1"/>
                </a:solidFill>
                <a:latin typeface="Montserrat Bold"/>
              </a:rPr>
              <a:t>절</a:t>
            </a:r>
            <a:endParaRPr lang="en-US" sz="3000" b="0" i="0" u="none" strike="noStrike" dirty="0">
              <a:solidFill>
                <a:srgbClr val="08A5C1"/>
              </a:solidFill>
              <a:latin typeface="Montserrat Bold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F2C03D3-2F72-4784-6C8C-3FEC2B4F99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675989"/>
              </p:ext>
            </p:extLst>
          </p:nvPr>
        </p:nvGraphicFramePr>
        <p:xfrm>
          <a:off x="4994274" y="2165242"/>
          <a:ext cx="11769726" cy="32289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61621">
                  <a:extLst>
                    <a:ext uri="{9D8B030D-6E8A-4147-A177-3AD203B41FA5}">
                      <a16:colId xmlns:a16="http://schemas.microsoft.com/office/drawing/2014/main" val="3998595191"/>
                    </a:ext>
                  </a:extLst>
                </a:gridCol>
                <a:gridCol w="1961621">
                  <a:extLst>
                    <a:ext uri="{9D8B030D-6E8A-4147-A177-3AD203B41FA5}">
                      <a16:colId xmlns:a16="http://schemas.microsoft.com/office/drawing/2014/main" val="945160519"/>
                    </a:ext>
                  </a:extLst>
                </a:gridCol>
                <a:gridCol w="1961621">
                  <a:extLst>
                    <a:ext uri="{9D8B030D-6E8A-4147-A177-3AD203B41FA5}">
                      <a16:colId xmlns:a16="http://schemas.microsoft.com/office/drawing/2014/main" val="867256617"/>
                    </a:ext>
                  </a:extLst>
                </a:gridCol>
                <a:gridCol w="1961621">
                  <a:extLst>
                    <a:ext uri="{9D8B030D-6E8A-4147-A177-3AD203B41FA5}">
                      <a16:colId xmlns:a16="http://schemas.microsoft.com/office/drawing/2014/main" val="1872997232"/>
                    </a:ext>
                  </a:extLst>
                </a:gridCol>
                <a:gridCol w="1961621">
                  <a:extLst>
                    <a:ext uri="{9D8B030D-6E8A-4147-A177-3AD203B41FA5}">
                      <a16:colId xmlns:a16="http://schemas.microsoft.com/office/drawing/2014/main" val="3710250545"/>
                    </a:ext>
                  </a:extLst>
                </a:gridCol>
                <a:gridCol w="1961621">
                  <a:extLst>
                    <a:ext uri="{9D8B030D-6E8A-4147-A177-3AD203B41FA5}">
                      <a16:colId xmlns:a16="http://schemas.microsoft.com/office/drawing/2014/main" val="641632487"/>
                    </a:ext>
                  </a:extLst>
                </a:gridCol>
              </a:tblGrid>
              <a:tr h="538163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권역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평균</a:t>
                      </a:r>
                      <a:endParaRPr lang="ko-KR" altLang="en-US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표준편차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+mn-ea"/>
                          <a:ea typeface="+mn-ea"/>
                        </a:rPr>
                        <a:t>F</a:t>
                      </a:r>
                      <a:endParaRPr 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+mn-ea"/>
                          <a:ea typeface="+mn-ea"/>
                        </a:rPr>
                        <a:t>p </a:t>
                      </a:r>
                      <a:endParaRPr 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+mn-ea"/>
                          <a:ea typeface="+mn-ea"/>
                        </a:rPr>
                        <a:t>post-hoc</a:t>
                      </a:r>
                      <a:endParaRPr 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9937799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서북권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360.25</a:t>
                      </a:r>
                      <a:endParaRPr lang="ko-KR" altLang="en-US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125.48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 rowSpan="5"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11.586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 rowSpan="5"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.000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 rowSpan="5"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동남권</a:t>
                      </a:r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&gt;</a:t>
                      </a:r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서북권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63933660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서남권</a:t>
                      </a:r>
                      <a:endParaRPr lang="ko-KR" altLang="en-US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420.39</a:t>
                      </a:r>
                      <a:endParaRPr lang="ko-KR" altLang="en-US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169.22</a:t>
                      </a:r>
                      <a:endParaRPr lang="ko-KR" altLang="en-US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559461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도심권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400.21</a:t>
                      </a:r>
                      <a:endParaRPr lang="ko-KR" altLang="en-US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155.33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7649948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동북권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390.22</a:t>
                      </a:r>
                      <a:endParaRPr lang="ko-KR" altLang="en-US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142.84</a:t>
                      </a:r>
                      <a:endParaRPr lang="ko-KR" altLang="en-US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11364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동남권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628.62</a:t>
                      </a:r>
                      <a:endParaRPr lang="ko-KR" altLang="en-US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219.61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2635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94B9DC9-CC82-3CF4-D91B-F4B96BF5E164}"/>
              </a:ext>
            </a:extLst>
          </p:cNvPr>
          <p:cNvSpPr txBox="1"/>
          <p:nvPr/>
        </p:nvSpPr>
        <p:spPr>
          <a:xfrm>
            <a:off x="965200" y="2032000"/>
            <a:ext cx="78359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6990"/>
              </a:lnSpc>
            </a:pPr>
            <a:r>
              <a:rPr lang="ko-KR" altLang="en-US" sz="2500" b="1" dirty="0">
                <a:solidFill>
                  <a:srgbClr val="000000"/>
                </a:solidFill>
                <a:latin typeface="조선가는고딕"/>
                <a:ea typeface="조선가는고딕"/>
              </a:rPr>
              <a:t>생활권역에 따른 면적당 가격</a:t>
            </a:r>
            <a:endParaRPr lang="en-US" sz="2500" b="1" i="0" u="none" strike="noStrike" dirty="0">
              <a:solidFill>
                <a:srgbClr val="000000"/>
              </a:solidFill>
              <a:latin typeface="조선가는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A9D1BA-B34E-3411-2A71-2FD232F63DCC}"/>
              </a:ext>
            </a:extLst>
          </p:cNvPr>
          <p:cNvSpPr txBox="1"/>
          <p:nvPr/>
        </p:nvSpPr>
        <p:spPr>
          <a:xfrm>
            <a:off x="909595" y="6591300"/>
            <a:ext cx="78359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6990"/>
              </a:lnSpc>
            </a:pPr>
            <a:r>
              <a:rPr lang="ko-KR" altLang="en-US" sz="2500" b="1" dirty="0">
                <a:solidFill>
                  <a:srgbClr val="000000"/>
                </a:solidFill>
                <a:latin typeface="조선가는고딕"/>
                <a:ea typeface="조선가는고딕"/>
              </a:rPr>
              <a:t>연도별 면적당 가격</a:t>
            </a:r>
            <a:endParaRPr lang="en-US" altLang="ko-KR" sz="2500" b="1" dirty="0">
              <a:solidFill>
                <a:srgbClr val="000000"/>
              </a:solidFill>
              <a:latin typeface="조선가는고딕"/>
              <a:ea typeface="조선가는고딕"/>
            </a:endParaRPr>
          </a:p>
          <a:p>
            <a:pPr lvl="0" algn="l">
              <a:lnSpc>
                <a:spcPct val="126990"/>
              </a:lnSpc>
            </a:pPr>
            <a:r>
              <a:rPr lang="en-US" i="0" u="none" strike="noStrike" dirty="0">
                <a:solidFill>
                  <a:srgbClr val="000000"/>
                </a:solidFill>
                <a:latin typeface="조선가는고딕"/>
                <a:ea typeface="조선가는고딕"/>
              </a:rPr>
              <a:t>(2024</a:t>
            </a:r>
            <a:r>
              <a:rPr lang="ko-KR" altLang="en-US" i="0" u="none" strike="noStrike" dirty="0">
                <a:solidFill>
                  <a:srgbClr val="000000"/>
                </a:solidFill>
                <a:latin typeface="조선가는고딕"/>
                <a:ea typeface="조선가는고딕"/>
              </a:rPr>
              <a:t>년은 </a:t>
            </a:r>
            <a:r>
              <a:rPr lang="en-US" altLang="ko-KR" i="0" u="none" strike="noStrike" dirty="0">
                <a:solidFill>
                  <a:srgbClr val="000000"/>
                </a:solidFill>
                <a:latin typeface="조선가는고딕"/>
                <a:ea typeface="조선가는고딕"/>
              </a:rPr>
              <a:t>6</a:t>
            </a:r>
            <a:r>
              <a:rPr lang="ko-KR" altLang="en-US" i="0" u="none" strike="noStrike" dirty="0">
                <a:solidFill>
                  <a:srgbClr val="000000"/>
                </a:solidFill>
                <a:latin typeface="조선가는고딕"/>
                <a:ea typeface="조선가는고딕"/>
              </a:rPr>
              <a:t>개월 자료이므로 제외</a:t>
            </a:r>
            <a:r>
              <a:rPr lang="en-US" altLang="ko-KR" i="0" u="none" strike="noStrike" dirty="0">
                <a:solidFill>
                  <a:srgbClr val="000000"/>
                </a:solidFill>
                <a:latin typeface="조선가는고딕"/>
                <a:ea typeface="조선가는고딕"/>
              </a:rPr>
              <a:t>)</a:t>
            </a:r>
            <a:endParaRPr lang="en-US" i="0" u="none" strike="noStrike" dirty="0">
              <a:solidFill>
                <a:srgbClr val="000000"/>
              </a:solidFill>
              <a:latin typeface="조선가는고딕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A075725-D7F5-8D69-471E-56A7381109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435396"/>
              </p:ext>
            </p:extLst>
          </p:nvPr>
        </p:nvGraphicFramePr>
        <p:xfrm>
          <a:off x="4994274" y="6591300"/>
          <a:ext cx="11769726" cy="32289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61621">
                  <a:extLst>
                    <a:ext uri="{9D8B030D-6E8A-4147-A177-3AD203B41FA5}">
                      <a16:colId xmlns:a16="http://schemas.microsoft.com/office/drawing/2014/main" val="3998595191"/>
                    </a:ext>
                  </a:extLst>
                </a:gridCol>
                <a:gridCol w="1961621">
                  <a:extLst>
                    <a:ext uri="{9D8B030D-6E8A-4147-A177-3AD203B41FA5}">
                      <a16:colId xmlns:a16="http://schemas.microsoft.com/office/drawing/2014/main" val="945160519"/>
                    </a:ext>
                  </a:extLst>
                </a:gridCol>
                <a:gridCol w="1961621">
                  <a:extLst>
                    <a:ext uri="{9D8B030D-6E8A-4147-A177-3AD203B41FA5}">
                      <a16:colId xmlns:a16="http://schemas.microsoft.com/office/drawing/2014/main" val="867256617"/>
                    </a:ext>
                  </a:extLst>
                </a:gridCol>
                <a:gridCol w="1961621">
                  <a:extLst>
                    <a:ext uri="{9D8B030D-6E8A-4147-A177-3AD203B41FA5}">
                      <a16:colId xmlns:a16="http://schemas.microsoft.com/office/drawing/2014/main" val="1872997232"/>
                    </a:ext>
                  </a:extLst>
                </a:gridCol>
                <a:gridCol w="1961621">
                  <a:extLst>
                    <a:ext uri="{9D8B030D-6E8A-4147-A177-3AD203B41FA5}">
                      <a16:colId xmlns:a16="http://schemas.microsoft.com/office/drawing/2014/main" val="3710250545"/>
                    </a:ext>
                  </a:extLst>
                </a:gridCol>
                <a:gridCol w="1961621">
                  <a:extLst>
                    <a:ext uri="{9D8B030D-6E8A-4147-A177-3AD203B41FA5}">
                      <a16:colId xmlns:a16="http://schemas.microsoft.com/office/drawing/2014/main" val="641632487"/>
                    </a:ext>
                  </a:extLst>
                </a:gridCol>
              </a:tblGrid>
              <a:tr h="538163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권역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평균</a:t>
                      </a:r>
                      <a:endParaRPr lang="ko-KR" altLang="en-US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표준편차</a:t>
                      </a:r>
                      <a:endParaRPr lang="ko-KR" alt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+mn-ea"/>
                          <a:ea typeface="+mn-ea"/>
                        </a:rPr>
                        <a:t>F</a:t>
                      </a:r>
                      <a:endParaRPr 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+mn-ea"/>
                          <a:ea typeface="+mn-ea"/>
                        </a:rPr>
                        <a:t>p </a:t>
                      </a:r>
                      <a:endParaRPr 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+mn-ea"/>
                          <a:ea typeface="+mn-ea"/>
                        </a:rPr>
                        <a:t>post-hoc</a:t>
                      </a:r>
                      <a:endParaRPr lang="en-US" sz="1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9937799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2019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lang="ko-KR" altLang="en-US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420.55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158.20</a:t>
                      </a:r>
                      <a:endParaRPr lang="ko-KR" altLang="en-US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 rowSpan="5"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2.005</a:t>
                      </a:r>
                      <a:endParaRPr lang="ko-KR" altLang="en-US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 rowSpan="5"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.051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 rowSpan="5"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63933660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2020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lang="ko-KR" altLang="en-US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436.21</a:t>
                      </a:r>
                      <a:endParaRPr lang="ko-KR" altLang="en-US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b="0" i="0" u="none" strike="noStrike" dirty="0">
                          <a:effectLst/>
                          <a:latin typeface="+mn-ea"/>
                          <a:ea typeface="+mn-ea"/>
                        </a:rPr>
                        <a:t>100.58</a:t>
                      </a:r>
                      <a:endParaRPr lang="ko-KR" altLang="en-US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559461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b="0" i="0" u="none" strike="noStrike" dirty="0">
                          <a:effectLst/>
                          <a:latin typeface="+mn-ea"/>
                          <a:ea typeface="+mn-ea"/>
                        </a:rPr>
                        <a:t>2021</a:t>
                      </a:r>
                      <a:r>
                        <a:rPr lang="ko-KR" altLang="en-US" sz="1800" b="0" i="0" u="none" strike="noStrike" dirty="0">
                          <a:effectLst/>
                          <a:latin typeface="+mn-ea"/>
                          <a:ea typeface="+mn-ea"/>
                        </a:rPr>
                        <a:t>년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433.96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121.65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7649948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b="0" i="0" u="none" strike="noStrike" dirty="0">
                          <a:effectLst/>
                          <a:latin typeface="+mn-ea"/>
                          <a:ea typeface="+mn-ea"/>
                        </a:rPr>
                        <a:t>2022</a:t>
                      </a:r>
                      <a:r>
                        <a:rPr lang="ko-KR" altLang="en-US" sz="1800" b="0" i="0" u="none" strike="noStrike" dirty="0">
                          <a:effectLst/>
                          <a:latin typeface="+mn-ea"/>
                          <a:ea typeface="+mn-ea"/>
                        </a:rPr>
                        <a:t>년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428.16</a:t>
                      </a:r>
                      <a:endParaRPr lang="ko-KR" altLang="en-US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185.22</a:t>
                      </a:r>
                      <a:endParaRPr lang="ko-KR" altLang="en-US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11364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b="0" i="0" u="none" strike="noStrike" dirty="0">
                          <a:effectLst/>
                          <a:latin typeface="+mn-ea"/>
                          <a:ea typeface="+mn-ea"/>
                        </a:rPr>
                        <a:t>2023</a:t>
                      </a:r>
                      <a:r>
                        <a:rPr lang="ko-KR" altLang="en-US" sz="1800" b="0" i="0" u="none" strike="noStrike" dirty="0">
                          <a:effectLst/>
                          <a:latin typeface="+mn-ea"/>
                          <a:ea typeface="+mn-ea"/>
                        </a:rPr>
                        <a:t>년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472.66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103.48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263503"/>
                  </a:ext>
                </a:extLst>
              </a:tr>
            </a:tbl>
          </a:graphicData>
        </a:graphic>
      </p:graphicFrame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57CEF354-FFF1-4DC8-9C7C-47384E4B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180889" y="9659937"/>
            <a:ext cx="586411" cy="365125"/>
          </a:xfrm>
        </p:spPr>
        <p:txBody>
          <a:bodyPr/>
          <a:lstStyle/>
          <a:p>
            <a:r>
              <a:rPr lang="en-US" altLang="ko-KR" sz="2000" dirty="0"/>
              <a:t>23</a:t>
            </a:r>
            <a:endParaRPr lang="ko-KR" alt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76400" y="736600"/>
            <a:ext cx="54356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3100" b="0" i="0" u="none" strike="noStrike" dirty="0">
                <a:solidFill>
                  <a:srgbClr val="393939"/>
                </a:solidFill>
                <a:ea typeface="Pretendard Bold"/>
              </a:rPr>
              <a:t>다중회귀분석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9000" y="723900"/>
            <a:ext cx="7874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00" b="0" i="0" u="none" strike="noStrike" dirty="0">
                <a:solidFill>
                  <a:srgbClr val="08A5C1"/>
                </a:solidFill>
                <a:latin typeface="Montserrat Bold"/>
              </a:rPr>
              <a:t>4</a:t>
            </a:r>
            <a:r>
              <a:rPr lang="ko-KR" altLang="en-US" sz="3000" b="0" i="0" u="none" strike="noStrike" dirty="0">
                <a:solidFill>
                  <a:srgbClr val="08A5C1"/>
                </a:solidFill>
                <a:latin typeface="Montserrat Bold"/>
              </a:rPr>
              <a:t>절</a:t>
            </a:r>
            <a:endParaRPr lang="en-US" sz="3000" b="0" i="0" u="none" strike="noStrike" dirty="0">
              <a:solidFill>
                <a:srgbClr val="08A5C1"/>
              </a:solidFill>
              <a:latin typeface="Montserrat Bold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E181FA-1503-416C-AD33-34404EC62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180889" y="9659937"/>
            <a:ext cx="586411" cy="365125"/>
          </a:xfrm>
        </p:spPr>
        <p:txBody>
          <a:bodyPr/>
          <a:lstStyle/>
          <a:p>
            <a:r>
              <a:rPr lang="en-US" altLang="ko-KR" sz="2000" dirty="0"/>
              <a:t>24</a:t>
            </a:r>
            <a:endParaRPr lang="ko-KR" altLang="en-US" sz="20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3348C1F-9B35-8CCB-D7A8-F12ECCD4CD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743651"/>
              </p:ext>
            </p:extLst>
          </p:nvPr>
        </p:nvGraphicFramePr>
        <p:xfrm>
          <a:off x="889000" y="1957389"/>
          <a:ext cx="15494000" cy="7954978"/>
        </p:xfrm>
        <a:graphic>
          <a:graphicData uri="http://schemas.openxmlformats.org/drawingml/2006/table">
            <a:tbl>
              <a:tblPr/>
              <a:tblGrid>
                <a:gridCol w="2295390">
                  <a:extLst>
                    <a:ext uri="{9D8B030D-6E8A-4147-A177-3AD203B41FA5}">
                      <a16:colId xmlns:a16="http://schemas.microsoft.com/office/drawing/2014/main" val="847536405"/>
                    </a:ext>
                  </a:extLst>
                </a:gridCol>
                <a:gridCol w="2295390">
                  <a:extLst>
                    <a:ext uri="{9D8B030D-6E8A-4147-A177-3AD203B41FA5}">
                      <a16:colId xmlns:a16="http://schemas.microsoft.com/office/drawing/2014/main" val="1650389369"/>
                    </a:ext>
                  </a:extLst>
                </a:gridCol>
                <a:gridCol w="2180644">
                  <a:extLst>
                    <a:ext uri="{9D8B030D-6E8A-4147-A177-3AD203B41FA5}">
                      <a16:colId xmlns:a16="http://schemas.microsoft.com/office/drawing/2014/main" val="667337945"/>
                    </a:ext>
                  </a:extLst>
                </a:gridCol>
                <a:gridCol w="2180644">
                  <a:extLst>
                    <a:ext uri="{9D8B030D-6E8A-4147-A177-3AD203B41FA5}">
                      <a16:colId xmlns:a16="http://schemas.microsoft.com/office/drawing/2014/main" val="2278794447"/>
                    </a:ext>
                  </a:extLst>
                </a:gridCol>
                <a:gridCol w="2180644">
                  <a:extLst>
                    <a:ext uri="{9D8B030D-6E8A-4147-A177-3AD203B41FA5}">
                      <a16:colId xmlns:a16="http://schemas.microsoft.com/office/drawing/2014/main" val="1069766152"/>
                    </a:ext>
                  </a:extLst>
                </a:gridCol>
                <a:gridCol w="2180644">
                  <a:extLst>
                    <a:ext uri="{9D8B030D-6E8A-4147-A177-3AD203B41FA5}">
                      <a16:colId xmlns:a16="http://schemas.microsoft.com/office/drawing/2014/main" val="3506887642"/>
                    </a:ext>
                  </a:extLst>
                </a:gridCol>
                <a:gridCol w="2180644">
                  <a:extLst>
                    <a:ext uri="{9D8B030D-6E8A-4147-A177-3AD203B41FA5}">
                      <a16:colId xmlns:a16="http://schemas.microsoft.com/office/drawing/2014/main" val="384536640"/>
                    </a:ext>
                  </a:extLst>
                </a:gridCol>
              </a:tblGrid>
              <a:tr h="391992">
                <a:tc rowSpan="2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독립변수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비표준화계수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표준화계수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t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p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275841"/>
                  </a:ext>
                </a:extLst>
              </a:tr>
              <a:tr h="230615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B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S.E.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12819"/>
                  </a:ext>
                </a:extLst>
              </a:tr>
              <a:tr h="230615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altLang="ko-KR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상수</a:t>
                      </a:r>
                      <a:r>
                        <a:rPr lang="en-US" altLang="ko-KR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8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0.878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0.087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10.126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0.000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723319"/>
                  </a:ext>
                </a:extLst>
              </a:tr>
              <a:tr h="226736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생활권역</a:t>
                      </a:r>
                      <a:r>
                        <a:rPr lang="en-US" altLang="ko-KR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서남권</a:t>
                      </a:r>
                      <a:r>
                        <a:rPr lang="en-US" altLang="ko-KR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=1)</a:t>
                      </a:r>
                      <a:endParaRPr lang="ko-KR" altLang="en-US" sz="18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0.065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0.016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0.061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4.044</a:t>
                      </a:r>
                      <a:r>
                        <a:rPr lang="en-US" sz="1800" kern="0" spc="-50" baseline="300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***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0.000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5808919"/>
                  </a:ext>
                </a:extLst>
              </a:tr>
              <a:tr h="226736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생활권역</a:t>
                      </a:r>
                      <a:r>
                        <a:rPr lang="en-US" altLang="ko-KR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서북권</a:t>
                      </a:r>
                      <a:r>
                        <a:rPr lang="en-US" altLang="ko-KR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=1)</a:t>
                      </a:r>
                      <a:endParaRPr lang="ko-KR" altLang="en-US" sz="18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0.085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0.016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0.079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4.598</a:t>
                      </a:r>
                      <a:r>
                        <a:rPr lang="en-US" sz="1800" kern="0" spc="-50" baseline="300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***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0.000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618621"/>
                  </a:ext>
                </a:extLst>
              </a:tr>
              <a:tr h="226736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생활권역</a:t>
                      </a:r>
                      <a:r>
                        <a:rPr lang="en-US" altLang="ko-KR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도심권</a:t>
                      </a:r>
                      <a:r>
                        <a:rPr lang="en-US" altLang="ko-KR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=1)</a:t>
                      </a:r>
                      <a:endParaRPr lang="ko-KR" altLang="en-US" sz="18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0.096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0.023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0.090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5.964</a:t>
                      </a:r>
                      <a:r>
                        <a:rPr lang="en-US" sz="1800" kern="0" spc="-50" baseline="300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***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0.000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4098215"/>
                  </a:ext>
                </a:extLst>
              </a:tr>
              <a:tr h="226736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생활권역</a:t>
                      </a:r>
                      <a:r>
                        <a:rPr lang="en-US" altLang="ko-KR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동북권</a:t>
                      </a:r>
                      <a:r>
                        <a:rPr lang="en-US" altLang="ko-KR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=1)</a:t>
                      </a:r>
                      <a:endParaRPr lang="ko-KR" altLang="en-US" sz="18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0.006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0.001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0.002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0.256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0.759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035800"/>
                  </a:ext>
                </a:extLst>
              </a:tr>
              <a:tr h="226736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생활권역</a:t>
                      </a:r>
                      <a:r>
                        <a:rPr lang="en-US" altLang="ko-KR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동남권</a:t>
                      </a:r>
                      <a:r>
                        <a:rPr lang="en-US" altLang="ko-KR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=1)</a:t>
                      </a:r>
                      <a:endParaRPr lang="ko-KR" altLang="en-US" sz="18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0.105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0.054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0.103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6.661</a:t>
                      </a:r>
                      <a:r>
                        <a:rPr lang="en-US" sz="1800" kern="0" spc="-50" baseline="300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***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0.000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679539"/>
                  </a:ext>
                </a:extLst>
              </a:tr>
              <a:tr h="23291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청년안심주택 세대수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-0.126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0.088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-0.111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-6.902</a:t>
                      </a:r>
                      <a:r>
                        <a:rPr lang="en-US" sz="1800" kern="0" spc="-50" baseline="30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***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0.000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4154043"/>
                  </a:ext>
                </a:extLst>
              </a:tr>
              <a:tr h="230615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지하철역과의 거리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-0.024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0.004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-0.113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-5.860</a:t>
                      </a:r>
                      <a:r>
                        <a:rPr lang="en-US" sz="1800" kern="0" spc="-50" baseline="300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***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0.000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7101549"/>
                  </a:ext>
                </a:extLst>
              </a:tr>
              <a:tr h="230615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임대주택 수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0.002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0.01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0.003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0.173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0.863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5893749"/>
                  </a:ext>
                </a:extLst>
              </a:tr>
              <a:tr h="230615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청년 임대주택과의 거리 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-0.012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0.008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-0.028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-1.433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0.152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641856"/>
                  </a:ext>
                </a:extLst>
              </a:tr>
              <a:tr h="230615">
                <a:tc row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주택특성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전용면적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0.026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0.008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0.069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3.163</a:t>
                      </a:r>
                      <a:r>
                        <a:rPr lang="en-US" sz="1800" kern="0" spc="-50" baseline="300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**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0.002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9149884"/>
                  </a:ext>
                </a:extLst>
              </a:tr>
              <a:tr h="2306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층수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0.011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0.014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0.014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0.781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0.435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4940365"/>
                  </a:ext>
                </a:extLst>
              </a:tr>
              <a:tr h="2306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경과연수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0.021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0.013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0.028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1.576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0.088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8058180"/>
                  </a:ext>
                </a:extLst>
              </a:tr>
              <a:tr h="2306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주택유형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-0.072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0.014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-0.109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-5.239</a:t>
                      </a:r>
                      <a:r>
                        <a:rPr lang="en-US" sz="1800" kern="0" spc="-50" baseline="300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***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0.000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6114857"/>
                  </a:ext>
                </a:extLst>
              </a:tr>
              <a:tr h="2306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전월세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0.283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0.021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0.305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6.498</a:t>
                      </a:r>
                      <a:r>
                        <a:rPr lang="en-US" sz="1800" kern="0" spc="-50" baseline="300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***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0.000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1642455"/>
                  </a:ext>
                </a:extLst>
              </a:tr>
              <a:tr h="230615">
                <a:tc gridSpan="7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R2=0.458, adj. R2=0.452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0095"/>
                  </a:ext>
                </a:extLst>
              </a:tr>
              <a:tr h="230615">
                <a:tc gridSpan="7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Aft>
                          <a:spcPts val="200"/>
                        </a:spcAft>
                      </a:pPr>
                      <a:r>
                        <a:rPr lang="de-DE" sz="18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F=189.512(p=0.000), Durbin Watson=1.944</a:t>
                      </a:r>
                    </a:p>
                  </a:txBody>
                  <a:tcPr marL="78693" marR="78693" marT="39347" marB="393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760016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2631FD0A-2183-B57E-3BF2-F447BB757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1576388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170FD9-7CC0-70FC-C6B4-F08F8F6AF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9">
            <a:extLst>
              <a:ext uri="{FF2B5EF4-FFF2-40B4-BE49-F238E27FC236}">
                <a16:creationId xmlns:a16="http://schemas.microsoft.com/office/drawing/2014/main" id="{13B6B93E-1B26-49E1-8BF8-50984D3E7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2324100"/>
            <a:ext cx="16802100" cy="48006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5D6089F1-873E-43D8-9C50-02D0EB736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86258" y="2390342"/>
            <a:ext cx="475384" cy="342900"/>
          </a:xfrm>
          <a:prstGeom prst="rect">
            <a:avLst/>
          </a:prstGeom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687A1096-4B7B-3C88-3E1D-09D55ED11F68}"/>
              </a:ext>
            </a:extLst>
          </p:cNvPr>
          <p:cNvSpPr txBox="1"/>
          <p:nvPr/>
        </p:nvSpPr>
        <p:spPr>
          <a:xfrm>
            <a:off x="1676400" y="736600"/>
            <a:ext cx="53340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100" b="0" i="0" u="none" strike="noStrike" dirty="0">
                <a:solidFill>
                  <a:srgbClr val="393939"/>
                </a:solidFill>
                <a:ea typeface="Pretendard Bold"/>
              </a:rPr>
              <a:t>분석결과</a:t>
            </a:r>
            <a:endParaRPr lang="ko-KR" sz="3100" b="0" i="0" u="none" strike="noStrike" dirty="0">
              <a:solidFill>
                <a:srgbClr val="393939"/>
              </a:solidFill>
              <a:ea typeface="Pretendard Bold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0DD21E5-BFDB-39D9-CBFD-2CDAEB3AE6DD}"/>
              </a:ext>
            </a:extLst>
          </p:cNvPr>
          <p:cNvSpPr txBox="1"/>
          <p:nvPr/>
        </p:nvSpPr>
        <p:spPr>
          <a:xfrm>
            <a:off x="889000" y="723900"/>
            <a:ext cx="7874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00" b="0" i="0" u="none" strike="noStrike" dirty="0">
                <a:solidFill>
                  <a:srgbClr val="08A5C1"/>
                </a:solidFill>
                <a:latin typeface="Montserrat Bold"/>
              </a:rPr>
              <a:t>4</a:t>
            </a:r>
            <a:r>
              <a:rPr lang="ko-KR" altLang="en-US" sz="3000" b="0" i="0" u="none" strike="noStrike" dirty="0">
                <a:solidFill>
                  <a:srgbClr val="08A5C1"/>
                </a:solidFill>
                <a:latin typeface="Montserrat Bold"/>
              </a:rPr>
              <a:t>절</a:t>
            </a:r>
            <a:endParaRPr lang="en-US" sz="3000" b="0" i="0" u="none" strike="noStrike" dirty="0">
              <a:solidFill>
                <a:srgbClr val="08A5C1"/>
              </a:solidFill>
              <a:latin typeface="Montserrat Bold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DE920A8E-9B2D-A609-DF5E-CF2A28876400}"/>
              </a:ext>
            </a:extLst>
          </p:cNvPr>
          <p:cNvSpPr txBox="1"/>
          <p:nvPr/>
        </p:nvSpPr>
        <p:spPr>
          <a:xfrm>
            <a:off x="1222935" y="2561792"/>
            <a:ext cx="16319500" cy="5248708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en-US" sz="2400" b="0" i="0" u="none" strike="noStrike" dirty="0">
                <a:solidFill>
                  <a:srgbClr val="040000"/>
                </a:solidFill>
                <a:latin typeface="조선가는고딕"/>
                <a:ea typeface="조선가는고딕"/>
              </a:rPr>
              <a:t>면적당 임대료에 영향을 미치는 요인에는 생활권역이 나타났음 </a:t>
            </a:r>
            <a:endParaRPr lang="en-US" altLang="ko-KR" sz="2400" b="0" i="0" u="none" strike="noStrike" dirty="0">
              <a:solidFill>
                <a:srgbClr val="040000"/>
              </a:solidFill>
              <a:latin typeface="조선가는고딕"/>
              <a:ea typeface="조선가는고딕"/>
            </a:endParaRPr>
          </a:p>
          <a:p>
            <a:pPr lvl="0" algn="l">
              <a:lnSpc>
                <a:spcPct val="124499"/>
              </a:lnSpc>
              <a:buClr>
                <a:srgbClr val="040000"/>
              </a:buClr>
            </a:pPr>
            <a:r>
              <a:rPr lang="en-US" altLang="ko-KR" sz="2400" dirty="0">
                <a:solidFill>
                  <a:srgbClr val="040000"/>
                </a:solidFill>
                <a:latin typeface="조선가는고딕"/>
                <a:ea typeface="조선가는고딕"/>
              </a:rPr>
              <a:t>   - </a:t>
            </a:r>
            <a:r>
              <a:rPr lang="ko-KR" altLang="en-US" sz="2400" dirty="0">
                <a:solidFill>
                  <a:srgbClr val="040000"/>
                </a:solidFill>
                <a:latin typeface="조선가는고딕"/>
                <a:ea typeface="조선가는고딕"/>
              </a:rPr>
              <a:t>서남권</a:t>
            </a:r>
            <a:r>
              <a:rPr lang="en-US" altLang="ko-KR" sz="2400" dirty="0">
                <a:solidFill>
                  <a:srgbClr val="040000"/>
                </a:solidFill>
                <a:latin typeface="조선가는고딕"/>
                <a:ea typeface="조선가는고딕"/>
              </a:rPr>
              <a:t>, </a:t>
            </a:r>
            <a:r>
              <a:rPr lang="ko-KR" altLang="en-US" sz="2400" dirty="0" err="1">
                <a:solidFill>
                  <a:srgbClr val="040000"/>
                </a:solidFill>
                <a:latin typeface="조선가는고딕"/>
                <a:ea typeface="조선가는고딕"/>
              </a:rPr>
              <a:t>서북권</a:t>
            </a:r>
            <a:r>
              <a:rPr lang="en-US" altLang="ko-KR" sz="2400" dirty="0">
                <a:solidFill>
                  <a:srgbClr val="040000"/>
                </a:solidFill>
                <a:latin typeface="조선가는고딕"/>
                <a:ea typeface="조선가는고딕"/>
              </a:rPr>
              <a:t>, </a:t>
            </a:r>
            <a:r>
              <a:rPr lang="ko-KR" altLang="en-US" sz="2400" dirty="0" err="1">
                <a:solidFill>
                  <a:srgbClr val="040000"/>
                </a:solidFill>
                <a:latin typeface="조선가는고딕"/>
                <a:ea typeface="조선가는고딕"/>
              </a:rPr>
              <a:t>도심권</a:t>
            </a:r>
            <a:r>
              <a:rPr lang="en-US" altLang="ko-KR" sz="2400" dirty="0">
                <a:solidFill>
                  <a:srgbClr val="040000"/>
                </a:solidFill>
                <a:latin typeface="조선가는고딕"/>
                <a:ea typeface="조선가는고딕"/>
              </a:rPr>
              <a:t>, </a:t>
            </a:r>
            <a:r>
              <a:rPr lang="ko-KR" altLang="en-US" sz="2400" dirty="0">
                <a:solidFill>
                  <a:srgbClr val="040000"/>
                </a:solidFill>
                <a:latin typeface="조선가는고딕"/>
                <a:ea typeface="조선가는고딕"/>
              </a:rPr>
              <a:t>동남권은 생활권역이 면적당 임대료에 영향을 미치는 것으로 나타났으나</a:t>
            </a:r>
            <a:r>
              <a:rPr lang="en-US" altLang="ko-KR" sz="2400" dirty="0">
                <a:solidFill>
                  <a:srgbClr val="040000"/>
                </a:solidFill>
                <a:latin typeface="조선가는고딕"/>
                <a:ea typeface="조선가는고딕"/>
              </a:rPr>
              <a:t>, </a:t>
            </a:r>
          </a:p>
          <a:p>
            <a:pPr lvl="0" algn="l">
              <a:lnSpc>
                <a:spcPct val="124499"/>
              </a:lnSpc>
              <a:buClr>
                <a:srgbClr val="040000"/>
              </a:buClr>
            </a:pPr>
            <a:r>
              <a:rPr lang="en-US" altLang="ko-KR" sz="2400" dirty="0">
                <a:solidFill>
                  <a:srgbClr val="040000"/>
                </a:solidFill>
                <a:latin typeface="조선가는고딕"/>
                <a:ea typeface="조선가는고딕"/>
              </a:rPr>
              <a:t>      </a:t>
            </a:r>
            <a:r>
              <a:rPr lang="ko-KR" altLang="en-US" sz="2400" dirty="0">
                <a:solidFill>
                  <a:srgbClr val="040000"/>
                </a:solidFill>
                <a:latin typeface="조선가는고딕"/>
                <a:ea typeface="조선가는고딕"/>
              </a:rPr>
              <a:t>동북권은 영향을 미치지 않는 것으로 나타남</a:t>
            </a:r>
            <a:r>
              <a:rPr lang="en-US" altLang="ko-KR" sz="2400" dirty="0">
                <a:solidFill>
                  <a:srgbClr val="040000"/>
                </a:solidFill>
                <a:latin typeface="조선가는고딕"/>
                <a:ea typeface="조선가는고딕"/>
              </a:rPr>
              <a:t>.</a:t>
            </a:r>
          </a:p>
          <a:p>
            <a:pPr marL="342900" lvl="0" indent="-342900" algn="l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en-US" sz="2400" dirty="0">
                <a:solidFill>
                  <a:srgbClr val="040000"/>
                </a:solidFill>
                <a:latin typeface="조선가는고딕"/>
                <a:ea typeface="조선가는고딕"/>
              </a:rPr>
              <a:t>청년안심주택 세대수가 많을수록 면적당 임대료가 감소함</a:t>
            </a:r>
            <a:r>
              <a:rPr lang="en-US" altLang="ko-KR" sz="2400" dirty="0">
                <a:solidFill>
                  <a:srgbClr val="040000"/>
                </a:solidFill>
                <a:latin typeface="조선가는고딕"/>
                <a:ea typeface="조선가는고딕"/>
              </a:rPr>
              <a:t>. </a:t>
            </a:r>
          </a:p>
          <a:p>
            <a:pPr marL="342900" lvl="0" indent="-342900" algn="l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en-US" sz="2400" dirty="0">
                <a:solidFill>
                  <a:srgbClr val="040000"/>
                </a:solidFill>
                <a:latin typeface="조선가는고딕"/>
                <a:ea typeface="조선가는고딕"/>
              </a:rPr>
              <a:t>지하철역과의 거리가 가까울수록 면적당 임대료가 증가함</a:t>
            </a:r>
            <a:r>
              <a:rPr lang="en-US" altLang="ko-KR" sz="2400" dirty="0">
                <a:solidFill>
                  <a:srgbClr val="040000"/>
                </a:solidFill>
                <a:latin typeface="조선가는고딕"/>
                <a:ea typeface="조선가는고딕"/>
              </a:rPr>
              <a:t>.</a:t>
            </a:r>
          </a:p>
          <a:p>
            <a:pPr marL="342900" lvl="0" indent="-342900" algn="l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en-US" sz="2400" dirty="0">
                <a:solidFill>
                  <a:srgbClr val="040000"/>
                </a:solidFill>
                <a:latin typeface="조선가는고딕"/>
                <a:ea typeface="조선가는고딕"/>
              </a:rPr>
              <a:t>주택특성</a:t>
            </a:r>
            <a:endParaRPr lang="en-US" altLang="ko-KR" sz="2400" dirty="0">
              <a:solidFill>
                <a:srgbClr val="040000"/>
              </a:solidFill>
              <a:latin typeface="조선가는고딕"/>
              <a:ea typeface="조선가는고딕"/>
            </a:endParaRPr>
          </a:p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en-US" sz="2400" dirty="0">
                <a:solidFill>
                  <a:srgbClr val="040000"/>
                </a:solidFill>
                <a:latin typeface="조선가는고딕"/>
                <a:ea typeface="조선가는고딕"/>
              </a:rPr>
              <a:t>전용면적이 넓을 수록 임대료가 높게 나타남</a:t>
            </a:r>
            <a:r>
              <a:rPr lang="en-US" altLang="ko-KR" sz="2400" dirty="0">
                <a:solidFill>
                  <a:srgbClr val="040000"/>
                </a:solidFill>
                <a:latin typeface="조선가는고딕"/>
                <a:ea typeface="조선가는고딕"/>
              </a:rPr>
              <a:t>.</a:t>
            </a:r>
          </a:p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en-US" sz="2400" dirty="0">
                <a:solidFill>
                  <a:srgbClr val="040000"/>
                </a:solidFill>
                <a:latin typeface="조선가는고딕"/>
                <a:ea typeface="조선가는고딕"/>
              </a:rPr>
              <a:t>주택유형은 다세대보다 연립일수록 임대료가 높게 나타남</a:t>
            </a:r>
            <a:endParaRPr lang="en-US" altLang="ko-KR" sz="2400" b="0" i="0" u="none" strike="noStrike" dirty="0">
              <a:solidFill>
                <a:srgbClr val="040000"/>
              </a:solidFill>
              <a:latin typeface="조선가는고딕"/>
              <a:ea typeface="조선가는고딕"/>
            </a:endParaRPr>
          </a:p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en-US" sz="2400" dirty="0">
                <a:solidFill>
                  <a:srgbClr val="040000"/>
                </a:solidFill>
                <a:latin typeface="조선가는고딕"/>
                <a:ea typeface="조선가는고딕"/>
              </a:rPr>
              <a:t>계약유형은 전세가격보다 월세일수록 임대료가 높게 나타남</a:t>
            </a:r>
            <a:endParaRPr lang="en-US" sz="2400" b="0" i="0" u="none" strike="noStrike" dirty="0">
              <a:solidFill>
                <a:srgbClr val="040000"/>
              </a:solidFill>
              <a:latin typeface="조선가는고딕"/>
            </a:endParaRPr>
          </a:p>
        </p:txBody>
      </p: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63E5BC0F-02ED-4AFC-BA89-D34A9BDB3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180889" y="9659937"/>
            <a:ext cx="586411" cy="365125"/>
          </a:xfrm>
        </p:spPr>
        <p:txBody>
          <a:bodyPr/>
          <a:lstStyle/>
          <a:p>
            <a:r>
              <a:rPr lang="en-US" altLang="ko-KR" sz="2000" dirty="0"/>
              <a:t>25</a:t>
            </a:r>
            <a:endParaRPr lang="ko-KR" alt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213184-A04A-C9C3-B8F3-F9F11CFE0235}"/>
              </a:ext>
            </a:extLst>
          </p:cNvPr>
          <p:cNvSpPr txBox="1"/>
          <p:nvPr/>
        </p:nvSpPr>
        <p:spPr>
          <a:xfrm>
            <a:off x="889000" y="1739115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u="none" strike="noStrike" dirty="0">
                <a:solidFill>
                  <a:srgbClr val="393939"/>
                </a:solidFill>
                <a:ea typeface="Pretendard Bold"/>
              </a:rPr>
              <a:t>분석결과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717781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39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2700" y="3657600"/>
            <a:ext cx="6019800" cy="61722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-2095500" y="2260600"/>
            <a:ext cx="8280400" cy="4597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5900" b="0" i="0" u="none" strike="noStrike" dirty="0">
                <a:solidFill>
                  <a:srgbClr val="08A5C1"/>
                </a:solidFill>
                <a:latin typeface="Montserrat SemiBold"/>
              </a:rPr>
              <a:t>05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87900" y="3213100"/>
            <a:ext cx="12433300" cy="154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8800" b="0" i="0" u="none" strike="noStrike" dirty="0">
                <a:solidFill>
                  <a:srgbClr val="FFFFFF"/>
                </a:solidFill>
                <a:ea typeface="Pretendard Bold"/>
              </a:rPr>
              <a:t>결론</a:t>
            </a:r>
            <a:endParaRPr lang="ko-KR" sz="8800" b="0" i="0" u="none" strike="noStrike" dirty="0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CB7FF641-CDBF-4F0B-BAC6-F6BD8ABAD138}"/>
              </a:ext>
            </a:extLst>
          </p:cNvPr>
          <p:cNvSpPr txBox="1"/>
          <p:nvPr/>
        </p:nvSpPr>
        <p:spPr>
          <a:xfrm>
            <a:off x="4953000" y="4914900"/>
            <a:ext cx="9829800" cy="215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34460"/>
              </a:lnSpc>
              <a:buAutoNum type="arabicPeriod"/>
            </a:pPr>
            <a:r>
              <a:rPr lang="ko-KR" altLang="en-US" sz="2600" b="0" i="0" u="none" strike="noStrike" dirty="0">
                <a:solidFill>
                  <a:srgbClr val="FFFFFF"/>
                </a:solidFill>
                <a:ea typeface="Pretendard Light"/>
              </a:rPr>
              <a:t>시사점</a:t>
            </a:r>
            <a:endParaRPr lang="ko-KR" sz="2600" b="0" i="0" u="none" strike="noStrike" dirty="0">
              <a:solidFill>
                <a:srgbClr val="FFFFFF"/>
              </a:solidFill>
              <a:ea typeface="Pretendard Light"/>
            </a:endParaRPr>
          </a:p>
          <a:p>
            <a:pPr marL="342900" lvl="0" indent="-342900" algn="l">
              <a:lnSpc>
                <a:spcPct val="134460"/>
              </a:lnSpc>
              <a:buAutoNum type="arabicPeriod"/>
            </a:pPr>
            <a:r>
              <a:rPr lang="ko-KR" altLang="en-US" sz="2600" b="0" i="0" u="none" strike="noStrike" dirty="0">
                <a:solidFill>
                  <a:srgbClr val="FFFFFF"/>
                </a:solidFill>
                <a:ea typeface="Pretendard Light"/>
              </a:rPr>
              <a:t>한계점 및 향후 연구방향 </a:t>
            </a:r>
            <a:endParaRPr lang="ko-KR" sz="2600" b="0" i="0" u="none" strike="noStrike" dirty="0">
              <a:solidFill>
                <a:srgbClr val="FFFFFF"/>
              </a:solidFill>
              <a:ea typeface="Pretendard Ligh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9">
            <a:extLst>
              <a:ext uri="{FF2B5EF4-FFF2-40B4-BE49-F238E27FC236}">
                <a16:creationId xmlns:a16="http://schemas.microsoft.com/office/drawing/2014/main" id="{052586EF-1106-4425-B72D-2552125AA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799" y="1638300"/>
            <a:ext cx="16459201" cy="7696199"/>
          </a:xfrm>
          <a:prstGeom prst="rect">
            <a:avLst/>
          </a:prstGeom>
        </p:spPr>
      </p:pic>
      <p:pic>
        <p:nvPicPr>
          <p:cNvPr id="7" name="Picture 10">
            <a:extLst>
              <a:ext uri="{FF2B5EF4-FFF2-40B4-BE49-F238E27FC236}">
                <a16:creationId xmlns:a16="http://schemas.microsoft.com/office/drawing/2014/main" id="{785050BA-7F90-4499-89EC-FBC310A5D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025087" y="1667312"/>
            <a:ext cx="270033" cy="212012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1524000" y="736600"/>
            <a:ext cx="54356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100" dirty="0">
                <a:solidFill>
                  <a:srgbClr val="393939"/>
                </a:solidFill>
                <a:ea typeface="Pretendard Bold"/>
              </a:rPr>
              <a:t> 시사점</a:t>
            </a:r>
            <a:endParaRPr lang="ko-KR" sz="3100" b="0" i="0" u="none" strike="noStrike" dirty="0">
              <a:solidFill>
                <a:srgbClr val="393939"/>
              </a:solidFill>
              <a:ea typeface="Pretendard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889000" y="723900"/>
            <a:ext cx="7874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00" b="0" i="0" u="none" strike="noStrike" dirty="0">
                <a:solidFill>
                  <a:srgbClr val="08A5C1"/>
                </a:solidFill>
                <a:latin typeface="Montserrat Bold"/>
              </a:rPr>
              <a:t>1</a:t>
            </a:r>
            <a:r>
              <a:rPr lang="ko-KR" altLang="en-US" sz="3000" b="0" i="0" u="none" strike="noStrike" dirty="0">
                <a:solidFill>
                  <a:srgbClr val="08A5C1"/>
                </a:solidFill>
                <a:latin typeface="Montserrat Bold"/>
              </a:rPr>
              <a:t>절</a:t>
            </a:r>
            <a:endParaRPr lang="en-US" sz="3000" b="0" i="0" u="none" strike="noStrike" dirty="0">
              <a:solidFill>
                <a:srgbClr val="08A5C1"/>
              </a:solidFill>
              <a:latin typeface="Montserrat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282700" y="1790700"/>
            <a:ext cx="16319500" cy="6400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en-US" sz="2400" dirty="0">
                <a:latin typeface="조선가는고딕" panose="020B0600000101010101" charset="-127"/>
                <a:ea typeface="조선가는고딕" panose="020B0600000101010101" charset="-127"/>
              </a:rPr>
              <a:t>청년안심주택 공급이 주변 비</a:t>
            </a:r>
            <a:r>
              <a:rPr lang="en-US" altLang="ko-KR" sz="2400" dirty="0">
                <a:latin typeface="조선가는고딕" panose="020B0600000101010101" charset="-127"/>
                <a:ea typeface="조선가는고딕" panose="020B0600000101010101" charset="-127"/>
              </a:rPr>
              <a:t>(</a:t>
            </a:r>
            <a:r>
              <a:rPr lang="ko-KR" altLang="en-US" sz="2400" dirty="0">
                <a:latin typeface="조선가는고딕" panose="020B0600000101010101" charset="-127"/>
                <a:ea typeface="조선가는고딕" panose="020B0600000101010101" charset="-127"/>
              </a:rPr>
              <a:t>非</a:t>
            </a:r>
            <a:r>
              <a:rPr lang="en-US" altLang="ko-KR" sz="2400" dirty="0">
                <a:latin typeface="조선가는고딕" panose="020B0600000101010101" charset="-127"/>
                <a:ea typeface="조선가는고딕" panose="020B0600000101010101" charset="-127"/>
              </a:rPr>
              <a:t>)</a:t>
            </a:r>
            <a:r>
              <a:rPr lang="ko-KR" altLang="en-US" sz="2400" dirty="0">
                <a:latin typeface="조선가는고딕" panose="020B0600000101010101" charset="-127"/>
                <a:ea typeface="조선가는고딕" panose="020B0600000101010101" charset="-127"/>
              </a:rPr>
              <a:t>아파트 유형 주택의 전월세 시장에 미치는 영향을 실증적으로 분석</a:t>
            </a:r>
            <a:r>
              <a:rPr lang="en-US" altLang="ko-KR" sz="2400" dirty="0">
                <a:latin typeface="조선가는고딕" panose="020B0600000101010101" charset="-127"/>
                <a:ea typeface="조선가는고딕" panose="020B0600000101010101" charset="-127"/>
              </a:rPr>
              <a:t>.</a:t>
            </a:r>
            <a:endParaRPr lang="ko-KR" altLang="en-US" sz="2400" dirty="0">
              <a:latin typeface="조선가는고딕" panose="020B0600000101010101" charset="-127"/>
              <a:ea typeface="조선가는고딕" panose="020B0600000101010101" charset="-127"/>
            </a:endParaRPr>
          </a:p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endParaRPr lang="en-US" altLang="ko-KR" sz="2400" dirty="0">
              <a:latin typeface="조선가는고딕" panose="020B0600000101010101" charset="-127"/>
              <a:ea typeface="조선가는고딕" panose="020B0600000101010101" charset="-127"/>
            </a:endParaRPr>
          </a:p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en-US" sz="2400" dirty="0">
                <a:latin typeface="조선가는고딕" panose="020B0600000101010101" charset="-127"/>
                <a:ea typeface="조선가는고딕" panose="020B0600000101010101" charset="-127"/>
              </a:rPr>
              <a:t>서울시를 </a:t>
            </a:r>
            <a:r>
              <a:rPr lang="en-US" altLang="ko-KR" sz="2400" dirty="0">
                <a:latin typeface="조선가는고딕" panose="020B0600000101010101" charset="-127"/>
                <a:ea typeface="조선가는고딕" panose="020B0600000101010101" charset="-127"/>
              </a:rPr>
              <a:t>5</a:t>
            </a:r>
            <a:r>
              <a:rPr lang="ko-KR" altLang="en-US" sz="2400" dirty="0">
                <a:latin typeface="조선가는고딕" panose="020B0600000101010101" charset="-127"/>
                <a:ea typeface="조선가는고딕" panose="020B0600000101010101" charset="-127"/>
              </a:rPr>
              <a:t>개 권역으로 구분하여 지역별 전세가격의 차이를 분석한 결과</a:t>
            </a:r>
            <a:r>
              <a:rPr lang="en-US" altLang="ko-KR" sz="2400" dirty="0">
                <a:latin typeface="조선가는고딕" panose="020B0600000101010101" charset="-127"/>
                <a:ea typeface="조선가는고딕" panose="020B0600000101010101" charset="-127"/>
              </a:rPr>
              <a:t>, </a:t>
            </a:r>
            <a:r>
              <a:rPr lang="ko-KR" altLang="en-US" sz="2400" dirty="0">
                <a:latin typeface="조선가는고딕" panose="020B0600000101010101" charset="-127"/>
                <a:ea typeface="조선가는고딕" panose="020B0600000101010101" charset="-127"/>
              </a:rPr>
              <a:t>주택 시장이 지역적 특성에 따라 다르게 작용함을 입증</a:t>
            </a:r>
            <a:r>
              <a:rPr lang="en-US" altLang="ko-KR" sz="2400" dirty="0">
                <a:latin typeface="조선가는고딕" panose="020B0600000101010101" charset="-127"/>
                <a:ea typeface="조선가는고딕" panose="020B0600000101010101" charset="-127"/>
              </a:rPr>
              <a:t>.</a:t>
            </a:r>
            <a:endParaRPr lang="ko-KR" altLang="en-US" sz="2400" dirty="0">
              <a:latin typeface="조선가는고딕" panose="020B0600000101010101" charset="-127"/>
              <a:ea typeface="조선가는고딕" panose="020B0600000101010101" charset="-127"/>
            </a:endParaRPr>
          </a:p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endParaRPr lang="en-US" altLang="ko-KR" sz="2400" dirty="0">
              <a:latin typeface="조선가는고딕" panose="020B0600000101010101" charset="-127"/>
              <a:ea typeface="조선가는고딕" panose="020B0600000101010101" charset="-127"/>
            </a:endParaRPr>
          </a:p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en-US" sz="2400" dirty="0">
                <a:latin typeface="조선가는고딕" panose="020B0600000101010101" charset="-127"/>
                <a:ea typeface="조선가는고딕" panose="020B0600000101010101" charset="-127"/>
              </a:rPr>
              <a:t>공공임대주택 정책과 민간 주택 시장 간의 상호작용을 검토함으로써</a:t>
            </a:r>
            <a:r>
              <a:rPr lang="en-US" altLang="ko-KR" sz="2400" dirty="0">
                <a:latin typeface="조선가는고딕" panose="020B0600000101010101" charset="-127"/>
                <a:ea typeface="조선가는고딕" panose="020B0600000101010101" charset="-127"/>
              </a:rPr>
              <a:t>, </a:t>
            </a:r>
            <a:r>
              <a:rPr lang="ko-KR" altLang="en-US" sz="2400" dirty="0">
                <a:latin typeface="조선가는고딕" panose="020B0600000101010101" charset="-127"/>
                <a:ea typeface="조선가는고딕" panose="020B0600000101010101" charset="-127"/>
              </a:rPr>
              <a:t>공공부문의 개입이 민간 시장에 미치는 파급 효과를 학문적으로 고찰</a:t>
            </a:r>
            <a:r>
              <a:rPr lang="en-US" altLang="ko-KR" sz="2400" dirty="0">
                <a:latin typeface="조선가는고딕" panose="020B0600000101010101" charset="-127"/>
                <a:ea typeface="조선가는고딕" panose="020B0600000101010101" charset="-127"/>
              </a:rPr>
              <a:t>.</a:t>
            </a:r>
            <a:endParaRPr lang="ko-KR" altLang="en-US" sz="2400" dirty="0">
              <a:latin typeface="조선가는고딕" panose="020B0600000101010101" charset="-127"/>
              <a:ea typeface="조선가는고딕" panose="020B0600000101010101" charset="-127"/>
            </a:endParaRPr>
          </a:p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endParaRPr lang="en-US" altLang="ko-KR" sz="2400" dirty="0">
              <a:latin typeface="조선가는고딕" panose="020B0600000101010101" charset="-127"/>
              <a:ea typeface="조선가는고딕" panose="020B0600000101010101" charset="-127"/>
            </a:endParaRPr>
          </a:p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en-US" sz="2400" dirty="0">
                <a:latin typeface="조선가는고딕" panose="020B0600000101010101" charset="-127"/>
                <a:ea typeface="조선가는고딕" panose="020B0600000101010101" charset="-127"/>
              </a:rPr>
              <a:t>청년층의 주거 특성을 반영한 분석을 통해 청년 </a:t>
            </a:r>
            <a:r>
              <a:rPr lang="en-US" altLang="ko-KR" sz="2400" dirty="0">
                <a:latin typeface="조선가는고딕" panose="020B0600000101010101" charset="-127"/>
                <a:ea typeface="조선가는고딕" panose="020B0600000101010101" charset="-127"/>
              </a:rPr>
              <a:t>1</a:t>
            </a:r>
            <a:r>
              <a:rPr lang="ko-KR" altLang="en-US" sz="2400" dirty="0">
                <a:latin typeface="조선가는고딕" panose="020B0600000101010101" charset="-127"/>
                <a:ea typeface="조선가는고딕" panose="020B0600000101010101" charset="-127"/>
              </a:rPr>
              <a:t>인 가구를 독립적인 연구 대상으로 고려해야 할 필요성을 제기</a:t>
            </a:r>
            <a:r>
              <a:rPr lang="en-US" altLang="ko-KR" sz="2400" dirty="0">
                <a:latin typeface="조선가는고딕" panose="020B0600000101010101" charset="-127"/>
                <a:ea typeface="조선가는고딕" panose="020B0600000101010101" charset="-127"/>
              </a:rPr>
              <a:t>.</a:t>
            </a:r>
            <a:endParaRPr lang="ko-KR" altLang="en-US" sz="2400" dirty="0">
              <a:latin typeface="조선가는고딕" panose="020B0600000101010101" charset="-127"/>
              <a:ea typeface="조선가는고딕" panose="020B0600000101010101" charset="-127"/>
            </a:endParaRPr>
          </a:p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endParaRPr lang="en-US" altLang="ko-KR" sz="2400" dirty="0">
              <a:latin typeface="조선가는고딕" panose="020B0600000101010101" charset="-127"/>
              <a:ea typeface="조선가는고딕" panose="020B0600000101010101" charset="-127"/>
            </a:endParaRPr>
          </a:p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en-US" sz="2400" dirty="0">
                <a:latin typeface="조선가는고딕" panose="020B0600000101010101" charset="-127"/>
                <a:ea typeface="조선가는고딕" panose="020B0600000101010101" charset="-127"/>
              </a:rPr>
              <a:t>본 연구에서는 청년안심주택이 전세가격 안정화와 청년 주거 안정에 미치는 정책적 효과를 실증적으로 분석하였음</a:t>
            </a:r>
            <a:r>
              <a:rPr lang="en-US" altLang="ko-KR" sz="2400" dirty="0">
                <a:latin typeface="조선가는고딕" panose="020B0600000101010101" charset="-127"/>
                <a:ea typeface="조선가는고딕" panose="020B0600000101010101" charset="-127"/>
              </a:rPr>
              <a:t>.</a:t>
            </a:r>
            <a:endParaRPr lang="ko-KR" altLang="en-US" sz="2400" dirty="0">
              <a:latin typeface="조선가는고딕" panose="020B0600000101010101" charset="-127"/>
              <a:ea typeface="조선가는고딕" panose="020B0600000101010101" charset="-127"/>
            </a:endParaRPr>
          </a:p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endParaRPr lang="en-US" altLang="ko-KR" sz="2400" dirty="0">
              <a:latin typeface="조선가는고딕" panose="020B0600000101010101" charset="-127"/>
              <a:ea typeface="조선가는고딕" panose="020B0600000101010101" charset="-127"/>
            </a:endParaRPr>
          </a:p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en-US" sz="2400" dirty="0">
                <a:latin typeface="조선가는고딕" panose="020B0600000101010101" charset="-127"/>
                <a:ea typeface="조선가는고딕" panose="020B0600000101010101" charset="-127"/>
              </a:rPr>
              <a:t>공공주택 정책이 민간 주택 시장에 미치는 부작용을 최소화하면서도 균형적으로 작용할 수 있는 정책 설계가 중요함을 제기</a:t>
            </a:r>
            <a:r>
              <a:rPr lang="en-US" altLang="ko-KR" sz="2400" dirty="0">
                <a:latin typeface="조선가는고딕" panose="020B0600000101010101" charset="-127"/>
                <a:ea typeface="조선가는고딕" panose="020B0600000101010101" charset="-127"/>
              </a:rPr>
              <a:t>.</a:t>
            </a:r>
            <a:endParaRPr lang="ko-KR" altLang="en-US" sz="2400" dirty="0">
              <a:latin typeface="조선가는고딕" panose="020B0600000101010101" charset="-127"/>
              <a:ea typeface="조선가는고딕" panose="020B0600000101010101" charset="-127"/>
            </a:endParaRPr>
          </a:p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endParaRPr lang="en-US" altLang="ko-KR" sz="2400" dirty="0">
              <a:latin typeface="조선가는고딕" panose="020B0600000101010101" charset="-127"/>
              <a:ea typeface="조선가는고딕" panose="020B0600000101010101" charset="-127"/>
            </a:endParaRPr>
          </a:p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en-US" sz="2400" dirty="0">
                <a:latin typeface="조선가는고딕" panose="020B0600000101010101" charset="-127"/>
                <a:ea typeface="조선가는고딕" panose="020B0600000101010101" charset="-127"/>
              </a:rPr>
              <a:t>공공주택 정책의 효과를 지속적으로 모니터링하고 개선할 필요성을 제기</a:t>
            </a:r>
            <a:r>
              <a:rPr lang="en-US" altLang="ko-KR" sz="2400" dirty="0">
                <a:latin typeface="조선가는고딕" panose="020B0600000101010101" charset="-127"/>
                <a:ea typeface="조선가는고딕" panose="020B0600000101010101" charset="-127"/>
              </a:rPr>
              <a:t>.</a:t>
            </a:r>
            <a:endParaRPr lang="ko-KR" altLang="en-US" sz="2400" dirty="0">
              <a:latin typeface="조선가는고딕" panose="020B0600000101010101" charset="-127"/>
              <a:ea typeface="조선가는고딕" panose="020B0600000101010101" charset="-127"/>
            </a:endParaRPr>
          </a:p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endParaRPr lang="en-US" altLang="ko-KR" sz="2400" b="0" i="0" u="none" strike="noStrike" dirty="0">
              <a:solidFill>
                <a:srgbClr val="040000"/>
              </a:solidFill>
              <a:latin typeface="조선가는고딕" panose="020B0600000101010101" charset="-127"/>
              <a:ea typeface="조선가는고딕" panose="020B0600000101010101" charset="-127"/>
            </a:endParaRPr>
          </a:p>
          <a:p>
            <a:pPr marL="342900" lvl="0" indent="-342900" algn="l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endParaRPr lang="en-US" altLang="ko-KR" sz="2200" dirty="0">
              <a:solidFill>
                <a:srgbClr val="040000"/>
              </a:solidFill>
              <a:ea typeface="조선가는고딕"/>
            </a:endParaRPr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74647BAE-0CA0-4174-B258-AA17C3866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180889" y="9659937"/>
            <a:ext cx="586411" cy="365125"/>
          </a:xfrm>
        </p:spPr>
        <p:txBody>
          <a:bodyPr/>
          <a:lstStyle/>
          <a:p>
            <a:r>
              <a:rPr lang="en-US" altLang="ko-KR" sz="2000" dirty="0"/>
              <a:t>26</a:t>
            </a:r>
            <a:endParaRPr lang="ko-KR" alt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ADC2C6-CF36-FB09-B07A-E4821D883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5">
            <a:extLst>
              <a:ext uri="{FF2B5EF4-FFF2-40B4-BE49-F238E27FC236}">
                <a16:creationId xmlns:a16="http://schemas.microsoft.com/office/drawing/2014/main" id="{23CFB9E9-BE43-4147-AA7B-F31CECB99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600" y="6972300"/>
            <a:ext cx="1447800" cy="1324696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6E60677C-EC25-4F52-85AF-AA1CFDFB7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098" y="8420100"/>
            <a:ext cx="16802100" cy="1227136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32B2A2A2-2E64-48D5-86BB-E6863AA5A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54098" y="8420100"/>
            <a:ext cx="342900" cy="342900"/>
          </a:xfrm>
          <a:prstGeom prst="rect">
            <a:avLst/>
          </a:prstGeom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83A6C157-850D-01CC-E612-3C5EF6C27998}"/>
              </a:ext>
            </a:extLst>
          </p:cNvPr>
          <p:cNvSpPr txBox="1"/>
          <p:nvPr/>
        </p:nvSpPr>
        <p:spPr>
          <a:xfrm>
            <a:off x="1524000" y="736600"/>
            <a:ext cx="54356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100" dirty="0">
                <a:solidFill>
                  <a:srgbClr val="393939"/>
                </a:solidFill>
                <a:ea typeface="Pretendard Bold"/>
              </a:rPr>
              <a:t> 한계점 및 향후 연구방향</a:t>
            </a:r>
            <a:endParaRPr lang="ko-KR" sz="3100" b="0" i="0" u="none" strike="noStrike" dirty="0">
              <a:solidFill>
                <a:srgbClr val="393939"/>
              </a:solidFill>
              <a:ea typeface="Pretendard Bold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6F206A5-5C91-6119-E656-1063FA6B508C}"/>
              </a:ext>
            </a:extLst>
          </p:cNvPr>
          <p:cNvSpPr txBox="1"/>
          <p:nvPr/>
        </p:nvSpPr>
        <p:spPr>
          <a:xfrm>
            <a:off x="889000" y="723900"/>
            <a:ext cx="7874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3000" dirty="0">
                <a:solidFill>
                  <a:srgbClr val="08A5C1"/>
                </a:solidFill>
                <a:latin typeface="Montserrat Bold"/>
              </a:rPr>
              <a:t>2</a:t>
            </a:r>
            <a:r>
              <a:rPr lang="ko-KR" altLang="en-US" sz="3000" b="0" i="0" u="none" strike="noStrike" dirty="0">
                <a:solidFill>
                  <a:srgbClr val="08A5C1"/>
                </a:solidFill>
                <a:latin typeface="Montserrat Bold"/>
              </a:rPr>
              <a:t>절</a:t>
            </a:r>
            <a:endParaRPr lang="en-US" sz="3000" b="0" i="0" u="none" strike="noStrike" dirty="0">
              <a:solidFill>
                <a:srgbClr val="08A5C1"/>
              </a:solidFill>
              <a:latin typeface="Montserrat Bold"/>
            </a:endParaRPr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0A70BB9D-E1B6-C612-3213-8A585C5E8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180889" y="9659937"/>
            <a:ext cx="586411" cy="365125"/>
          </a:xfrm>
        </p:spPr>
        <p:txBody>
          <a:bodyPr/>
          <a:lstStyle/>
          <a:p>
            <a:r>
              <a:rPr lang="en-US" altLang="ko-KR" sz="2000" dirty="0"/>
              <a:t>27</a:t>
            </a:r>
            <a:endParaRPr lang="ko-KR" altLang="en-US" sz="2000" dirty="0"/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B5BA1BC2-C4CD-43AE-AF74-8A007F360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799" y="1638301"/>
            <a:ext cx="16459201" cy="5257799"/>
          </a:xfrm>
          <a:prstGeom prst="rect">
            <a:avLst/>
          </a:prstGeom>
        </p:spPr>
      </p:pic>
      <p:pic>
        <p:nvPicPr>
          <p:cNvPr id="7" name="Picture 10">
            <a:extLst>
              <a:ext uri="{FF2B5EF4-FFF2-40B4-BE49-F238E27FC236}">
                <a16:creationId xmlns:a16="http://schemas.microsoft.com/office/drawing/2014/main" id="{38281215-CB6C-4ADA-AF8A-371AAC61EF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13166" y="1679234"/>
            <a:ext cx="381000" cy="299136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2F9959BF-5DA9-41C5-8176-705BE65CE9F8}"/>
              </a:ext>
            </a:extLst>
          </p:cNvPr>
          <p:cNvSpPr/>
          <p:nvPr/>
        </p:nvSpPr>
        <p:spPr>
          <a:xfrm>
            <a:off x="1184052" y="8649790"/>
            <a:ext cx="16341948" cy="8743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en-US" sz="2200" dirty="0">
                <a:latin typeface="조선가는고딕" panose="020B0600000101010101" charset="-127"/>
                <a:ea typeface="조선가는고딕" panose="020B0600000101010101" charset="-127"/>
              </a:rPr>
              <a:t>향후 연구에서는 이러한 한계를 보완하여</a:t>
            </a:r>
            <a:r>
              <a:rPr lang="en-US" altLang="ko-KR" sz="2200" dirty="0">
                <a:latin typeface="조선가는고딕" panose="020B0600000101010101" charset="-127"/>
                <a:ea typeface="조선가는고딕" panose="020B0600000101010101" charset="-127"/>
              </a:rPr>
              <a:t>, </a:t>
            </a:r>
            <a:r>
              <a:rPr lang="ko-KR" altLang="en-US" sz="2200" dirty="0">
                <a:latin typeface="조선가는고딕" panose="020B0600000101010101" charset="-127"/>
                <a:ea typeface="조선가는고딕" panose="020B0600000101010101" charset="-127"/>
              </a:rPr>
              <a:t>공공임대주택 정책의 효과를 더욱 정교하고 포괄적으로 분석함으로써 학술적</a:t>
            </a:r>
            <a:r>
              <a:rPr lang="en-US" altLang="ko-KR" sz="2200" dirty="0">
                <a:latin typeface="조선가는고딕" panose="020B0600000101010101" charset="-127"/>
                <a:ea typeface="조선가는고딕" panose="020B0600000101010101" charset="-127"/>
              </a:rPr>
              <a:t>·</a:t>
            </a:r>
            <a:r>
              <a:rPr lang="ko-KR" altLang="en-US" sz="2200" dirty="0">
                <a:latin typeface="조선가는고딕" panose="020B0600000101010101" charset="-127"/>
                <a:ea typeface="조선가는고딕" panose="020B0600000101010101" charset="-127"/>
              </a:rPr>
              <a:t>정책적 기여를 확대할 필요가 있음</a:t>
            </a:r>
            <a:r>
              <a:rPr lang="en-US" altLang="ko-KR" sz="2200" dirty="0">
                <a:latin typeface="조선가는고딕" panose="020B0600000101010101" charset="-127"/>
                <a:ea typeface="조선가는고딕" panose="020B0600000101010101" charset="-127"/>
              </a:rPr>
              <a:t>.</a:t>
            </a:r>
            <a:endParaRPr lang="ko-KR" altLang="en-US" sz="2200" dirty="0">
              <a:latin typeface="조선가는고딕" panose="020B0600000101010101" charset="-127"/>
              <a:ea typeface="조선가는고딕" panose="020B0600000101010101" charset="-127"/>
            </a:endParaRP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04733B15-F72E-40FC-8A78-06BFA5303399}"/>
              </a:ext>
            </a:extLst>
          </p:cNvPr>
          <p:cNvSpPr txBox="1"/>
          <p:nvPr/>
        </p:nvSpPr>
        <p:spPr>
          <a:xfrm>
            <a:off x="1282700" y="1333500"/>
            <a:ext cx="16319500" cy="431328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1">
              <a:lnSpc>
                <a:spcPct val="124499"/>
              </a:lnSpc>
              <a:buClr>
                <a:srgbClr val="040000"/>
              </a:buClr>
            </a:pPr>
            <a:endParaRPr lang="en-US" altLang="ko-KR" sz="2400" dirty="0">
              <a:latin typeface="조선가는고딕" panose="020B0600000101010101" charset="-127"/>
              <a:ea typeface="조선가는고딕" panose="020B0600000101010101" charset="-127"/>
            </a:endParaRPr>
          </a:p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en-US" sz="2200" dirty="0">
                <a:latin typeface="조선가는고딕" panose="020B0600000101010101" charset="-127"/>
                <a:ea typeface="조선가는고딕" panose="020B0600000101010101" charset="-127"/>
              </a:rPr>
              <a:t>주택 시장에 영향을 미칠 수 있는 기타 변수들</a:t>
            </a:r>
            <a:r>
              <a:rPr lang="en-US" altLang="ko-KR" sz="2200" dirty="0">
                <a:latin typeface="조선가는고딕" panose="020B0600000101010101" charset="-127"/>
                <a:ea typeface="조선가는고딕" panose="020B0600000101010101" charset="-127"/>
              </a:rPr>
              <a:t>(</a:t>
            </a:r>
            <a:r>
              <a:rPr lang="ko-KR" altLang="en-US" sz="2200" dirty="0">
                <a:latin typeface="조선가는고딕" panose="020B0600000101010101" charset="-127"/>
                <a:ea typeface="조선가는고딕" panose="020B0600000101010101" charset="-127"/>
              </a:rPr>
              <a:t>예</a:t>
            </a:r>
            <a:r>
              <a:rPr lang="en-US" altLang="ko-KR" sz="2200" dirty="0">
                <a:latin typeface="조선가는고딕" panose="020B0600000101010101" charset="-127"/>
                <a:ea typeface="조선가는고딕" panose="020B0600000101010101" charset="-127"/>
              </a:rPr>
              <a:t>: </a:t>
            </a:r>
            <a:r>
              <a:rPr lang="ko-KR" altLang="en-US" sz="2200" dirty="0">
                <a:latin typeface="조선가는고딕" panose="020B0600000101010101" charset="-127"/>
                <a:ea typeface="조선가는고딕" panose="020B0600000101010101" charset="-127"/>
              </a:rPr>
              <a:t>거주민의 사회경제적 특성</a:t>
            </a:r>
            <a:r>
              <a:rPr lang="en-US" altLang="ko-KR" sz="2200" dirty="0">
                <a:latin typeface="조선가는고딕" panose="020B0600000101010101" charset="-127"/>
                <a:ea typeface="조선가는고딕" panose="020B0600000101010101" charset="-127"/>
              </a:rPr>
              <a:t>)</a:t>
            </a:r>
            <a:r>
              <a:rPr lang="ko-KR" altLang="en-US" sz="2200" dirty="0">
                <a:latin typeface="조선가는고딕" panose="020B0600000101010101" charset="-127"/>
                <a:ea typeface="조선가는고딕" panose="020B0600000101010101" charset="-127"/>
              </a:rPr>
              <a:t>을 충분히 반영하지 못했다</a:t>
            </a:r>
            <a:r>
              <a:rPr lang="en-US" altLang="ko-KR" sz="2200" dirty="0">
                <a:latin typeface="조선가는고딕" panose="020B0600000101010101" charset="-127"/>
                <a:ea typeface="조선가는고딕" panose="020B0600000101010101" charset="-127"/>
              </a:rPr>
              <a:t>.</a:t>
            </a:r>
          </a:p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endParaRPr lang="ko-KR" altLang="en-US" sz="2200" dirty="0">
              <a:latin typeface="조선가는고딕" panose="020B0600000101010101" charset="-127"/>
              <a:ea typeface="조선가는고딕" panose="020B0600000101010101" charset="-127"/>
            </a:endParaRPr>
          </a:p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en-US" sz="2200" dirty="0">
                <a:latin typeface="조선가는고딕" panose="020B0600000101010101" charset="-127"/>
                <a:ea typeface="조선가는고딕" panose="020B0600000101010101" charset="-127"/>
              </a:rPr>
              <a:t>청년안심주택 공급과 주변 전월세 가격 간의 상관관계를 분석하였으나</a:t>
            </a:r>
            <a:r>
              <a:rPr lang="en-US" altLang="ko-KR" sz="2200" dirty="0">
                <a:latin typeface="조선가는고딕" panose="020B0600000101010101" charset="-127"/>
                <a:ea typeface="조선가는고딕" panose="020B0600000101010101" charset="-127"/>
              </a:rPr>
              <a:t>, </a:t>
            </a:r>
            <a:r>
              <a:rPr lang="ko-KR" altLang="en-US" sz="2200" dirty="0">
                <a:latin typeface="조선가는고딕" panose="020B0600000101010101" charset="-127"/>
                <a:ea typeface="조선가는고딕" panose="020B0600000101010101" charset="-127"/>
              </a:rPr>
              <a:t>이러한 상관관계가 반드시 인과 관계를 의미하는 것은 아니다</a:t>
            </a:r>
            <a:r>
              <a:rPr lang="en-US" altLang="ko-KR" sz="2200" dirty="0">
                <a:latin typeface="조선가는고딕" panose="020B0600000101010101" charset="-127"/>
                <a:ea typeface="조선가는고딕" panose="020B0600000101010101" charset="-127"/>
              </a:rPr>
              <a:t>. </a:t>
            </a:r>
            <a:r>
              <a:rPr lang="ko-KR" altLang="en-US" sz="2200" dirty="0">
                <a:latin typeface="조선가는고딕" panose="020B0600000101010101" charset="-127"/>
                <a:ea typeface="조선가는고딕" panose="020B0600000101010101" charset="-127"/>
              </a:rPr>
              <a:t>따라서</a:t>
            </a:r>
            <a:r>
              <a:rPr lang="en-US" altLang="ko-KR" sz="2200" dirty="0">
                <a:latin typeface="조선가는고딕" panose="020B0600000101010101" charset="-127"/>
                <a:ea typeface="조선가는고딕" panose="020B0600000101010101" charset="-127"/>
              </a:rPr>
              <a:t>, </a:t>
            </a:r>
            <a:r>
              <a:rPr lang="ko-KR" altLang="en-US" sz="2200" dirty="0">
                <a:latin typeface="조선가는고딕" panose="020B0600000101010101" charset="-127"/>
                <a:ea typeface="조선가는고딕" panose="020B0600000101010101" charset="-127"/>
              </a:rPr>
              <a:t>향후 연구에서는 보다 엄격한 실험적 설계를 통해 정책이 시장에 미친 인과적 영향을 확인하는 것이 필요함</a:t>
            </a:r>
            <a:r>
              <a:rPr lang="en-US" altLang="ko-KR" sz="2200" dirty="0">
                <a:latin typeface="조선가는고딕" panose="020B0600000101010101" charset="-127"/>
                <a:ea typeface="조선가는고딕" panose="020B0600000101010101" charset="-127"/>
              </a:rPr>
              <a:t>.</a:t>
            </a:r>
          </a:p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endParaRPr lang="ko-KR" altLang="en-US" sz="2200" dirty="0">
              <a:latin typeface="조선가는고딕" panose="020B0600000101010101" charset="-127"/>
              <a:ea typeface="조선가는고딕" panose="020B0600000101010101" charset="-127"/>
            </a:endParaRPr>
          </a:p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en-US" sz="2200" dirty="0">
                <a:latin typeface="조선가는고딕" panose="020B0600000101010101" charset="-127"/>
                <a:ea typeface="조선가는고딕" panose="020B0600000101010101" charset="-127"/>
              </a:rPr>
              <a:t>청년안심주택 정책의 장기적 효과를 검토하지 못한 한계가 있다</a:t>
            </a:r>
            <a:r>
              <a:rPr lang="en-US" altLang="ko-KR" sz="2200" dirty="0">
                <a:latin typeface="조선가는고딕" panose="020B0600000101010101" charset="-127"/>
                <a:ea typeface="조선가는고딕" panose="020B0600000101010101" charset="-127"/>
              </a:rPr>
              <a:t>. </a:t>
            </a:r>
            <a:r>
              <a:rPr lang="ko-KR" altLang="en-US" sz="2200" dirty="0">
                <a:latin typeface="조선가는고딕" panose="020B0600000101010101" charset="-127"/>
                <a:ea typeface="조선가는고딕" panose="020B0600000101010101" charset="-127"/>
              </a:rPr>
              <a:t>본 연구는 정책 시행 후 비교적 단기적인 시장 변화를 분석 하였음</a:t>
            </a:r>
            <a:r>
              <a:rPr lang="en-US" altLang="ko-KR" sz="2200" dirty="0">
                <a:latin typeface="조선가는고딕" panose="020B0600000101010101" charset="-127"/>
                <a:ea typeface="조선가는고딕" panose="020B0600000101010101" charset="-127"/>
              </a:rPr>
              <a:t>.</a:t>
            </a:r>
          </a:p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endParaRPr lang="ko-KR" altLang="en-US" sz="2200" dirty="0">
              <a:latin typeface="조선가는고딕" panose="020B0600000101010101" charset="-127"/>
              <a:ea typeface="조선가는고딕" panose="020B0600000101010101" charset="-127"/>
            </a:endParaRPr>
          </a:p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en-US" sz="2200" dirty="0">
                <a:latin typeface="조선가는고딕" panose="020B0600000101010101" charset="-127"/>
                <a:ea typeface="조선가는고딕" panose="020B0600000101010101" charset="-127"/>
              </a:rPr>
              <a:t>연구의 초점이 전월세 가격 변화에 국한되어 있어</a:t>
            </a:r>
            <a:r>
              <a:rPr lang="en-US" altLang="ko-KR" sz="2200" dirty="0">
                <a:latin typeface="조선가는고딕" panose="020B0600000101010101" charset="-127"/>
                <a:ea typeface="조선가는고딕" panose="020B0600000101010101" charset="-127"/>
              </a:rPr>
              <a:t>, </a:t>
            </a:r>
            <a:r>
              <a:rPr lang="ko-KR" altLang="en-US" sz="2200" dirty="0">
                <a:latin typeface="조선가는고딕" panose="020B0600000101010101" charset="-127"/>
                <a:ea typeface="조선가는고딕" panose="020B0600000101010101" charset="-127"/>
              </a:rPr>
              <a:t>청년안심주택이 실제로 청년층의 주거 안정성이나 주거 만족도에 미치는 영향에 대한 분석이 포함되지 않았음</a:t>
            </a:r>
            <a:r>
              <a:rPr lang="en-US" altLang="ko-KR" sz="2200" dirty="0">
                <a:latin typeface="조선가는고딕" panose="020B0600000101010101" charset="-127"/>
                <a:ea typeface="조선가는고딕" panose="020B0600000101010101" charset="-127"/>
              </a:rPr>
              <a:t>.</a:t>
            </a:r>
          </a:p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endParaRPr lang="ko-KR" altLang="en-US" sz="2200" dirty="0">
              <a:latin typeface="조선가는고딕" panose="020B0600000101010101" charset="-127"/>
              <a:ea typeface="조선가는고딕" panose="020B0600000101010101" charset="-127"/>
            </a:endParaRPr>
          </a:p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en-US" sz="2200" dirty="0">
                <a:latin typeface="조선가는고딕" panose="020B0600000101010101" charset="-127"/>
                <a:ea typeface="조선가는고딕" panose="020B0600000101010101" charset="-127"/>
              </a:rPr>
              <a:t>주택 유형을 연립 및 다세대 주택으로 한정한 한계가 있다</a:t>
            </a:r>
            <a:r>
              <a:rPr lang="en-US" altLang="ko-KR" sz="2200" dirty="0">
                <a:latin typeface="조선가는고딕" panose="020B0600000101010101" charset="-127"/>
                <a:ea typeface="조선가는고딕" panose="020B0600000101010101" charset="-127"/>
              </a:rPr>
              <a:t>. </a:t>
            </a:r>
            <a:r>
              <a:rPr lang="ko-KR" altLang="en-US" sz="2200" dirty="0">
                <a:latin typeface="조선가는고딕" panose="020B0600000101010101" charset="-127"/>
                <a:ea typeface="조선가는고딕" panose="020B0600000101010101" charset="-127"/>
              </a:rPr>
              <a:t>주택 유형으로는 아파트</a:t>
            </a:r>
            <a:r>
              <a:rPr lang="en-US" altLang="ko-KR" sz="2200" dirty="0">
                <a:latin typeface="조선가는고딕" panose="020B0600000101010101" charset="-127"/>
                <a:ea typeface="조선가는고딕" panose="020B0600000101010101" charset="-127"/>
              </a:rPr>
              <a:t>, </a:t>
            </a:r>
            <a:r>
              <a:rPr lang="ko-KR" altLang="en-US" sz="2200" dirty="0">
                <a:latin typeface="조선가는고딕" panose="020B0600000101010101" charset="-127"/>
                <a:ea typeface="조선가는고딕" panose="020B0600000101010101" charset="-127"/>
              </a:rPr>
              <a:t>오피스텔</a:t>
            </a:r>
            <a:r>
              <a:rPr lang="en-US" altLang="ko-KR" sz="2200" dirty="0">
                <a:latin typeface="조선가는고딕" panose="020B0600000101010101" charset="-127"/>
                <a:ea typeface="조선가는고딕" panose="020B0600000101010101" charset="-127"/>
              </a:rPr>
              <a:t>, </a:t>
            </a:r>
            <a:r>
              <a:rPr lang="ko-KR" altLang="en-US" sz="2200" dirty="0">
                <a:latin typeface="조선가는고딕" panose="020B0600000101010101" charset="-127"/>
                <a:ea typeface="조선가는고딕" panose="020B0600000101010101" charset="-127"/>
              </a:rPr>
              <a:t>단독주택</a:t>
            </a:r>
            <a:r>
              <a:rPr lang="en-US" altLang="ko-KR" sz="2200" dirty="0">
                <a:latin typeface="조선가는고딕" panose="020B0600000101010101" charset="-127"/>
                <a:ea typeface="조선가는고딕" panose="020B0600000101010101" charset="-127"/>
              </a:rPr>
              <a:t>, </a:t>
            </a:r>
            <a:r>
              <a:rPr lang="ko-KR" altLang="en-US" sz="2200" dirty="0">
                <a:latin typeface="조선가는고딕" panose="020B0600000101010101" charset="-127"/>
                <a:ea typeface="조선가는고딕" panose="020B0600000101010101" charset="-127"/>
              </a:rPr>
              <a:t>다가구주택 등이 있으나 이 유형을 배제하고 연구를 진행하였음</a:t>
            </a:r>
            <a:r>
              <a:rPr lang="en-US" altLang="ko-KR" sz="2200" dirty="0">
                <a:latin typeface="조선가는고딕" panose="020B0600000101010101" charset="-127"/>
                <a:ea typeface="조선가는고딕" panose="020B0600000101010101" charset="-127"/>
              </a:rPr>
              <a:t>.</a:t>
            </a:r>
            <a:endParaRPr lang="ko-KR" altLang="en-US" sz="2200" dirty="0">
              <a:latin typeface="조선가는고딕" panose="020B0600000101010101" charset="-127"/>
              <a:ea typeface="조선가는고딕" panose="020B0600000101010101" charset="-127"/>
            </a:endParaRPr>
          </a:p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endParaRPr lang="en-US" altLang="ko-KR" sz="2200" dirty="0">
              <a:latin typeface="조선가는고딕" panose="020B0600000101010101" charset="-127"/>
              <a:ea typeface="조선가는고딕" panose="020B0600000101010101" charset="-127"/>
            </a:endParaRPr>
          </a:p>
          <a:p>
            <a:pPr marL="342900" lvl="0" indent="-342900" algn="l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endParaRPr lang="en-US" altLang="ko-KR" sz="2200" dirty="0">
              <a:solidFill>
                <a:srgbClr val="040000"/>
              </a:solidFill>
              <a:ea typeface="조선가는고딕"/>
            </a:endParaRPr>
          </a:p>
        </p:txBody>
      </p:sp>
    </p:spTree>
    <p:extLst>
      <p:ext uri="{BB962C8B-B14F-4D97-AF65-F5344CB8AC3E}">
        <p14:creationId xmlns:p14="http://schemas.microsoft.com/office/powerpoint/2010/main" val="32699079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31900" y="622300"/>
            <a:ext cx="54356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3100" b="0" i="0" u="none" strike="noStrike">
                <a:solidFill>
                  <a:srgbClr val="393939"/>
                </a:solidFill>
                <a:ea typeface="Pretendard Bold"/>
              </a:rPr>
              <a:t>참고문헌</a:t>
            </a: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64ED5A98-1B4E-2189-CE95-B0C7A3E01655}"/>
              </a:ext>
            </a:extLst>
          </p:cNvPr>
          <p:cNvSpPr txBox="1"/>
          <p:nvPr/>
        </p:nvSpPr>
        <p:spPr>
          <a:xfrm>
            <a:off x="1295400" y="2095500"/>
            <a:ext cx="16319500" cy="426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en-US" sz="2400" b="1" dirty="0"/>
              <a:t>박민호</a:t>
            </a:r>
            <a:r>
              <a:rPr lang="en-US" altLang="ko-KR" sz="2400" dirty="0"/>
              <a:t>, </a:t>
            </a:r>
            <a:r>
              <a:rPr lang="ko-KR" altLang="en-US" sz="2400" b="1" dirty="0"/>
              <a:t>김명훈</a:t>
            </a:r>
            <a:r>
              <a:rPr lang="en-US" altLang="ko-KR" sz="2400" dirty="0"/>
              <a:t>, &amp; </a:t>
            </a:r>
            <a:r>
              <a:rPr lang="ko-KR" altLang="en-US" sz="2400" b="1" dirty="0" err="1"/>
              <a:t>천상현</a:t>
            </a:r>
            <a:r>
              <a:rPr lang="en-US" altLang="ko-KR" sz="2400" dirty="0"/>
              <a:t>. (2020). </a:t>
            </a:r>
            <a:r>
              <a:rPr lang="ko-KR" altLang="en-US" sz="2400" dirty="0"/>
              <a:t>서울시 역세권 청년주택 사업 적지평가 모형</a:t>
            </a:r>
            <a:r>
              <a:rPr lang="en-US" altLang="ko-KR" sz="2400" dirty="0"/>
              <a:t>: 5</a:t>
            </a:r>
            <a:r>
              <a:rPr lang="ko-KR" altLang="en-US" sz="2400" dirty="0"/>
              <a:t>차 운영기준 개정과 청년수요의 반영을 중심으로</a:t>
            </a:r>
            <a:r>
              <a:rPr lang="en-US" altLang="ko-KR" sz="2400" dirty="0"/>
              <a:t>. </a:t>
            </a:r>
            <a:r>
              <a:rPr lang="en-US" altLang="ko-KR" sz="2400" i="1" dirty="0"/>
              <a:t>LHI Journal of Land, Housing, and Urban Affairs</a:t>
            </a:r>
            <a:r>
              <a:rPr lang="en-US" altLang="ko-KR" sz="2400" dirty="0"/>
              <a:t>, 11(3), 49-59</a:t>
            </a:r>
          </a:p>
          <a:p>
            <a:pPr marL="342900" lvl="0" indent="-342900" algn="l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en-US" sz="2400" b="1" dirty="0"/>
              <a:t>吴施施</a:t>
            </a:r>
            <a:r>
              <a:rPr lang="en-US" altLang="ko-KR" sz="2400" dirty="0"/>
              <a:t>. (2020). </a:t>
            </a:r>
            <a:r>
              <a:rPr lang="ko-KR" altLang="en-US" sz="2400" dirty="0"/>
              <a:t>역세권 청년주택 사업이 도시재생에 미치는 영향에 관한 연구</a:t>
            </a:r>
            <a:r>
              <a:rPr lang="en-US" altLang="ko-KR" sz="2400" dirty="0"/>
              <a:t>: </a:t>
            </a:r>
            <a:r>
              <a:rPr lang="ko-KR" altLang="en-US" sz="2400" dirty="0"/>
              <a:t>서울시 역세권 청년주택 사업과 입주민 인식조사를 중심으로</a:t>
            </a:r>
            <a:r>
              <a:rPr lang="en-US" altLang="ko-KR" sz="2400" dirty="0"/>
              <a:t>. </a:t>
            </a:r>
            <a:r>
              <a:rPr lang="ko-KR" altLang="en-US" sz="2400" i="1" dirty="0"/>
              <a:t>고려대학교 대학원 도시재생협동과정 석사학위 논문</a:t>
            </a:r>
            <a:r>
              <a:rPr lang="en-US" altLang="ko-KR" sz="2400" dirty="0"/>
              <a:t>.  </a:t>
            </a:r>
          </a:p>
          <a:p>
            <a:pPr marL="342900" lvl="0" indent="-342900" algn="l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en-US" sz="2400" b="1" dirty="0"/>
              <a:t>이기훈</a:t>
            </a:r>
            <a:r>
              <a:rPr lang="en-US" altLang="ko-KR" sz="2400" dirty="0"/>
              <a:t>, &amp; </a:t>
            </a:r>
            <a:r>
              <a:rPr lang="ko-KR" altLang="en-US" sz="2400" b="1" dirty="0" err="1"/>
              <a:t>마강래</a:t>
            </a:r>
            <a:r>
              <a:rPr lang="en-US" altLang="ko-KR" sz="2400" dirty="0"/>
              <a:t>. (2022). </a:t>
            </a:r>
            <a:r>
              <a:rPr lang="ko-KR" altLang="en-US" sz="2400" dirty="0"/>
              <a:t>역세권 </a:t>
            </a:r>
            <a:r>
              <a:rPr lang="en-US" altLang="ko-KR" sz="2400" dirty="0"/>
              <a:t>2030 </a:t>
            </a:r>
            <a:r>
              <a:rPr lang="ko-KR" altLang="en-US" sz="2400" dirty="0"/>
              <a:t>청년주택이 인근 지역 주택가격에 미치는 영향</a:t>
            </a:r>
            <a:r>
              <a:rPr lang="en-US" altLang="ko-KR" sz="2400" dirty="0"/>
              <a:t>. </a:t>
            </a:r>
            <a:r>
              <a:rPr lang="ko-KR" altLang="en-US" sz="2400" i="1" dirty="0"/>
              <a:t>대한부동산학회지</a:t>
            </a:r>
            <a:r>
              <a:rPr lang="en-US" altLang="ko-KR" sz="2400" dirty="0"/>
              <a:t>, 40(3), 75-93.</a:t>
            </a:r>
          </a:p>
          <a:p>
            <a:pPr marL="342900" lvl="0" indent="-342900" algn="l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en-US" sz="2400" b="1" dirty="0" err="1"/>
              <a:t>김용재</a:t>
            </a:r>
            <a:r>
              <a:rPr lang="en-US" altLang="ko-KR" sz="2400" dirty="0"/>
              <a:t>. (2017). </a:t>
            </a:r>
            <a:r>
              <a:rPr lang="ko-KR" altLang="en-US" sz="2400" dirty="0"/>
              <a:t>청년주택 공급이 주변 임대료에 미치는 영향</a:t>
            </a:r>
            <a:r>
              <a:rPr lang="en-US" altLang="ko-KR" sz="2400" dirty="0"/>
              <a:t>: </a:t>
            </a:r>
            <a:r>
              <a:rPr lang="ko-KR" altLang="en-US" sz="2400" dirty="0"/>
              <a:t>서울시 역세권을 중심으로</a:t>
            </a:r>
            <a:r>
              <a:rPr lang="en-US" altLang="ko-KR" sz="2400" dirty="0"/>
              <a:t>. </a:t>
            </a:r>
            <a:r>
              <a:rPr lang="ko-KR" altLang="en-US" sz="2400" i="1" dirty="0"/>
              <a:t>주택연구</a:t>
            </a:r>
            <a:r>
              <a:rPr lang="en-US" altLang="ko-KR" sz="2400" dirty="0"/>
              <a:t>, 25(2), 135-156.</a:t>
            </a:r>
          </a:p>
          <a:p>
            <a:pPr marL="342900" lvl="0" indent="-342900" algn="l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en-US" sz="2400" b="1" dirty="0"/>
              <a:t>박민호</a:t>
            </a:r>
            <a:r>
              <a:rPr lang="en-US" altLang="ko-KR" sz="2400" dirty="0"/>
              <a:t>, </a:t>
            </a:r>
            <a:r>
              <a:rPr lang="ko-KR" altLang="en-US" sz="2400" b="1" dirty="0"/>
              <a:t>김명훈</a:t>
            </a:r>
            <a:r>
              <a:rPr lang="en-US" altLang="ko-KR" sz="2400" dirty="0"/>
              <a:t>, &amp; </a:t>
            </a:r>
            <a:r>
              <a:rPr lang="ko-KR" altLang="en-US" sz="2400" b="1" dirty="0" err="1"/>
              <a:t>천상현</a:t>
            </a:r>
            <a:r>
              <a:rPr lang="en-US" altLang="ko-KR" sz="2400" dirty="0"/>
              <a:t>. (2020). </a:t>
            </a:r>
            <a:r>
              <a:rPr lang="ko-KR" altLang="en-US" sz="2400" dirty="0"/>
              <a:t>서울시 역세권 청년주택 사업 적지평가 모형</a:t>
            </a:r>
            <a:r>
              <a:rPr lang="en-US" altLang="ko-KR" sz="2400" dirty="0"/>
              <a:t>: 5</a:t>
            </a:r>
            <a:r>
              <a:rPr lang="ko-KR" altLang="en-US" sz="2400" dirty="0"/>
              <a:t>차 운영기준 개정과 청년수요의 반영을 중심으로</a:t>
            </a:r>
            <a:r>
              <a:rPr lang="en-US" altLang="ko-KR" sz="2400" dirty="0"/>
              <a:t>. </a:t>
            </a:r>
            <a:r>
              <a:rPr lang="en-US" altLang="ko-KR" sz="2400" i="1" dirty="0"/>
              <a:t>LHI Journal of Land, Housing, and Urban Affairs</a:t>
            </a:r>
            <a:r>
              <a:rPr lang="en-US" altLang="ko-KR" sz="2400" dirty="0"/>
              <a:t>, 11(3), 49-59.</a:t>
            </a:r>
          </a:p>
          <a:p>
            <a:pPr marL="342900" lvl="0" indent="-342900" algn="l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en-US" sz="2400" b="1" dirty="0" err="1"/>
              <a:t>최누리</a:t>
            </a:r>
            <a:r>
              <a:rPr lang="en-US" altLang="ko-KR" sz="2400" dirty="0"/>
              <a:t>. (2018). </a:t>
            </a:r>
            <a:r>
              <a:rPr lang="ko-KR" altLang="en-US" sz="2400" dirty="0"/>
              <a:t>주택 임차시장 내의 수요와 공급이 전</a:t>
            </a:r>
            <a:r>
              <a:rPr lang="en-US" altLang="ko-KR" sz="2400" dirty="0"/>
              <a:t>·</a:t>
            </a:r>
            <a:r>
              <a:rPr lang="ko-KR" altLang="en-US" sz="2400" dirty="0"/>
              <a:t>월세 계약에 미치는 영향</a:t>
            </a:r>
            <a:r>
              <a:rPr lang="en-US" altLang="ko-KR" sz="2400" dirty="0"/>
              <a:t>: </a:t>
            </a:r>
            <a:r>
              <a:rPr lang="ko-KR" altLang="en-US" sz="2400" dirty="0"/>
              <a:t>서울시와 </a:t>
            </a:r>
            <a:r>
              <a:rPr lang="en-US" altLang="ko-KR" sz="2400" dirty="0"/>
              <a:t>6</a:t>
            </a:r>
            <a:r>
              <a:rPr lang="ko-KR" altLang="en-US" sz="2400" dirty="0"/>
              <a:t>대 광역시를 대상으로</a:t>
            </a:r>
            <a:r>
              <a:rPr lang="en-US" altLang="ko-KR" sz="2400" dirty="0"/>
              <a:t>. </a:t>
            </a:r>
            <a:r>
              <a:rPr lang="ko-KR" altLang="en-US" sz="2400" i="1" dirty="0"/>
              <a:t>한양대학교 도시대학원 석사학위논문</a:t>
            </a:r>
            <a:r>
              <a:rPr lang="en-US" altLang="ko-KR" sz="2400" dirty="0"/>
              <a:t>.</a:t>
            </a:r>
          </a:p>
          <a:p>
            <a:pPr marL="342900" lvl="0" indent="-342900" algn="l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en-US" sz="2400" b="1" dirty="0" err="1"/>
              <a:t>김준형</a:t>
            </a:r>
            <a:r>
              <a:rPr lang="en-US" altLang="ko-KR" sz="2400" dirty="0"/>
              <a:t>. (2021). </a:t>
            </a:r>
            <a:r>
              <a:rPr lang="ko-KR" altLang="en-US" sz="2400" dirty="0"/>
              <a:t>시계열 분석을 통한 임대주택 월세비율 변화요인에 관한 분석</a:t>
            </a:r>
            <a:r>
              <a:rPr lang="en-US" altLang="ko-KR" sz="2400" dirty="0"/>
              <a:t>. </a:t>
            </a:r>
            <a:r>
              <a:rPr lang="ko-KR" altLang="en-US" sz="2400" i="1" dirty="0"/>
              <a:t>고려대학교 정책대학원 석사학위논문</a:t>
            </a:r>
            <a:r>
              <a:rPr lang="en-US" altLang="ko-KR" sz="2400" dirty="0"/>
              <a:t>.</a:t>
            </a:r>
          </a:p>
          <a:p>
            <a:pPr marL="342900" lvl="0" indent="-342900" algn="l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en-US" sz="2400" b="1" dirty="0" err="1"/>
              <a:t>윤형필</a:t>
            </a:r>
            <a:r>
              <a:rPr lang="en-US" altLang="ko-KR" sz="2400" dirty="0"/>
              <a:t>. (2020). </a:t>
            </a:r>
            <a:r>
              <a:rPr lang="ko-KR" altLang="en-US" sz="2400" dirty="0"/>
              <a:t>아파트 전세 계약 비율에 영향을 미치는 요인에 관한 연구</a:t>
            </a:r>
            <a:r>
              <a:rPr lang="en-US" altLang="ko-KR" sz="2400" dirty="0"/>
              <a:t>: </a:t>
            </a:r>
            <a:r>
              <a:rPr lang="ko-KR" altLang="en-US" sz="2400" dirty="0"/>
              <a:t>서울시를 중심으로</a:t>
            </a:r>
            <a:r>
              <a:rPr lang="en-US" altLang="ko-KR" sz="2400" dirty="0"/>
              <a:t>. </a:t>
            </a:r>
            <a:r>
              <a:rPr lang="ko-KR" altLang="en-US" sz="2400" i="1" dirty="0"/>
              <a:t>한양대학교 도시대학원 석사학위논문</a:t>
            </a:r>
            <a:r>
              <a:rPr lang="en-US" altLang="ko-KR" sz="2400" dirty="0"/>
              <a:t>. </a:t>
            </a:r>
          </a:p>
          <a:p>
            <a:pPr marL="342900" lvl="0" indent="-342900" algn="l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en-US" sz="2400" b="1" dirty="0"/>
              <a:t>최선호</a:t>
            </a:r>
            <a:r>
              <a:rPr lang="en-US" altLang="ko-KR" sz="2400" dirty="0"/>
              <a:t>. (2020). </a:t>
            </a:r>
            <a:r>
              <a:rPr lang="ko-KR" altLang="en-US" sz="2400" dirty="0"/>
              <a:t>주택임대차보호법 개정이 전세 및 월세 시장에 미치는 영향</a:t>
            </a:r>
            <a:r>
              <a:rPr lang="en-US" altLang="ko-KR" sz="2400" dirty="0"/>
              <a:t>. </a:t>
            </a:r>
            <a:r>
              <a:rPr lang="ko-KR" altLang="en-US" sz="2400" i="1" dirty="0"/>
              <a:t>서울대학교 대학원 석사학위논문</a:t>
            </a:r>
            <a:r>
              <a:rPr lang="en-US" altLang="ko-KR" sz="2400" dirty="0"/>
              <a:t>. </a:t>
            </a:r>
          </a:p>
          <a:p>
            <a:pPr marL="342900" lvl="0" indent="-342900" algn="l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en-US" sz="2400" b="1" dirty="0"/>
              <a:t>전해정</a:t>
            </a:r>
            <a:r>
              <a:rPr lang="en-US" altLang="ko-KR" sz="2400" dirty="0"/>
              <a:t>. (2015). </a:t>
            </a:r>
            <a:r>
              <a:rPr lang="ko-KR" altLang="en-US" sz="2400" dirty="0"/>
              <a:t>수도권 전세가격의 상승요인에 관한 연구</a:t>
            </a:r>
            <a:r>
              <a:rPr lang="en-US" altLang="ko-KR" sz="2400" dirty="0"/>
              <a:t>. </a:t>
            </a:r>
            <a:r>
              <a:rPr lang="ko-KR" altLang="en-US" sz="2400" i="1" dirty="0"/>
              <a:t>한국주거환경학회</a:t>
            </a:r>
            <a:r>
              <a:rPr lang="en-US" altLang="ko-KR" sz="2400" dirty="0"/>
              <a:t>, 24(1), 97-120.</a:t>
            </a:r>
          </a:p>
          <a:p>
            <a:pPr marL="342900" lvl="0" indent="-342900" algn="l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en-US" sz="2400" b="1" dirty="0"/>
              <a:t>김주영</a:t>
            </a:r>
            <a:r>
              <a:rPr lang="en-US" altLang="ko-KR" sz="2400" dirty="0"/>
              <a:t>, &amp; </a:t>
            </a:r>
            <a:r>
              <a:rPr lang="ko-KR" altLang="en-US" sz="2400" b="1" dirty="0"/>
              <a:t>신우진</a:t>
            </a:r>
            <a:r>
              <a:rPr lang="en-US" altLang="ko-KR" sz="2400" dirty="0"/>
              <a:t>. (2018). </a:t>
            </a:r>
            <a:r>
              <a:rPr lang="ko-KR" altLang="en-US" sz="2400" dirty="0"/>
              <a:t>아파트 전세가율 변동의 영향요인에 관한 연구</a:t>
            </a:r>
            <a:r>
              <a:rPr lang="en-US" altLang="ko-KR" sz="2400" dirty="0"/>
              <a:t>. </a:t>
            </a:r>
            <a:r>
              <a:rPr lang="ko-KR" altLang="en-US" sz="2400" i="1" dirty="0"/>
              <a:t>대한부동산학회지</a:t>
            </a:r>
            <a:r>
              <a:rPr lang="en-US" altLang="ko-KR" sz="2400" dirty="0"/>
              <a:t>, 35(4), 53-72.</a:t>
            </a:r>
          </a:p>
          <a:p>
            <a:pPr marL="342900" lvl="0" indent="-342900" algn="l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r>
              <a:rPr lang="ko-KR" altLang="en-US" sz="2400" b="1" dirty="0" err="1"/>
              <a:t>홍성혁</a:t>
            </a:r>
            <a:r>
              <a:rPr lang="en-US" altLang="ko-KR" sz="2400" dirty="0"/>
              <a:t>. (2019). </a:t>
            </a:r>
            <a:r>
              <a:rPr lang="ko-KR" altLang="en-US" sz="2400" dirty="0"/>
              <a:t>전세와 월세 선택에 미치는 경제적 요인 분석</a:t>
            </a:r>
            <a:r>
              <a:rPr lang="en-US" altLang="ko-KR" sz="2400" dirty="0"/>
              <a:t>. </a:t>
            </a:r>
            <a:r>
              <a:rPr lang="ko-KR" altLang="en-US" sz="2400" i="1" dirty="0"/>
              <a:t>고려대학교 경제연구소 연구논문</a:t>
            </a:r>
            <a:r>
              <a:rPr lang="en-US" altLang="ko-KR" sz="2400" dirty="0"/>
              <a:t>.</a:t>
            </a:r>
          </a:p>
          <a:p>
            <a:pPr marL="342900" lvl="0" indent="-342900" algn="l">
              <a:lnSpc>
                <a:spcPct val="124499"/>
              </a:lnSpc>
              <a:buClr>
                <a:srgbClr val="040000"/>
              </a:buClr>
              <a:buFont typeface="Arial"/>
              <a:buChar char="●"/>
            </a:pPr>
            <a:endParaRPr lang="en-US" sz="2400" b="0" i="0" u="none" strike="noStrike" dirty="0">
              <a:solidFill>
                <a:srgbClr val="040000"/>
              </a:solidFill>
              <a:latin typeface="조선가는고딕"/>
            </a:endParaRPr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F1BA6E6E-263D-4D3D-A908-2762BAF09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180889" y="9659937"/>
            <a:ext cx="586411" cy="365125"/>
          </a:xfrm>
        </p:spPr>
        <p:txBody>
          <a:bodyPr/>
          <a:lstStyle/>
          <a:p>
            <a:r>
              <a:rPr lang="en-US" altLang="ko-KR" sz="2000" dirty="0"/>
              <a:t>28</a:t>
            </a:r>
            <a:endParaRPr lang="ko-KR" alt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39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2700" y="3657600"/>
            <a:ext cx="6019800" cy="61722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604000" y="4216400"/>
            <a:ext cx="6794500" cy="154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8800" b="0" i="0" u="none" strike="noStrike">
                <a:solidFill>
                  <a:srgbClr val="FFFFFF"/>
                </a:solidFill>
                <a:ea typeface="Pretendard Bold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1230</TotalTime>
  <Words>4332</Words>
  <Application>Microsoft Office PowerPoint</Application>
  <PresentationFormat>사용자 지정</PresentationFormat>
  <Paragraphs>1432</Paragraphs>
  <Slides>36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53" baseType="lpstr">
      <vt:lpstr>Montserrat SemiBold</vt:lpstr>
      <vt:lpstr>Wingdings</vt:lpstr>
      <vt:lpstr>Pretendard Light</vt:lpstr>
      <vt:lpstr>Pretendard Bold</vt:lpstr>
      <vt:lpstr>Calibri</vt:lpstr>
      <vt:lpstr>맑은 고딕</vt:lpstr>
      <vt:lpstr>나눔고딕</vt:lpstr>
      <vt:lpstr>Montserrat Medium</vt:lpstr>
      <vt:lpstr>Pretendard SemiBold</vt:lpstr>
      <vt:lpstr>조선가는고딕</vt:lpstr>
      <vt:lpstr>나눔고딕</vt:lpstr>
      <vt:lpstr>Pretendard Regular</vt:lpstr>
      <vt:lpstr>NanumGothicBold</vt:lpstr>
      <vt:lpstr>Montserrat Bold</vt:lpstr>
      <vt:lpstr>-윤고딕110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HYU</dc:creator>
  <cp:lastModifiedBy>양재영(PC-0206)</cp:lastModifiedBy>
  <cp:revision>85</cp:revision>
  <cp:lastPrinted>2024-10-30T06:42:10Z</cp:lastPrinted>
  <dcterms:created xsi:type="dcterms:W3CDTF">2006-08-16T00:00:00Z</dcterms:created>
  <dcterms:modified xsi:type="dcterms:W3CDTF">2024-12-03T06:55:01Z</dcterms:modified>
</cp:coreProperties>
</file>