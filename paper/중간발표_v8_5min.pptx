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A7A7A"/>
                </a:solidFill>
                <a:ea typeface="Apple SD Gothic Neo"/>
                <a:latin typeface="Apple SD Gothic Neo"/>
              </a:rPr>
              <a:t>한양대학교 부동산융합대학원 석사학위논문 (중간발표)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93939"/>
                </a:solidFill>
                <a:ea typeface="Apple SD Gothic Neo"/>
                <a:latin typeface="Apple SD Gothic Neo"/>
              </a:rPr>
              <a:t>XGBoost와 SHAP을 활용한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393939"/>
                </a:solidFill>
                <a:ea typeface="Apple SD Gothic Neo"/>
                <a:latin typeface="Apple SD Gothic Neo"/>
              </a:rPr>
              <a:t>서울시 아파트 단위면적당 매매가격의 설명 패턴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F77B4"/>
                </a:solidFill>
                <a:ea typeface="Apple SD Gothic Neo"/>
                <a:latin typeface="Apple SD Gothic Neo"/>
              </a:rPr>
              <a:t>— 거리 기반 입지 변수 · 연도별 시점 정합 · 권역×연도 SHAP 분해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393939"/>
                </a:solidFill>
                <a:ea typeface="Apple SD Gothic Neo"/>
                <a:latin typeface="Apple SD Gothic Neo"/>
              </a:rPr>
              <a:t>도시부동산정책전공  박현근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93939"/>
                </a:solidFill>
                <a:ea typeface="Apple SD Gothic Neo"/>
                <a:latin typeface="Apple SD Gothic Neo"/>
              </a:rPr>
              <a:t>지도교수  고준호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ea typeface="Apple SD Gothic Neo"/>
                <a:latin typeface="Apple SD Gothic Neo"/>
              </a:rPr>
              <a:t>2026. 04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연구 배경 — 왜 이 주제인가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F77B4"/>
                </a:solidFill>
                <a:ea typeface="Apple SD Gothic Neo"/>
                <a:latin typeface="Apple SD Gothic Neo"/>
              </a:rPr>
              <a:t>세 가지 층위의 동기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66160" cy="36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3200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77B4"/>
                </a:solidFill>
                <a:ea typeface="Apple SD Gothic Neo"/>
                <a:latin typeface="Apple SD Gothic Neo"/>
              </a:rPr>
              <a:t>실무·제도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320040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AVM 확산 가속, 감정평가·은행·세무에 “왜 이 가격인가”를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설명할 해석 프레임워크 요구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566160" cy="36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200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77B4"/>
                </a:solidFill>
                <a:ea typeface="Apple SD Gothic Neo"/>
                <a:latin typeface="Apple SD Gothic Neo"/>
              </a:rPr>
              <a:t>학술 공백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20040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국내 ML 부동산 연구의 세 공백: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공간 단위 거침(MAUP) · 시간역전 누수 · 단일 SHAP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554480"/>
            <a:ext cx="3566160" cy="36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737360"/>
            <a:ext cx="3200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77B4"/>
                </a:solidFill>
                <a:ea typeface="Apple SD Gothic Neo"/>
                <a:latin typeface="Apple SD Gothic Neo"/>
              </a:rPr>
              <a:t>시장 국면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468880"/>
            <a:ext cx="320040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2019~2025: 유동성 급등(2020-21) → 금리 충격 조정(2022)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→ 완만한 회복(2023-25)을 단일 기간에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D62728"/>
                </a:solidFill>
                <a:ea typeface="Apple SD Gothic Neo"/>
                <a:latin typeface="Apple SD Gothic Neo"/>
              </a:rPr>
              <a:t>→ Q1 공간 정합 · Q2 시간 정합 · Q3 시공간 이질성 · Q4 해석 프레임워크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ea typeface="Apple SD Gothic Neo"/>
                <a:latin typeface="Apple SD Gothic Neo"/>
              </a:rPr>
              <a:t>한양대학교 부동산융합대학원 · 박현근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데이터와 방법 — 거리 기반 + 시점 정합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77B4"/>
                </a:solidFill>
                <a:ea typeface="Apple SD Gothic Neo"/>
                <a:latin typeface="Apple SD Gothic Neo"/>
              </a:rPr>
              <a:t>서울 215개 행정동 · 391,826 거래 (2019.01~2025.12)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• 아파트 단지 8,601개 Kakao Local API 지오코딩 (거래건수 기준 100% 커버)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• 13 시설군 거리 기반 변수: 최근접거리(m) + 반경 500m/1km/2km 개수 + 도보 추정 시간(분)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• 시점 정합: 학교·학원·어린이집·공원·근린시설·지하철 6군에 대해 연도별 활동 스냅샷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• 종속변수: log(㎡당 거래가격) — 규모효과 정규화 (교수 피드백 반영)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• 모형: OLS·Random Forest·XGBoost — 무작위·단지 Group·시간순 세 분할 검증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• SHAP 분해: 전체·권역(강남3구/비강남)·연도·연도×권역(21 서브모델)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93939"/>
                </a:solidFill>
                <a:ea typeface="Apple SD Gothic Neo"/>
                <a:latin typeface="Apple SD Gothic Neo"/>
              </a:rPr>
              <a:t>• 어블레이션 4 시나리오: A 행정동만 / B 거리·시점무관 / C 거리+시점 / D 통합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ea typeface="Apple SD Gothic Neo"/>
                <a:latin typeface="Apple SD Gothic Neo"/>
              </a:rPr>
              <a:t>한양대학교 부동산융합대학원 · 박현근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어블레이션 — 거리 전환이 시간순 R² +7.1%p 개선 견인</a:t>
            </a:r>
          </a:p>
        </p:txBody>
      </p:sp>
      <p:pic>
        <p:nvPicPr>
          <p:cNvPr id="5" name="Picture 4" descr="fig10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132320" cy="3878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097280"/>
            <a:ext cx="4023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77B4"/>
                </a:solidFill>
                <a:ea typeface="Apple SD Gothic Neo"/>
                <a:latin typeface="Apple SD Gothic Neo"/>
              </a:rPr>
              <a:t>핵심 발견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023360" cy="4572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A→B 거리 변환만으로 시간순 +5.6%p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B→C 시점 정합 단독 R² 효과는 작음 (~0.5%p)
  → 성능이 아니라 미래 시점 정보의
     누수 제거(방법론적 타당성)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D 통합(거리+시점+행정동)이 무작위·시간순·
Group 세 분할 모두에서 최고 성능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단지 Group: A 0.777 → B 0.727(일시 하락)
→ D 0.804(거리·행정동 보완)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ea typeface="Apple SD Gothic Neo"/>
                <a:latin typeface="Apple SD Gothic Neo"/>
              </a:rPr>
              <a:t>한양대학교 부동산융합대학원 · 박현근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권역×연도 SHAP — 강남 변동 vs 비강남 안정</a:t>
            </a:r>
          </a:p>
        </p:txBody>
      </p:sp>
      <p:pic>
        <p:nvPicPr>
          <p:cNvPr id="5" name="Picture 4" descr="fig12_year_reg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3566826"/>
          </a:xfrm>
          <a:prstGeom prst="rect">
            <a:avLst/>
          </a:prstGeom>
        </p:spPr>
      </p:pic>
      <p:pic>
        <p:nvPicPr>
          <p:cNvPr id="6" name="Picture 5" descr="fig13_top1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5943600" cy="22017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77B4"/>
                </a:solidFill>
                <a:ea typeface="Apple SD Gothic Neo"/>
                <a:latin typeface="Apple SD Gothic Neo"/>
              </a:rPr>
              <a:t>R² 7년×3권역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393939"/>
                </a:solidFill>
                <a:ea typeface="Apple SD Gothic Neo"/>
                <a:latin typeface="Apple SD Gothic Neo"/>
              </a:rPr>
              <a:t>• 두 권역 모두 0.92 이상 안정 (2022 dip 0.857)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393939"/>
                </a:solidFill>
                <a:ea typeface="Apple SD Gothic Neo"/>
                <a:latin typeface="Apple SD Gothic Neo"/>
              </a:rPr>
              <a:t>• 2022 거래 70% 감소 + 금리 1.25→3.25% 급등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206240"/>
            <a:ext cx="5943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77B4"/>
                </a:solidFill>
                <a:ea typeface="Apple SD Gothic Neo"/>
                <a:latin typeface="Apple SD Gothic Neo"/>
              </a:rPr>
              <a:t>Top 1 연도별 변동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572000"/>
            <a:ext cx="5943600" cy="1828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393939"/>
                </a:solidFill>
                <a:ea typeface="Apple SD Gothic Neo"/>
                <a:latin typeface="Apple SD Gothic Neo"/>
              </a:rPr>
              <a:t>• 강남: 백화점수→건물연령→CCTV→건물연령
→종합병원→건물연령→백화점 최근접 (6회 교체)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393939"/>
                </a:solidFill>
                <a:ea typeface="Apple SD Gothic Neo"/>
                <a:latin typeface="Apple SD Gothic Neo"/>
              </a:rPr>
              <a:t>• 비강남: 건물연령 일관(2020 어린이집 1회)
— 7년 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ea typeface="Apple SD Gothic Neo"/>
                <a:latin typeface="Apple SD Gothic Neo"/>
              </a:rPr>
              <a:t>한양대학교 부동산융합대학원 · 박현근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전체 SHAP과 비선형 패턴 — 거리 변수가 상위 50%</a:t>
            </a:r>
          </a:p>
        </p:txBody>
      </p:sp>
      <p:pic>
        <p:nvPicPr>
          <p:cNvPr id="5" name="Picture 4" descr="fig4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669280" cy="4390976"/>
          </a:xfrm>
          <a:prstGeom prst="rect">
            <a:avLst/>
          </a:prstGeom>
        </p:spPr>
      </p:pic>
      <p:pic>
        <p:nvPicPr>
          <p:cNvPr id="6" name="Picture 5" descr="fig6_dep_건물연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486400" cy="3779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80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93939"/>
                </a:solidFill>
                <a:ea typeface="Apple SD Gothic Neo"/>
                <a:latin typeface="Apple SD Gothic Neo"/>
              </a:rPr>
              <a:t>Top 5: 강남 12.5 · 건물연령 10.4 · M2 9.8 · 면적 7.8 · 어린이집 1km 6.4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21208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93939"/>
                </a:solidFill>
                <a:ea typeface="Apple SD Gothic Neo"/>
                <a:latin typeface="Apple SD Gothic Neo"/>
              </a:rPr>
              <a:t>건물연령 25~30년 구간 U자형 — 재건축 기대 신호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D62728"/>
                </a:solidFill>
                <a:ea typeface="Apple SD Gothic Neo"/>
                <a:latin typeface="Apple SD Gothic Neo"/>
              </a:rPr>
              <a:t>→ 상위 15 중 8개(53%)가 거리 기반 변수: MAUP 완화 효과 실증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ea typeface="Apple SD Gothic Neo"/>
                <a:latin typeface="Apple SD Gothic Neo"/>
              </a:rPr>
              <a:t>한양대학교 부동산융합대학원 · 박현근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한계와 후속 연구 — 정직한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62728"/>
                </a:solidFill>
                <a:ea typeface="Apple SD Gothic Neo"/>
                <a:latin typeface="Apple SD Gothic Neo"/>
              </a:rPr>
              <a:t>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도서관·백화점·대형마트·CCTV·병원 5군은 2026 스냅샷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도보 시간은 직선거리 × 1.35 / 4km/h 근사 (네트워크 라우팅 아님)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거시·정책 변수(LTV·DTI·DSR·재건축 인허가) 미포함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SHAP은 인과 효과가 아닌 예측 기여도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Group 분할 R² 하락 — 미관측 신규 단지 외삽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77B4"/>
                </a:solidFill>
                <a:ea typeface="Apple SD Gothic Neo"/>
                <a:latin typeface="Apple SD Gothic Neo"/>
              </a:rPr>
              <a:t>후속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정밀 보행 네트워크 거리 (OSRM/ORS/상용 API) 민감도 분석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시설 개폐업 완전 패널 + 정책 이벤트 결합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반복매매 지수와의 교차검증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딥러닝(TabNet, Transformer)·LIME/ALE/PI 비교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수도권·지방 대도시로 확장 (외적 타당성)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A7A"/>
                </a:solidFill>
                <a:ea typeface="Apple SD Gothic Neo"/>
                <a:latin typeface="Apple SD Gothic Neo"/>
              </a:rPr>
              <a:t>한양대학교 부동산융합대학원 · 박현근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7A7A7A"/>
                </a:solidFill>
                <a:ea typeface="Apple SD Gothic Neo"/>
                <a:latin typeface="Apple SD Gothic Neo"/>
              </a:rPr>
              <a:t>본 연구의 기여 한 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393939"/>
                </a:solidFill>
                <a:ea typeface="Apple SD Gothic Neo"/>
                <a:latin typeface="Apple SD Gothic Neo"/>
              </a:rPr>
              <a:t>"공간 단위·시간 정합성을 통제한 뒤,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393939"/>
                </a:solidFill>
                <a:ea typeface="Apple SD Gothic Neo"/>
                <a:latin typeface="Apple SD Gothic Neo"/>
              </a:rPr>
              <a:t>예측 신호의 권역×연도 이질성을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393939"/>
                </a:solidFill>
                <a:ea typeface="Apple SD Gothic Neo"/>
                <a:latin typeface="Apple SD Gothic Neo"/>
              </a:rPr>
              <a:t>설명 가능한 방식으로 검증한 연구"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77B4"/>
                </a:solidFill>
                <a:ea typeface="Apple SD Gothic Neo"/>
                <a:latin typeface="Apple SD Gothic Neo"/>
              </a:rPr>
              <a:t>교수 피드백 정량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12801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도서관 도보 → 중앙값 12.0분 (생활SOC 도보권)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백화점 조건 → 중앙값 38.5분 (도보권 밖, 차량권 프리미엄)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393939"/>
                </a:solidFill>
                <a:ea typeface="Apple SD Gothic Neo"/>
                <a:latin typeface="Apple SD Gothic Neo"/>
              </a:rPr>
              <a:t>• 시간 변동 → 6 시설군 연도별 활동 스냅샷, 5 시설군은 한계로 명시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77B4"/>
                </a:solidFill>
                <a:ea typeface="Apple SD Gothic Neo"/>
                <a:latin typeface="Apple SD Gothic Neo"/>
              </a:rPr>
              <a:t>감사합니다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