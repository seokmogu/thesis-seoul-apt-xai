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표지
안녕하십니까. 한양대학교 부동산융합대학원 도시·부동산빅데이터전공 박현근입니다. 발표 주제는 '서울시 아파트 매매가격 구조 분석: 거리 기반 접근성과 시공간 이질성을 중심으로'입니다. 본 발표는 피드백을 반영한 최종 논문심사 자료입니다. 본 연구는 단순히 가격을 잘 예측하는 모형을 만드는 데서 끝나지 않고, 어떤 접근성 조건과 시장 국면이 예측값 구조에 반영되는지를 설명하는 데 초점을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연구 배경과 연구 질문
이 연구의 출발점은 세 가지 한계입니다. 첫째, 기존 연구가 행정동이나 자치구 단위 집계를 많이 사용하면서 단지 주변의 실제 접근성을 충분히 반영하지 못했다는 점입니다. 둘째, 시설 정보를 분석 시점의 스냅샷으로 붙이면 2019년 거래에 2026년 시설 정보가 들어가는 시간역전 정보누수가 생길 수 있습니다. 셋째, SHAP을 쓰더라도 전체 평균만 제시하면 강남과 비강남, 그리고 시장 국면별 차이를 설명하기 어렵습니다. 따라서 본 연구는 거리 기반 접근성, 시점 정합, 권역·연도별 SHAP 분해를 결합해 가격 예측 구조를 분석했습니다.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데이터와 분석 범위
분석 대상은 2019년 1월부터 2025년 12월까지 서울 아파트 매매 실거래 391,826건입니다. 단지 좌표는 8,601개이고, 서울시 426개 행정동 중 424개 행정동에 표본이 분포했습니다. 종속변수는 단위면적당 거래가격의 자연로그값입니다. 중요한 점은 전용면적을 설명변수에서 제외했다는 것입니다. 단위면적당 가격을 종속변수로 만들 때 이미 면적이 사용되므로, 다시 설명변수로 넣으면 기계적 결합이 생길 수 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[65초] 분석 설계
연구 설계는 네 단계입니다. 먼저 원자료를 수집하고 단지 좌표와 결합했습니다. 다음으로 시설 변수를 행정동 경계 안의 개수가 아니라 거래 단지에서 시설까지의 거리와 반경 내 개수로 바꾸었습니다. 또한 시설의 개업과 폐업 이력을 반영해서 해당 거래연도에 실제로 이용 가능했던 시설만 남겼습니다. 모형은 OLS, 랜덤 포레스트, XGBoost를 비교했고, 검증은 무작위 분할뿐 아니라 시간순 분할과 단지 분할까지 함께 사용했습니다. 마지막으로 XGBoost에 SHAP을 적용해 전체, 권역, 연도, 권역×연도별 예측 기여 구조를 분석했습니다.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[65초] 모형 성능
성능 결과를 보면 XGBoost가 세 분할 모두에서 OLS와 랜덤 포레스트를 상회했습니다. 무작위 분할 R²는 0.927로 높고, 시간순 분할은 0.812, 단지 분할은 0.638입니다. 여기서 중요한 점은 무작위 성능만 강조하지 않는 것입니다. 무작위 분할은 같은 단지 또는 유사 단지가 학습과 평가에 같이 들어갈 수 있어 가장 쉬운 조건입니다. 반면 시간순 분할은 이후 시점 예측이고, 단지 분할은 학습에서 보지 못한 단지에 대한 외삽입니다. 그래서 본 연구는 높은 성능보다 일반화 조건별 성능 격차를 함께 해석했습니다.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소거분석
소거분석은 공간 정합과 시간 정합의 역할을 분리하기 위해 설계했습니다. A는 행정동 경계 내 시설 개수를 쓰는 기준선이고, B는 단지 좌표 기준 거리 변수로 바꾼 모형이며, C는 여기에 연도별 활동 시설 스냅샷을 적용한 모형입니다. 시간순 분할에서 A의 R²는 0.665였고, 거리 기반 전환 후 B는 0.816으로 약 15.0%p 개선되었습니다. C는 B보다 소폭 낮지만, 이는 미래 시설 정보를 과거 거래에 소급하지 않도록 한 보수적 설계입니다. 따라서 시점 정합은 성능을 높이는 장치라기보다 정보누수를 제거하는 장치로 해석했습니다.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전체 SHAP
전체 SHAP 분석에서는 XGBoost 예측값에 어떤 변수가 평균적으로 크게 기여했는지를 확인했습니다. 상위 변수는 강남구분, M2 통화량, 건물연령, 어린이집 1km 내 개수, 소비자물가지수 순입니다. 상위 15개 변수 중 9개가 거리 기반 변수였고, 이들의 SHAP 비중 합계는 약 32.6%였습니다. 즉 단일 최상위 변수는 권역이나 거시 변수일 수 있지만, 여러 생활 인프라 접근성 변수가 중위권에 넓게 분포한다는 점이 중요합니다. 다만 SHAP은 인과효과가 아니라 모형 내부의 예측 기여도이므로, 이 변수들이 가격을 직접 올린다고 해석하지 않고 예측 신호로 해석했습니다.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권역별 SHAP
권역별로 보면 강남3구와 비강남은 단순히 가격 수준만 다른 것이 아니라, 예측값을 구성하는 변수의 종류도 다릅니다. 강남3구에서는 건물연령과 함께 백화점 최근접거리, 초등학교 최근접거리, 종합병원 최근접거리처럼 상업 중심지, 교육, 고차 의료 접근성이 상위권에 들어왔습니다. 반면 비강남에서는 지하철 1km 내 역수, 어린이집 1km 내 개수, 학원 1km 내 개수, 지하철 최근접거리처럼 교통과 생활권 접근성이 반복적으로 중요하게 나타났습니다. 이는 전체 평균만으로는 보이지 않는 권역별 예측 기여 구조의 차이를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[65초] 연도×권역 분석
연도별로 보면 2022년이 가장 중요한 관찰 지점입니다. 2022년은 기준금리가 급등하고 거래량이 전년 대비 약 70% 감소한 조정기였습니다. 이 해에는 강남3구 R²가 0.831, 비강남 R²가 0.788, 전체 R²가 0.841로 모두 7년 중 낮은 수준을 보였습니다. 이는 시장 국면이 바뀔 때 기존 변수 조합의 예측 안정성이 약해질 수 있음을 보여줍니다. 또한 비강남은 건물연령, 교통, 생활권 변수가 반복적으로 상위권을 유지한 반면, 강남3구는 백화점, CCTV, 종합병원, 어린이집 등 상위 변수가 국면별로 이동했습니다.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[65초] 결론
마지막으로 결론입니다. 본 연구는 서울 아파트 매매가격 구조를 거리 기반 접근성과 시공간 이질성의 관점에서 분석했습니다. XGBoost는 OLS와 랜덤 포레스트보다 높은 성능을 보였지만, 본 연구의 핵심은 성능 수치 자체보다 그 성능을 어떻게 보수적으로 해석할 것인가에 있습니다. 거리 기반 변수는 시간순 분할에서 유용했고, 시점 정합은 정보누수를 방지하는 방법론적 장치였습니다. 또한 강남3구와 비강남, 그리고 연도별 시장 국면에 따라 예측 기여 구조가 달랐습니다. 다만 SHAP은 인과효과가 아니며, 도보 시간 근사와 신규 단지 외삽의 한계가 있습니다. 후속 연구에서는 네트워크 거리, 단지 고정효과, 공간계량모형을 결합해 보완할 필요가 있습니다. 이상으로 발표를 마치겠습니다.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54F"/>
          </a:solidFill>
          <a:ln w="7620">
            <a:solidFill>
              <a:srgbClr val="26354F"/>
            </a:solidFill>
            <a:prstDash val="solid"/>
          </a:ln>
        </p:spPr>
      </p:sp>
      <p:sp>
        <p:nvSpPr>
          <p:cNvPr id="3" name="Text 1"/>
          <p:cNvSpPr/>
          <p:nvPr/>
        </p:nvSpPr>
        <p:spPr>
          <a:xfrm>
            <a:off x="502920" y="146304"/>
            <a:ext cx="4206240" cy="182880"/>
          </a:xfrm>
          <a:prstGeom prst="rect">
            <a:avLst/>
          </a:prstGeom>
          <a:noFill/>
          <a:ln/>
        </p:spPr>
        <p:txBody>
          <a:bodyPr wrap="square" lIns="508" tIns="508" rIns="508" bIns="508" rtlCol="0" anchor="ctr">
            <a:normAutofit/>
          </a:bodyPr>
          <a:lstStyle/>
          <a:p>
            <a:pPr indent="0" marL="0">
              <a:buNone/>
            </a:pPr>
            <a:r>
              <a:rPr lang="en-US" sz="1100" b="1" dirty="0">
                <a:solidFill>
                  <a:srgbClr val="F2D16B"/>
                </a:solidFill>
                <a:latin typeface="Pretendard" pitchFamily="34" charset="0"/>
                <a:ea typeface="Pretendard" pitchFamily="34" charset="-122"/>
                <a:cs typeface="Pretendard" pitchFamily="34" charset="-120"/>
              </a:rPr>
              <a:t>석사학위논문 최종심사 발표</a:t>
            </a:r>
            <a:endParaRPr lang="en-US" sz="1100" dirty="0"/>
          </a:p>
        </p:txBody>
      </p:sp>
      <p:sp>
        <p:nvSpPr>
          <p:cNvPr id="4" name="Shape 2"/>
          <p:cNvSpPr/>
          <p:nvPr/>
        </p:nvSpPr>
        <p:spPr>
          <a:xfrm>
            <a:off x="685800" y="1234440"/>
            <a:ext cx="10835640" cy="2331720"/>
          </a:xfrm>
          <a:prstGeom prst="rect">
            <a:avLst/>
          </a:prstGeom>
          <a:solidFill>
            <a:srgbClr val="26354F"/>
          </a:solidFill>
          <a:ln w="7620">
            <a:solidFill>
              <a:srgbClr val="26354F"/>
            </a:solidFill>
            <a:prstDash val="solid"/>
          </a:ln>
        </p:spPr>
      </p:sp>
      <p:sp>
        <p:nvSpPr>
          <p:cNvPr id="5" name="Text 3"/>
          <p:cNvSpPr/>
          <p:nvPr/>
        </p:nvSpPr>
        <p:spPr>
          <a:xfrm>
            <a:off x="960120" y="1645920"/>
            <a:ext cx="10287000" cy="457200"/>
          </a:xfrm>
          <a:prstGeom prst="rect">
            <a:avLst/>
          </a:prstGeom>
          <a:noFill/>
          <a:ln/>
        </p:spPr>
        <p:txBody>
          <a:bodyPr wrap="square" lIns="508" tIns="508" rIns="508" bIns="508" rtlCol="0" anchor="ctr">
            <a:normAutofit/>
          </a:bodyPr>
          <a:lstStyle/>
          <a:p>
            <a:pPr algn="ctr" indent="0" marL="0">
              <a:buNone/>
            </a:pPr>
            <a:r>
              <a:rPr lang="en-US" sz="3000" b="1" dirty="0">
                <a:solidFill>
                  <a:srgbClr val="FFFFFF"/>
                </a:solidFill>
                <a:latin typeface="Pretendard" pitchFamily="34" charset="0"/>
                <a:ea typeface="Pretendard" pitchFamily="34" charset="-122"/>
                <a:cs typeface="Pretendard" pitchFamily="34" charset="-120"/>
              </a:rPr>
              <a:t>서울시 아파트 매매가격 구조 분석</a:t>
            </a:r>
            <a:endParaRPr lang="en-US" sz="3000" dirty="0"/>
          </a:p>
        </p:txBody>
      </p:sp>
      <p:sp>
        <p:nvSpPr>
          <p:cNvPr id="6" name="Text 4"/>
          <p:cNvSpPr/>
          <p:nvPr/>
        </p:nvSpPr>
        <p:spPr>
          <a:xfrm>
            <a:off x="960120" y="2313432"/>
            <a:ext cx="10287000" cy="384048"/>
          </a:xfrm>
          <a:prstGeom prst="rect">
            <a:avLst/>
          </a:prstGeom>
          <a:noFill/>
          <a:ln/>
        </p:spPr>
        <p:txBody>
          <a:bodyPr wrap="square" lIns="508" tIns="508" rIns="508" bIns="508" rtlCol="0" anchor="ctr">
            <a:normAutofit/>
          </a:bodyPr>
          <a:lstStyle/>
          <a:p>
            <a:pPr algn="ctr" indent="0" marL="0">
              <a:buNone/>
            </a:pPr>
            <a:r>
              <a:rPr lang="en-US" sz="2050" b="1" dirty="0">
                <a:solidFill>
                  <a:srgbClr val="F2D16B"/>
                </a:solidFill>
                <a:latin typeface="Pretendard" pitchFamily="34" charset="0"/>
                <a:ea typeface="Pretendard" pitchFamily="34" charset="-122"/>
                <a:cs typeface="Pretendard" pitchFamily="34" charset="-120"/>
              </a:rPr>
              <a:t>거리 기반 접근성과 시공간 이질성을 중심으로</a:t>
            </a:r>
            <a:endParaRPr lang="en-US" sz="2050" dirty="0"/>
          </a:p>
        </p:txBody>
      </p:sp>
      <p:sp>
        <p:nvSpPr>
          <p:cNvPr id="7" name="Text 5"/>
          <p:cNvSpPr/>
          <p:nvPr/>
        </p:nvSpPr>
        <p:spPr>
          <a:xfrm>
            <a:off x="1097280" y="2862072"/>
            <a:ext cx="9966960" cy="530352"/>
          </a:xfrm>
          <a:prstGeom prst="rect">
            <a:avLst/>
          </a:prstGeom>
          <a:noFill/>
          <a:ln/>
        </p:spPr>
        <p:txBody>
          <a:bodyPr wrap="square" lIns="508" tIns="508" rIns="508" bIns="508" rtlCol="0" anchor="ctr">
            <a:normAutofit/>
          </a:bodyPr>
          <a:lstStyle/>
          <a:p>
            <a:pPr algn="ctr" indent="0" marL="0">
              <a:buNone/>
            </a:pPr>
            <a:r>
              <a:rPr lang="en-US" sz="1240" dirty="0">
                <a:solidFill>
                  <a:srgbClr val="DDE4EE"/>
                </a:solidFill>
                <a:latin typeface="Pretendard" pitchFamily="34" charset="0"/>
                <a:ea typeface="Pretendard" pitchFamily="34" charset="-122"/>
                <a:cs typeface="Pretendard" pitchFamily="34" charset="-120"/>
              </a:rPr>
              <a:t>An Analysis of Apartment Sale Price Structure in Seoul:</a:t>
            </a:r>
            <a:endParaRPr lang="en-US" sz="1240" dirty="0"/>
          </a:p>
          <a:p>
            <a:pPr algn="ctr" indent="0" marL="0">
              <a:buNone/>
            </a:pPr>
            <a:r>
              <a:rPr lang="en-US" sz="1240" dirty="0">
                <a:solidFill>
                  <a:srgbClr val="DDE4EE"/>
                </a:solidFill>
                <a:latin typeface="Pretendard" pitchFamily="34" charset="0"/>
                <a:ea typeface="Pretendard" pitchFamily="34" charset="-122"/>
                <a:cs typeface="Pretendard" pitchFamily="34" charset="-120"/>
              </a:rPr>
              <a:t>Focusing on Distance-Based Accessibility and Spatiotemporal Heterogeneity</a:t>
            </a:r>
            <a:endParaRPr lang="en-US" sz="1240" dirty="0"/>
          </a:p>
        </p:txBody>
      </p:sp>
      <p:sp>
        <p:nvSpPr>
          <p:cNvPr id="8" name="Text 6"/>
          <p:cNvSpPr/>
          <p:nvPr/>
        </p:nvSpPr>
        <p:spPr>
          <a:xfrm>
            <a:off x="731520" y="4901184"/>
            <a:ext cx="10789920" cy="228600"/>
          </a:xfrm>
          <a:prstGeom prst="rect">
            <a:avLst/>
          </a:prstGeom>
          <a:noFill/>
          <a:ln/>
        </p:spPr>
        <p:txBody>
          <a:bodyPr wrap="square" lIns="508" tIns="508" rIns="508" bIns="508" rtlCol="0" anchor="ctr">
            <a:normAutofit/>
          </a:bodyPr>
          <a:lstStyle/>
          <a:p>
            <a:pPr algn="ctr" indent="0" marL="0">
              <a:buNone/>
            </a:pPr>
            <a:r>
              <a:rPr lang="en-US" sz="1260" dirty="0">
                <a:solidFill>
                  <a:srgbClr val="2F3542"/>
                </a:solidFill>
                <a:latin typeface="Pretendard" pitchFamily="34" charset="0"/>
                <a:ea typeface="Pretendard" pitchFamily="34" charset="-122"/>
                <a:cs typeface="Pretendard" pitchFamily="34" charset="-120"/>
              </a:rPr>
              <a:t>한양대학교 부동산융합대학원</a:t>
            </a:r>
            <a:endParaRPr lang="en-US" sz="1260" dirty="0"/>
          </a:p>
        </p:txBody>
      </p:sp>
      <p:sp>
        <p:nvSpPr>
          <p:cNvPr id="9" name="Text 7"/>
          <p:cNvSpPr/>
          <p:nvPr/>
        </p:nvSpPr>
        <p:spPr>
          <a:xfrm>
            <a:off x="731520" y="5193792"/>
            <a:ext cx="10789920" cy="228600"/>
          </a:xfrm>
          <a:prstGeom prst="rect">
            <a:avLst/>
          </a:prstGeom>
          <a:noFill/>
          <a:ln/>
        </p:spPr>
        <p:txBody>
          <a:bodyPr wrap="square" lIns="508" tIns="508" rIns="508" bIns="508" rtlCol="0" anchor="ctr">
            <a:normAutofit/>
          </a:bodyPr>
          <a:lstStyle/>
          <a:p>
            <a:pPr algn="ctr" indent="0" marL="0">
              <a:buNone/>
            </a:pPr>
            <a:r>
              <a:rPr lang="en-US" sz="1260" dirty="0">
                <a:solidFill>
                  <a:srgbClr val="2F3542"/>
                </a:solidFill>
                <a:latin typeface="Pretendard" pitchFamily="34" charset="0"/>
                <a:ea typeface="Pretendard" pitchFamily="34" charset="-122"/>
                <a:cs typeface="Pretendard" pitchFamily="34" charset="-120"/>
              </a:rPr>
              <a:t>도시·부동산빅데이터전공</a:t>
            </a:r>
            <a:endParaRPr lang="en-US" sz="1260" dirty="0"/>
          </a:p>
        </p:txBody>
      </p:sp>
      <p:sp>
        <p:nvSpPr>
          <p:cNvPr id="10" name="Text 8"/>
          <p:cNvSpPr/>
          <p:nvPr/>
        </p:nvSpPr>
        <p:spPr>
          <a:xfrm>
            <a:off x="731520" y="5559552"/>
            <a:ext cx="10789920" cy="329184"/>
          </a:xfrm>
          <a:prstGeom prst="rect">
            <a:avLst/>
          </a:prstGeom>
          <a:noFill/>
          <a:ln/>
        </p:spPr>
        <p:txBody>
          <a:bodyPr wrap="square" lIns="508" tIns="508" rIns="508" bIns="508" rtlCol="0" anchor="ctr">
            <a:normAutofit/>
          </a:bodyPr>
          <a:lstStyle/>
          <a:p>
            <a:pPr algn="ctr" indent="0" marL="0">
              <a:buNone/>
            </a:pPr>
            <a:r>
              <a:rPr lang="en-US" sz="1800" b="1" dirty="0">
                <a:solidFill>
                  <a:srgbClr val="26354F"/>
                </a:solidFill>
                <a:latin typeface="Pretendard" pitchFamily="34" charset="0"/>
                <a:ea typeface="Pretendard" pitchFamily="34" charset="-122"/>
                <a:cs typeface="Pretendard" pitchFamily="34" charset="-120"/>
              </a:rPr>
              <a:t>박현근</a:t>
            </a:r>
            <a:endParaRPr lang="en-US" sz="1800" dirty="0"/>
          </a:p>
        </p:txBody>
      </p:sp>
      <p:sp>
        <p:nvSpPr>
          <p:cNvPr id="11" name="Text 9"/>
          <p:cNvSpPr/>
          <p:nvPr/>
        </p:nvSpPr>
        <p:spPr>
          <a:xfrm>
            <a:off x="731520" y="6007608"/>
            <a:ext cx="10789920" cy="219456"/>
          </a:xfrm>
          <a:prstGeom prst="rect">
            <a:avLst/>
          </a:prstGeom>
          <a:noFill/>
          <a:ln/>
        </p:spPr>
        <p:txBody>
          <a:bodyPr wrap="square" lIns="508" tIns="508" rIns="508" bIns="508" rtlCol="0" anchor="ctr">
            <a:normAutofit/>
          </a:bodyPr>
          <a:lstStyle/>
          <a:p>
            <a:pPr algn="ctr" indent="0" marL="0">
              <a:buNone/>
            </a:pPr>
            <a:r>
              <a:rPr lang="en-US" sz="1200" dirty="0">
                <a:solidFill>
                  <a:srgbClr val="646B78"/>
                </a:solidFill>
                <a:latin typeface="Pretendard" pitchFamily="34" charset="0"/>
                <a:ea typeface="Pretendard" pitchFamily="34" charset="-122"/>
                <a:cs typeface="Pretendard" pitchFamily="34" charset="-120"/>
              </a:rPr>
              <a:t>2026. 06.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6354F"/>
          </a:solidFill>
          <a:ln w="7620">
            <a:solidFill>
              <a:srgbClr val="26354F"/>
            </a:solidFill>
            <a:prstDash val="solid"/>
          </a:ln>
        </p:spPr>
      </p:sp>
      <p:sp>
        <p:nvSpPr>
          <p:cNvPr id="3" name="Text 1"/>
          <p:cNvSpPr/>
          <p:nvPr/>
        </p:nvSpPr>
        <p:spPr>
          <a:xfrm>
            <a:off x="411480" y="128016"/>
            <a:ext cx="3840480" cy="182880"/>
          </a:xfrm>
          <a:prstGeom prst="rect">
            <a:avLst/>
          </a:prstGeom>
          <a:noFill/>
          <a:ln/>
        </p:spPr>
        <p:txBody>
          <a:bodyPr wrap="square" lIns="508" tIns="508" rIns="508" bIns="508" rtlCol="0" anchor="ctr">
            <a:normAutofit/>
          </a:bodyPr>
          <a:lstStyle/>
          <a:p>
            <a:pPr indent="0" marL="0">
              <a:buNone/>
            </a:pPr>
            <a:r>
              <a:rPr lang="en-US" sz="1050" b="1" dirty="0">
                <a:solidFill>
                  <a:srgbClr val="F2D16B"/>
                </a:solidFill>
                <a:latin typeface="Pretendard" pitchFamily="34" charset="0"/>
                <a:ea typeface="Pretendard" pitchFamily="34" charset="-122"/>
                <a:cs typeface="Pretendard" pitchFamily="34" charset="-120"/>
              </a:rPr>
              <a:t>01. INTRODUCTION</a:t>
            </a:r>
            <a:endParaRPr lang="en-US" sz="1050" dirty="0"/>
          </a:p>
        </p:txBody>
      </p:sp>
      <p:sp>
        <p:nvSpPr>
          <p:cNvPr id="4" name="Text 2"/>
          <p:cNvSpPr/>
          <p:nvPr/>
        </p:nvSpPr>
        <p:spPr>
          <a:xfrm>
            <a:off x="11292840" y="109728"/>
            <a:ext cx="502920" cy="201168"/>
          </a:xfrm>
          <a:prstGeom prst="rect">
            <a:avLst/>
          </a:prstGeom>
          <a:noFill/>
          <a:ln/>
        </p:spPr>
        <p:txBody>
          <a:bodyPr wrap="square" lIns="508" tIns="508" rIns="508" bIns="508" rtlCol="0" anchor="ctr">
            <a:normAutofit/>
          </a:bodyPr>
          <a:lstStyle/>
          <a:p>
            <a:pPr algn="r" indent="0" marL="0">
              <a:buNone/>
            </a:pPr>
            <a:r>
              <a:rPr lang="en-US" sz="1050" b="1" dirty="0">
                <a:solidFill>
                  <a:srgbClr val="FFFFFF"/>
                </a:solidFill>
                <a:latin typeface="Pretendard" pitchFamily="34" charset="0"/>
                <a:ea typeface="Pretendard" pitchFamily="34" charset="-122"/>
                <a:cs typeface="Pretendard" pitchFamily="34" charset="-120"/>
              </a:rPr>
              <a:t>02</a:t>
            </a:r>
            <a:endParaRPr lang="en-US" sz="1050" dirty="0"/>
          </a:p>
        </p:txBody>
      </p:sp>
      <p:sp>
        <p:nvSpPr>
          <p:cNvPr id="5" name="Text 3"/>
          <p:cNvSpPr/>
          <p:nvPr/>
        </p:nvSpPr>
        <p:spPr>
          <a:xfrm>
            <a:off x="502920" y="749808"/>
            <a:ext cx="10424160" cy="438912"/>
          </a:xfrm>
          <a:prstGeom prst="rect">
            <a:avLst/>
          </a:prstGeom>
          <a:noFill/>
          <a:ln/>
        </p:spPr>
        <p:txBody>
          <a:bodyPr wrap="square" lIns="508" tIns="508" rIns="508" bIns="508" rtlCol="0" anchor="ctr">
            <a:normAutofit/>
          </a:bodyPr>
          <a:lstStyle/>
          <a:p>
            <a:pPr indent="0" marL="0">
              <a:buNone/>
            </a:pPr>
            <a:r>
              <a:rPr lang="en-US" sz="2400" b="1" dirty="0">
                <a:solidFill>
                  <a:srgbClr val="26354F"/>
                </a:solidFill>
                <a:latin typeface="Pretendard" pitchFamily="34" charset="0"/>
                <a:ea typeface="Pretendard" pitchFamily="34" charset="-122"/>
                <a:cs typeface="Pretendard" pitchFamily="34" charset="-120"/>
              </a:rPr>
              <a:t>연구 배경과 연구 질문</a:t>
            </a:r>
            <a:endParaRPr lang="en-US" sz="2400" dirty="0"/>
          </a:p>
        </p:txBody>
      </p:sp>
      <p:sp>
        <p:nvSpPr>
          <p:cNvPr id="6" name="Shape 4"/>
          <p:cNvSpPr/>
          <p:nvPr/>
        </p:nvSpPr>
        <p:spPr>
          <a:xfrm>
            <a:off x="502920" y="1280160"/>
            <a:ext cx="11155680" cy="0"/>
          </a:xfrm>
          <a:prstGeom prst="line">
            <a:avLst/>
          </a:prstGeom>
          <a:noFill/>
          <a:ln w="15240">
            <a:solidFill>
              <a:srgbClr val="D4DAE3"/>
            </a:solidFill>
            <a:prstDash val="solid"/>
          </a:ln>
        </p:spPr>
      </p:sp>
      <p:sp>
        <p:nvSpPr>
          <p:cNvPr id="7" name="Text 5"/>
          <p:cNvSpPr/>
          <p:nvPr/>
        </p:nvSpPr>
        <p:spPr>
          <a:xfrm>
            <a:off x="502920" y="6528816"/>
            <a:ext cx="4389120" cy="164592"/>
          </a:xfrm>
          <a:prstGeom prst="rect">
            <a:avLst/>
          </a:prstGeom>
          <a:noFill/>
          <a:ln/>
        </p:spPr>
        <p:txBody>
          <a:bodyPr wrap="square" lIns="508" tIns="508" rIns="508" bIns="508" rtlCol="0" anchor="ctr">
            <a:normAutofit/>
          </a:bodyPr>
          <a:lstStyle/>
          <a:p>
            <a:pPr indent="0" marL="0">
              <a:buNone/>
            </a:pPr>
            <a:r>
              <a:rPr lang="en-US" sz="820" dirty="0">
                <a:solidFill>
                  <a:srgbClr val="646B78"/>
                </a:solidFill>
                <a:latin typeface="Pretendard" pitchFamily="34" charset="0"/>
                <a:ea typeface="Pretendard" pitchFamily="34" charset="-122"/>
                <a:cs typeface="Pretendard" pitchFamily="34" charset="-120"/>
              </a:rPr>
              <a:t>석사학위논문 최종심사 발표 | 박현근</a:t>
            </a:r>
            <a:endParaRPr lang="en-US" sz="820" dirty="0"/>
          </a:p>
        </p:txBody>
      </p:sp>
      <p:sp>
        <p:nvSpPr>
          <p:cNvPr id="8" name="Shape 6"/>
          <p:cNvSpPr/>
          <p:nvPr/>
        </p:nvSpPr>
        <p:spPr>
          <a:xfrm>
            <a:off x="640080" y="1572768"/>
            <a:ext cx="3429000" cy="3429000"/>
          </a:xfrm>
          <a:prstGeom prst="rect">
            <a:avLst/>
          </a:prstGeom>
          <a:solidFill>
            <a:srgbClr val="F4F6F9"/>
          </a:solidFill>
          <a:ln w="7620">
            <a:solidFill>
              <a:srgbClr val="D4DAE3"/>
            </a:solidFill>
            <a:prstDash val="solid"/>
          </a:ln>
        </p:spPr>
      </p:sp>
      <p:sp>
        <p:nvSpPr>
          <p:cNvPr id="9" name="Shape 7"/>
          <p:cNvSpPr/>
          <p:nvPr/>
        </p:nvSpPr>
        <p:spPr>
          <a:xfrm>
            <a:off x="4389120" y="1572768"/>
            <a:ext cx="3429000" cy="3429000"/>
          </a:xfrm>
          <a:prstGeom prst="rect">
            <a:avLst/>
          </a:prstGeom>
          <a:solidFill>
            <a:srgbClr val="F4F6F9"/>
          </a:solidFill>
          <a:ln w="7620">
            <a:solidFill>
              <a:srgbClr val="D4DAE3"/>
            </a:solidFill>
            <a:prstDash val="solid"/>
          </a:ln>
        </p:spPr>
      </p:sp>
      <p:sp>
        <p:nvSpPr>
          <p:cNvPr id="10" name="Shape 8"/>
          <p:cNvSpPr/>
          <p:nvPr/>
        </p:nvSpPr>
        <p:spPr>
          <a:xfrm>
            <a:off x="8138160" y="1572768"/>
            <a:ext cx="3429000" cy="3429000"/>
          </a:xfrm>
          <a:prstGeom prst="rect">
            <a:avLst/>
          </a:prstGeom>
          <a:solidFill>
            <a:srgbClr val="F4F6F9"/>
          </a:solidFill>
          <a:ln w="7620">
            <a:solidFill>
              <a:srgbClr val="D4DAE3"/>
            </a:solidFill>
            <a:prstDash val="solid"/>
          </a:ln>
        </p:spPr>
      </p:sp>
      <p:sp>
        <p:nvSpPr>
          <p:cNvPr id="11" name="Text 9"/>
          <p:cNvSpPr/>
          <p:nvPr/>
        </p:nvSpPr>
        <p:spPr>
          <a:xfrm>
            <a:off x="868680" y="1847088"/>
            <a:ext cx="2971800" cy="274320"/>
          </a:xfrm>
          <a:prstGeom prst="rect">
            <a:avLst/>
          </a:prstGeom>
          <a:noFill/>
          <a:ln/>
        </p:spPr>
        <p:txBody>
          <a:bodyPr wrap="square" lIns="508" tIns="508" rIns="508" bIns="508" rtlCol="0" anchor="ctr">
            <a:normAutofit/>
          </a:bodyPr>
          <a:lstStyle/>
          <a:p>
            <a:pPr algn="ctr" indent="0" marL="0">
              <a:buNone/>
            </a:pPr>
            <a:r>
              <a:rPr lang="en-US" sz="1800" b="1" dirty="0">
                <a:solidFill>
                  <a:srgbClr val="26354F"/>
                </a:solidFill>
                <a:latin typeface="Pretendard" pitchFamily="34" charset="0"/>
                <a:ea typeface="Pretendard" pitchFamily="34" charset="-122"/>
                <a:cs typeface="Pretendard" pitchFamily="34" charset="-120"/>
              </a:rPr>
              <a:t>공간 단위</a:t>
            </a:r>
            <a:endParaRPr lang="en-US" sz="1800" dirty="0"/>
          </a:p>
        </p:txBody>
      </p:sp>
      <p:sp>
        <p:nvSpPr>
          <p:cNvPr id="12" name="Text 10"/>
          <p:cNvSpPr/>
          <p:nvPr/>
        </p:nvSpPr>
        <p:spPr>
          <a:xfrm>
            <a:off x="4617720" y="1847088"/>
            <a:ext cx="2971800" cy="274320"/>
          </a:xfrm>
          <a:prstGeom prst="rect">
            <a:avLst/>
          </a:prstGeom>
          <a:noFill/>
          <a:ln/>
        </p:spPr>
        <p:txBody>
          <a:bodyPr wrap="square" lIns="508" tIns="508" rIns="508" bIns="508" rtlCol="0" anchor="ctr">
            <a:normAutofit/>
          </a:bodyPr>
          <a:lstStyle/>
          <a:p>
            <a:pPr algn="ctr" indent="0" marL="0">
              <a:buNone/>
            </a:pPr>
            <a:r>
              <a:rPr lang="en-US" sz="1800" b="1" dirty="0">
                <a:solidFill>
                  <a:srgbClr val="26354F"/>
                </a:solidFill>
                <a:latin typeface="Pretendard" pitchFamily="34" charset="0"/>
                <a:ea typeface="Pretendard" pitchFamily="34" charset="-122"/>
                <a:cs typeface="Pretendard" pitchFamily="34" charset="-120"/>
              </a:rPr>
              <a:t>시간 정합</a:t>
            </a:r>
            <a:endParaRPr lang="en-US" sz="1800" dirty="0"/>
          </a:p>
        </p:txBody>
      </p:sp>
      <p:sp>
        <p:nvSpPr>
          <p:cNvPr id="13" name="Text 11"/>
          <p:cNvSpPr/>
          <p:nvPr/>
        </p:nvSpPr>
        <p:spPr>
          <a:xfrm>
            <a:off x="8366760" y="1847088"/>
            <a:ext cx="2971800" cy="274320"/>
          </a:xfrm>
          <a:prstGeom prst="rect">
            <a:avLst/>
          </a:prstGeom>
          <a:noFill/>
          <a:ln/>
        </p:spPr>
        <p:txBody>
          <a:bodyPr wrap="square" lIns="508" tIns="508" rIns="508" bIns="508" rtlCol="0" anchor="ctr">
            <a:normAutofit/>
          </a:bodyPr>
          <a:lstStyle/>
          <a:p>
            <a:pPr algn="ctr" indent="0" marL="0">
              <a:buNone/>
            </a:pPr>
            <a:r>
              <a:rPr lang="en-US" sz="1800" b="1" dirty="0">
                <a:solidFill>
                  <a:srgbClr val="26354F"/>
                </a:solidFill>
                <a:latin typeface="Pretendard" pitchFamily="34" charset="0"/>
                <a:ea typeface="Pretendard" pitchFamily="34" charset="-122"/>
                <a:cs typeface="Pretendard" pitchFamily="34" charset="-120"/>
              </a:rPr>
              <a:t>해석 단면</a:t>
            </a:r>
            <a:endParaRPr lang="en-US" sz="1800" dirty="0"/>
          </a:p>
        </p:txBody>
      </p:sp>
      <p:sp>
        <p:nvSpPr>
          <p:cNvPr id="14" name="Text 12"/>
          <p:cNvSpPr/>
          <p:nvPr/>
        </p:nvSpPr>
        <p:spPr>
          <a:xfrm>
            <a:off x="868680" y="2414016"/>
            <a:ext cx="2971800" cy="1783080"/>
          </a:xfrm>
          <a:prstGeom prst="rect">
            <a:avLst/>
          </a:prstGeom>
          <a:noFill/>
          <a:ln/>
        </p:spPr>
        <p:txBody>
          <a:bodyPr wrap="square" lIns="508" tIns="508" rIns="508" bIns="508" rtlCol="0" anchor="ctr">
            <a:normAutofit/>
          </a:bodyPr>
          <a:lstStyle/>
          <a:p>
            <a:pPr indent="0" marL="0">
              <a:buNone/>
            </a:pPr>
            <a:r>
              <a:rPr lang="en-US" sz="1800" dirty="0">
                <a:solidFill>
                  <a:srgbClr val="2F3542"/>
                </a:solidFill>
                <a:latin typeface="Pretendard" pitchFamily="34" charset="0"/>
                <a:ea typeface="Pretendard" pitchFamily="34" charset="-122"/>
                <a:cs typeface="Pretendard" pitchFamily="34" charset="-120"/>
              </a:rPr>
              <a:t>• 행정동 집계는 접근성을 희석</a:t>
            </a:r>
            <a:endParaRPr lang="en-US" sz="1800" dirty="0"/>
          </a:p>
          <a:p>
            <a:pPr indent="0" marL="0">
              <a:buNone/>
            </a:pPr>
            <a:r>
              <a:rPr lang="en-US" sz="1800" dirty="0">
                <a:solidFill>
                  <a:srgbClr val="2F3542"/>
                </a:solidFill>
                <a:latin typeface="Pretendard" pitchFamily="34" charset="0"/>
                <a:ea typeface="Pretendard" pitchFamily="34" charset="-122"/>
                <a:cs typeface="Pretendard" pitchFamily="34" charset="-120"/>
              </a:rPr>
              <a:t>• 공간 단위가 결과를 바꿈</a:t>
            </a:r>
            <a:endParaRPr lang="en-US" sz="1800" dirty="0"/>
          </a:p>
        </p:txBody>
      </p:sp>
      <p:sp>
        <p:nvSpPr>
          <p:cNvPr id="15" name="Text 13"/>
          <p:cNvSpPr/>
          <p:nvPr/>
        </p:nvSpPr>
        <p:spPr>
          <a:xfrm>
            <a:off x="4617720" y="2414016"/>
            <a:ext cx="2971800" cy="1783080"/>
          </a:xfrm>
          <a:prstGeom prst="rect">
            <a:avLst/>
          </a:prstGeom>
          <a:noFill/>
          <a:ln/>
        </p:spPr>
        <p:txBody>
          <a:bodyPr wrap="square" lIns="508" tIns="508" rIns="508" bIns="508" rtlCol="0" anchor="ctr">
            <a:normAutofit/>
          </a:bodyPr>
          <a:lstStyle/>
          <a:p>
            <a:pPr indent="0" marL="0">
              <a:buNone/>
            </a:pPr>
            <a:r>
              <a:rPr lang="en-US" sz="1800" dirty="0">
                <a:solidFill>
                  <a:srgbClr val="2F3542"/>
                </a:solidFill>
                <a:latin typeface="Pretendard" pitchFamily="34" charset="0"/>
                <a:ea typeface="Pretendard" pitchFamily="34" charset="-122"/>
                <a:cs typeface="Pretendard" pitchFamily="34" charset="-120"/>
              </a:rPr>
              <a:t>• 현재 시설은 미래 정보를 소급</a:t>
            </a:r>
            <a:endParaRPr lang="en-US" sz="1800" dirty="0"/>
          </a:p>
          <a:p>
            <a:pPr indent="0" marL="0">
              <a:buNone/>
            </a:pPr>
            <a:r>
              <a:rPr lang="en-US" sz="1800" dirty="0">
                <a:solidFill>
                  <a:srgbClr val="2F3542"/>
                </a:solidFill>
                <a:latin typeface="Pretendard" pitchFamily="34" charset="0"/>
                <a:ea typeface="Pretendard" pitchFamily="34" charset="-122"/>
                <a:cs typeface="Pretendard" pitchFamily="34" charset="-120"/>
              </a:rPr>
              <a:t>• 연도별 활동 시설 기준 필요</a:t>
            </a:r>
            <a:endParaRPr lang="en-US" sz="1800" dirty="0"/>
          </a:p>
        </p:txBody>
      </p:sp>
      <p:sp>
        <p:nvSpPr>
          <p:cNvPr id="16" name="Text 14"/>
          <p:cNvSpPr/>
          <p:nvPr/>
        </p:nvSpPr>
        <p:spPr>
          <a:xfrm>
            <a:off x="8366760" y="2414016"/>
            <a:ext cx="2971800" cy="1783080"/>
          </a:xfrm>
          <a:prstGeom prst="rect">
            <a:avLst/>
          </a:prstGeom>
          <a:noFill/>
          <a:ln/>
        </p:spPr>
        <p:txBody>
          <a:bodyPr wrap="square" lIns="508" tIns="508" rIns="508" bIns="508" rtlCol="0" anchor="ctr">
            <a:normAutofit/>
          </a:bodyPr>
          <a:lstStyle/>
          <a:p>
            <a:pPr indent="0" marL="0">
              <a:buNone/>
            </a:pPr>
            <a:r>
              <a:rPr lang="en-US" sz="1800" dirty="0">
                <a:solidFill>
                  <a:srgbClr val="2F3542"/>
                </a:solidFill>
                <a:latin typeface="Pretendard" pitchFamily="34" charset="0"/>
                <a:ea typeface="Pretendard" pitchFamily="34" charset="-122"/>
                <a:cs typeface="Pretendard" pitchFamily="34" charset="-120"/>
              </a:rPr>
              <a:t>• 단일 평균은 차이를 희석</a:t>
            </a:r>
            <a:endParaRPr lang="en-US" sz="1800" dirty="0"/>
          </a:p>
          <a:p>
            <a:pPr indent="0" marL="0">
              <a:buNone/>
            </a:pPr>
            <a:r>
              <a:rPr lang="en-US" sz="1800" dirty="0">
                <a:solidFill>
                  <a:srgbClr val="2F3542"/>
                </a:solidFill>
                <a:latin typeface="Pretendard" pitchFamily="34" charset="0"/>
                <a:ea typeface="Pretendard" pitchFamily="34" charset="-122"/>
                <a:cs typeface="Pretendard" pitchFamily="34" charset="-120"/>
              </a:rPr>
              <a:t>• 권역·연도 단위 분해 필요</a:t>
            </a:r>
            <a:endParaRPr lang="en-US" sz="1800" dirty="0"/>
          </a:p>
        </p:txBody>
      </p:sp>
      <p:sp>
        <p:nvSpPr>
          <p:cNvPr id="17" name="Shape 15"/>
          <p:cNvSpPr/>
          <p:nvPr/>
        </p:nvSpPr>
        <p:spPr>
          <a:xfrm>
            <a:off x="640080" y="5285232"/>
            <a:ext cx="10927080" cy="749808"/>
          </a:xfrm>
          <a:prstGeom prst="rect">
            <a:avLst/>
          </a:prstGeom>
          <a:solidFill>
            <a:srgbClr val="26354F"/>
          </a:solidFill>
          <a:ln w="7620">
            <a:solidFill>
              <a:srgbClr val="26354F"/>
            </a:solidFill>
            <a:prstDash val="solid"/>
          </a:ln>
        </p:spPr>
      </p:sp>
      <p:sp>
        <p:nvSpPr>
          <p:cNvPr id="18" name="Text 16"/>
          <p:cNvSpPr/>
          <p:nvPr/>
        </p:nvSpPr>
        <p:spPr>
          <a:xfrm>
            <a:off x="868680" y="5504688"/>
            <a:ext cx="10469880" cy="256032"/>
          </a:xfrm>
          <a:prstGeom prst="rect">
            <a:avLst/>
          </a:prstGeom>
          <a:noFill/>
          <a:ln/>
        </p:spPr>
        <p:txBody>
          <a:bodyPr wrap="square" lIns="508" tIns="508" rIns="508" bIns="508" rtlCol="0" anchor="ctr">
            <a:normAutofit/>
          </a:bodyPr>
          <a:lstStyle/>
          <a:p>
            <a:pPr algn="ctr" indent="0" marL="0">
              <a:buNone/>
            </a:pPr>
            <a:r>
              <a:rPr lang="en-US" sz="1620" b="1" dirty="0">
                <a:solidFill>
                  <a:srgbClr val="FFFFFF"/>
                </a:solidFill>
                <a:latin typeface="Pretendard" pitchFamily="34" charset="0"/>
                <a:ea typeface="Pretendard" pitchFamily="34" charset="-122"/>
                <a:cs typeface="Pretendard" pitchFamily="34" charset="-120"/>
              </a:rPr>
              <a:t>연구 질문: 거리 기반 접근성과 시점 정합은 가격 예측 구조를 어떻게 바꾸는가?</a:t>
            </a:r>
            <a:endParaRPr lang="en-US" sz="16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6354F"/>
          </a:solidFill>
          <a:ln w="7620">
            <a:solidFill>
              <a:srgbClr val="26354F"/>
            </a:solidFill>
            <a:prstDash val="solid"/>
          </a:ln>
        </p:spPr>
      </p:sp>
      <p:sp>
        <p:nvSpPr>
          <p:cNvPr id="3" name="Text 1"/>
          <p:cNvSpPr/>
          <p:nvPr/>
        </p:nvSpPr>
        <p:spPr>
          <a:xfrm>
            <a:off x="411480" y="128016"/>
            <a:ext cx="3840480" cy="182880"/>
          </a:xfrm>
          <a:prstGeom prst="rect">
            <a:avLst/>
          </a:prstGeom>
          <a:noFill/>
          <a:ln/>
        </p:spPr>
        <p:txBody>
          <a:bodyPr wrap="square" lIns="508" tIns="508" rIns="508" bIns="508" rtlCol="0" anchor="ctr">
            <a:normAutofit/>
          </a:bodyPr>
          <a:lstStyle/>
          <a:p>
            <a:pPr indent="0" marL="0">
              <a:buNone/>
            </a:pPr>
            <a:r>
              <a:rPr lang="en-US" sz="1050" b="1" dirty="0">
                <a:solidFill>
                  <a:srgbClr val="F2D16B"/>
                </a:solidFill>
                <a:latin typeface="Pretendard" pitchFamily="34" charset="0"/>
                <a:ea typeface="Pretendard" pitchFamily="34" charset="-122"/>
                <a:cs typeface="Pretendard" pitchFamily="34" charset="-120"/>
              </a:rPr>
              <a:t>02. DATA</a:t>
            </a:r>
            <a:endParaRPr lang="en-US" sz="1050" dirty="0"/>
          </a:p>
        </p:txBody>
      </p:sp>
      <p:sp>
        <p:nvSpPr>
          <p:cNvPr id="4" name="Text 2"/>
          <p:cNvSpPr/>
          <p:nvPr/>
        </p:nvSpPr>
        <p:spPr>
          <a:xfrm>
            <a:off x="11292840" y="109728"/>
            <a:ext cx="502920" cy="201168"/>
          </a:xfrm>
          <a:prstGeom prst="rect">
            <a:avLst/>
          </a:prstGeom>
          <a:noFill/>
          <a:ln/>
        </p:spPr>
        <p:txBody>
          <a:bodyPr wrap="square" lIns="508" tIns="508" rIns="508" bIns="508" rtlCol="0" anchor="ctr">
            <a:normAutofit/>
          </a:bodyPr>
          <a:lstStyle/>
          <a:p>
            <a:pPr algn="r" indent="0" marL="0">
              <a:buNone/>
            </a:pPr>
            <a:r>
              <a:rPr lang="en-US" sz="1050" b="1" dirty="0">
                <a:solidFill>
                  <a:srgbClr val="FFFFFF"/>
                </a:solidFill>
                <a:latin typeface="Pretendard" pitchFamily="34" charset="0"/>
                <a:ea typeface="Pretendard" pitchFamily="34" charset="-122"/>
                <a:cs typeface="Pretendard" pitchFamily="34" charset="-120"/>
              </a:rPr>
              <a:t>03</a:t>
            </a:r>
            <a:endParaRPr lang="en-US" sz="1050" dirty="0"/>
          </a:p>
        </p:txBody>
      </p:sp>
      <p:sp>
        <p:nvSpPr>
          <p:cNvPr id="5" name="Text 3"/>
          <p:cNvSpPr/>
          <p:nvPr/>
        </p:nvSpPr>
        <p:spPr>
          <a:xfrm>
            <a:off x="502920" y="749808"/>
            <a:ext cx="10424160" cy="438912"/>
          </a:xfrm>
          <a:prstGeom prst="rect">
            <a:avLst/>
          </a:prstGeom>
          <a:noFill/>
          <a:ln/>
        </p:spPr>
        <p:txBody>
          <a:bodyPr wrap="square" lIns="508" tIns="508" rIns="508" bIns="508" rtlCol="0" anchor="ctr">
            <a:normAutofit/>
          </a:bodyPr>
          <a:lstStyle/>
          <a:p>
            <a:pPr indent="0" marL="0">
              <a:buNone/>
            </a:pPr>
            <a:r>
              <a:rPr lang="en-US" sz="2400" b="1" dirty="0">
                <a:solidFill>
                  <a:srgbClr val="26354F"/>
                </a:solidFill>
                <a:latin typeface="Pretendard" pitchFamily="34" charset="0"/>
                <a:ea typeface="Pretendard" pitchFamily="34" charset="-122"/>
                <a:cs typeface="Pretendard" pitchFamily="34" charset="-120"/>
              </a:rPr>
              <a:t>데이터와 분석 범위</a:t>
            </a:r>
            <a:endParaRPr lang="en-US" sz="2400" dirty="0"/>
          </a:p>
        </p:txBody>
      </p:sp>
      <p:sp>
        <p:nvSpPr>
          <p:cNvPr id="6" name="Shape 4"/>
          <p:cNvSpPr/>
          <p:nvPr/>
        </p:nvSpPr>
        <p:spPr>
          <a:xfrm>
            <a:off x="502920" y="1280160"/>
            <a:ext cx="11155680" cy="0"/>
          </a:xfrm>
          <a:prstGeom prst="line">
            <a:avLst/>
          </a:prstGeom>
          <a:noFill/>
          <a:ln w="15240">
            <a:solidFill>
              <a:srgbClr val="D4DAE3"/>
            </a:solidFill>
            <a:prstDash val="solid"/>
          </a:ln>
        </p:spPr>
      </p:sp>
      <p:sp>
        <p:nvSpPr>
          <p:cNvPr id="7" name="Text 5"/>
          <p:cNvSpPr/>
          <p:nvPr/>
        </p:nvSpPr>
        <p:spPr>
          <a:xfrm>
            <a:off x="502920" y="6528816"/>
            <a:ext cx="4389120" cy="164592"/>
          </a:xfrm>
          <a:prstGeom prst="rect">
            <a:avLst/>
          </a:prstGeom>
          <a:noFill/>
          <a:ln/>
        </p:spPr>
        <p:txBody>
          <a:bodyPr wrap="square" lIns="508" tIns="508" rIns="508" bIns="508" rtlCol="0" anchor="ctr">
            <a:normAutofit/>
          </a:bodyPr>
          <a:lstStyle/>
          <a:p>
            <a:pPr indent="0" marL="0">
              <a:buNone/>
            </a:pPr>
            <a:r>
              <a:rPr lang="en-US" sz="820" dirty="0">
                <a:solidFill>
                  <a:srgbClr val="646B78"/>
                </a:solidFill>
                <a:latin typeface="Pretendard" pitchFamily="34" charset="0"/>
                <a:ea typeface="Pretendard" pitchFamily="34" charset="-122"/>
                <a:cs typeface="Pretendard" pitchFamily="34" charset="-120"/>
              </a:rPr>
              <a:t>석사학위논문 최종심사 발표 | 박현근</a:t>
            </a:r>
            <a:endParaRPr lang="en-US" sz="820" dirty="0"/>
          </a:p>
        </p:txBody>
      </p:sp>
      <p:sp>
        <p:nvSpPr>
          <p:cNvPr id="8" name="Shape 6"/>
          <p:cNvSpPr/>
          <p:nvPr/>
        </p:nvSpPr>
        <p:spPr>
          <a:xfrm>
            <a:off x="640080" y="1554480"/>
            <a:ext cx="2423160" cy="1143000"/>
          </a:xfrm>
          <a:prstGeom prst="rect">
            <a:avLst/>
          </a:prstGeom>
          <a:solidFill>
            <a:srgbClr val="F4F6F9"/>
          </a:solidFill>
          <a:ln w="7620">
            <a:solidFill>
              <a:srgbClr val="D4DAE3"/>
            </a:solidFill>
            <a:prstDash val="solid"/>
          </a:ln>
        </p:spPr>
      </p:sp>
      <p:sp>
        <p:nvSpPr>
          <p:cNvPr id="9" name="Text 7"/>
          <p:cNvSpPr/>
          <p:nvPr/>
        </p:nvSpPr>
        <p:spPr>
          <a:xfrm>
            <a:off x="749808" y="1737360"/>
            <a:ext cx="2203704" cy="329184"/>
          </a:xfrm>
          <a:prstGeom prst="rect">
            <a:avLst/>
          </a:prstGeom>
          <a:noFill/>
          <a:ln/>
        </p:spPr>
        <p:txBody>
          <a:bodyPr wrap="square" lIns="508" tIns="508" rIns="508" bIns="508" rtlCol="0" anchor="ctr">
            <a:normAutofit/>
          </a:bodyPr>
          <a:lstStyle/>
          <a:p>
            <a:pPr algn="ctr" indent="0" marL="0">
              <a:buNone/>
            </a:pPr>
            <a:r>
              <a:rPr lang="en-US" sz="2400" b="1" dirty="0">
                <a:solidFill>
                  <a:srgbClr val="B8443E"/>
                </a:solidFill>
                <a:latin typeface="Pretendard" pitchFamily="34" charset="0"/>
                <a:ea typeface="Pretendard" pitchFamily="34" charset="-122"/>
                <a:cs typeface="Pretendard" pitchFamily="34" charset="-120"/>
              </a:rPr>
              <a:t>391,826건</a:t>
            </a:r>
            <a:endParaRPr lang="en-US" sz="2400" dirty="0"/>
          </a:p>
        </p:txBody>
      </p:sp>
      <p:sp>
        <p:nvSpPr>
          <p:cNvPr id="10" name="Text 8"/>
          <p:cNvSpPr/>
          <p:nvPr/>
        </p:nvSpPr>
        <p:spPr>
          <a:xfrm>
            <a:off x="749808" y="2221992"/>
            <a:ext cx="2203704" cy="347472"/>
          </a:xfrm>
          <a:prstGeom prst="rect">
            <a:avLst/>
          </a:prstGeom>
          <a:noFill/>
          <a:ln/>
        </p:spPr>
        <p:txBody>
          <a:bodyPr wrap="square" lIns="508" tIns="508" rIns="508" bIns="508" rtlCol="0" anchor="ctr">
            <a:normAutofit/>
          </a:bodyPr>
          <a:lstStyle/>
          <a:p>
            <a:pPr algn="ctr" indent="0" marL="0">
              <a:buNone/>
            </a:pPr>
            <a:r>
              <a:rPr lang="en-US" sz="1220" dirty="0">
                <a:solidFill>
                  <a:srgbClr val="646B78"/>
                </a:solidFill>
                <a:latin typeface="Pretendard" pitchFamily="34" charset="0"/>
                <a:ea typeface="Pretendard" pitchFamily="34" charset="-122"/>
                <a:cs typeface="Pretendard" pitchFamily="34" charset="-120"/>
              </a:rPr>
              <a:t>서울 아파트 매매 실거래</a:t>
            </a:r>
            <a:endParaRPr lang="en-US" sz="1220" dirty="0"/>
          </a:p>
          <a:p>
            <a:pPr algn="ctr" indent="0" marL="0">
              <a:buNone/>
            </a:pPr>
            <a:r>
              <a:rPr lang="en-US" sz="1220" dirty="0">
                <a:solidFill>
                  <a:srgbClr val="646B78"/>
                </a:solidFill>
                <a:latin typeface="Pretendard" pitchFamily="34" charset="0"/>
                <a:ea typeface="Pretendard" pitchFamily="34" charset="-122"/>
                <a:cs typeface="Pretendard" pitchFamily="34" charset="-120"/>
              </a:rPr>
              <a:t>2019.01~2025.12</a:t>
            </a:r>
            <a:endParaRPr lang="en-US" sz="1220" dirty="0"/>
          </a:p>
        </p:txBody>
      </p:sp>
      <p:sp>
        <p:nvSpPr>
          <p:cNvPr id="11" name="Shape 9"/>
          <p:cNvSpPr/>
          <p:nvPr/>
        </p:nvSpPr>
        <p:spPr>
          <a:xfrm>
            <a:off x="3337560" y="1554480"/>
            <a:ext cx="2057400" cy="1143000"/>
          </a:xfrm>
          <a:prstGeom prst="rect">
            <a:avLst/>
          </a:prstGeom>
          <a:solidFill>
            <a:srgbClr val="F4F6F9"/>
          </a:solidFill>
          <a:ln w="7620">
            <a:solidFill>
              <a:srgbClr val="D4DAE3"/>
            </a:solidFill>
            <a:prstDash val="solid"/>
          </a:ln>
        </p:spPr>
      </p:sp>
      <p:sp>
        <p:nvSpPr>
          <p:cNvPr id="12" name="Text 10"/>
          <p:cNvSpPr/>
          <p:nvPr/>
        </p:nvSpPr>
        <p:spPr>
          <a:xfrm>
            <a:off x="3447288" y="1737360"/>
            <a:ext cx="1837944" cy="329184"/>
          </a:xfrm>
          <a:prstGeom prst="rect">
            <a:avLst/>
          </a:prstGeom>
          <a:noFill/>
          <a:ln/>
        </p:spPr>
        <p:txBody>
          <a:bodyPr wrap="square" lIns="508" tIns="508" rIns="508" bIns="508" rtlCol="0" anchor="ctr">
            <a:normAutofit/>
          </a:bodyPr>
          <a:lstStyle/>
          <a:p>
            <a:pPr algn="ctr" indent="0" marL="0">
              <a:buNone/>
            </a:pPr>
            <a:r>
              <a:rPr lang="en-US" sz="2400" b="1" dirty="0">
                <a:solidFill>
                  <a:srgbClr val="26354F"/>
                </a:solidFill>
                <a:latin typeface="Pretendard" pitchFamily="34" charset="0"/>
                <a:ea typeface="Pretendard" pitchFamily="34" charset="-122"/>
                <a:cs typeface="Pretendard" pitchFamily="34" charset="-120"/>
              </a:rPr>
              <a:t>8,601개</a:t>
            </a:r>
            <a:endParaRPr lang="en-US" sz="2400" dirty="0"/>
          </a:p>
        </p:txBody>
      </p:sp>
      <p:sp>
        <p:nvSpPr>
          <p:cNvPr id="13" name="Text 11"/>
          <p:cNvSpPr/>
          <p:nvPr/>
        </p:nvSpPr>
        <p:spPr>
          <a:xfrm>
            <a:off x="3447288" y="2221992"/>
            <a:ext cx="1837944" cy="347472"/>
          </a:xfrm>
          <a:prstGeom prst="rect">
            <a:avLst/>
          </a:prstGeom>
          <a:noFill/>
          <a:ln/>
        </p:spPr>
        <p:txBody>
          <a:bodyPr wrap="square" lIns="508" tIns="508" rIns="508" bIns="508" rtlCol="0" anchor="ctr">
            <a:normAutofit/>
          </a:bodyPr>
          <a:lstStyle/>
          <a:p>
            <a:pPr algn="ctr" indent="0" marL="0">
              <a:buNone/>
            </a:pPr>
            <a:r>
              <a:rPr lang="en-US" sz="1220" dirty="0">
                <a:solidFill>
                  <a:srgbClr val="646B78"/>
                </a:solidFill>
                <a:latin typeface="Pretendard" pitchFamily="34" charset="0"/>
                <a:ea typeface="Pretendard" pitchFamily="34" charset="-122"/>
                <a:cs typeface="Pretendard" pitchFamily="34" charset="-120"/>
              </a:rPr>
              <a:t>최종 단지 좌표</a:t>
            </a:r>
            <a:endParaRPr lang="en-US" sz="1220" dirty="0"/>
          </a:p>
        </p:txBody>
      </p:sp>
      <p:sp>
        <p:nvSpPr>
          <p:cNvPr id="14" name="Shape 12"/>
          <p:cNvSpPr/>
          <p:nvPr/>
        </p:nvSpPr>
        <p:spPr>
          <a:xfrm>
            <a:off x="5669280" y="1554480"/>
            <a:ext cx="2057400" cy="1143000"/>
          </a:xfrm>
          <a:prstGeom prst="rect">
            <a:avLst/>
          </a:prstGeom>
          <a:solidFill>
            <a:srgbClr val="F4F6F9"/>
          </a:solidFill>
          <a:ln w="7620">
            <a:solidFill>
              <a:srgbClr val="D4DAE3"/>
            </a:solidFill>
            <a:prstDash val="solid"/>
          </a:ln>
        </p:spPr>
      </p:sp>
      <p:sp>
        <p:nvSpPr>
          <p:cNvPr id="15" name="Text 13"/>
          <p:cNvSpPr/>
          <p:nvPr/>
        </p:nvSpPr>
        <p:spPr>
          <a:xfrm>
            <a:off x="5779008" y="1737360"/>
            <a:ext cx="1837944" cy="329184"/>
          </a:xfrm>
          <a:prstGeom prst="rect">
            <a:avLst/>
          </a:prstGeom>
          <a:noFill/>
          <a:ln/>
        </p:spPr>
        <p:txBody>
          <a:bodyPr wrap="square" lIns="508" tIns="508" rIns="508" bIns="508" rtlCol="0" anchor="ctr">
            <a:normAutofit/>
          </a:bodyPr>
          <a:lstStyle/>
          <a:p>
            <a:pPr algn="ctr" indent="0" marL="0">
              <a:buNone/>
            </a:pPr>
            <a:r>
              <a:rPr lang="en-US" sz="2400" b="1" dirty="0">
                <a:solidFill>
                  <a:srgbClr val="4B7F68"/>
                </a:solidFill>
                <a:latin typeface="Pretendard" pitchFamily="34" charset="0"/>
                <a:ea typeface="Pretendard" pitchFamily="34" charset="-122"/>
                <a:cs typeface="Pretendard" pitchFamily="34" charset="-120"/>
              </a:rPr>
              <a:t>424 / 426</a:t>
            </a:r>
            <a:endParaRPr lang="en-US" sz="2400" dirty="0"/>
          </a:p>
        </p:txBody>
      </p:sp>
      <p:sp>
        <p:nvSpPr>
          <p:cNvPr id="16" name="Text 14"/>
          <p:cNvSpPr/>
          <p:nvPr/>
        </p:nvSpPr>
        <p:spPr>
          <a:xfrm>
            <a:off x="5779008" y="2221992"/>
            <a:ext cx="1837944" cy="347472"/>
          </a:xfrm>
          <a:prstGeom prst="rect">
            <a:avLst/>
          </a:prstGeom>
          <a:noFill/>
          <a:ln/>
        </p:spPr>
        <p:txBody>
          <a:bodyPr wrap="square" lIns="508" tIns="508" rIns="508" bIns="508" rtlCol="0" anchor="ctr">
            <a:normAutofit/>
          </a:bodyPr>
          <a:lstStyle/>
          <a:p>
            <a:pPr algn="ctr" indent="0" marL="0">
              <a:buNone/>
            </a:pPr>
            <a:r>
              <a:rPr lang="en-US" sz="1220" dirty="0">
                <a:solidFill>
                  <a:srgbClr val="646B78"/>
                </a:solidFill>
                <a:latin typeface="Pretendard" pitchFamily="34" charset="0"/>
                <a:ea typeface="Pretendard" pitchFamily="34" charset="-122"/>
                <a:cs typeface="Pretendard" pitchFamily="34" charset="-120"/>
              </a:rPr>
              <a:t>행정동 분포</a:t>
            </a:r>
            <a:endParaRPr lang="en-US" sz="1220" dirty="0"/>
          </a:p>
        </p:txBody>
      </p:sp>
      <p:sp>
        <p:nvSpPr>
          <p:cNvPr id="17" name="Shape 15"/>
          <p:cNvSpPr/>
          <p:nvPr/>
        </p:nvSpPr>
        <p:spPr>
          <a:xfrm>
            <a:off x="8001000" y="1554480"/>
            <a:ext cx="1828800" cy="1143000"/>
          </a:xfrm>
          <a:prstGeom prst="rect">
            <a:avLst/>
          </a:prstGeom>
          <a:solidFill>
            <a:srgbClr val="F4F6F9"/>
          </a:solidFill>
          <a:ln w="7620">
            <a:solidFill>
              <a:srgbClr val="D4DAE3"/>
            </a:solidFill>
            <a:prstDash val="solid"/>
          </a:ln>
        </p:spPr>
      </p:sp>
      <p:sp>
        <p:nvSpPr>
          <p:cNvPr id="18" name="Text 16"/>
          <p:cNvSpPr/>
          <p:nvPr/>
        </p:nvSpPr>
        <p:spPr>
          <a:xfrm>
            <a:off x="8110728" y="1737360"/>
            <a:ext cx="1609344" cy="329184"/>
          </a:xfrm>
          <a:prstGeom prst="rect">
            <a:avLst/>
          </a:prstGeom>
          <a:noFill/>
          <a:ln/>
        </p:spPr>
        <p:txBody>
          <a:bodyPr wrap="square" lIns="508" tIns="508" rIns="508" bIns="508" rtlCol="0" anchor="ctr">
            <a:normAutofit/>
          </a:bodyPr>
          <a:lstStyle/>
          <a:p>
            <a:pPr algn="ctr" indent="0" marL="0">
              <a:buNone/>
            </a:pPr>
            <a:r>
              <a:rPr lang="en-US" sz="2400" b="1" dirty="0">
                <a:solidFill>
                  <a:srgbClr val="426A9B"/>
                </a:solidFill>
                <a:latin typeface="Pretendard" pitchFamily="34" charset="0"/>
                <a:ea typeface="Pretendard" pitchFamily="34" charset="-122"/>
                <a:cs typeface="Pretendard" pitchFamily="34" charset="-120"/>
              </a:rPr>
              <a:t>34개</a:t>
            </a:r>
            <a:endParaRPr lang="en-US" sz="2400" dirty="0"/>
          </a:p>
        </p:txBody>
      </p:sp>
      <p:sp>
        <p:nvSpPr>
          <p:cNvPr id="19" name="Text 17"/>
          <p:cNvSpPr/>
          <p:nvPr/>
        </p:nvSpPr>
        <p:spPr>
          <a:xfrm>
            <a:off x="8110728" y="2221992"/>
            <a:ext cx="1609344" cy="347472"/>
          </a:xfrm>
          <a:prstGeom prst="rect">
            <a:avLst/>
          </a:prstGeom>
          <a:noFill/>
          <a:ln/>
        </p:spPr>
        <p:txBody>
          <a:bodyPr wrap="square" lIns="508" tIns="508" rIns="508" bIns="508" rtlCol="0" anchor="ctr">
            <a:normAutofit/>
          </a:bodyPr>
          <a:lstStyle/>
          <a:p>
            <a:pPr algn="ctr" indent="0" marL="0">
              <a:buNone/>
            </a:pPr>
            <a:r>
              <a:rPr lang="en-US" sz="1220" dirty="0">
                <a:solidFill>
                  <a:srgbClr val="646B78"/>
                </a:solidFill>
                <a:latin typeface="Pretendard" pitchFamily="34" charset="0"/>
                <a:ea typeface="Pretendard" pitchFamily="34" charset="-122"/>
                <a:cs typeface="Pretendard" pitchFamily="34" charset="-120"/>
              </a:rPr>
              <a:t>최종 주모형 변수</a:t>
            </a:r>
            <a:endParaRPr lang="en-US" sz="1220" dirty="0"/>
          </a:p>
        </p:txBody>
      </p:sp>
      <p:sp>
        <p:nvSpPr>
          <p:cNvPr id="20" name="Shape 18"/>
          <p:cNvSpPr/>
          <p:nvPr/>
        </p:nvSpPr>
        <p:spPr>
          <a:xfrm>
            <a:off x="10104120" y="1554480"/>
            <a:ext cx="1417320" cy="1143000"/>
          </a:xfrm>
          <a:prstGeom prst="rect">
            <a:avLst/>
          </a:prstGeom>
          <a:solidFill>
            <a:srgbClr val="F4F6F9"/>
          </a:solidFill>
          <a:ln w="7620">
            <a:solidFill>
              <a:srgbClr val="D4DAE3"/>
            </a:solidFill>
            <a:prstDash val="solid"/>
          </a:ln>
        </p:spPr>
      </p:sp>
      <p:sp>
        <p:nvSpPr>
          <p:cNvPr id="21" name="Text 19"/>
          <p:cNvSpPr/>
          <p:nvPr/>
        </p:nvSpPr>
        <p:spPr>
          <a:xfrm>
            <a:off x="10213848" y="1737360"/>
            <a:ext cx="1197864" cy="329184"/>
          </a:xfrm>
          <a:prstGeom prst="rect">
            <a:avLst/>
          </a:prstGeom>
          <a:noFill/>
          <a:ln/>
        </p:spPr>
        <p:txBody>
          <a:bodyPr wrap="square" lIns="508" tIns="508" rIns="508" bIns="508" rtlCol="0" anchor="ctr">
            <a:normAutofit/>
          </a:bodyPr>
          <a:lstStyle/>
          <a:p>
            <a:pPr algn="ctr" indent="0" marL="0">
              <a:buNone/>
            </a:pPr>
            <a:r>
              <a:rPr lang="en-US" sz="2400" b="1" dirty="0">
                <a:solidFill>
                  <a:srgbClr val="B8443E"/>
                </a:solidFill>
                <a:latin typeface="Pretendard" pitchFamily="34" charset="0"/>
                <a:ea typeface="Pretendard" pitchFamily="34" charset="-122"/>
                <a:cs typeface="Pretendard" pitchFamily="34" charset="-120"/>
              </a:rPr>
              <a:t>전용면적 제외</a:t>
            </a:r>
            <a:endParaRPr lang="en-US" sz="2400" dirty="0"/>
          </a:p>
        </p:txBody>
      </p:sp>
      <p:sp>
        <p:nvSpPr>
          <p:cNvPr id="22" name="Text 20"/>
          <p:cNvSpPr/>
          <p:nvPr/>
        </p:nvSpPr>
        <p:spPr>
          <a:xfrm>
            <a:off x="10213848" y="2221992"/>
            <a:ext cx="1197864" cy="347472"/>
          </a:xfrm>
          <a:prstGeom prst="rect">
            <a:avLst/>
          </a:prstGeom>
          <a:noFill/>
          <a:ln/>
        </p:spPr>
        <p:txBody>
          <a:bodyPr wrap="square" lIns="508" tIns="508" rIns="508" bIns="508" rtlCol="0" anchor="ctr">
            <a:normAutofit/>
          </a:bodyPr>
          <a:lstStyle/>
          <a:p>
            <a:pPr algn="ctr" indent="0" marL="0">
              <a:buNone/>
            </a:pPr>
            <a:r>
              <a:rPr lang="en-US" sz="1220" dirty="0">
                <a:solidFill>
                  <a:srgbClr val="646B78"/>
                </a:solidFill>
                <a:latin typeface="Pretendard" pitchFamily="34" charset="0"/>
                <a:ea typeface="Pretendard" pitchFamily="34" charset="-122"/>
                <a:cs typeface="Pretendard" pitchFamily="34" charset="-120"/>
              </a:rPr>
              <a:t>종속변수 산식에만 사용</a:t>
            </a:r>
            <a:endParaRPr lang="en-US" sz="1220" dirty="0"/>
          </a:p>
        </p:txBody>
      </p:sp>
      <p:sp>
        <p:nvSpPr>
          <p:cNvPr id="23" name="Shape 21"/>
          <p:cNvSpPr/>
          <p:nvPr/>
        </p:nvSpPr>
        <p:spPr>
          <a:xfrm>
            <a:off x="640080" y="2971800"/>
            <a:ext cx="5349240" cy="2697480"/>
          </a:xfrm>
          <a:prstGeom prst="rect">
            <a:avLst/>
          </a:prstGeom>
          <a:solidFill>
            <a:srgbClr val="F4F6F9"/>
          </a:solidFill>
          <a:ln w="7620">
            <a:solidFill>
              <a:srgbClr val="D4DAE3"/>
            </a:solidFill>
            <a:prstDash val="solid"/>
          </a:ln>
        </p:spPr>
      </p:sp>
      <p:sp>
        <p:nvSpPr>
          <p:cNvPr id="24" name="Text 22"/>
          <p:cNvSpPr/>
          <p:nvPr/>
        </p:nvSpPr>
        <p:spPr>
          <a:xfrm>
            <a:off x="868680" y="3182112"/>
            <a:ext cx="2011680" cy="274320"/>
          </a:xfrm>
          <a:prstGeom prst="rect">
            <a:avLst/>
          </a:prstGeom>
          <a:noFill/>
          <a:ln/>
        </p:spPr>
        <p:txBody>
          <a:bodyPr wrap="square" lIns="508" tIns="508" rIns="508" bIns="508" rtlCol="0" anchor="ctr">
            <a:normAutofit/>
          </a:bodyPr>
          <a:lstStyle/>
          <a:p>
            <a:pPr indent="0" marL="0">
              <a:buNone/>
            </a:pPr>
            <a:r>
              <a:rPr lang="en-US" sz="1620" b="1" dirty="0">
                <a:solidFill>
                  <a:srgbClr val="26354F"/>
                </a:solidFill>
                <a:latin typeface="Pretendard" pitchFamily="34" charset="0"/>
                <a:ea typeface="Pretendard" pitchFamily="34" charset="-122"/>
                <a:cs typeface="Pretendard" pitchFamily="34" charset="-120"/>
              </a:rPr>
              <a:t>표본 구성</a:t>
            </a:r>
            <a:endParaRPr lang="en-US" sz="1620" dirty="0"/>
          </a:p>
        </p:txBody>
      </p:sp>
      <p:sp>
        <p:nvSpPr>
          <p:cNvPr id="25" name="Text 23"/>
          <p:cNvSpPr/>
          <p:nvPr/>
        </p:nvSpPr>
        <p:spPr>
          <a:xfrm>
            <a:off x="868680" y="3575304"/>
            <a:ext cx="4892040" cy="1783080"/>
          </a:xfrm>
          <a:prstGeom prst="rect">
            <a:avLst/>
          </a:prstGeom>
          <a:noFill/>
          <a:ln/>
        </p:spPr>
        <p:txBody>
          <a:bodyPr wrap="square" lIns="508" tIns="508" rIns="508" bIns="508" rtlCol="0" anchor="ctr">
            <a:normAutofit/>
          </a:bodyPr>
          <a:lstStyle/>
          <a:p>
            <a:pPr indent="0" marL="0">
              <a:buNone/>
            </a:pPr>
            <a:r>
              <a:rPr lang="en-US" sz="1620" dirty="0">
                <a:solidFill>
                  <a:srgbClr val="2F3542"/>
                </a:solidFill>
                <a:latin typeface="Pretendard" pitchFamily="34" charset="0"/>
                <a:ea typeface="Pretendard" pitchFamily="34" charset="-122"/>
                <a:cs typeface="Pretendard" pitchFamily="34" charset="-120"/>
              </a:rPr>
              <a:t>• 강남3구 65,077건 (16.6%)</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비강남 326,749건 (83.4%)</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2022년 거래량 전년 대비 약 70% 감소</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종속변수: log(㎡당 거래가격)</a:t>
            </a:r>
            <a:endParaRPr lang="en-US" sz="1620" dirty="0"/>
          </a:p>
        </p:txBody>
      </p:sp>
      <p:sp>
        <p:nvSpPr>
          <p:cNvPr id="26" name="Shape 24"/>
          <p:cNvSpPr/>
          <p:nvPr/>
        </p:nvSpPr>
        <p:spPr>
          <a:xfrm>
            <a:off x="6263640" y="2971800"/>
            <a:ext cx="5257800" cy="2697480"/>
          </a:xfrm>
          <a:prstGeom prst="rect">
            <a:avLst/>
          </a:prstGeom>
          <a:solidFill>
            <a:srgbClr val="F4F6F9"/>
          </a:solidFill>
          <a:ln w="7620">
            <a:solidFill>
              <a:srgbClr val="D4DAE3"/>
            </a:solidFill>
            <a:prstDash val="solid"/>
          </a:ln>
        </p:spPr>
      </p:sp>
      <p:sp>
        <p:nvSpPr>
          <p:cNvPr id="27" name="Text 25"/>
          <p:cNvSpPr/>
          <p:nvPr/>
        </p:nvSpPr>
        <p:spPr>
          <a:xfrm>
            <a:off x="6492240" y="3182112"/>
            <a:ext cx="2560320" cy="274320"/>
          </a:xfrm>
          <a:prstGeom prst="rect">
            <a:avLst/>
          </a:prstGeom>
          <a:noFill/>
          <a:ln/>
        </p:spPr>
        <p:txBody>
          <a:bodyPr wrap="square" lIns="508" tIns="508" rIns="508" bIns="508" rtlCol="0" anchor="ctr">
            <a:normAutofit/>
          </a:bodyPr>
          <a:lstStyle/>
          <a:p>
            <a:pPr indent="0" marL="0">
              <a:buNone/>
            </a:pPr>
            <a:r>
              <a:rPr lang="en-US" sz="1620" b="1" dirty="0">
                <a:solidFill>
                  <a:srgbClr val="26354F"/>
                </a:solidFill>
                <a:latin typeface="Pretendard" pitchFamily="34" charset="0"/>
                <a:ea typeface="Pretendard" pitchFamily="34" charset="-122"/>
                <a:cs typeface="Pretendard" pitchFamily="34" charset="-120"/>
              </a:rPr>
              <a:t>자료 출처와 변수군</a:t>
            </a:r>
            <a:endParaRPr lang="en-US" sz="1620" dirty="0"/>
          </a:p>
        </p:txBody>
      </p:sp>
      <p:sp>
        <p:nvSpPr>
          <p:cNvPr id="28" name="Text 26"/>
          <p:cNvSpPr/>
          <p:nvPr/>
        </p:nvSpPr>
        <p:spPr>
          <a:xfrm>
            <a:off x="6492240" y="3575304"/>
            <a:ext cx="4800600" cy="1783080"/>
          </a:xfrm>
          <a:prstGeom prst="rect">
            <a:avLst/>
          </a:prstGeom>
          <a:noFill/>
          <a:ln/>
        </p:spPr>
        <p:txBody>
          <a:bodyPr wrap="square" lIns="508" tIns="508" rIns="508" bIns="508" rtlCol="0" anchor="ctr">
            <a:normAutofit/>
          </a:bodyPr>
          <a:lstStyle/>
          <a:p>
            <a:pPr indent="0" marL="0">
              <a:buNone/>
            </a:pPr>
            <a:r>
              <a:rPr lang="en-US" sz="1620" dirty="0">
                <a:solidFill>
                  <a:srgbClr val="2F3542"/>
                </a:solidFill>
                <a:latin typeface="Pretendard" pitchFamily="34" charset="0"/>
                <a:ea typeface="Pretendard" pitchFamily="34" charset="-122"/>
                <a:cs typeface="Pretendard" pitchFamily="34" charset="-120"/>
              </a:rPr>
              <a:t>• 주요 출처: 실거래가·서울열린데이터·NEIS·ECOS</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단지·주택: 층, 건물연령</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접근성: 교통·교육·보육·의료·상업</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거시경제: M2, CPI, 금리</a:t>
            </a:r>
            <a:endParaRPr lang="en-US" sz="16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6354F"/>
          </a:solidFill>
          <a:ln w="7620">
            <a:solidFill>
              <a:srgbClr val="26354F"/>
            </a:solidFill>
            <a:prstDash val="solid"/>
          </a:ln>
        </p:spPr>
      </p:sp>
      <p:sp>
        <p:nvSpPr>
          <p:cNvPr id="3" name="Text 1"/>
          <p:cNvSpPr/>
          <p:nvPr/>
        </p:nvSpPr>
        <p:spPr>
          <a:xfrm>
            <a:off x="411480" y="128016"/>
            <a:ext cx="3840480" cy="182880"/>
          </a:xfrm>
          <a:prstGeom prst="rect">
            <a:avLst/>
          </a:prstGeom>
          <a:noFill/>
          <a:ln/>
        </p:spPr>
        <p:txBody>
          <a:bodyPr wrap="square" lIns="508" tIns="508" rIns="508" bIns="508" rtlCol="0" anchor="ctr">
            <a:normAutofit/>
          </a:bodyPr>
          <a:lstStyle/>
          <a:p>
            <a:pPr indent="0" marL="0">
              <a:buNone/>
            </a:pPr>
            <a:r>
              <a:rPr lang="en-US" sz="1050" b="1" dirty="0">
                <a:solidFill>
                  <a:srgbClr val="F2D16B"/>
                </a:solidFill>
                <a:latin typeface="Pretendard" pitchFamily="34" charset="0"/>
                <a:ea typeface="Pretendard" pitchFamily="34" charset="-122"/>
                <a:cs typeface="Pretendard" pitchFamily="34" charset="-120"/>
              </a:rPr>
              <a:t>03. METHODS</a:t>
            </a:r>
            <a:endParaRPr lang="en-US" sz="1050" dirty="0"/>
          </a:p>
        </p:txBody>
      </p:sp>
      <p:sp>
        <p:nvSpPr>
          <p:cNvPr id="4" name="Text 2"/>
          <p:cNvSpPr/>
          <p:nvPr/>
        </p:nvSpPr>
        <p:spPr>
          <a:xfrm>
            <a:off x="11292840" y="109728"/>
            <a:ext cx="502920" cy="201168"/>
          </a:xfrm>
          <a:prstGeom prst="rect">
            <a:avLst/>
          </a:prstGeom>
          <a:noFill/>
          <a:ln/>
        </p:spPr>
        <p:txBody>
          <a:bodyPr wrap="square" lIns="508" tIns="508" rIns="508" bIns="508" rtlCol="0" anchor="ctr">
            <a:normAutofit/>
          </a:bodyPr>
          <a:lstStyle/>
          <a:p>
            <a:pPr algn="r" indent="0" marL="0">
              <a:buNone/>
            </a:pPr>
            <a:r>
              <a:rPr lang="en-US" sz="1050" b="1" dirty="0">
                <a:solidFill>
                  <a:srgbClr val="FFFFFF"/>
                </a:solidFill>
                <a:latin typeface="Pretendard" pitchFamily="34" charset="0"/>
                <a:ea typeface="Pretendard" pitchFamily="34" charset="-122"/>
                <a:cs typeface="Pretendard" pitchFamily="34" charset="-120"/>
              </a:rPr>
              <a:t>04</a:t>
            </a:r>
            <a:endParaRPr lang="en-US" sz="1050" dirty="0"/>
          </a:p>
        </p:txBody>
      </p:sp>
      <p:sp>
        <p:nvSpPr>
          <p:cNvPr id="5" name="Text 3"/>
          <p:cNvSpPr/>
          <p:nvPr/>
        </p:nvSpPr>
        <p:spPr>
          <a:xfrm>
            <a:off x="502920" y="749808"/>
            <a:ext cx="10424160" cy="438912"/>
          </a:xfrm>
          <a:prstGeom prst="rect">
            <a:avLst/>
          </a:prstGeom>
          <a:noFill/>
          <a:ln/>
        </p:spPr>
        <p:txBody>
          <a:bodyPr wrap="square" lIns="508" tIns="508" rIns="508" bIns="508" rtlCol="0" anchor="ctr">
            <a:normAutofit/>
          </a:bodyPr>
          <a:lstStyle/>
          <a:p>
            <a:pPr indent="0" marL="0">
              <a:buNone/>
            </a:pPr>
            <a:r>
              <a:rPr lang="en-US" sz="2400" b="1" dirty="0">
                <a:solidFill>
                  <a:srgbClr val="26354F"/>
                </a:solidFill>
                <a:latin typeface="Pretendard" pitchFamily="34" charset="0"/>
                <a:ea typeface="Pretendard" pitchFamily="34" charset="-122"/>
                <a:cs typeface="Pretendard" pitchFamily="34" charset="-120"/>
              </a:rPr>
              <a:t>분석 설계: 거리 기반 접근성과 시점 정합</a:t>
            </a:r>
            <a:endParaRPr lang="en-US" sz="2400" dirty="0"/>
          </a:p>
        </p:txBody>
      </p:sp>
      <p:sp>
        <p:nvSpPr>
          <p:cNvPr id="6" name="Shape 4"/>
          <p:cNvSpPr/>
          <p:nvPr/>
        </p:nvSpPr>
        <p:spPr>
          <a:xfrm>
            <a:off x="502920" y="1280160"/>
            <a:ext cx="11155680" cy="0"/>
          </a:xfrm>
          <a:prstGeom prst="line">
            <a:avLst/>
          </a:prstGeom>
          <a:noFill/>
          <a:ln w="15240">
            <a:solidFill>
              <a:srgbClr val="D4DAE3"/>
            </a:solidFill>
            <a:prstDash val="solid"/>
          </a:ln>
        </p:spPr>
      </p:sp>
      <p:sp>
        <p:nvSpPr>
          <p:cNvPr id="7" name="Text 5"/>
          <p:cNvSpPr/>
          <p:nvPr/>
        </p:nvSpPr>
        <p:spPr>
          <a:xfrm>
            <a:off x="502920" y="6528816"/>
            <a:ext cx="4389120" cy="164592"/>
          </a:xfrm>
          <a:prstGeom prst="rect">
            <a:avLst/>
          </a:prstGeom>
          <a:noFill/>
          <a:ln/>
        </p:spPr>
        <p:txBody>
          <a:bodyPr wrap="square" lIns="508" tIns="508" rIns="508" bIns="508" rtlCol="0" anchor="ctr">
            <a:normAutofit/>
          </a:bodyPr>
          <a:lstStyle/>
          <a:p>
            <a:pPr indent="0" marL="0">
              <a:buNone/>
            </a:pPr>
            <a:r>
              <a:rPr lang="en-US" sz="820" dirty="0">
                <a:solidFill>
                  <a:srgbClr val="646B78"/>
                </a:solidFill>
                <a:latin typeface="Pretendard" pitchFamily="34" charset="0"/>
                <a:ea typeface="Pretendard" pitchFamily="34" charset="-122"/>
                <a:cs typeface="Pretendard" pitchFamily="34" charset="-120"/>
              </a:rPr>
              <a:t>석사학위논문 최종심사 발표 | 박현근</a:t>
            </a:r>
            <a:endParaRPr lang="en-US" sz="820" dirty="0"/>
          </a:p>
        </p:txBody>
      </p:sp>
      <p:sp>
        <p:nvSpPr>
          <p:cNvPr id="8" name="Shape 6"/>
          <p:cNvSpPr/>
          <p:nvPr/>
        </p:nvSpPr>
        <p:spPr>
          <a:xfrm>
            <a:off x="594360" y="1508760"/>
            <a:ext cx="5257800" cy="4343400"/>
          </a:xfrm>
          <a:prstGeom prst="rect">
            <a:avLst/>
          </a:prstGeom>
          <a:solidFill>
            <a:srgbClr val="F4F6F9"/>
          </a:solidFill>
          <a:ln w="7620">
            <a:solidFill>
              <a:srgbClr val="D4DAE3"/>
            </a:solidFill>
            <a:prstDash val="solid"/>
          </a:ln>
        </p:spPr>
      </p:sp>
      <p:sp>
        <p:nvSpPr>
          <p:cNvPr id="9" name="Text 7"/>
          <p:cNvSpPr/>
          <p:nvPr/>
        </p:nvSpPr>
        <p:spPr>
          <a:xfrm>
            <a:off x="868680" y="1737360"/>
            <a:ext cx="2011680" cy="274320"/>
          </a:xfrm>
          <a:prstGeom prst="rect">
            <a:avLst/>
          </a:prstGeom>
          <a:noFill/>
          <a:ln/>
        </p:spPr>
        <p:txBody>
          <a:bodyPr wrap="square" lIns="508" tIns="508" rIns="508" bIns="508" rtlCol="0" anchor="ctr">
            <a:normAutofit/>
          </a:bodyPr>
          <a:lstStyle/>
          <a:p>
            <a:pPr indent="0" marL="0">
              <a:buNone/>
            </a:pPr>
            <a:r>
              <a:rPr lang="en-US" sz="1650" b="1" dirty="0">
                <a:solidFill>
                  <a:srgbClr val="26354F"/>
                </a:solidFill>
                <a:latin typeface="Pretendard" pitchFamily="34" charset="0"/>
                <a:ea typeface="Pretendard" pitchFamily="34" charset="-122"/>
                <a:cs typeface="Pretendard" pitchFamily="34" charset="-120"/>
              </a:rPr>
              <a:t>분석 흐름</a:t>
            </a:r>
            <a:endParaRPr lang="en-US" sz="1650" dirty="0"/>
          </a:p>
        </p:txBody>
      </p:sp>
      <p:sp>
        <p:nvSpPr>
          <p:cNvPr id="10" name="Shape 8"/>
          <p:cNvSpPr/>
          <p:nvPr/>
        </p:nvSpPr>
        <p:spPr>
          <a:xfrm>
            <a:off x="868680" y="2148840"/>
            <a:ext cx="4709160" cy="713232"/>
          </a:xfrm>
          <a:prstGeom prst="rect">
            <a:avLst/>
          </a:prstGeom>
          <a:solidFill>
            <a:srgbClr val="FFFFFF"/>
          </a:solidFill>
          <a:ln w="7620">
            <a:solidFill>
              <a:srgbClr val="D4DAE3"/>
            </a:solidFill>
            <a:prstDash val="solid"/>
          </a:ln>
        </p:spPr>
      </p:sp>
      <p:sp>
        <p:nvSpPr>
          <p:cNvPr id="11" name="Shape 9"/>
          <p:cNvSpPr/>
          <p:nvPr/>
        </p:nvSpPr>
        <p:spPr>
          <a:xfrm>
            <a:off x="1033272" y="2304288"/>
            <a:ext cx="438912" cy="438912"/>
          </a:xfrm>
          <a:prstGeom prst="rect">
            <a:avLst/>
          </a:prstGeom>
          <a:solidFill>
            <a:srgbClr val="B8443E"/>
          </a:solidFill>
          <a:ln w="7620">
            <a:solidFill>
              <a:srgbClr val="B8443E"/>
            </a:solidFill>
            <a:prstDash val="solid"/>
          </a:ln>
        </p:spPr>
      </p:sp>
      <p:sp>
        <p:nvSpPr>
          <p:cNvPr id="12" name="Text 10"/>
          <p:cNvSpPr/>
          <p:nvPr/>
        </p:nvSpPr>
        <p:spPr>
          <a:xfrm>
            <a:off x="1033272" y="2414016"/>
            <a:ext cx="438912" cy="164592"/>
          </a:xfrm>
          <a:prstGeom prst="rect">
            <a:avLst/>
          </a:prstGeom>
          <a:noFill/>
          <a:ln/>
        </p:spPr>
        <p:txBody>
          <a:bodyPr wrap="square" lIns="508" tIns="508" rIns="508" bIns="508" rtlCol="0" anchor="ctr">
            <a:normAutofit/>
          </a:bodyPr>
          <a:lstStyle/>
          <a:p>
            <a:pPr algn="ctr" indent="0" marL="0">
              <a:buNone/>
            </a:pPr>
            <a:r>
              <a:rPr lang="en-US" sz="1320" b="1" dirty="0">
                <a:solidFill>
                  <a:srgbClr val="FFFFFF"/>
                </a:solidFill>
                <a:latin typeface="Pretendard" pitchFamily="34" charset="0"/>
                <a:ea typeface="Pretendard" pitchFamily="34" charset="-122"/>
                <a:cs typeface="Pretendard" pitchFamily="34" charset="-120"/>
              </a:rPr>
              <a:t>1</a:t>
            </a:r>
            <a:endParaRPr lang="en-US" sz="1320" dirty="0"/>
          </a:p>
        </p:txBody>
      </p:sp>
      <p:sp>
        <p:nvSpPr>
          <p:cNvPr id="13" name="Text 11"/>
          <p:cNvSpPr/>
          <p:nvPr/>
        </p:nvSpPr>
        <p:spPr>
          <a:xfrm>
            <a:off x="1645920" y="2276856"/>
            <a:ext cx="3703320" cy="201168"/>
          </a:xfrm>
          <a:prstGeom prst="rect">
            <a:avLst/>
          </a:prstGeom>
          <a:noFill/>
          <a:ln/>
        </p:spPr>
        <p:txBody>
          <a:bodyPr wrap="square" lIns="508" tIns="508" rIns="508" bIns="508" rtlCol="0" anchor="ctr">
            <a:normAutofit/>
          </a:bodyPr>
          <a:lstStyle/>
          <a:p>
            <a:pPr indent="0" marL="0">
              <a:buNone/>
            </a:pPr>
            <a:r>
              <a:rPr lang="en-US" sz="1520" b="1" dirty="0">
                <a:solidFill>
                  <a:srgbClr val="26354F"/>
                </a:solidFill>
                <a:latin typeface="Pretendard" pitchFamily="34" charset="0"/>
                <a:ea typeface="Pretendard" pitchFamily="34" charset="-122"/>
                <a:cs typeface="Pretendard" pitchFamily="34" charset="-120"/>
              </a:rPr>
              <a:t>원자료 수집·정제</a:t>
            </a:r>
            <a:endParaRPr lang="en-US" sz="1520" dirty="0"/>
          </a:p>
        </p:txBody>
      </p:sp>
      <p:sp>
        <p:nvSpPr>
          <p:cNvPr id="14" name="Text 12"/>
          <p:cNvSpPr/>
          <p:nvPr/>
        </p:nvSpPr>
        <p:spPr>
          <a:xfrm>
            <a:off x="1645920" y="2542032"/>
            <a:ext cx="3703320" cy="201168"/>
          </a:xfrm>
          <a:prstGeom prst="rect">
            <a:avLst/>
          </a:prstGeom>
          <a:noFill/>
          <a:ln/>
        </p:spPr>
        <p:txBody>
          <a:bodyPr wrap="square" lIns="508" tIns="508" rIns="508" bIns="508" rtlCol="0" anchor="ctr">
            <a:normAutofit/>
          </a:bodyPr>
          <a:lstStyle/>
          <a:p>
            <a:pPr indent="0" marL="0">
              <a:buNone/>
            </a:pPr>
            <a:r>
              <a:rPr lang="en-US" sz="1320" dirty="0">
                <a:solidFill>
                  <a:srgbClr val="646B78"/>
                </a:solidFill>
                <a:latin typeface="Pretendard" pitchFamily="34" charset="0"/>
                <a:ea typeface="Pretendard" pitchFamily="34" charset="-122"/>
                <a:cs typeface="Pretendard" pitchFamily="34" charset="-120"/>
              </a:rPr>
              <a:t>실거래·시설·거시자료 결합</a:t>
            </a:r>
            <a:endParaRPr lang="en-US" sz="1320" dirty="0"/>
          </a:p>
        </p:txBody>
      </p:sp>
      <p:sp>
        <p:nvSpPr>
          <p:cNvPr id="15" name="Text 13"/>
          <p:cNvSpPr/>
          <p:nvPr/>
        </p:nvSpPr>
        <p:spPr>
          <a:xfrm>
            <a:off x="3017520" y="2871216"/>
            <a:ext cx="228600" cy="146304"/>
          </a:xfrm>
          <a:prstGeom prst="rect">
            <a:avLst/>
          </a:prstGeom>
          <a:noFill/>
          <a:ln/>
        </p:spPr>
        <p:txBody>
          <a:bodyPr wrap="square" lIns="508" tIns="508" rIns="508" bIns="508" rtlCol="0" anchor="ctr">
            <a:normAutofit/>
          </a:bodyPr>
          <a:lstStyle/>
          <a:p>
            <a:pPr algn="ctr" indent="0" marL="0">
              <a:buNone/>
            </a:pPr>
            <a:r>
              <a:rPr lang="en-US" sz="1100" b="1" dirty="0">
                <a:solidFill>
                  <a:srgbClr val="B8443E"/>
                </a:solidFill>
                <a:latin typeface="Pretendard" pitchFamily="34" charset="0"/>
                <a:ea typeface="Pretendard" pitchFamily="34" charset="-122"/>
                <a:cs typeface="Pretendard" pitchFamily="34" charset="-120"/>
              </a:rPr>
              <a:t>↓</a:t>
            </a:r>
            <a:endParaRPr lang="en-US" sz="1100" dirty="0"/>
          </a:p>
        </p:txBody>
      </p:sp>
      <p:sp>
        <p:nvSpPr>
          <p:cNvPr id="16" name="Shape 14"/>
          <p:cNvSpPr/>
          <p:nvPr/>
        </p:nvSpPr>
        <p:spPr>
          <a:xfrm>
            <a:off x="868680" y="3017520"/>
            <a:ext cx="4709160" cy="713232"/>
          </a:xfrm>
          <a:prstGeom prst="rect">
            <a:avLst/>
          </a:prstGeom>
          <a:solidFill>
            <a:srgbClr val="FFFFFF"/>
          </a:solidFill>
          <a:ln w="7620">
            <a:solidFill>
              <a:srgbClr val="D4DAE3"/>
            </a:solidFill>
            <a:prstDash val="solid"/>
          </a:ln>
        </p:spPr>
      </p:sp>
      <p:sp>
        <p:nvSpPr>
          <p:cNvPr id="17" name="Shape 15"/>
          <p:cNvSpPr/>
          <p:nvPr/>
        </p:nvSpPr>
        <p:spPr>
          <a:xfrm>
            <a:off x="1033272" y="3172968"/>
            <a:ext cx="438912" cy="438912"/>
          </a:xfrm>
          <a:prstGeom prst="rect">
            <a:avLst/>
          </a:prstGeom>
          <a:solidFill>
            <a:srgbClr val="B8443E"/>
          </a:solidFill>
          <a:ln w="7620">
            <a:solidFill>
              <a:srgbClr val="B8443E"/>
            </a:solidFill>
            <a:prstDash val="solid"/>
          </a:ln>
        </p:spPr>
      </p:sp>
      <p:sp>
        <p:nvSpPr>
          <p:cNvPr id="18" name="Text 16"/>
          <p:cNvSpPr/>
          <p:nvPr/>
        </p:nvSpPr>
        <p:spPr>
          <a:xfrm>
            <a:off x="1033272" y="3282696"/>
            <a:ext cx="438912" cy="164592"/>
          </a:xfrm>
          <a:prstGeom prst="rect">
            <a:avLst/>
          </a:prstGeom>
          <a:noFill/>
          <a:ln/>
        </p:spPr>
        <p:txBody>
          <a:bodyPr wrap="square" lIns="508" tIns="508" rIns="508" bIns="508" rtlCol="0" anchor="ctr">
            <a:normAutofit/>
          </a:bodyPr>
          <a:lstStyle/>
          <a:p>
            <a:pPr algn="ctr" indent="0" marL="0">
              <a:buNone/>
            </a:pPr>
            <a:r>
              <a:rPr lang="en-US" sz="1320" b="1" dirty="0">
                <a:solidFill>
                  <a:srgbClr val="FFFFFF"/>
                </a:solidFill>
                <a:latin typeface="Pretendard" pitchFamily="34" charset="0"/>
                <a:ea typeface="Pretendard" pitchFamily="34" charset="-122"/>
                <a:cs typeface="Pretendard" pitchFamily="34" charset="-120"/>
              </a:rPr>
              <a:t>2</a:t>
            </a:r>
            <a:endParaRPr lang="en-US" sz="1320" dirty="0"/>
          </a:p>
        </p:txBody>
      </p:sp>
      <p:sp>
        <p:nvSpPr>
          <p:cNvPr id="19" name="Text 17"/>
          <p:cNvSpPr/>
          <p:nvPr/>
        </p:nvSpPr>
        <p:spPr>
          <a:xfrm>
            <a:off x="1645920" y="3145536"/>
            <a:ext cx="3703320" cy="201168"/>
          </a:xfrm>
          <a:prstGeom prst="rect">
            <a:avLst/>
          </a:prstGeom>
          <a:noFill/>
          <a:ln/>
        </p:spPr>
        <p:txBody>
          <a:bodyPr wrap="square" lIns="508" tIns="508" rIns="508" bIns="508" rtlCol="0" anchor="ctr">
            <a:normAutofit/>
          </a:bodyPr>
          <a:lstStyle/>
          <a:p>
            <a:pPr indent="0" marL="0">
              <a:buNone/>
            </a:pPr>
            <a:r>
              <a:rPr lang="en-US" sz="1520" b="1" dirty="0">
                <a:solidFill>
                  <a:srgbClr val="26354F"/>
                </a:solidFill>
                <a:latin typeface="Pretendard" pitchFamily="34" charset="0"/>
                <a:ea typeface="Pretendard" pitchFamily="34" charset="-122"/>
                <a:cs typeface="Pretendard" pitchFamily="34" charset="-120"/>
              </a:rPr>
              <a:t>단지 좌표 기반 변수</a:t>
            </a:r>
            <a:endParaRPr lang="en-US" sz="1520" dirty="0"/>
          </a:p>
        </p:txBody>
      </p:sp>
      <p:sp>
        <p:nvSpPr>
          <p:cNvPr id="20" name="Text 18"/>
          <p:cNvSpPr/>
          <p:nvPr/>
        </p:nvSpPr>
        <p:spPr>
          <a:xfrm>
            <a:off x="1645920" y="3410712"/>
            <a:ext cx="3703320" cy="201168"/>
          </a:xfrm>
          <a:prstGeom prst="rect">
            <a:avLst/>
          </a:prstGeom>
          <a:noFill/>
          <a:ln/>
        </p:spPr>
        <p:txBody>
          <a:bodyPr wrap="square" lIns="508" tIns="508" rIns="508" bIns="508" rtlCol="0" anchor="ctr">
            <a:normAutofit/>
          </a:bodyPr>
          <a:lstStyle/>
          <a:p>
            <a:pPr indent="0" marL="0">
              <a:buNone/>
            </a:pPr>
            <a:r>
              <a:rPr lang="en-US" sz="1320" dirty="0">
                <a:solidFill>
                  <a:srgbClr val="646B78"/>
                </a:solidFill>
                <a:latin typeface="Pretendard" pitchFamily="34" charset="0"/>
                <a:ea typeface="Pretendard" pitchFamily="34" charset="-122"/>
                <a:cs typeface="Pretendard" pitchFamily="34" charset="-120"/>
              </a:rPr>
              <a:t>거리·반경 접근성 생성</a:t>
            </a:r>
            <a:endParaRPr lang="en-US" sz="1320" dirty="0"/>
          </a:p>
        </p:txBody>
      </p:sp>
      <p:sp>
        <p:nvSpPr>
          <p:cNvPr id="21" name="Text 19"/>
          <p:cNvSpPr/>
          <p:nvPr/>
        </p:nvSpPr>
        <p:spPr>
          <a:xfrm>
            <a:off x="3017520" y="3739896"/>
            <a:ext cx="228600" cy="146304"/>
          </a:xfrm>
          <a:prstGeom prst="rect">
            <a:avLst/>
          </a:prstGeom>
          <a:noFill/>
          <a:ln/>
        </p:spPr>
        <p:txBody>
          <a:bodyPr wrap="square" lIns="508" tIns="508" rIns="508" bIns="508" rtlCol="0" anchor="ctr">
            <a:normAutofit/>
          </a:bodyPr>
          <a:lstStyle/>
          <a:p>
            <a:pPr algn="ctr" indent="0" marL="0">
              <a:buNone/>
            </a:pPr>
            <a:r>
              <a:rPr lang="en-US" sz="1100" b="1" dirty="0">
                <a:solidFill>
                  <a:srgbClr val="B8443E"/>
                </a:solidFill>
                <a:latin typeface="Pretendard" pitchFamily="34" charset="0"/>
                <a:ea typeface="Pretendard" pitchFamily="34" charset="-122"/>
                <a:cs typeface="Pretendard" pitchFamily="34" charset="-120"/>
              </a:rPr>
              <a:t>↓</a:t>
            </a:r>
            <a:endParaRPr lang="en-US" sz="1100" dirty="0"/>
          </a:p>
        </p:txBody>
      </p:sp>
      <p:sp>
        <p:nvSpPr>
          <p:cNvPr id="22" name="Shape 20"/>
          <p:cNvSpPr/>
          <p:nvPr/>
        </p:nvSpPr>
        <p:spPr>
          <a:xfrm>
            <a:off x="868680" y="3886200"/>
            <a:ext cx="4709160" cy="713232"/>
          </a:xfrm>
          <a:prstGeom prst="rect">
            <a:avLst/>
          </a:prstGeom>
          <a:solidFill>
            <a:srgbClr val="FFFFFF"/>
          </a:solidFill>
          <a:ln w="7620">
            <a:solidFill>
              <a:srgbClr val="D4DAE3"/>
            </a:solidFill>
            <a:prstDash val="solid"/>
          </a:ln>
        </p:spPr>
      </p:sp>
      <p:sp>
        <p:nvSpPr>
          <p:cNvPr id="23" name="Shape 21"/>
          <p:cNvSpPr/>
          <p:nvPr/>
        </p:nvSpPr>
        <p:spPr>
          <a:xfrm>
            <a:off x="1033272" y="4041648"/>
            <a:ext cx="438912" cy="438912"/>
          </a:xfrm>
          <a:prstGeom prst="rect">
            <a:avLst/>
          </a:prstGeom>
          <a:solidFill>
            <a:srgbClr val="B8443E"/>
          </a:solidFill>
          <a:ln w="7620">
            <a:solidFill>
              <a:srgbClr val="B8443E"/>
            </a:solidFill>
            <a:prstDash val="solid"/>
          </a:ln>
        </p:spPr>
      </p:sp>
      <p:sp>
        <p:nvSpPr>
          <p:cNvPr id="24" name="Text 22"/>
          <p:cNvSpPr/>
          <p:nvPr/>
        </p:nvSpPr>
        <p:spPr>
          <a:xfrm>
            <a:off x="1033272" y="4151376"/>
            <a:ext cx="438912" cy="164592"/>
          </a:xfrm>
          <a:prstGeom prst="rect">
            <a:avLst/>
          </a:prstGeom>
          <a:noFill/>
          <a:ln/>
        </p:spPr>
        <p:txBody>
          <a:bodyPr wrap="square" lIns="508" tIns="508" rIns="508" bIns="508" rtlCol="0" anchor="ctr">
            <a:normAutofit/>
          </a:bodyPr>
          <a:lstStyle/>
          <a:p>
            <a:pPr algn="ctr" indent="0" marL="0">
              <a:buNone/>
            </a:pPr>
            <a:r>
              <a:rPr lang="en-US" sz="1320" b="1" dirty="0">
                <a:solidFill>
                  <a:srgbClr val="FFFFFF"/>
                </a:solidFill>
                <a:latin typeface="Pretendard" pitchFamily="34" charset="0"/>
                <a:ea typeface="Pretendard" pitchFamily="34" charset="-122"/>
                <a:cs typeface="Pretendard" pitchFamily="34" charset="-120"/>
              </a:rPr>
              <a:t>3</a:t>
            </a:r>
            <a:endParaRPr lang="en-US" sz="1320" dirty="0"/>
          </a:p>
        </p:txBody>
      </p:sp>
      <p:sp>
        <p:nvSpPr>
          <p:cNvPr id="25" name="Text 23"/>
          <p:cNvSpPr/>
          <p:nvPr/>
        </p:nvSpPr>
        <p:spPr>
          <a:xfrm>
            <a:off x="1645920" y="4014216"/>
            <a:ext cx="3703320" cy="201168"/>
          </a:xfrm>
          <a:prstGeom prst="rect">
            <a:avLst/>
          </a:prstGeom>
          <a:noFill/>
          <a:ln/>
        </p:spPr>
        <p:txBody>
          <a:bodyPr wrap="square" lIns="508" tIns="508" rIns="508" bIns="508" rtlCol="0" anchor="ctr">
            <a:normAutofit/>
          </a:bodyPr>
          <a:lstStyle/>
          <a:p>
            <a:pPr indent="0" marL="0">
              <a:buNone/>
            </a:pPr>
            <a:r>
              <a:rPr lang="en-US" sz="1520" b="1" dirty="0">
                <a:solidFill>
                  <a:srgbClr val="26354F"/>
                </a:solidFill>
                <a:latin typeface="Pretendard" pitchFamily="34" charset="0"/>
                <a:ea typeface="Pretendard" pitchFamily="34" charset="-122"/>
                <a:cs typeface="Pretendard" pitchFamily="34" charset="-120"/>
              </a:rPr>
              <a:t>모형 학습·검증</a:t>
            </a:r>
            <a:endParaRPr lang="en-US" sz="1520" dirty="0"/>
          </a:p>
        </p:txBody>
      </p:sp>
      <p:sp>
        <p:nvSpPr>
          <p:cNvPr id="26" name="Text 24"/>
          <p:cNvSpPr/>
          <p:nvPr/>
        </p:nvSpPr>
        <p:spPr>
          <a:xfrm>
            <a:off x="1645920" y="4279392"/>
            <a:ext cx="3703320" cy="201168"/>
          </a:xfrm>
          <a:prstGeom prst="rect">
            <a:avLst/>
          </a:prstGeom>
          <a:noFill/>
          <a:ln/>
        </p:spPr>
        <p:txBody>
          <a:bodyPr wrap="square" lIns="508" tIns="508" rIns="508" bIns="508" rtlCol="0" anchor="ctr">
            <a:normAutofit/>
          </a:bodyPr>
          <a:lstStyle/>
          <a:p>
            <a:pPr indent="0" marL="0">
              <a:buNone/>
            </a:pPr>
            <a:r>
              <a:rPr lang="en-US" sz="1320" dirty="0">
                <a:solidFill>
                  <a:srgbClr val="646B78"/>
                </a:solidFill>
                <a:latin typeface="Pretendard" pitchFamily="34" charset="0"/>
                <a:ea typeface="Pretendard" pitchFamily="34" charset="-122"/>
                <a:cs typeface="Pretendard" pitchFamily="34" charset="-120"/>
              </a:rPr>
              <a:t>OLS·RF·XGBoost 비교</a:t>
            </a:r>
            <a:endParaRPr lang="en-US" sz="1320" dirty="0"/>
          </a:p>
        </p:txBody>
      </p:sp>
      <p:sp>
        <p:nvSpPr>
          <p:cNvPr id="27" name="Text 25"/>
          <p:cNvSpPr/>
          <p:nvPr/>
        </p:nvSpPr>
        <p:spPr>
          <a:xfrm>
            <a:off x="3017520" y="4608576"/>
            <a:ext cx="228600" cy="146304"/>
          </a:xfrm>
          <a:prstGeom prst="rect">
            <a:avLst/>
          </a:prstGeom>
          <a:noFill/>
          <a:ln/>
        </p:spPr>
        <p:txBody>
          <a:bodyPr wrap="square" lIns="508" tIns="508" rIns="508" bIns="508" rtlCol="0" anchor="ctr">
            <a:normAutofit/>
          </a:bodyPr>
          <a:lstStyle/>
          <a:p>
            <a:pPr algn="ctr" indent="0" marL="0">
              <a:buNone/>
            </a:pPr>
            <a:r>
              <a:rPr lang="en-US" sz="1100" b="1" dirty="0">
                <a:solidFill>
                  <a:srgbClr val="B8443E"/>
                </a:solidFill>
                <a:latin typeface="Pretendard" pitchFamily="34" charset="0"/>
                <a:ea typeface="Pretendard" pitchFamily="34" charset="-122"/>
                <a:cs typeface="Pretendard" pitchFamily="34" charset="-120"/>
              </a:rPr>
              <a:t>↓</a:t>
            </a:r>
            <a:endParaRPr lang="en-US" sz="1100" dirty="0"/>
          </a:p>
        </p:txBody>
      </p:sp>
      <p:sp>
        <p:nvSpPr>
          <p:cNvPr id="28" name="Shape 26"/>
          <p:cNvSpPr/>
          <p:nvPr/>
        </p:nvSpPr>
        <p:spPr>
          <a:xfrm>
            <a:off x="868680" y="4754880"/>
            <a:ext cx="4709160" cy="713232"/>
          </a:xfrm>
          <a:prstGeom prst="rect">
            <a:avLst/>
          </a:prstGeom>
          <a:solidFill>
            <a:srgbClr val="FFFFFF"/>
          </a:solidFill>
          <a:ln w="7620">
            <a:solidFill>
              <a:srgbClr val="D4DAE3"/>
            </a:solidFill>
            <a:prstDash val="solid"/>
          </a:ln>
        </p:spPr>
      </p:sp>
      <p:sp>
        <p:nvSpPr>
          <p:cNvPr id="29" name="Shape 27"/>
          <p:cNvSpPr/>
          <p:nvPr/>
        </p:nvSpPr>
        <p:spPr>
          <a:xfrm>
            <a:off x="1033272" y="4910328"/>
            <a:ext cx="438912" cy="438912"/>
          </a:xfrm>
          <a:prstGeom prst="rect">
            <a:avLst/>
          </a:prstGeom>
          <a:solidFill>
            <a:srgbClr val="B8443E"/>
          </a:solidFill>
          <a:ln w="7620">
            <a:solidFill>
              <a:srgbClr val="B8443E"/>
            </a:solidFill>
            <a:prstDash val="solid"/>
          </a:ln>
        </p:spPr>
      </p:sp>
      <p:sp>
        <p:nvSpPr>
          <p:cNvPr id="30" name="Text 28"/>
          <p:cNvSpPr/>
          <p:nvPr/>
        </p:nvSpPr>
        <p:spPr>
          <a:xfrm>
            <a:off x="1033272" y="5020056"/>
            <a:ext cx="438912" cy="164592"/>
          </a:xfrm>
          <a:prstGeom prst="rect">
            <a:avLst/>
          </a:prstGeom>
          <a:noFill/>
          <a:ln/>
        </p:spPr>
        <p:txBody>
          <a:bodyPr wrap="square" lIns="508" tIns="508" rIns="508" bIns="508" rtlCol="0" anchor="ctr">
            <a:normAutofit/>
          </a:bodyPr>
          <a:lstStyle/>
          <a:p>
            <a:pPr algn="ctr" indent="0" marL="0">
              <a:buNone/>
            </a:pPr>
            <a:r>
              <a:rPr lang="en-US" sz="1320" b="1" dirty="0">
                <a:solidFill>
                  <a:srgbClr val="FFFFFF"/>
                </a:solidFill>
                <a:latin typeface="Pretendard" pitchFamily="34" charset="0"/>
                <a:ea typeface="Pretendard" pitchFamily="34" charset="-122"/>
                <a:cs typeface="Pretendard" pitchFamily="34" charset="-120"/>
              </a:rPr>
              <a:t>4</a:t>
            </a:r>
            <a:endParaRPr lang="en-US" sz="1320" dirty="0"/>
          </a:p>
        </p:txBody>
      </p:sp>
      <p:sp>
        <p:nvSpPr>
          <p:cNvPr id="31" name="Text 29"/>
          <p:cNvSpPr/>
          <p:nvPr/>
        </p:nvSpPr>
        <p:spPr>
          <a:xfrm>
            <a:off x="1645920" y="4882896"/>
            <a:ext cx="3703320" cy="201168"/>
          </a:xfrm>
          <a:prstGeom prst="rect">
            <a:avLst/>
          </a:prstGeom>
          <a:noFill/>
          <a:ln/>
        </p:spPr>
        <p:txBody>
          <a:bodyPr wrap="square" lIns="508" tIns="508" rIns="508" bIns="508" rtlCol="0" anchor="ctr">
            <a:normAutofit/>
          </a:bodyPr>
          <a:lstStyle/>
          <a:p>
            <a:pPr indent="0" marL="0">
              <a:buNone/>
            </a:pPr>
            <a:r>
              <a:rPr lang="en-US" sz="1520" b="1" dirty="0">
                <a:solidFill>
                  <a:srgbClr val="26354F"/>
                </a:solidFill>
                <a:latin typeface="Pretendard" pitchFamily="34" charset="0"/>
                <a:ea typeface="Pretendard" pitchFamily="34" charset="-122"/>
                <a:cs typeface="Pretendard" pitchFamily="34" charset="-120"/>
              </a:rPr>
              <a:t>SHAP 해석</a:t>
            </a:r>
            <a:endParaRPr lang="en-US" sz="1520" dirty="0"/>
          </a:p>
        </p:txBody>
      </p:sp>
      <p:sp>
        <p:nvSpPr>
          <p:cNvPr id="32" name="Text 30"/>
          <p:cNvSpPr/>
          <p:nvPr/>
        </p:nvSpPr>
        <p:spPr>
          <a:xfrm>
            <a:off x="1645920" y="5148072"/>
            <a:ext cx="3703320" cy="201168"/>
          </a:xfrm>
          <a:prstGeom prst="rect">
            <a:avLst/>
          </a:prstGeom>
          <a:noFill/>
          <a:ln/>
        </p:spPr>
        <p:txBody>
          <a:bodyPr wrap="square" lIns="508" tIns="508" rIns="508" bIns="508" rtlCol="0" anchor="ctr">
            <a:normAutofit/>
          </a:bodyPr>
          <a:lstStyle/>
          <a:p>
            <a:pPr indent="0" marL="0">
              <a:buNone/>
            </a:pPr>
            <a:r>
              <a:rPr lang="en-US" sz="1320" dirty="0">
                <a:solidFill>
                  <a:srgbClr val="646B78"/>
                </a:solidFill>
                <a:latin typeface="Pretendard" pitchFamily="34" charset="0"/>
                <a:ea typeface="Pretendard" pitchFamily="34" charset="-122"/>
                <a:cs typeface="Pretendard" pitchFamily="34" charset="-120"/>
              </a:rPr>
              <a:t>권역·연도별 기여도 분해</a:t>
            </a:r>
            <a:endParaRPr lang="en-US" sz="1320" dirty="0"/>
          </a:p>
        </p:txBody>
      </p:sp>
      <p:sp>
        <p:nvSpPr>
          <p:cNvPr id="33" name="Shape 31"/>
          <p:cNvSpPr/>
          <p:nvPr/>
        </p:nvSpPr>
        <p:spPr>
          <a:xfrm>
            <a:off x="6172200" y="1508760"/>
            <a:ext cx="5349240" cy="4343400"/>
          </a:xfrm>
          <a:prstGeom prst="rect">
            <a:avLst/>
          </a:prstGeom>
          <a:solidFill>
            <a:srgbClr val="F4F6F9"/>
          </a:solidFill>
          <a:ln w="7620">
            <a:solidFill>
              <a:srgbClr val="D4DAE3"/>
            </a:solidFill>
            <a:prstDash val="solid"/>
          </a:ln>
        </p:spPr>
      </p:sp>
      <p:sp>
        <p:nvSpPr>
          <p:cNvPr id="34" name="Text 32"/>
          <p:cNvSpPr/>
          <p:nvPr/>
        </p:nvSpPr>
        <p:spPr>
          <a:xfrm>
            <a:off x="6446520" y="1755648"/>
            <a:ext cx="2834640" cy="274320"/>
          </a:xfrm>
          <a:prstGeom prst="rect">
            <a:avLst/>
          </a:prstGeom>
          <a:noFill/>
          <a:ln/>
        </p:spPr>
        <p:txBody>
          <a:bodyPr wrap="square" lIns="508" tIns="508" rIns="508" bIns="508" rtlCol="0" anchor="ctr">
            <a:normAutofit/>
          </a:bodyPr>
          <a:lstStyle/>
          <a:p>
            <a:pPr indent="0" marL="0">
              <a:buNone/>
            </a:pPr>
            <a:r>
              <a:rPr lang="en-US" sz="1650" b="1" dirty="0">
                <a:solidFill>
                  <a:srgbClr val="26354F"/>
                </a:solidFill>
                <a:latin typeface="Pretendard" pitchFamily="34" charset="0"/>
                <a:ea typeface="Pretendard" pitchFamily="34" charset="-122"/>
                <a:cs typeface="Pretendard" pitchFamily="34" charset="-120"/>
              </a:rPr>
              <a:t>분석의 핵심 설계</a:t>
            </a:r>
            <a:endParaRPr lang="en-US" sz="1650" dirty="0"/>
          </a:p>
        </p:txBody>
      </p:sp>
      <p:sp>
        <p:nvSpPr>
          <p:cNvPr id="35" name="Text 33"/>
          <p:cNvSpPr/>
          <p:nvPr/>
        </p:nvSpPr>
        <p:spPr>
          <a:xfrm>
            <a:off x="6446520" y="2304288"/>
            <a:ext cx="4800600" cy="2331720"/>
          </a:xfrm>
          <a:prstGeom prst="rect">
            <a:avLst/>
          </a:prstGeom>
          <a:noFill/>
          <a:ln/>
        </p:spPr>
        <p:txBody>
          <a:bodyPr wrap="square" lIns="508" tIns="508" rIns="508" bIns="508" rtlCol="0" anchor="ctr">
            <a:normAutofit/>
          </a:bodyPr>
          <a:lstStyle/>
          <a:p>
            <a:pPr indent="0" marL="0">
              <a:buNone/>
            </a:pPr>
            <a:r>
              <a:rPr lang="en-US" sz="1660" dirty="0">
                <a:solidFill>
                  <a:srgbClr val="2F3542"/>
                </a:solidFill>
                <a:latin typeface="Pretendard" pitchFamily="34" charset="0"/>
                <a:ea typeface="Pretendard" pitchFamily="34" charset="-122"/>
                <a:cs typeface="Pretendard" pitchFamily="34" charset="-120"/>
              </a:rPr>
              <a:t>• 단지 좌표 기준 거리·반경 접근성</a:t>
            </a:r>
            <a:endParaRPr lang="en-US" sz="1660" dirty="0"/>
          </a:p>
          <a:p>
            <a:pPr indent="0" marL="0">
              <a:buNone/>
            </a:pPr>
            <a:r>
              <a:rPr lang="en-US" sz="1660" dirty="0">
                <a:solidFill>
                  <a:srgbClr val="2F3542"/>
                </a:solidFill>
                <a:latin typeface="Pretendard" pitchFamily="34" charset="0"/>
                <a:ea typeface="Pretendard" pitchFamily="34" charset="-122"/>
                <a:cs typeface="Pretendard" pitchFamily="34" charset="-120"/>
              </a:rPr>
              <a:t>• 거래연도별 활동 시설만 사용</a:t>
            </a:r>
            <a:endParaRPr lang="en-US" sz="1660" dirty="0"/>
          </a:p>
          <a:p>
            <a:pPr indent="0" marL="0">
              <a:buNone/>
            </a:pPr>
            <a:r>
              <a:rPr lang="en-US" sz="1660" dirty="0">
                <a:solidFill>
                  <a:srgbClr val="2F3542"/>
                </a:solidFill>
                <a:latin typeface="Pretendard" pitchFamily="34" charset="0"/>
                <a:ea typeface="Pretendard" pitchFamily="34" charset="-122"/>
                <a:cs typeface="Pretendard" pitchFamily="34" charset="-120"/>
              </a:rPr>
              <a:t>• 무작위·시간순·단지 분할 비교</a:t>
            </a:r>
            <a:endParaRPr lang="en-US" sz="1660" dirty="0"/>
          </a:p>
          <a:p>
            <a:pPr indent="0" marL="0">
              <a:buNone/>
            </a:pPr>
            <a:r>
              <a:rPr lang="en-US" sz="1660" dirty="0">
                <a:solidFill>
                  <a:srgbClr val="2F3542"/>
                </a:solidFill>
                <a:latin typeface="Pretendard" pitchFamily="34" charset="0"/>
                <a:ea typeface="Pretendard" pitchFamily="34" charset="-122"/>
                <a:cs typeface="Pretendard" pitchFamily="34" charset="-120"/>
              </a:rPr>
              <a:t>• SHAP을 권역·연도 단위로 분해</a:t>
            </a:r>
            <a:endParaRPr lang="en-US" sz="1660" dirty="0"/>
          </a:p>
        </p:txBody>
      </p:sp>
      <p:sp>
        <p:nvSpPr>
          <p:cNvPr id="36" name="Shape 34"/>
          <p:cNvSpPr/>
          <p:nvPr/>
        </p:nvSpPr>
        <p:spPr>
          <a:xfrm>
            <a:off x="6446520" y="4892040"/>
            <a:ext cx="4800600" cy="566928"/>
          </a:xfrm>
          <a:prstGeom prst="rect">
            <a:avLst/>
          </a:prstGeom>
          <a:solidFill>
            <a:srgbClr val="26354F"/>
          </a:solidFill>
          <a:ln w="7620">
            <a:solidFill>
              <a:srgbClr val="26354F"/>
            </a:solidFill>
            <a:prstDash val="solid"/>
          </a:ln>
        </p:spPr>
      </p:sp>
      <p:sp>
        <p:nvSpPr>
          <p:cNvPr id="37" name="Text 35"/>
          <p:cNvSpPr/>
          <p:nvPr/>
        </p:nvSpPr>
        <p:spPr>
          <a:xfrm>
            <a:off x="6629400" y="5056632"/>
            <a:ext cx="4434840" cy="201168"/>
          </a:xfrm>
          <a:prstGeom prst="rect">
            <a:avLst/>
          </a:prstGeom>
          <a:noFill/>
          <a:ln/>
        </p:spPr>
        <p:txBody>
          <a:bodyPr wrap="square" lIns="508" tIns="508" rIns="508" bIns="508" rtlCol="0" anchor="ctr">
            <a:normAutofit/>
          </a:bodyPr>
          <a:lstStyle/>
          <a:p>
            <a:pPr algn="ctr" indent="0" marL="0">
              <a:buNone/>
            </a:pPr>
            <a:r>
              <a:rPr lang="en-US" sz="1440" b="1" dirty="0">
                <a:solidFill>
                  <a:srgbClr val="FFFFFF"/>
                </a:solidFill>
                <a:latin typeface="Pretendard" pitchFamily="34" charset="0"/>
                <a:ea typeface="Pretendard" pitchFamily="34" charset="-122"/>
                <a:cs typeface="Pretendard" pitchFamily="34" charset="-120"/>
              </a:rPr>
              <a:t>거리 접근성은 성능, 시점 정합은 타당성을 점검하는 장치</a:t>
            </a:r>
            <a:endParaRPr lang="en-US" sz="14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6354F"/>
          </a:solidFill>
          <a:ln w="7620">
            <a:solidFill>
              <a:srgbClr val="26354F"/>
            </a:solidFill>
            <a:prstDash val="solid"/>
          </a:ln>
        </p:spPr>
      </p:sp>
      <p:sp>
        <p:nvSpPr>
          <p:cNvPr id="3" name="Text 1"/>
          <p:cNvSpPr/>
          <p:nvPr/>
        </p:nvSpPr>
        <p:spPr>
          <a:xfrm>
            <a:off x="411480" y="128016"/>
            <a:ext cx="3840480" cy="182880"/>
          </a:xfrm>
          <a:prstGeom prst="rect">
            <a:avLst/>
          </a:prstGeom>
          <a:noFill/>
          <a:ln/>
        </p:spPr>
        <p:txBody>
          <a:bodyPr wrap="square" lIns="508" tIns="508" rIns="508" bIns="508" rtlCol="0" anchor="ctr">
            <a:normAutofit/>
          </a:bodyPr>
          <a:lstStyle/>
          <a:p>
            <a:pPr indent="0" marL="0">
              <a:buNone/>
            </a:pPr>
            <a:r>
              <a:rPr lang="en-US" sz="1050" b="1" dirty="0">
                <a:solidFill>
                  <a:srgbClr val="F2D16B"/>
                </a:solidFill>
                <a:latin typeface="Pretendard" pitchFamily="34" charset="0"/>
                <a:ea typeface="Pretendard" pitchFamily="34" charset="-122"/>
                <a:cs typeface="Pretendard" pitchFamily="34" charset="-120"/>
              </a:rPr>
              <a:t>04. RESULTS</a:t>
            </a:r>
            <a:endParaRPr lang="en-US" sz="1050" dirty="0"/>
          </a:p>
        </p:txBody>
      </p:sp>
      <p:sp>
        <p:nvSpPr>
          <p:cNvPr id="4" name="Text 2"/>
          <p:cNvSpPr/>
          <p:nvPr/>
        </p:nvSpPr>
        <p:spPr>
          <a:xfrm>
            <a:off x="11292840" y="109728"/>
            <a:ext cx="502920" cy="201168"/>
          </a:xfrm>
          <a:prstGeom prst="rect">
            <a:avLst/>
          </a:prstGeom>
          <a:noFill/>
          <a:ln/>
        </p:spPr>
        <p:txBody>
          <a:bodyPr wrap="square" lIns="508" tIns="508" rIns="508" bIns="508" rtlCol="0" anchor="ctr">
            <a:normAutofit/>
          </a:bodyPr>
          <a:lstStyle/>
          <a:p>
            <a:pPr algn="r" indent="0" marL="0">
              <a:buNone/>
            </a:pPr>
            <a:r>
              <a:rPr lang="en-US" sz="1050" b="1" dirty="0">
                <a:solidFill>
                  <a:srgbClr val="FFFFFF"/>
                </a:solidFill>
                <a:latin typeface="Pretendard" pitchFamily="34" charset="0"/>
                <a:ea typeface="Pretendard" pitchFamily="34" charset="-122"/>
                <a:cs typeface="Pretendard" pitchFamily="34" charset="-120"/>
              </a:rPr>
              <a:t>05</a:t>
            </a:r>
            <a:endParaRPr lang="en-US" sz="1050" dirty="0"/>
          </a:p>
        </p:txBody>
      </p:sp>
      <p:sp>
        <p:nvSpPr>
          <p:cNvPr id="5" name="Text 3"/>
          <p:cNvSpPr/>
          <p:nvPr/>
        </p:nvSpPr>
        <p:spPr>
          <a:xfrm>
            <a:off x="502920" y="749808"/>
            <a:ext cx="10424160" cy="438912"/>
          </a:xfrm>
          <a:prstGeom prst="rect">
            <a:avLst/>
          </a:prstGeom>
          <a:noFill/>
          <a:ln/>
        </p:spPr>
        <p:txBody>
          <a:bodyPr wrap="square" lIns="508" tIns="508" rIns="508" bIns="508" rtlCol="0" anchor="ctr">
            <a:normAutofit/>
          </a:bodyPr>
          <a:lstStyle/>
          <a:p>
            <a:pPr indent="0" marL="0">
              <a:buNone/>
            </a:pPr>
            <a:r>
              <a:rPr lang="en-US" sz="2220" b="1" dirty="0">
                <a:solidFill>
                  <a:srgbClr val="26354F"/>
                </a:solidFill>
                <a:latin typeface="Pretendard" pitchFamily="34" charset="0"/>
                <a:ea typeface="Pretendard" pitchFamily="34" charset="-122"/>
                <a:cs typeface="Pretendard" pitchFamily="34" charset="-120"/>
              </a:rPr>
              <a:t>모형 성능: XGBoost는 우수하지만 분할 조건별로 다르게 읽어야 함</a:t>
            </a:r>
            <a:endParaRPr lang="en-US" sz="2220" dirty="0"/>
          </a:p>
        </p:txBody>
      </p:sp>
      <p:sp>
        <p:nvSpPr>
          <p:cNvPr id="6" name="Shape 4"/>
          <p:cNvSpPr/>
          <p:nvPr/>
        </p:nvSpPr>
        <p:spPr>
          <a:xfrm>
            <a:off x="502920" y="1280160"/>
            <a:ext cx="11155680" cy="0"/>
          </a:xfrm>
          <a:prstGeom prst="line">
            <a:avLst/>
          </a:prstGeom>
          <a:noFill/>
          <a:ln w="15240">
            <a:solidFill>
              <a:srgbClr val="D4DAE3"/>
            </a:solidFill>
            <a:prstDash val="solid"/>
          </a:ln>
        </p:spPr>
      </p:sp>
      <p:sp>
        <p:nvSpPr>
          <p:cNvPr id="7" name="Text 5"/>
          <p:cNvSpPr/>
          <p:nvPr/>
        </p:nvSpPr>
        <p:spPr>
          <a:xfrm>
            <a:off x="502920" y="6528816"/>
            <a:ext cx="4389120" cy="164592"/>
          </a:xfrm>
          <a:prstGeom prst="rect">
            <a:avLst/>
          </a:prstGeom>
          <a:noFill/>
          <a:ln/>
        </p:spPr>
        <p:txBody>
          <a:bodyPr wrap="square" lIns="508" tIns="508" rIns="508" bIns="508" rtlCol="0" anchor="ctr">
            <a:normAutofit/>
          </a:bodyPr>
          <a:lstStyle/>
          <a:p>
            <a:pPr indent="0" marL="0">
              <a:buNone/>
            </a:pPr>
            <a:r>
              <a:rPr lang="en-US" sz="820" dirty="0">
                <a:solidFill>
                  <a:srgbClr val="646B78"/>
                </a:solidFill>
                <a:latin typeface="Pretendard" pitchFamily="34" charset="0"/>
                <a:ea typeface="Pretendard" pitchFamily="34" charset="-122"/>
                <a:cs typeface="Pretendard" pitchFamily="34" charset="-120"/>
              </a:rPr>
              <a:t>석사학위논문 최종심사 발표 | 박현근</a:t>
            </a:r>
            <a:endParaRPr lang="en-US" sz="820" dirty="0"/>
          </a:p>
        </p:txBody>
      </p:sp>
      <p:sp>
        <p:nvSpPr>
          <p:cNvPr id="8" name="Shape 6"/>
          <p:cNvSpPr/>
          <p:nvPr/>
        </p:nvSpPr>
        <p:spPr>
          <a:xfrm>
            <a:off x="685800" y="1572768"/>
            <a:ext cx="5166360" cy="2651760"/>
          </a:xfrm>
          <a:prstGeom prst="rect">
            <a:avLst/>
          </a:prstGeom>
          <a:solidFill>
            <a:srgbClr val="FFFFFF"/>
          </a:solidFill>
          <a:ln w="7620">
            <a:solidFill>
              <a:srgbClr val="D4DAE3"/>
            </a:solidFill>
            <a:prstDash val="solid"/>
          </a:ln>
        </p:spPr>
      </p:sp>
      <p:sp>
        <p:nvSpPr>
          <p:cNvPr id="9" name="Shape 7"/>
          <p:cNvSpPr/>
          <p:nvPr/>
        </p:nvSpPr>
        <p:spPr>
          <a:xfrm>
            <a:off x="685800" y="1572768"/>
            <a:ext cx="914400" cy="566928"/>
          </a:xfrm>
          <a:prstGeom prst="rect">
            <a:avLst/>
          </a:prstGeom>
          <a:solidFill>
            <a:srgbClr val="EAF0F5"/>
          </a:solidFill>
          <a:ln w="7620">
            <a:solidFill>
              <a:srgbClr val="D4DAE3"/>
            </a:solidFill>
            <a:prstDash val="solid"/>
          </a:ln>
        </p:spPr>
      </p:sp>
      <p:sp>
        <p:nvSpPr>
          <p:cNvPr id="10" name="Text 8"/>
          <p:cNvSpPr/>
          <p:nvPr/>
        </p:nvSpPr>
        <p:spPr>
          <a:xfrm>
            <a:off x="722376" y="1673352"/>
            <a:ext cx="841248" cy="164592"/>
          </a:xfrm>
          <a:prstGeom prst="rect">
            <a:avLst/>
          </a:prstGeom>
          <a:noFill/>
          <a:ln/>
        </p:spPr>
        <p:txBody>
          <a:bodyPr wrap="square" lIns="508" tIns="508" rIns="508" bIns="508" rtlCol="0" anchor="ctr">
            <a:normAutofit/>
          </a:bodyPr>
          <a:lstStyle/>
          <a:p>
            <a:pPr algn="ctr" indent="0" marL="0">
              <a:buNone/>
            </a:pPr>
            <a:r>
              <a:rPr lang="en-US" sz="1380" b="1" dirty="0">
                <a:solidFill>
                  <a:srgbClr val="26354F"/>
                </a:solidFill>
                <a:latin typeface="Pretendard" pitchFamily="34" charset="0"/>
                <a:ea typeface="Pretendard" pitchFamily="34" charset="-122"/>
                <a:cs typeface="Pretendard" pitchFamily="34" charset="-120"/>
              </a:rPr>
              <a:t>분할</a:t>
            </a:r>
            <a:endParaRPr lang="en-US" sz="1380" dirty="0"/>
          </a:p>
        </p:txBody>
      </p:sp>
      <p:sp>
        <p:nvSpPr>
          <p:cNvPr id="11" name="Shape 9"/>
          <p:cNvSpPr/>
          <p:nvPr/>
        </p:nvSpPr>
        <p:spPr>
          <a:xfrm>
            <a:off x="1600200" y="1572768"/>
            <a:ext cx="1005840" cy="566928"/>
          </a:xfrm>
          <a:prstGeom prst="rect">
            <a:avLst/>
          </a:prstGeom>
          <a:solidFill>
            <a:srgbClr val="EAF0F5"/>
          </a:solidFill>
          <a:ln w="7620">
            <a:solidFill>
              <a:srgbClr val="D4DAE3"/>
            </a:solidFill>
            <a:prstDash val="solid"/>
          </a:ln>
        </p:spPr>
      </p:sp>
      <p:sp>
        <p:nvSpPr>
          <p:cNvPr id="12" name="Text 10"/>
          <p:cNvSpPr/>
          <p:nvPr/>
        </p:nvSpPr>
        <p:spPr>
          <a:xfrm>
            <a:off x="1636776" y="1673352"/>
            <a:ext cx="932688" cy="164592"/>
          </a:xfrm>
          <a:prstGeom prst="rect">
            <a:avLst/>
          </a:prstGeom>
          <a:noFill/>
          <a:ln/>
        </p:spPr>
        <p:txBody>
          <a:bodyPr wrap="square" lIns="508" tIns="508" rIns="508" bIns="508" rtlCol="0" anchor="ctr">
            <a:normAutofit/>
          </a:bodyPr>
          <a:lstStyle/>
          <a:p>
            <a:pPr algn="ctr" indent="0" marL="0">
              <a:buNone/>
            </a:pPr>
            <a:r>
              <a:rPr lang="en-US" sz="1380" b="1" dirty="0">
                <a:solidFill>
                  <a:srgbClr val="26354F"/>
                </a:solidFill>
                <a:latin typeface="Pretendard" pitchFamily="34" charset="0"/>
                <a:ea typeface="Pretendard" pitchFamily="34" charset="-122"/>
                <a:cs typeface="Pretendard" pitchFamily="34" charset="-120"/>
              </a:rPr>
              <a:t>OLS R²</a:t>
            </a:r>
            <a:endParaRPr lang="en-US" sz="1380" dirty="0"/>
          </a:p>
        </p:txBody>
      </p:sp>
      <p:sp>
        <p:nvSpPr>
          <p:cNvPr id="13" name="Shape 11"/>
          <p:cNvSpPr/>
          <p:nvPr/>
        </p:nvSpPr>
        <p:spPr>
          <a:xfrm>
            <a:off x="2606040" y="1572768"/>
            <a:ext cx="1005840" cy="566928"/>
          </a:xfrm>
          <a:prstGeom prst="rect">
            <a:avLst/>
          </a:prstGeom>
          <a:solidFill>
            <a:srgbClr val="EAF0F5"/>
          </a:solidFill>
          <a:ln w="7620">
            <a:solidFill>
              <a:srgbClr val="D4DAE3"/>
            </a:solidFill>
            <a:prstDash val="solid"/>
          </a:ln>
        </p:spPr>
      </p:sp>
      <p:sp>
        <p:nvSpPr>
          <p:cNvPr id="14" name="Text 12"/>
          <p:cNvSpPr/>
          <p:nvPr/>
        </p:nvSpPr>
        <p:spPr>
          <a:xfrm>
            <a:off x="2642616" y="1673352"/>
            <a:ext cx="932688" cy="164592"/>
          </a:xfrm>
          <a:prstGeom prst="rect">
            <a:avLst/>
          </a:prstGeom>
          <a:noFill/>
          <a:ln/>
        </p:spPr>
        <p:txBody>
          <a:bodyPr wrap="square" lIns="508" tIns="508" rIns="508" bIns="508" rtlCol="0" anchor="ctr">
            <a:normAutofit/>
          </a:bodyPr>
          <a:lstStyle/>
          <a:p>
            <a:pPr algn="ctr" indent="0" marL="0">
              <a:buNone/>
            </a:pPr>
            <a:r>
              <a:rPr lang="en-US" sz="1380" b="1" dirty="0">
                <a:solidFill>
                  <a:srgbClr val="26354F"/>
                </a:solidFill>
                <a:latin typeface="Pretendard" pitchFamily="34" charset="0"/>
                <a:ea typeface="Pretendard" pitchFamily="34" charset="-122"/>
                <a:cs typeface="Pretendard" pitchFamily="34" charset="-120"/>
              </a:rPr>
              <a:t>RF R²</a:t>
            </a:r>
            <a:endParaRPr lang="en-US" sz="1380" dirty="0"/>
          </a:p>
        </p:txBody>
      </p:sp>
      <p:sp>
        <p:nvSpPr>
          <p:cNvPr id="15" name="Shape 13"/>
          <p:cNvSpPr/>
          <p:nvPr/>
        </p:nvSpPr>
        <p:spPr>
          <a:xfrm>
            <a:off x="3611880" y="1572768"/>
            <a:ext cx="1325880" cy="566928"/>
          </a:xfrm>
          <a:prstGeom prst="rect">
            <a:avLst/>
          </a:prstGeom>
          <a:solidFill>
            <a:srgbClr val="EAF0F5"/>
          </a:solidFill>
          <a:ln w="7620">
            <a:solidFill>
              <a:srgbClr val="D4DAE3"/>
            </a:solidFill>
            <a:prstDash val="solid"/>
          </a:ln>
        </p:spPr>
      </p:sp>
      <p:sp>
        <p:nvSpPr>
          <p:cNvPr id="16" name="Text 14"/>
          <p:cNvSpPr/>
          <p:nvPr/>
        </p:nvSpPr>
        <p:spPr>
          <a:xfrm>
            <a:off x="3648456" y="1673352"/>
            <a:ext cx="1252728" cy="164592"/>
          </a:xfrm>
          <a:prstGeom prst="rect">
            <a:avLst/>
          </a:prstGeom>
          <a:noFill/>
          <a:ln/>
        </p:spPr>
        <p:txBody>
          <a:bodyPr wrap="square" lIns="508" tIns="508" rIns="508" bIns="508" rtlCol="0" anchor="ctr">
            <a:normAutofit/>
          </a:bodyPr>
          <a:lstStyle/>
          <a:p>
            <a:pPr algn="ctr" indent="0" marL="0">
              <a:buNone/>
            </a:pPr>
            <a:r>
              <a:rPr lang="en-US" sz="1380" b="1" dirty="0">
                <a:solidFill>
                  <a:srgbClr val="26354F"/>
                </a:solidFill>
                <a:latin typeface="Pretendard" pitchFamily="34" charset="0"/>
                <a:ea typeface="Pretendard" pitchFamily="34" charset="-122"/>
                <a:cs typeface="Pretendard" pitchFamily="34" charset="-120"/>
              </a:rPr>
              <a:t>XGB R²</a:t>
            </a:r>
            <a:endParaRPr lang="en-US" sz="1380" dirty="0"/>
          </a:p>
        </p:txBody>
      </p:sp>
      <p:sp>
        <p:nvSpPr>
          <p:cNvPr id="17" name="Shape 15"/>
          <p:cNvSpPr/>
          <p:nvPr/>
        </p:nvSpPr>
        <p:spPr>
          <a:xfrm>
            <a:off x="4937760" y="1572768"/>
            <a:ext cx="914400" cy="566928"/>
          </a:xfrm>
          <a:prstGeom prst="rect">
            <a:avLst/>
          </a:prstGeom>
          <a:solidFill>
            <a:srgbClr val="EAF0F5"/>
          </a:solidFill>
          <a:ln w="7620">
            <a:solidFill>
              <a:srgbClr val="D4DAE3"/>
            </a:solidFill>
            <a:prstDash val="solid"/>
          </a:ln>
        </p:spPr>
      </p:sp>
      <p:sp>
        <p:nvSpPr>
          <p:cNvPr id="18" name="Text 16"/>
          <p:cNvSpPr/>
          <p:nvPr/>
        </p:nvSpPr>
        <p:spPr>
          <a:xfrm>
            <a:off x="4974336" y="1673352"/>
            <a:ext cx="841248" cy="164592"/>
          </a:xfrm>
          <a:prstGeom prst="rect">
            <a:avLst/>
          </a:prstGeom>
          <a:noFill/>
          <a:ln/>
        </p:spPr>
        <p:txBody>
          <a:bodyPr wrap="square" lIns="508" tIns="508" rIns="508" bIns="508" rtlCol="0" anchor="ctr">
            <a:normAutofit/>
          </a:bodyPr>
          <a:lstStyle/>
          <a:p>
            <a:pPr algn="ctr" indent="0" marL="0">
              <a:buNone/>
            </a:pPr>
            <a:r>
              <a:rPr lang="en-US" sz="1380" b="1" dirty="0">
                <a:solidFill>
                  <a:srgbClr val="26354F"/>
                </a:solidFill>
                <a:latin typeface="Pretendard" pitchFamily="34" charset="0"/>
                <a:ea typeface="Pretendard" pitchFamily="34" charset="-122"/>
                <a:cs typeface="Pretendard" pitchFamily="34" charset="-120"/>
              </a:rPr>
              <a:t>MAPE</a:t>
            </a:r>
            <a:endParaRPr lang="en-US" sz="1380" dirty="0"/>
          </a:p>
        </p:txBody>
      </p:sp>
      <p:sp>
        <p:nvSpPr>
          <p:cNvPr id="19" name="Shape 17"/>
          <p:cNvSpPr/>
          <p:nvPr/>
        </p:nvSpPr>
        <p:spPr>
          <a:xfrm>
            <a:off x="685800" y="2139696"/>
            <a:ext cx="914400" cy="694944"/>
          </a:xfrm>
          <a:prstGeom prst="rect">
            <a:avLst/>
          </a:prstGeom>
          <a:solidFill>
            <a:srgbClr val="FFFFFF"/>
          </a:solidFill>
          <a:ln w="7620">
            <a:solidFill>
              <a:srgbClr val="D4DAE3"/>
            </a:solidFill>
            <a:prstDash val="solid"/>
          </a:ln>
        </p:spPr>
      </p:sp>
      <p:sp>
        <p:nvSpPr>
          <p:cNvPr id="20" name="Text 18"/>
          <p:cNvSpPr/>
          <p:nvPr/>
        </p:nvSpPr>
        <p:spPr>
          <a:xfrm>
            <a:off x="731520" y="2194560"/>
            <a:ext cx="822960" cy="585216"/>
          </a:xfrm>
          <a:prstGeom prst="rect">
            <a:avLst/>
          </a:prstGeom>
          <a:noFill/>
          <a:ln/>
        </p:spPr>
        <p:txBody>
          <a:bodyPr wrap="square" lIns="508" tIns="508" rIns="508" bIns="508" rtlCol="0" anchor="ctr">
            <a:normAutofit/>
          </a:bodyPr>
          <a:lstStyle/>
          <a:p>
            <a:pPr algn="ctr" indent="0" marL="0">
              <a:buNone/>
            </a:pPr>
            <a:r>
              <a:rPr lang="en-US" sz="1440" dirty="0">
                <a:solidFill>
                  <a:srgbClr val="26354F"/>
                </a:solidFill>
                <a:latin typeface="Pretendard" pitchFamily="34" charset="0"/>
                <a:ea typeface="Pretendard" pitchFamily="34" charset="-122"/>
                <a:cs typeface="Pretendard" pitchFamily="34" charset="-120"/>
              </a:rPr>
              <a:t>무작위</a:t>
            </a:r>
            <a:endParaRPr lang="en-US" sz="1440" dirty="0"/>
          </a:p>
        </p:txBody>
      </p:sp>
      <p:sp>
        <p:nvSpPr>
          <p:cNvPr id="21" name="Shape 19"/>
          <p:cNvSpPr/>
          <p:nvPr/>
        </p:nvSpPr>
        <p:spPr>
          <a:xfrm>
            <a:off x="1600200" y="2139696"/>
            <a:ext cx="1005840" cy="694944"/>
          </a:xfrm>
          <a:prstGeom prst="rect">
            <a:avLst/>
          </a:prstGeom>
          <a:solidFill>
            <a:srgbClr val="FFFFFF"/>
          </a:solidFill>
          <a:ln w="7620">
            <a:solidFill>
              <a:srgbClr val="D4DAE3"/>
            </a:solidFill>
            <a:prstDash val="solid"/>
          </a:ln>
        </p:spPr>
      </p:sp>
      <p:sp>
        <p:nvSpPr>
          <p:cNvPr id="22" name="Text 20"/>
          <p:cNvSpPr/>
          <p:nvPr/>
        </p:nvSpPr>
        <p:spPr>
          <a:xfrm>
            <a:off x="1645920" y="2194560"/>
            <a:ext cx="914400" cy="585216"/>
          </a:xfrm>
          <a:prstGeom prst="rect">
            <a:avLst/>
          </a:prstGeom>
          <a:noFill/>
          <a:ln/>
        </p:spPr>
        <p:txBody>
          <a:bodyPr wrap="square" lIns="508" tIns="508" rIns="508" bIns="508" rtlCol="0" anchor="ctr">
            <a:normAutofit/>
          </a:bodyPr>
          <a:lstStyle/>
          <a:p>
            <a:pPr algn="ctr" indent="0" marL="0">
              <a:buNone/>
            </a:pPr>
            <a:r>
              <a:rPr lang="en-US" sz="1440" dirty="0">
                <a:solidFill>
                  <a:srgbClr val="2F3542"/>
                </a:solidFill>
                <a:latin typeface="Pretendard" pitchFamily="34" charset="0"/>
                <a:ea typeface="Pretendard" pitchFamily="34" charset="-122"/>
                <a:cs typeface="Pretendard" pitchFamily="34" charset="-120"/>
              </a:rPr>
              <a:t>0.494</a:t>
            </a:r>
            <a:endParaRPr lang="en-US" sz="1440" dirty="0"/>
          </a:p>
        </p:txBody>
      </p:sp>
      <p:sp>
        <p:nvSpPr>
          <p:cNvPr id="23" name="Shape 21"/>
          <p:cNvSpPr/>
          <p:nvPr/>
        </p:nvSpPr>
        <p:spPr>
          <a:xfrm>
            <a:off x="2606040" y="2139696"/>
            <a:ext cx="1005840" cy="694944"/>
          </a:xfrm>
          <a:prstGeom prst="rect">
            <a:avLst/>
          </a:prstGeom>
          <a:solidFill>
            <a:srgbClr val="FFFFFF"/>
          </a:solidFill>
          <a:ln w="7620">
            <a:solidFill>
              <a:srgbClr val="D4DAE3"/>
            </a:solidFill>
            <a:prstDash val="solid"/>
          </a:ln>
        </p:spPr>
      </p:sp>
      <p:sp>
        <p:nvSpPr>
          <p:cNvPr id="24" name="Text 22"/>
          <p:cNvSpPr/>
          <p:nvPr/>
        </p:nvSpPr>
        <p:spPr>
          <a:xfrm>
            <a:off x="2651760" y="2194560"/>
            <a:ext cx="914400" cy="585216"/>
          </a:xfrm>
          <a:prstGeom prst="rect">
            <a:avLst/>
          </a:prstGeom>
          <a:noFill/>
          <a:ln/>
        </p:spPr>
        <p:txBody>
          <a:bodyPr wrap="square" lIns="508" tIns="508" rIns="508" bIns="508" rtlCol="0" anchor="ctr">
            <a:normAutofit/>
          </a:bodyPr>
          <a:lstStyle/>
          <a:p>
            <a:pPr algn="ctr" indent="0" marL="0">
              <a:buNone/>
            </a:pPr>
            <a:r>
              <a:rPr lang="en-US" sz="1440" dirty="0">
                <a:solidFill>
                  <a:srgbClr val="2F3542"/>
                </a:solidFill>
                <a:latin typeface="Pretendard" pitchFamily="34" charset="0"/>
                <a:ea typeface="Pretendard" pitchFamily="34" charset="-122"/>
                <a:cs typeface="Pretendard" pitchFamily="34" charset="-120"/>
              </a:rPr>
              <a:t>0.860</a:t>
            </a:r>
            <a:endParaRPr lang="en-US" sz="1440" dirty="0"/>
          </a:p>
        </p:txBody>
      </p:sp>
      <p:sp>
        <p:nvSpPr>
          <p:cNvPr id="25" name="Shape 23"/>
          <p:cNvSpPr/>
          <p:nvPr/>
        </p:nvSpPr>
        <p:spPr>
          <a:xfrm>
            <a:off x="3611880" y="2139696"/>
            <a:ext cx="1325880" cy="694944"/>
          </a:xfrm>
          <a:prstGeom prst="rect">
            <a:avLst/>
          </a:prstGeom>
          <a:solidFill>
            <a:srgbClr val="FFFFFF"/>
          </a:solidFill>
          <a:ln w="7620">
            <a:solidFill>
              <a:srgbClr val="D4DAE3"/>
            </a:solidFill>
            <a:prstDash val="solid"/>
          </a:ln>
        </p:spPr>
      </p:sp>
      <p:sp>
        <p:nvSpPr>
          <p:cNvPr id="26" name="Text 24"/>
          <p:cNvSpPr/>
          <p:nvPr/>
        </p:nvSpPr>
        <p:spPr>
          <a:xfrm>
            <a:off x="3657600" y="2194560"/>
            <a:ext cx="1234440" cy="585216"/>
          </a:xfrm>
          <a:prstGeom prst="rect">
            <a:avLst/>
          </a:prstGeom>
          <a:noFill/>
          <a:ln/>
        </p:spPr>
        <p:txBody>
          <a:bodyPr wrap="square" lIns="508" tIns="508" rIns="508" bIns="508" rtlCol="0" anchor="ctr">
            <a:normAutofit/>
          </a:bodyPr>
          <a:lstStyle/>
          <a:p>
            <a:pPr algn="ctr" indent="0" marL="0">
              <a:buNone/>
            </a:pPr>
            <a:r>
              <a:rPr lang="en-US" sz="1440" dirty="0">
                <a:solidFill>
                  <a:srgbClr val="2F3542"/>
                </a:solidFill>
                <a:latin typeface="Pretendard" pitchFamily="34" charset="0"/>
                <a:ea typeface="Pretendard" pitchFamily="34" charset="-122"/>
                <a:cs typeface="Pretendard" pitchFamily="34" charset="-120"/>
              </a:rPr>
              <a:t>0.927</a:t>
            </a:r>
            <a:endParaRPr lang="en-US" sz="1440" dirty="0"/>
          </a:p>
        </p:txBody>
      </p:sp>
      <p:sp>
        <p:nvSpPr>
          <p:cNvPr id="27" name="Shape 25"/>
          <p:cNvSpPr/>
          <p:nvPr/>
        </p:nvSpPr>
        <p:spPr>
          <a:xfrm>
            <a:off x="4937760" y="2139696"/>
            <a:ext cx="914400" cy="694944"/>
          </a:xfrm>
          <a:prstGeom prst="rect">
            <a:avLst/>
          </a:prstGeom>
          <a:solidFill>
            <a:srgbClr val="FFFFFF"/>
          </a:solidFill>
          <a:ln w="7620">
            <a:solidFill>
              <a:srgbClr val="D4DAE3"/>
            </a:solidFill>
            <a:prstDash val="solid"/>
          </a:ln>
        </p:spPr>
      </p:sp>
      <p:sp>
        <p:nvSpPr>
          <p:cNvPr id="28" name="Text 26"/>
          <p:cNvSpPr/>
          <p:nvPr/>
        </p:nvSpPr>
        <p:spPr>
          <a:xfrm>
            <a:off x="4983480" y="2194560"/>
            <a:ext cx="822960" cy="585216"/>
          </a:xfrm>
          <a:prstGeom prst="rect">
            <a:avLst/>
          </a:prstGeom>
          <a:noFill/>
          <a:ln/>
        </p:spPr>
        <p:txBody>
          <a:bodyPr wrap="square" lIns="508" tIns="508" rIns="508" bIns="508" rtlCol="0" anchor="ctr">
            <a:normAutofit/>
          </a:bodyPr>
          <a:lstStyle/>
          <a:p>
            <a:pPr algn="ctr" indent="0" marL="0">
              <a:buNone/>
            </a:pPr>
            <a:r>
              <a:rPr lang="en-US" sz="1440" dirty="0">
                <a:solidFill>
                  <a:srgbClr val="2F3542"/>
                </a:solidFill>
                <a:latin typeface="Pretendard" pitchFamily="34" charset="0"/>
                <a:ea typeface="Pretendard" pitchFamily="34" charset="-122"/>
                <a:cs typeface="Pretendard" pitchFamily="34" charset="-120"/>
              </a:rPr>
              <a:t>10.0%</a:t>
            </a:r>
            <a:endParaRPr lang="en-US" sz="1440" dirty="0"/>
          </a:p>
        </p:txBody>
      </p:sp>
      <p:sp>
        <p:nvSpPr>
          <p:cNvPr id="29" name="Shape 27"/>
          <p:cNvSpPr/>
          <p:nvPr/>
        </p:nvSpPr>
        <p:spPr>
          <a:xfrm>
            <a:off x="685800" y="2834640"/>
            <a:ext cx="914400" cy="694944"/>
          </a:xfrm>
          <a:prstGeom prst="rect">
            <a:avLst/>
          </a:prstGeom>
          <a:solidFill>
            <a:srgbClr val="F4F6F9"/>
          </a:solidFill>
          <a:ln w="7620">
            <a:solidFill>
              <a:srgbClr val="D4DAE3"/>
            </a:solidFill>
            <a:prstDash val="solid"/>
          </a:ln>
        </p:spPr>
      </p:sp>
      <p:sp>
        <p:nvSpPr>
          <p:cNvPr id="30" name="Text 28"/>
          <p:cNvSpPr/>
          <p:nvPr/>
        </p:nvSpPr>
        <p:spPr>
          <a:xfrm>
            <a:off x="731520" y="2889504"/>
            <a:ext cx="822960" cy="585216"/>
          </a:xfrm>
          <a:prstGeom prst="rect">
            <a:avLst/>
          </a:prstGeom>
          <a:noFill/>
          <a:ln/>
        </p:spPr>
        <p:txBody>
          <a:bodyPr wrap="square" lIns="508" tIns="508" rIns="508" bIns="508" rtlCol="0" anchor="ctr">
            <a:normAutofit/>
          </a:bodyPr>
          <a:lstStyle/>
          <a:p>
            <a:pPr algn="ctr" indent="0" marL="0">
              <a:buNone/>
            </a:pPr>
            <a:r>
              <a:rPr lang="en-US" sz="1440" dirty="0">
                <a:solidFill>
                  <a:srgbClr val="26354F"/>
                </a:solidFill>
                <a:latin typeface="Pretendard" pitchFamily="34" charset="0"/>
                <a:ea typeface="Pretendard" pitchFamily="34" charset="-122"/>
                <a:cs typeface="Pretendard" pitchFamily="34" charset="-120"/>
              </a:rPr>
              <a:t>시간순</a:t>
            </a:r>
            <a:endParaRPr lang="en-US" sz="1440" dirty="0"/>
          </a:p>
        </p:txBody>
      </p:sp>
      <p:sp>
        <p:nvSpPr>
          <p:cNvPr id="31" name="Shape 29"/>
          <p:cNvSpPr/>
          <p:nvPr/>
        </p:nvSpPr>
        <p:spPr>
          <a:xfrm>
            <a:off x="1600200" y="2834640"/>
            <a:ext cx="1005840" cy="694944"/>
          </a:xfrm>
          <a:prstGeom prst="rect">
            <a:avLst/>
          </a:prstGeom>
          <a:solidFill>
            <a:srgbClr val="F4F6F9"/>
          </a:solidFill>
          <a:ln w="7620">
            <a:solidFill>
              <a:srgbClr val="D4DAE3"/>
            </a:solidFill>
            <a:prstDash val="solid"/>
          </a:ln>
        </p:spPr>
      </p:sp>
      <p:sp>
        <p:nvSpPr>
          <p:cNvPr id="32" name="Text 30"/>
          <p:cNvSpPr/>
          <p:nvPr/>
        </p:nvSpPr>
        <p:spPr>
          <a:xfrm>
            <a:off x="1645920" y="2889504"/>
            <a:ext cx="914400" cy="585216"/>
          </a:xfrm>
          <a:prstGeom prst="rect">
            <a:avLst/>
          </a:prstGeom>
          <a:noFill/>
          <a:ln/>
        </p:spPr>
        <p:txBody>
          <a:bodyPr wrap="square" lIns="508" tIns="508" rIns="508" bIns="508" rtlCol="0" anchor="ctr">
            <a:normAutofit/>
          </a:bodyPr>
          <a:lstStyle/>
          <a:p>
            <a:pPr algn="ctr" indent="0" marL="0">
              <a:buNone/>
            </a:pPr>
            <a:r>
              <a:rPr lang="en-US" sz="1440" dirty="0">
                <a:solidFill>
                  <a:srgbClr val="2F3542"/>
                </a:solidFill>
                <a:latin typeface="Pretendard" pitchFamily="34" charset="0"/>
                <a:ea typeface="Pretendard" pitchFamily="34" charset="-122"/>
                <a:cs typeface="Pretendard" pitchFamily="34" charset="-120"/>
              </a:rPr>
              <a:t>0.406</a:t>
            </a:r>
            <a:endParaRPr lang="en-US" sz="1440" dirty="0"/>
          </a:p>
        </p:txBody>
      </p:sp>
      <p:sp>
        <p:nvSpPr>
          <p:cNvPr id="33" name="Shape 31"/>
          <p:cNvSpPr/>
          <p:nvPr/>
        </p:nvSpPr>
        <p:spPr>
          <a:xfrm>
            <a:off x="2606040" y="2834640"/>
            <a:ext cx="1005840" cy="694944"/>
          </a:xfrm>
          <a:prstGeom prst="rect">
            <a:avLst/>
          </a:prstGeom>
          <a:solidFill>
            <a:srgbClr val="F4F6F9"/>
          </a:solidFill>
          <a:ln w="7620">
            <a:solidFill>
              <a:srgbClr val="D4DAE3"/>
            </a:solidFill>
            <a:prstDash val="solid"/>
          </a:ln>
        </p:spPr>
      </p:sp>
      <p:sp>
        <p:nvSpPr>
          <p:cNvPr id="34" name="Text 32"/>
          <p:cNvSpPr/>
          <p:nvPr/>
        </p:nvSpPr>
        <p:spPr>
          <a:xfrm>
            <a:off x="2651760" y="2889504"/>
            <a:ext cx="914400" cy="585216"/>
          </a:xfrm>
          <a:prstGeom prst="rect">
            <a:avLst/>
          </a:prstGeom>
          <a:noFill/>
          <a:ln/>
        </p:spPr>
        <p:txBody>
          <a:bodyPr wrap="square" lIns="508" tIns="508" rIns="508" bIns="508" rtlCol="0" anchor="ctr">
            <a:normAutofit/>
          </a:bodyPr>
          <a:lstStyle/>
          <a:p>
            <a:pPr algn="ctr" indent="0" marL="0">
              <a:buNone/>
            </a:pPr>
            <a:r>
              <a:rPr lang="en-US" sz="1440" dirty="0">
                <a:solidFill>
                  <a:srgbClr val="2F3542"/>
                </a:solidFill>
                <a:latin typeface="Pretendard" pitchFamily="34" charset="0"/>
                <a:ea typeface="Pretendard" pitchFamily="34" charset="-122"/>
                <a:cs typeface="Pretendard" pitchFamily="34" charset="-120"/>
              </a:rPr>
              <a:t>0.675</a:t>
            </a:r>
            <a:endParaRPr lang="en-US" sz="1440" dirty="0"/>
          </a:p>
        </p:txBody>
      </p:sp>
      <p:sp>
        <p:nvSpPr>
          <p:cNvPr id="35" name="Shape 33"/>
          <p:cNvSpPr/>
          <p:nvPr/>
        </p:nvSpPr>
        <p:spPr>
          <a:xfrm>
            <a:off x="3611880" y="2834640"/>
            <a:ext cx="1325880" cy="694944"/>
          </a:xfrm>
          <a:prstGeom prst="rect">
            <a:avLst/>
          </a:prstGeom>
          <a:solidFill>
            <a:srgbClr val="F4F6F9"/>
          </a:solidFill>
          <a:ln w="7620">
            <a:solidFill>
              <a:srgbClr val="D4DAE3"/>
            </a:solidFill>
            <a:prstDash val="solid"/>
          </a:ln>
        </p:spPr>
      </p:sp>
      <p:sp>
        <p:nvSpPr>
          <p:cNvPr id="36" name="Text 34"/>
          <p:cNvSpPr/>
          <p:nvPr/>
        </p:nvSpPr>
        <p:spPr>
          <a:xfrm>
            <a:off x="3657600" y="2889504"/>
            <a:ext cx="1234440" cy="585216"/>
          </a:xfrm>
          <a:prstGeom prst="rect">
            <a:avLst/>
          </a:prstGeom>
          <a:noFill/>
          <a:ln/>
        </p:spPr>
        <p:txBody>
          <a:bodyPr wrap="square" lIns="508" tIns="508" rIns="508" bIns="508" rtlCol="0" anchor="ctr">
            <a:normAutofit/>
          </a:bodyPr>
          <a:lstStyle/>
          <a:p>
            <a:pPr algn="ctr" indent="0" marL="0">
              <a:buNone/>
            </a:pPr>
            <a:r>
              <a:rPr lang="en-US" sz="1440" dirty="0">
                <a:solidFill>
                  <a:srgbClr val="2F3542"/>
                </a:solidFill>
                <a:latin typeface="Pretendard" pitchFamily="34" charset="0"/>
                <a:ea typeface="Pretendard" pitchFamily="34" charset="-122"/>
                <a:cs typeface="Pretendard" pitchFamily="34" charset="-120"/>
              </a:rPr>
              <a:t>0.812</a:t>
            </a:r>
            <a:endParaRPr lang="en-US" sz="1440" dirty="0"/>
          </a:p>
        </p:txBody>
      </p:sp>
      <p:sp>
        <p:nvSpPr>
          <p:cNvPr id="37" name="Shape 35"/>
          <p:cNvSpPr/>
          <p:nvPr/>
        </p:nvSpPr>
        <p:spPr>
          <a:xfrm>
            <a:off x="4937760" y="2834640"/>
            <a:ext cx="914400" cy="694944"/>
          </a:xfrm>
          <a:prstGeom prst="rect">
            <a:avLst/>
          </a:prstGeom>
          <a:solidFill>
            <a:srgbClr val="F4F6F9"/>
          </a:solidFill>
          <a:ln w="7620">
            <a:solidFill>
              <a:srgbClr val="D4DAE3"/>
            </a:solidFill>
            <a:prstDash val="solid"/>
          </a:ln>
        </p:spPr>
      </p:sp>
      <p:sp>
        <p:nvSpPr>
          <p:cNvPr id="38" name="Text 36"/>
          <p:cNvSpPr/>
          <p:nvPr/>
        </p:nvSpPr>
        <p:spPr>
          <a:xfrm>
            <a:off x="4983480" y="2889504"/>
            <a:ext cx="822960" cy="585216"/>
          </a:xfrm>
          <a:prstGeom prst="rect">
            <a:avLst/>
          </a:prstGeom>
          <a:noFill/>
          <a:ln/>
        </p:spPr>
        <p:txBody>
          <a:bodyPr wrap="square" lIns="508" tIns="508" rIns="508" bIns="508" rtlCol="0" anchor="ctr">
            <a:normAutofit/>
          </a:bodyPr>
          <a:lstStyle/>
          <a:p>
            <a:pPr algn="ctr" indent="0" marL="0">
              <a:buNone/>
            </a:pPr>
            <a:r>
              <a:rPr lang="en-US" sz="1440" dirty="0">
                <a:solidFill>
                  <a:srgbClr val="2F3542"/>
                </a:solidFill>
                <a:latin typeface="Pretendard" pitchFamily="34" charset="0"/>
                <a:ea typeface="Pretendard" pitchFamily="34" charset="-122"/>
                <a:cs typeface="Pretendard" pitchFamily="34" charset="-120"/>
              </a:rPr>
              <a:t>14.6%</a:t>
            </a:r>
            <a:endParaRPr lang="en-US" sz="1440" dirty="0"/>
          </a:p>
        </p:txBody>
      </p:sp>
      <p:sp>
        <p:nvSpPr>
          <p:cNvPr id="39" name="Shape 37"/>
          <p:cNvSpPr/>
          <p:nvPr/>
        </p:nvSpPr>
        <p:spPr>
          <a:xfrm>
            <a:off x="685800" y="3529584"/>
            <a:ext cx="914400" cy="694944"/>
          </a:xfrm>
          <a:prstGeom prst="rect">
            <a:avLst/>
          </a:prstGeom>
          <a:solidFill>
            <a:srgbClr val="FFFFFF"/>
          </a:solidFill>
          <a:ln w="7620">
            <a:solidFill>
              <a:srgbClr val="D4DAE3"/>
            </a:solidFill>
            <a:prstDash val="solid"/>
          </a:ln>
        </p:spPr>
      </p:sp>
      <p:sp>
        <p:nvSpPr>
          <p:cNvPr id="40" name="Text 38"/>
          <p:cNvSpPr/>
          <p:nvPr/>
        </p:nvSpPr>
        <p:spPr>
          <a:xfrm>
            <a:off x="731520" y="3584448"/>
            <a:ext cx="822960" cy="585216"/>
          </a:xfrm>
          <a:prstGeom prst="rect">
            <a:avLst/>
          </a:prstGeom>
          <a:noFill/>
          <a:ln/>
        </p:spPr>
        <p:txBody>
          <a:bodyPr wrap="square" lIns="508" tIns="508" rIns="508" bIns="508" rtlCol="0" anchor="ctr">
            <a:normAutofit/>
          </a:bodyPr>
          <a:lstStyle/>
          <a:p>
            <a:pPr algn="ctr" indent="0" marL="0">
              <a:buNone/>
            </a:pPr>
            <a:r>
              <a:rPr lang="en-US" sz="1440" dirty="0">
                <a:solidFill>
                  <a:srgbClr val="26354F"/>
                </a:solidFill>
                <a:latin typeface="Pretendard" pitchFamily="34" charset="0"/>
                <a:ea typeface="Pretendard" pitchFamily="34" charset="-122"/>
                <a:cs typeface="Pretendard" pitchFamily="34" charset="-120"/>
              </a:rPr>
              <a:t>단지</a:t>
            </a:r>
            <a:endParaRPr lang="en-US" sz="1440" dirty="0"/>
          </a:p>
        </p:txBody>
      </p:sp>
      <p:sp>
        <p:nvSpPr>
          <p:cNvPr id="41" name="Shape 39"/>
          <p:cNvSpPr/>
          <p:nvPr/>
        </p:nvSpPr>
        <p:spPr>
          <a:xfrm>
            <a:off x="1600200" y="3529584"/>
            <a:ext cx="1005840" cy="694944"/>
          </a:xfrm>
          <a:prstGeom prst="rect">
            <a:avLst/>
          </a:prstGeom>
          <a:solidFill>
            <a:srgbClr val="FFFFFF"/>
          </a:solidFill>
          <a:ln w="7620">
            <a:solidFill>
              <a:srgbClr val="D4DAE3"/>
            </a:solidFill>
            <a:prstDash val="solid"/>
          </a:ln>
        </p:spPr>
      </p:sp>
      <p:sp>
        <p:nvSpPr>
          <p:cNvPr id="42" name="Text 40"/>
          <p:cNvSpPr/>
          <p:nvPr/>
        </p:nvSpPr>
        <p:spPr>
          <a:xfrm>
            <a:off x="1645920" y="3584448"/>
            <a:ext cx="914400" cy="585216"/>
          </a:xfrm>
          <a:prstGeom prst="rect">
            <a:avLst/>
          </a:prstGeom>
          <a:noFill/>
          <a:ln/>
        </p:spPr>
        <p:txBody>
          <a:bodyPr wrap="square" lIns="508" tIns="508" rIns="508" bIns="508" rtlCol="0" anchor="ctr">
            <a:normAutofit/>
          </a:bodyPr>
          <a:lstStyle/>
          <a:p>
            <a:pPr algn="ctr" indent="0" marL="0">
              <a:buNone/>
            </a:pPr>
            <a:r>
              <a:rPr lang="en-US" sz="1440" dirty="0">
                <a:solidFill>
                  <a:srgbClr val="2F3542"/>
                </a:solidFill>
                <a:latin typeface="Pretendard" pitchFamily="34" charset="0"/>
                <a:ea typeface="Pretendard" pitchFamily="34" charset="-122"/>
                <a:cs typeface="Pretendard" pitchFamily="34" charset="-120"/>
              </a:rPr>
              <a:t>0.434</a:t>
            </a:r>
            <a:endParaRPr lang="en-US" sz="1440" dirty="0"/>
          </a:p>
        </p:txBody>
      </p:sp>
      <p:sp>
        <p:nvSpPr>
          <p:cNvPr id="43" name="Shape 41"/>
          <p:cNvSpPr/>
          <p:nvPr/>
        </p:nvSpPr>
        <p:spPr>
          <a:xfrm>
            <a:off x="2606040" y="3529584"/>
            <a:ext cx="1005840" cy="694944"/>
          </a:xfrm>
          <a:prstGeom prst="rect">
            <a:avLst/>
          </a:prstGeom>
          <a:solidFill>
            <a:srgbClr val="FFFFFF"/>
          </a:solidFill>
          <a:ln w="7620">
            <a:solidFill>
              <a:srgbClr val="D4DAE3"/>
            </a:solidFill>
            <a:prstDash val="solid"/>
          </a:ln>
        </p:spPr>
      </p:sp>
      <p:sp>
        <p:nvSpPr>
          <p:cNvPr id="44" name="Text 42"/>
          <p:cNvSpPr/>
          <p:nvPr/>
        </p:nvSpPr>
        <p:spPr>
          <a:xfrm>
            <a:off x="2651760" y="3584448"/>
            <a:ext cx="914400" cy="585216"/>
          </a:xfrm>
          <a:prstGeom prst="rect">
            <a:avLst/>
          </a:prstGeom>
          <a:noFill/>
          <a:ln/>
        </p:spPr>
        <p:txBody>
          <a:bodyPr wrap="square" lIns="508" tIns="508" rIns="508" bIns="508" rtlCol="0" anchor="ctr">
            <a:normAutofit/>
          </a:bodyPr>
          <a:lstStyle/>
          <a:p>
            <a:pPr algn="ctr" indent="0" marL="0">
              <a:buNone/>
            </a:pPr>
            <a:r>
              <a:rPr lang="en-US" sz="1440" dirty="0">
                <a:solidFill>
                  <a:srgbClr val="2F3542"/>
                </a:solidFill>
                <a:latin typeface="Pretendard" pitchFamily="34" charset="0"/>
                <a:ea typeface="Pretendard" pitchFamily="34" charset="-122"/>
                <a:cs typeface="Pretendard" pitchFamily="34" charset="-120"/>
              </a:rPr>
              <a:t>0.538</a:t>
            </a:r>
            <a:endParaRPr lang="en-US" sz="1440" dirty="0"/>
          </a:p>
        </p:txBody>
      </p:sp>
      <p:sp>
        <p:nvSpPr>
          <p:cNvPr id="45" name="Shape 43"/>
          <p:cNvSpPr/>
          <p:nvPr/>
        </p:nvSpPr>
        <p:spPr>
          <a:xfrm>
            <a:off x="3611880" y="3529584"/>
            <a:ext cx="1325880" cy="694944"/>
          </a:xfrm>
          <a:prstGeom prst="rect">
            <a:avLst/>
          </a:prstGeom>
          <a:solidFill>
            <a:srgbClr val="FFFFFF"/>
          </a:solidFill>
          <a:ln w="7620">
            <a:solidFill>
              <a:srgbClr val="D4DAE3"/>
            </a:solidFill>
            <a:prstDash val="solid"/>
          </a:ln>
        </p:spPr>
      </p:sp>
      <p:sp>
        <p:nvSpPr>
          <p:cNvPr id="46" name="Text 44"/>
          <p:cNvSpPr/>
          <p:nvPr/>
        </p:nvSpPr>
        <p:spPr>
          <a:xfrm>
            <a:off x="3657600" y="3584448"/>
            <a:ext cx="1234440" cy="585216"/>
          </a:xfrm>
          <a:prstGeom prst="rect">
            <a:avLst/>
          </a:prstGeom>
          <a:noFill/>
          <a:ln/>
        </p:spPr>
        <p:txBody>
          <a:bodyPr wrap="square" lIns="508" tIns="508" rIns="508" bIns="508" rtlCol="0" anchor="ctr">
            <a:normAutofit/>
          </a:bodyPr>
          <a:lstStyle/>
          <a:p>
            <a:pPr algn="ctr" indent="0" marL="0">
              <a:buNone/>
            </a:pPr>
            <a:r>
              <a:rPr lang="en-US" sz="1440" dirty="0">
                <a:solidFill>
                  <a:srgbClr val="2F3542"/>
                </a:solidFill>
                <a:latin typeface="Pretendard" pitchFamily="34" charset="0"/>
                <a:ea typeface="Pretendard" pitchFamily="34" charset="-122"/>
                <a:cs typeface="Pretendard" pitchFamily="34" charset="-120"/>
              </a:rPr>
              <a:t>0.638</a:t>
            </a:r>
            <a:endParaRPr lang="en-US" sz="1440" dirty="0"/>
          </a:p>
        </p:txBody>
      </p:sp>
      <p:sp>
        <p:nvSpPr>
          <p:cNvPr id="47" name="Shape 45"/>
          <p:cNvSpPr/>
          <p:nvPr/>
        </p:nvSpPr>
        <p:spPr>
          <a:xfrm>
            <a:off x="4937760" y="3529584"/>
            <a:ext cx="914400" cy="694944"/>
          </a:xfrm>
          <a:prstGeom prst="rect">
            <a:avLst/>
          </a:prstGeom>
          <a:solidFill>
            <a:srgbClr val="FFFFFF"/>
          </a:solidFill>
          <a:ln w="7620">
            <a:solidFill>
              <a:srgbClr val="D4DAE3"/>
            </a:solidFill>
            <a:prstDash val="solid"/>
          </a:ln>
        </p:spPr>
      </p:sp>
      <p:sp>
        <p:nvSpPr>
          <p:cNvPr id="48" name="Text 46"/>
          <p:cNvSpPr/>
          <p:nvPr/>
        </p:nvSpPr>
        <p:spPr>
          <a:xfrm>
            <a:off x="4983480" y="3584448"/>
            <a:ext cx="822960" cy="585216"/>
          </a:xfrm>
          <a:prstGeom prst="rect">
            <a:avLst/>
          </a:prstGeom>
          <a:noFill/>
          <a:ln/>
        </p:spPr>
        <p:txBody>
          <a:bodyPr wrap="square" lIns="508" tIns="508" rIns="508" bIns="508" rtlCol="0" anchor="ctr">
            <a:normAutofit/>
          </a:bodyPr>
          <a:lstStyle/>
          <a:p>
            <a:pPr algn="ctr" indent="0" marL="0">
              <a:buNone/>
            </a:pPr>
            <a:r>
              <a:rPr lang="en-US" sz="1440" dirty="0">
                <a:solidFill>
                  <a:srgbClr val="2F3542"/>
                </a:solidFill>
                <a:latin typeface="Pretendard" pitchFamily="34" charset="0"/>
                <a:ea typeface="Pretendard" pitchFamily="34" charset="-122"/>
                <a:cs typeface="Pretendard" pitchFamily="34" charset="-120"/>
              </a:rPr>
              <a:t>20.4%</a:t>
            </a:r>
            <a:endParaRPr lang="en-US" sz="1440" dirty="0"/>
          </a:p>
        </p:txBody>
      </p:sp>
      <p:sp>
        <p:nvSpPr>
          <p:cNvPr id="49" name="Shape 47"/>
          <p:cNvSpPr/>
          <p:nvPr/>
        </p:nvSpPr>
        <p:spPr>
          <a:xfrm>
            <a:off x="6263640" y="1600200"/>
            <a:ext cx="5257800" cy="2743200"/>
          </a:xfrm>
          <a:prstGeom prst="rect">
            <a:avLst/>
          </a:prstGeom>
          <a:solidFill>
            <a:srgbClr val="F4F6F9"/>
          </a:solidFill>
          <a:ln w="7620">
            <a:solidFill>
              <a:srgbClr val="D4DAE3"/>
            </a:solidFill>
            <a:prstDash val="solid"/>
          </a:ln>
        </p:spPr>
      </p:sp>
      <p:sp>
        <p:nvSpPr>
          <p:cNvPr id="50" name="Text 48"/>
          <p:cNvSpPr/>
          <p:nvPr/>
        </p:nvSpPr>
        <p:spPr>
          <a:xfrm>
            <a:off x="6492240" y="1856232"/>
            <a:ext cx="2286000" cy="292608"/>
          </a:xfrm>
          <a:prstGeom prst="rect">
            <a:avLst/>
          </a:prstGeom>
          <a:noFill/>
          <a:ln/>
        </p:spPr>
        <p:txBody>
          <a:bodyPr wrap="square" lIns="508" tIns="508" rIns="508" bIns="508" rtlCol="0" anchor="ctr">
            <a:normAutofit/>
          </a:bodyPr>
          <a:lstStyle/>
          <a:p>
            <a:pPr indent="0" marL="0">
              <a:buNone/>
            </a:pPr>
            <a:r>
              <a:rPr lang="en-US" sz="1700" b="1" dirty="0">
                <a:solidFill>
                  <a:srgbClr val="26354F"/>
                </a:solidFill>
                <a:latin typeface="Pretendard" pitchFamily="34" charset="0"/>
                <a:ea typeface="Pretendard" pitchFamily="34" charset="-122"/>
                <a:cs typeface="Pretendard" pitchFamily="34" charset="-120"/>
              </a:rPr>
              <a:t>XGBoost R²</a:t>
            </a:r>
            <a:endParaRPr lang="en-US" sz="1700" dirty="0"/>
          </a:p>
        </p:txBody>
      </p:sp>
      <p:sp>
        <p:nvSpPr>
          <p:cNvPr id="51" name="Text 49"/>
          <p:cNvSpPr/>
          <p:nvPr/>
        </p:nvSpPr>
        <p:spPr>
          <a:xfrm>
            <a:off x="6492240" y="2386584"/>
            <a:ext cx="1234440" cy="274320"/>
          </a:xfrm>
          <a:prstGeom prst="rect">
            <a:avLst/>
          </a:prstGeom>
          <a:noFill/>
          <a:ln/>
        </p:spPr>
        <p:txBody>
          <a:bodyPr wrap="square" lIns="508" tIns="508" rIns="508" bIns="508" rtlCol="0" anchor="ctr">
            <a:normAutofit/>
          </a:bodyPr>
          <a:lstStyle/>
          <a:p>
            <a:pPr indent="0" marL="0">
              <a:buNone/>
            </a:pPr>
            <a:r>
              <a:rPr lang="en-US" sz="1500" b="1" dirty="0">
                <a:solidFill>
                  <a:srgbClr val="2F3542"/>
                </a:solidFill>
                <a:latin typeface="Pretendard" pitchFamily="34" charset="0"/>
                <a:ea typeface="Pretendard" pitchFamily="34" charset="-122"/>
                <a:cs typeface="Pretendard" pitchFamily="34" charset="-120"/>
              </a:rPr>
              <a:t>무작위</a:t>
            </a:r>
            <a:endParaRPr lang="en-US" sz="1500" dirty="0"/>
          </a:p>
        </p:txBody>
      </p:sp>
      <p:sp>
        <p:nvSpPr>
          <p:cNvPr id="52" name="Shape 50"/>
          <p:cNvSpPr/>
          <p:nvPr/>
        </p:nvSpPr>
        <p:spPr>
          <a:xfrm>
            <a:off x="7818120" y="2423160"/>
            <a:ext cx="3154680" cy="256032"/>
          </a:xfrm>
          <a:prstGeom prst="rect">
            <a:avLst/>
          </a:prstGeom>
          <a:solidFill>
            <a:srgbClr val="E3E8EF"/>
          </a:solidFill>
          <a:ln w="7620">
            <a:solidFill>
              <a:srgbClr val="E3E8EF"/>
            </a:solidFill>
            <a:prstDash val="solid"/>
          </a:ln>
        </p:spPr>
      </p:sp>
      <p:sp>
        <p:nvSpPr>
          <p:cNvPr id="53" name="Shape 51"/>
          <p:cNvSpPr/>
          <p:nvPr/>
        </p:nvSpPr>
        <p:spPr>
          <a:xfrm>
            <a:off x="7818120" y="2423160"/>
            <a:ext cx="2924388" cy="256032"/>
          </a:xfrm>
          <a:prstGeom prst="rect">
            <a:avLst/>
          </a:prstGeom>
          <a:solidFill>
            <a:srgbClr val="B8443E"/>
          </a:solidFill>
          <a:ln w="7620">
            <a:solidFill>
              <a:srgbClr val="B8443E"/>
            </a:solidFill>
            <a:prstDash val="solid"/>
          </a:ln>
        </p:spPr>
      </p:sp>
      <p:sp>
        <p:nvSpPr>
          <p:cNvPr id="54" name="Text 52"/>
          <p:cNvSpPr/>
          <p:nvPr/>
        </p:nvSpPr>
        <p:spPr>
          <a:xfrm>
            <a:off x="11082528" y="2395728"/>
            <a:ext cx="713232" cy="274320"/>
          </a:xfrm>
          <a:prstGeom prst="rect">
            <a:avLst/>
          </a:prstGeom>
          <a:noFill/>
          <a:ln/>
        </p:spPr>
        <p:txBody>
          <a:bodyPr wrap="square" lIns="508" tIns="508" rIns="508" bIns="508" rtlCol="0" anchor="ctr">
            <a:normAutofit/>
          </a:bodyPr>
          <a:lstStyle/>
          <a:p>
            <a:pPr indent="0" marL="0">
              <a:buNone/>
            </a:pPr>
            <a:r>
              <a:rPr lang="en-US" sz="1340" b="1" dirty="0">
                <a:solidFill>
                  <a:srgbClr val="26354F"/>
                </a:solidFill>
                <a:latin typeface="Pretendard" pitchFamily="34" charset="0"/>
                <a:ea typeface="Pretendard" pitchFamily="34" charset="-122"/>
                <a:cs typeface="Pretendard" pitchFamily="34" charset="-120"/>
              </a:rPr>
              <a:t>0.927</a:t>
            </a:r>
            <a:endParaRPr lang="en-US" sz="1340" dirty="0"/>
          </a:p>
        </p:txBody>
      </p:sp>
      <p:sp>
        <p:nvSpPr>
          <p:cNvPr id="55" name="Text 53"/>
          <p:cNvSpPr/>
          <p:nvPr/>
        </p:nvSpPr>
        <p:spPr>
          <a:xfrm>
            <a:off x="6492240" y="2935224"/>
            <a:ext cx="1234440" cy="274320"/>
          </a:xfrm>
          <a:prstGeom prst="rect">
            <a:avLst/>
          </a:prstGeom>
          <a:noFill/>
          <a:ln/>
        </p:spPr>
        <p:txBody>
          <a:bodyPr wrap="square" lIns="508" tIns="508" rIns="508" bIns="508" rtlCol="0" anchor="ctr">
            <a:normAutofit/>
          </a:bodyPr>
          <a:lstStyle/>
          <a:p>
            <a:pPr indent="0" marL="0">
              <a:buNone/>
            </a:pPr>
            <a:r>
              <a:rPr lang="en-US" sz="1500" b="1" dirty="0">
                <a:solidFill>
                  <a:srgbClr val="2F3542"/>
                </a:solidFill>
                <a:latin typeface="Pretendard" pitchFamily="34" charset="0"/>
                <a:ea typeface="Pretendard" pitchFamily="34" charset="-122"/>
                <a:cs typeface="Pretendard" pitchFamily="34" charset="-120"/>
              </a:rPr>
              <a:t>시간순</a:t>
            </a:r>
            <a:endParaRPr lang="en-US" sz="1500" dirty="0"/>
          </a:p>
        </p:txBody>
      </p:sp>
      <p:sp>
        <p:nvSpPr>
          <p:cNvPr id="56" name="Shape 54"/>
          <p:cNvSpPr/>
          <p:nvPr/>
        </p:nvSpPr>
        <p:spPr>
          <a:xfrm>
            <a:off x="7818120" y="2971800"/>
            <a:ext cx="3154680" cy="256032"/>
          </a:xfrm>
          <a:prstGeom prst="rect">
            <a:avLst/>
          </a:prstGeom>
          <a:solidFill>
            <a:srgbClr val="E3E8EF"/>
          </a:solidFill>
          <a:ln w="7620">
            <a:solidFill>
              <a:srgbClr val="E3E8EF"/>
            </a:solidFill>
            <a:prstDash val="solid"/>
          </a:ln>
        </p:spPr>
      </p:sp>
      <p:sp>
        <p:nvSpPr>
          <p:cNvPr id="57" name="Shape 55"/>
          <p:cNvSpPr/>
          <p:nvPr/>
        </p:nvSpPr>
        <p:spPr>
          <a:xfrm>
            <a:off x="7818120" y="2971800"/>
            <a:ext cx="2561600" cy="256032"/>
          </a:xfrm>
          <a:prstGeom prst="rect">
            <a:avLst/>
          </a:prstGeom>
          <a:solidFill>
            <a:srgbClr val="426A9B"/>
          </a:solidFill>
          <a:ln w="7620">
            <a:solidFill>
              <a:srgbClr val="426A9B"/>
            </a:solidFill>
            <a:prstDash val="solid"/>
          </a:ln>
        </p:spPr>
      </p:sp>
      <p:sp>
        <p:nvSpPr>
          <p:cNvPr id="58" name="Text 56"/>
          <p:cNvSpPr/>
          <p:nvPr/>
        </p:nvSpPr>
        <p:spPr>
          <a:xfrm>
            <a:off x="11082528" y="2944368"/>
            <a:ext cx="713232" cy="274320"/>
          </a:xfrm>
          <a:prstGeom prst="rect">
            <a:avLst/>
          </a:prstGeom>
          <a:noFill/>
          <a:ln/>
        </p:spPr>
        <p:txBody>
          <a:bodyPr wrap="square" lIns="508" tIns="508" rIns="508" bIns="508" rtlCol="0" anchor="ctr">
            <a:normAutofit/>
          </a:bodyPr>
          <a:lstStyle/>
          <a:p>
            <a:pPr indent="0" marL="0">
              <a:buNone/>
            </a:pPr>
            <a:r>
              <a:rPr lang="en-US" sz="1340" b="1" dirty="0">
                <a:solidFill>
                  <a:srgbClr val="26354F"/>
                </a:solidFill>
                <a:latin typeface="Pretendard" pitchFamily="34" charset="0"/>
                <a:ea typeface="Pretendard" pitchFamily="34" charset="-122"/>
                <a:cs typeface="Pretendard" pitchFamily="34" charset="-120"/>
              </a:rPr>
              <a:t>0.812</a:t>
            </a:r>
            <a:endParaRPr lang="en-US" sz="1340" dirty="0"/>
          </a:p>
        </p:txBody>
      </p:sp>
      <p:sp>
        <p:nvSpPr>
          <p:cNvPr id="59" name="Text 57"/>
          <p:cNvSpPr/>
          <p:nvPr/>
        </p:nvSpPr>
        <p:spPr>
          <a:xfrm>
            <a:off x="6492240" y="3483864"/>
            <a:ext cx="1234440" cy="274320"/>
          </a:xfrm>
          <a:prstGeom prst="rect">
            <a:avLst/>
          </a:prstGeom>
          <a:noFill/>
          <a:ln/>
        </p:spPr>
        <p:txBody>
          <a:bodyPr wrap="square" lIns="508" tIns="508" rIns="508" bIns="508" rtlCol="0" anchor="ctr">
            <a:normAutofit/>
          </a:bodyPr>
          <a:lstStyle/>
          <a:p>
            <a:pPr indent="0" marL="0">
              <a:buNone/>
            </a:pPr>
            <a:r>
              <a:rPr lang="en-US" sz="1500" b="1" dirty="0">
                <a:solidFill>
                  <a:srgbClr val="2F3542"/>
                </a:solidFill>
                <a:latin typeface="Pretendard" pitchFamily="34" charset="0"/>
                <a:ea typeface="Pretendard" pitchFamily="34" charset="-122"/>
                <a:cs typeface="Pretendard" pitchFamily="34" charset="-120"/>
              </a:rPr>
              <a:t>단지</a:t>
            </a:r>
            <a:endParaRPr lang="en-US" sz="1500" dirty="0"/>
          </a:p>
        </p:txBody>
      </p:sp>
      <p:sp>
        <p:nvSpPr>
          <p:cNvPr id="60" name="Shape 58"/>
          <p:cNvSpPr/>
          <p:nvPr/>
        </p:nvSpPr>
        <p:spPr>
          <a:xfrm>
            <a:off x="7818120" y="3520440"/>
            <a:ext cx="3154680" cy="256032"/>
          </a:xfrm>
          <a:prstGeom prst="rect">
            <a:avLst/>
          </a:prstGeom>
          <a:solidFill>
            <a:srgbClr val="E3E8EF"/>
          </a:solidFill>
          <a:ln w="7620">
            <a:solidFill>
              <a:srgbClr val="E3E8EF"/>
            </a:solidFill>
            <a:prstDash val="solid"/>
          </a:ln>
        </p:spPr>
      </p:sp>
      <p:sp>
        <p:nvSpPr>
          <p:cNvPr id="61" name="Shape 59"/>
          <p:cNvSpPr/>
          <p:nvPr/>
        </p:nvSpPr>
        <p:spPr>
          <a:xfrm>
            <a:off x="7818120" y="3520440"/>
            <a:ext cx="2012686" cy="256032"/>
          </a:xfrm>
          <a:prstGeom prst="rect">
            <a:avLst/>
          </a:prstGeom>
          <a:solidFill>
            <a:srgbClr val="4B7F68"/>
          </a:solidFill>
          <a:ln w="7620">
            <a:solidFill>
              <a:srgbClr val="4B7F68"/>
            </a:solidFill>
            <a:prstDash val="solid"/>
          </a:ln>
        </p:spPr>
      </p:sp>
      <p:sp>
        <p:nvSpPr>
          <p:cNvPr id="62" name="Text 60"/>
          <p:cNvSpPr/>
          <p:nvPr/>
        </p:nvSpPr>
        <p:spPr>
          <a:xfrm>
            <a:off x="11082528" y="3493008"/>
            <a:ext cx="713232" cy="274320"/>
          </a:xfrm>
          <a:prstGeom prst="rect">
            <a:avLst/>
          </a:prstGeom>
          <a:noFill/>
          <a:ln/>
        </p:spPr>
        <p:txBody>
          <a:bodyPr wrap="square" lIns="508" tIns="508" rIns="508" bIns="508" rtlCol="0" anchor="ctr">
            <a:normAutofit/>
          </a:bodyPr>
          <a:lstStyle/>
          <a:p>
            <a:pPr indent="0" marL="0">
              <a:buNone/>
            </a:pPr>
            <a:r>
              <a:rPr lang="en-US" sz="1340" b="1" dirty="0">
                <a:solidFill>
                  <a:srgbClr val="26354F"/>
                </a:solidFill>
                <a:latin typeface="Pretendard" pitchFamily="34" charset="0"/>
                <a:ea typeface="Pretendard" pitchFamily="34" charset="-122"/>
                <a:cs typeface="Pretendard" pitchFamily="34" charset="-120"/>
              </a:rPr>
              <a:t>0.638</a:t>
            </a:r>
            <a:endParaRPr lang="en-US" sz="1340" dirty="0"/>
          </a:p>
        </p:txBody>
      </p:sp>
      <p:sp>
        <p:nvSpPr>
          <p:cNvPr id="63" name="Shape 61"/>
          <p:cNvSpPr/>
          <p:nvPr/>
        </p:nvSpPr>
        <p:spPr>
          <a:xfrm>
            <a:off x="685800" y="4754880"/>
            <a:ext cx="10835640" cy="1051560"/>
          </a:xfrm>
          <a:prstGeom prst="rect">
            <a:avLst/>
          </a:prstGeom>
          <a:solidFill>
            <a:srgbClr val="26354F"/>
          </a:solidFill>
          <a:ln w="7620">
            <a:solidFill>
              <a:srgbClr val="26354F"/>
            </a:solidFill>
            <a:prstDash val="solid"/>
          </a:ln>
        </p:spPr>
      </p:sp>
      <p:sp>
        <p:nvSpPr>
          <p:cNvPr id="64" name="Text 62"/>
          <p:cNvSpPr/>
          <p:nvPr/>
        </p:nvSpPr>
        <p:spPr>
          <a:xfrm>
            <a:off x="960120" y="4928616"/>
            <a:ext cx="1645920" cy="274320"/>
          </a:xfrm>
          <a:prstGeom prst="rect">
            <a:avLst/>
          </a:prstGeom>
          <a:noFill/>
          <a:ln/>
        </p:spPr>
        <p:txBody>
          <a:bodyPr wrap="square" lIns="508" tIns="508" rIns="508" bIns="508" rtlCol="0" anchor="ctr">
            <a:normAutofit/>
          </a:bodyPr>
          <a:lstStyle/>
          <a:p>
            <a:pPr indent="0" marL="0">
              <a:buNone/>
            </a:pPr>
            <a:r>
              <a:rPr lang="en-US" sz="1520" b="1" dirty="0">
                <a:solidFill>
                  <a:srgbClr val="F2D16B"/>
                </a:solidFill>
                <a:latin typeface="Pretendard" pitchFamily="34" charset="0"/>
                <a:ea typeface="Pretendard" pitchFamily="34" charset="-122"/>
                <a:cs typeface="Pretendard" pitchFamily="34" charset="-120"/>
              </a:rPr>
              <a:t>해석 포인트</a:t>
            </a:r>
            <a:endParaRPr lang="en-US" sz="1520" dirty="0"/>
          </a:p>
        </p:txBody>
      </p:sp>
      <p:sp>
        <p:nvSpPr>
          <p:cNvPr id="65" name="Text 63"/>
          <p:cNvSpPr/>
          <p:nvPr/>
        </p:nvSpPr>
        <p:spPr>
          <a:xfrm>
            <a:off x="2240280" y="4818888"/>
            <a:ext cx="8778240" cy="768096"/>
          </a:xfrm>
          <a:prstGeom prst="rect">
            <a:avLst/>
          </a:prstGeom>
          <a:noFill/>
          <a:ln/>
        </p:spPr>
        <p:txBody>
          <a:bodyPr wrap="square" lIns="508" tIns="508" rIns="508" bIns="508" rtlCol="0" anchor="ctr">
            <a:normAutofit/>
          </a:bodyPr>
          <a:lstStyle/>
          <a:p>
            <a:pPr indent="0" marL="0">
              <a:buNone/>
            </a:pPr>
            <a:r>
              <a:rPr lang="en-US" sz="1600" dirty="0">
                <a:solidFill>
                  <a:srgbClr val="FFFFFF"/>
                </a:solidFill>
                <a:latin typeface="Pretendard" pitchFamily="34" charset="0"/>
                <a:ea typeface="Pretendard" pitchFamily="34" charset="-122"/>
                <a:cs typeface="Pretendard" pitchFamily="34" charset="-120"/>
              </a:rPr>
              <a:t>• 무작위는 가장 쉬운 조건, 시간순·단지는 외삽 조건</a:t>
            </a:r>
            <a:endParaRPr lang="en-US" sz="1600" dirty="0"/>
          </a:p>
          <a:p>
            <a:pPr indent="0" marL="0">
              <a:buNone/>
            </a:pPr>
            <a:r>
              <a:rPr lang="en-US" sz="1600" dirty="0">
                <a:solidFill>
                  <a:srgbClr val="FFFFFF"/>
                </a:solidFill>
                <a:latin typeface="Pretendard" pitchFamily="34" charset="0"/>
                <a:ea typeface="Pretendard" pitchFamily="34" charset="-122"/>
                <a:cs typeface="Pretendard" pitchFamily="34" charset="-120"/>
              </a:rPr>
              <a:t>• 핵심은 높은 R²보다 분할 조건별 성능 격차</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6354F"/>
          </a:solidFill>
          <a:ln w="7620">
            <a:solidFill>
              <a:srgbClr val="26354F"/>
            </a:solidFill>
            <a:prstDash val="solid"/>
          </a:ln>
        </p:spPr>
      </p:sp>
      <p:sp>
        <p:nvSpPr>
          <p:cNvPr id="3" name="Text 1"/>
          <p:cNvSpPr/>
          <p:nvPr/>
        </p:nvSpPr>
        <p:spPr>
          <a:xfrm>
            <a:off x="411480" y="128016"/>
            <a:ext cx="3840480" cy="182880"/>
          </a:xfrm>
          <a:prstGeom prst="rect">
            <a:avLst/>
          </a:prstGeom>
          <a:noFill/>
          <a:ln/>
        </p:spPr>
        <p:txBody>
          <a:bodyPr wrap="square" lIns="508" tIns="508" rIns="508" bIns="508" rtlCol="0" anchor="ctr">
            <a:normAutofit/>
          </a:bodyPr>
          <a:lstStyle/>
          <a:p>
            <a:pPr indent="0" marL="0">
              <a:buNone/>
            </a:pPr>
            <a:r>
              <a:rPr lang="en-US" sz="1050" b="1" dirty="0">
                <a:solidFill>
                  <a:srgbClr val="F2D16B"/>
                </a:solidFill>
                <a:latin typeface="Pretendard" pitchFamily="34" charset="0"/>
                <a:ea typeface="Pretendard" pitchFamily="34" charset="-122"/>
                <a:cs typeface="Pretendard" pitchFamily="34" charset="-120"/>
              </a:rPr>
              <a:t>04. RESULTS</a:t>
            </a:r>
            <a:endParaRPr lang="en-US" sz="1050" dirty="0"/>
          </a:p>
        </p:txBody>
      </p:sp>
      <p:sp>
        <p:nvSpPr>
          <p:cNvPr id="4" name="Text 2"/>
          <p:cNvSpPr/>
          <p:nvPr/>
        </p:nvSpPr>
        <p:spPr>
          <a:xfrm>
            <a:off x="11292840" y="109728"/>
            <a:ext cx="502920" cy="201168"/>
          </a:xfrm>
          <a:prstGeom prst="rect">
            <a:avLst/>
          </a:prstGeom>
          <a:noFill/>
          <a:ln/>
        </p:spPr>
        <p:txBody>
          <a:bodyPr wrap="square" lIns="508" tIns="508" rIns="508" bIns="508" rtlCol="0" anchor="ctr">
            <a:normAutofit/>
          </a:bodyPr>
          <a:lstStyle/>
          <a:p>
            <a:pPr algn="r" indent="0" marL="0">
              <a:buNone/>
            </a:pPr>
            <a:r>
              <a:rPr lang="en-US" sz="1050" b="1" dirty="0">
                <a:solidFill>
                  <a:srgbClr val="FFFFFF"/>
                </a:solidFill>
                <a:latin typeface="Pretendard" pitchFamily="34" charset="0"/>
                <a:ea typeface="Pretendard" pitchFamily="34" charset="-122"/>
                <a:cs typeface="Pretendard" pitchFamily="34" charset="-120"/>
              </a:rPr>
              <a:t>06</a:t>
            </a:r>
            <a:endParaRPr lang="en-US" sz="1050" dirty="0"/>
          </a:p>
        </p:txBody>
      </p:sp>
      <p:sp>
        <p:nvSpPr>
          <p:cNvPr id="5" name="Text 3"/>
          <p:cNvSpPr/>
          <p:nvPr/>
        </p:nvSpPr>
        <p:spPr>
          <a:xfrm>
            <a:off x="502920" y="749808"/>
            <a:ext cx="10424160" cy="438912"/>
          </a:xfrm>
          <a:prstGeom prst="rect">
            <a:avLst/>
          </a:prstGeom>
          <a:noFill/>
          <a:ln/>
        </p:spPr>
        <p:txBody>
          <a:bodyPr wrap="square" lIns="508" tIns="508" rIns="508" bIns="508" rtlCol="0" anchor="ctr">
            <a:normAutofit/>
          </a:bodyPr>
          <a:lstStyle/>
          <a:p>
            <a:pPr indent="0" marL="0">
              <a:buNone/>
            </a:pPr>
            <a:r>
              <a:rPr lang="en-US" sz="2220" b="1" dirty="0">
                <a:solidFill>
                  <a:srgbClr val="26354F"/>
                </a:solidFill>
                <a:latin typeface="Pretendard" pitchFamily="34" charset="0"/>
                <a:ea typeface="Pretendard" pitchFamily="34" charset="-122"/>
                <a:cs typeface="Pretendard" pitchFamily="34" charset="-120"/>
              </a:rPr>
              <a:t>소거분석: 거리 기반 전환과 시점 정합의 역할 분리</a:t>
            </a:r>
            <a:endParaRPr lang="en-US" sz="2220" dirty="0"/>
          </a:p>
        </p:txBody>
      </p:sp>
      <p:sp>
        <p:nvSpPr>
          <p:cNvPr id="6" name="Shape 4"/>
          <p:cNvSpPr/>
          <p:nvPr/>
        </p:nvSpPr>
        <p:spPr>
          <a:xfrm>
            <a:off x="502920" y="1280160"/>
            <a:ext cx="11155680" cy="0"/>
          </a:xfrm>
          <a:prstGeom prst="line">
            <a:avLst/>
          </a:prstGeom>
          <a:noFill/>
          <a:ln w="15240">
            <a:solidFill>
              <a:srgbClr val="D4DAE3"/>
            </a:solidFill>
            <a:prstDash val="solid"/>
          </a:ln>
        </p:spPr>
      </p:sp>
      <p:sp>
        <p:nvSpPr>
          <p:cNvPr id="7" name="Text 5"/>
          <p:cNvSpPr/>
          <p:nvPr/>
        </p:nvSpPr>
        <p:spPr>
          <a:xfrm>
            <a:off x="502920" y="6528816"/>
            <a:ext cx="4389120" cy="164592"/>
          </a:xfrm>
          <a:prstGeom prst="rect">
            <a:avLst/>
          </a:prstGeom>
          <a:noFill/>
          <a:ln/>
        </p:spPr>
        <p:txBody>
          <a:bodyPr wrap="square" lIns="508" tIns="508" rIns="508" bIns="508" rtlCol="0" anchor="ctr">
            <a:normAutofit/>
          </a:bodyPr>
          <a:lstStyle/>
          <a:p>
            <a:pPr indent="0" marL="0">
              <a:buNone/>
            </a:pPr>
            <a:r>
              <a:rPr lang="en-US" sz="820" dirty="0">
                <a:solidFill>
                  <a:srgbClr val="646B78"/>
                </a:solidFill>
                <a:latin typeface="Pretendard" pitchFamily="34" charset="0"/>
                <a:ea typeface="Pretendard" pitchFamily="34" charset="-122"/>
                <a:cs typeface="Pretendard" pitchFamily="34" charset="-120"/>
              </a:rPr>
              <a:t>석사학위논문 최종심사 발표 | 박현근</a:t>
            </a:r>
            <a:endParaRPr lang="en-US" sz="820" dirty="0"/>
          </a:p>
        </p:txBody>
      </p:sp>
      <p:sp>
        <p:nvSpPr>
          <p:cNvPr id="8" name="Shape 6"/>
          <p:cNvSpPr/>
          <p:nvPr/>
        </p:nvSpPr>
        <p:spPr>
          <a:xfrm>
            <a:off x="777240" y="1554480"/>
            <a:ext cx="2057400" cy="1207008"/>
          </a:xfrm>
          <a:prstGeom prst="rect">
            <a:avLst/>
          </a:prstGeom>
          <a:solidFill>
            <a:srgbClr val="F4F6F9"/>
          </a:solidFill>
          <a:ln w="7620">
            <a:solidFill>
              <a:srgbClr val="D4DAE3"/>
            </a:solidFill>
            <a:prstDash val="solid"/>
          </a:ln>
        </p:spPr>
      </p:sp>
      <p:sp>
        <p:nvSpPr>
          <p:cNvPr id="9" name="Text 7"/>
          <p:cNvSpPr/>
          <p:nvPr/>
        </p:nvSpPr>
        <p:spPr>
          <a:xfrm>
            <a:off x="886968" y="1719072"/>
            <a:ext cx="1837944" cy="438912"/>
          </a:xfrm>
          <a:prstGeom prst="rect">
            <a:avLst/>
          </a:prstGeom>
          <a:noFill/>
          <a:ln/>
        </p:spPr>
        <p:txBody>
          <a:bodyPr wrap="square" lIns="508" tIns="508" rIns="508" bIns="508" rtlCol="0" anchor="ctr">
            <a:normAutofit/>
          </a:bodyPr>
          <a:lstStyle/>
          <a:p>
            <a:pPr algn="ctr" indent="0" marL="0">
              <a:buNone/>
            </a:pPr>
            <a:r>
              <a:rPr lang="en-US" sz="2500" b="1" dirty="0">
                <a:solidFill>
                  <a:srgbClr val="26354F"/>
                </a:solidFill>
                <a:latin typeface="Pretendard" pitchFamily="34" charset="0"/>
                <a:ea typeface="Pretendard" pitchFamily="34" charset="-122"/>
                <a:cs typeface="Pretendard" pitchFamily="34" charset="-120"/>
              </a:rPr>
              <a:t>A</a:t>
            </a:r>
            <a:endParaRPr lang="en-US" sz="2500" dirty="0"/>
          </a:p>
        </p:txBody>
      </p:sp>
      <p:sp>
        <p:nvSpPr>
          <p:cNvPr id="10" name="Text 8"/>
          <p:cNvSpPr/>
          <p:nvPr/>
        </p:nvSpPr>
        <p:spPr>
          <a:xfrm>
            <a:off x="914400" y="2267712"/>
            <a:ext cx="1783080" cy="384048"/>
          </a:xfrm>
          <a:prstGeom prst="rect">
            <a:avLst/>
          </a:prstGeom>
          <a:noFill/>
          <a:ln/>
        </p:spPr>
        <p:txBody>
          <a:bodyPr wrap="square" lIns="508" tIns="508" rIns="508" bIns="508" rtlCol="0" anchor="ctr">
            <a:normAutofit/>
          </a:bodyPr>
          <a:lstStyle/>
          <a:p>
            <a:pPr algn="ctr" indent="0" marL="0">
              <a:buNone/>
            </a:pPr>
            <a:r>
              <a:rPr lang="en-US" sz="1320" dirty="0">
                <a:solidFill>
                  <a:srgbClr val="2F3542"/>
                </a:solidFill>
                <a:latin typeface="Pretendard" pitchFamily="34" charset="0"/>
                <a:ea typeface="Pretendard" pitchFamily="34" charset="-122"/>
                <a:cs typeface="Pretendard" pitchFamily="34" charset="-120"/>
              </a:rPr>
              <a:t>행정동 집계</a:t>
            </a:r>
            <a:endParaRPr lang="en-US" sz="1320" dirty="0"/>
          </a:p>
          <a:p>
            <a:pPr algn="ctr" indent="0" marL="0">
              <a:buNone/>
            </a:pPr>
            <a:r>
              <a:rPr lang="en-US" sz="1320" dirty="0">
                <a:solidFill>
                  <a:srgbClr val="2F3542"/>
                </a:solidFill>
                <a:latin typeface="Pretendard" pitchFamily="34" charset="0"/>
                <a:ea typeface="Pretendard" pitchFamily="34" charset="-122"/>
                <a:cs typeface="Pretendard" pitchFamily="34" charset="-120"/>
              </a:rPr>
              <a:t>기준선</a:t>
            </a:r>
            <a:endParaRPr lang="en-US" sz="1320" dirty="0"/>
          </a:p>
        </p:txBody>
      </p:sp>
      <p:sp>
        <p:nvSpPr>
          <p:cNvPr id="11" name="Shape 9"/>
          <p:cNvSpPr/>
          <p:nvPr/>
        </p:nvSpPr>
        <p:spPr>
          <a:xfrm>
            <a:off x="3063240" y="1554480"/>
            <a:ext cx="2057400" cy="1207008"/>
          </a:xfrm>
          <a:prstGeom prst="rect">
            <a:avLst/>
          </a:prstGeom>
          <a:solidFill>
            <a:srgbClr val="F4F6F9"/>
          </a:solidFill>
          <a:ln w="7620">
            <a:solidFill>
              <a:srgbClr val="D4DAE3"/>
            </a:solidFill>
            <a:prstDash val="solid"/>
          </a:ln>
        </p:spPr>
      </p:sp>
      <p:sp>
        <p:nvSpPr>
          <p:cNvPr id="12" name="Text 10"/>
          <p:cNvSpPr/>
          <p:nvPr/>
        </p:nvSpPr>
        <p:spPr>
          <a:xfrm>
            <a:off x="3172968" y="1719072"/>
            <a:ext cx="1837944" cy="438912"/>
          </a:xfrm>
          <a:prstGeom prst="rect">
            <a:avLst/>
          </a:prstGeom>
          <a:noFill/>
          <a:ln/>
        </p:spPr>
        <p:txBody>
          <a:bodyPr wrap="square" lIns="508" tIns="508" rIns="508" bIns="508" rtlCol="0" anchor="ctr">
            <a:normAutofit/>
          </a:bodyPr>
          <a:lstStyle/>
          <a:p>
            <a:pPr algn="ctr" indent="0" marL="0">
              <a:buNone/>
            </a:pPr>
            <a:r>
              <a:rPr lang="en-US" sz="2500" b="1" dirty="0">
                <a:solidFill>
                  <a:srgbClr val="426A9B"/>
                </a:solidFill>
                <a:latin typeface="Pretendard" pitchFamily="34" charset="0"/>
                <a:ea typeface="Pretendard" pitchFamily="34" charset="-122"/>
                <a:cs typeface="Pretendard" pitchFamily="34" charset="-120"/>
              </a:rPr>
              <a:t>B</a:t>
            </a:r>
            <a:endParaRPr lang="en-US" sz="2500" dirty="0"/>
          </a:p>
        </p:txBody>
      </p:sp>
      <p:sp>
        <p:nvSpPr>
          <p:cNvPr id="13" name="Text 11"/>
          <p:cNvSpPr/>
          <p:nvPr/>
        </p:nvSpPr>
        <p:spPr>
          <a:xfrm>
            <a:off x="3200400" y="2267712"/>
            <a:ext cx="1783080" cy="384048"/>
          </a:xfrm>
          <a:prstGeom prst="rect">
            <a:avLst/>
          </a:prstGeom>
          <a:noFill/>
          <a:ln/>
        </p:spPr>
        <p:txBody>
          <a:bodyPr wrap="square" lIns="508" tIns="508" rIns="508" bIns="508" rtlCol="0" anchor="ctr">
            <a:normAutofit/>
          </a:bodyPr>
          <a:lstStyle/>
          <a:p>
            <a:pPr algn="ctr" indent="0" marL="0">
              <a:buNone/>
            </a:pPr>
            <a:r>
              <a:rPr lang="en-US" sz="1320" dirty="0">
                <a:solidFill>
                  <a:srgbClr val="2F3542"/>
                </a:solidFill>
                <a:latin typeface="Pretendard" pitchFamily="34" charset="0"/>
                <a:ea typeface="Pretendard" pitchFamily="34" charset="-122"/>
                <a:cs typeface="Pretendard" pitchFamily="34" charset="-120"/>
              </a:rPr>
              <a:t>거리 기반</a:t>
            </a:r>
            <a:endParaRPr lang="en-US" sz="1320" dirty="0"/>
          </a:p>
          <a:p>
            <a:pPr algn="ctr" indent="0" marL="0">
              <a:buNone/>
            </a:pPr>
            <a:r>
              <a:rPr lang="en-US" sz="1320" dirty="0">
                <a:solidFill>
                  <a:srgbClr val="2F3542"/>
                </a:solidFill>
                <a:latin typeface="Pretendard" pitchFamily="34" charset="0"/>
                <a:ea typeface="Pretendard" pitchFamily="34" charset="-122"/>
                <a:cs typeface="Pretendard" pitchFamily="34" charset="-120"/>
              </a:rPr>
              <a:t>전환</a:t>
            </a:r>
            <a:endParaRPr lang="en-US" sz="1320" dirty="0"/>
          </a:p>
        </p:txBody>
      </p:sp>
      <p:sp>
        <p:nvSpPr>
          <p:cNvPr id="14" name="Shape 12"/>
          <p:cNvSpPr/>
          <p:nvPr/>
        </p:nvSpPr>
        <p:spPr>
          <a:xfrm>
            <a:off x="5349240" y="1554480"/>
            <a:ext cx="2057400" cy="1207008"/>
          </a:xfrm>
          <a:prstGeom prst="rect">
            <a:avLst/>
          </a:prstGeom>
          <a:solidFill>
            <a:srgbClr val="F4F6F9"/>
          </a:solidFill>
          <a:ln w="7620">
            <a:solidFill>
              <a:srgbClr val="D4DAE3"/>
            </a:solidFill>
            <a:prstDash val="solid"/>
          </a:ln>
        </p:spPr>
      </p:sp>
      <p:sp>
        <p:nvSpPr>
          <p:cNvPr id="15" name="Text 13"/>
          <p:cNvSpPr/>
          <p:nvPr/>
        </p:nvSpPr>
        <p:spPr>
          <a:xfrm>
            <a:off x="5458968" y="1719072"/>
            <a:ext cx="1837944" cy="438912"/>
          </a:xfrm>
          <a:prstGeom prst="rect">
            <a:avLst/>
          </a:prstGeom>
          <a:noFill/>
          <a:ln/>
        </p:spPr>
        <p:txBody>
          <a:bodyPr wrap="square" lIns="508" tIns="508" rIns="508" bIns="508" rtlCol="0" anchor="ctr">
            <a:normAutofit/>
          </a:bodyPr>
          <a:lstStyle/>
          <a:p>
            <a:pPr algn="ctr" indent="0" marL="0">
              <a:buNone/>
            </a:pPr>
            <a:r>
              <a:rPr lang="en-US" sz="2500" b="1" dirty="0">
                <a:solidFill>
                  <a:srgbClr val="4B7F68"/>
                </a:solidFill>
                <a:latin typeface="Pretendard" pitchFamily="34" charset="0"/>
                <a:ea typeface="Pretendard" pitchFamily="34" charset="-122"/>
                <a:cs typeface="Pretendard" pitchFamily="34" charset="-120"/>
              </a:rPr>
              <a:t>C</a:t>
            </a:r>
            <a:endParaRPr lang="en-US" sz="2500" dirty="0"/>
          </a:p>
        </p:txBody>
      </p:sp>
      <p:sp>
        <p:nvSpPr>
          <p:cNvPr id="16" name="Text 14"/>
          <p:cNvSpPr/>
          <p:nvPr/>
        </p:nvSpPr>
        <p:spPr>
          <a:xfrm>
            <a:off x="5486400" y="2267712"/>
            <a:ext cx="1783080" cy="384048"/>
          </a:xfrm>
          <a:prstGeom prst="rect">
            <a:avLst/>
          </a:prstGeom>
          <a:noFill/>
          <a:ln/>
        </p:spPr>
        <p:txBody>
          <a:bodyPr wrap="square" lIns="508" tIns="508" rIns="508" bIns="508" rtlCol="0" anchor="ctr">
            <a:normAutofit/>
          </a:bodyPr>
          <a:lstStyle/>
          <a:p>
            <a:pPr algn="ctr" indent="0" marL="0">
              <a:buNone/>
            </a:pPr>
            <a:r>
              <a:rPr lang="en-US" sz="1320" dirty="0">
                <a:solidFill>
                  <a:srgbClr val="2F3542"/>
                </a:solidFill>
                <a:latin typeface="Pretendard" pitchFamily="34" charset="0"/>
                <a:ea typeface="Pretendard" pitchFamily="34" charset="-122"/>
                <a:cs typeface="Pretendard" pitchFamily="34" charset="-120"/>
              </a:rPr>
              <a:t>시점 정합</a:t>
            </a:r>
            <a:endParaRPr lang="en-US" sz="1320" dirty="0"/>
          </a:p>
          <a:p>
            <a:pPr algn="ctr" indent="0" marL="0">
              <a:buNone/>
            </a:pPr>
            <a:r>
              <a:rPr lang="en-US" sz="1320" dirty="0">
                <a:solidFill>
                  <a:srgbClr val="2F3542"/>
                </a:solidFill>
                <a:latin typeface="Pretendard" pitchFamily="34" charset="0"/>
                <a:ea typeface="Pretendard" pitchFamily="34" charset="-122"/>
                <a:cs typeface="Pretendard" pitchFamily="34" charset="-120"/>
              </a:rPr>
              <a:t>누수 제거</a:t>
            </a:r>
            <a:endParaRPr lang="en-US" sz="1320" dirty="0"/>
          </a:p>
        </p:txBody>
      </p:sp>
      <p:sp>
        <p:nvSpPr>
          <p:cNvPr id="17" name="Shape 15"/>
          <p:cNvSpPr/>
          <p:nvPr/>
        </p:nvSpPr>
        <p:spPr>
          <a:xfrm>
            <a:off x="7818120" y="1554480"/>
            <a:ext cx="3429000" cy="1207008"/>
          </a:xfrm>
          <a:prstGeom prst="rect">
            <a:avLst/>
          </a:prstGeom>
          <a:solidFill>
            <a:srgbClr val="26354F"/>
          </a:solidFill>
          <a:ln w="7620">
            <a:solidFill>
              <a:srgbClr val="26354F"/>
            </a:solidFill>
            <a:prstDash val="solid"/>
          </a:ln>
        </p:spPr>
      </p:sp>
      <p:sp>
        <p:nvSpPr>
          <p:cNvPr id="18" name="Text 16"/>
          <p:cNvSpPr/>
          <p:nvPr/>
        </p:nvSpPr>
        <p:spPr>
          <a:xfrm>
            <a:off x="8001000" y="1764792"/>
            <a:ext cx="3063240" cy="347472"/>
          </a:xfrm>
          <a:prstGeom prst="rect">
            <a:avLst/>
          </a:prstGeom>
          <a:noFill/>
          <a:ln/>
        </p:spPr>
        <p:txBody>
          <a:bodyPr wrap="square" lIns="508" tIns="508" rIns="508" bIns="508" rtlCol="0" anchor="ctr">
            <a:normAutofit/>
          </a:bodyPr>
          <a:lstStyle/>
          <a:p>
            <a:pPr algn="ctr" indent="0" marL="0">
              <a:buNone/>
            </a:pPr>
            <a:r>
              <a:rPr lang="en-US" sz="2500" b="1" dirty="0">
                <a:solidFill>
                  <a:srgbClr val="F2D16B"/>
                </a:solidFill>
                <a:latin typeface="Pretendard" pitchFamily="34" charset="0"/>
                <a:ea typeface="Pretendard" pitchFamily="34" charset="-122"/>
                <a:cs typeface="Pretendard" pitchFamily="34" charset="-120"/>
              </a:rPr>
              <a:t>+15.0%p</a:t>
            </a:r>
            <a:endParaRPr lang="en-US" sz="2500" dirty="0"/>
          </a:p>
        </p:txBody>
      </p:sp>
      <p:sp>
        <p:nvSpPr>
          <p:cNvPr id="19" name="Text 17"/>
          <p:cNvSpPr/>
          <p:nvPr/>
        </p:nvSpPr>
        <p:spPr>
          <a:xfrm>
            <a:off x="8001000" y="2212848"/>
            <a:ext cx="3063240" cy="237744"/>
          </a:xfrm>
          <a:prstGeom prst="rect">
            <a:avLst/>
          </a:prstGeom>
          <a:noFill/>
          <a:ln/>
        </p:spPr>
        <p:txBody>
          <a:bodyPr wrap="square" lIns="508" tIns="508" rIns="508" bIns="508" rtlCol="0" anchor="ctr">
            <a:normAutofit/>
          </a:bodyPr>
          <a:lstStyle/>
          <a:p>
            <a:pPr algn="ctr" indent="0" marL="0">
              <a:buNone/>
            </a:pPr>
            <a:r>
              <a:rPr lang="en-US" sz="1420" b="1" dirty="0">
                <a:solidFill>
                  <a:srgbClr val="FFFFFF"/>
                </a:solidFill>
                <a:latin typeface="Pretendard" pitchFamily="34" charset="0"/>
                <a:ea typeface="Pretendard" pitchFamily="34" charset="-122"/>
                <a:cs typeface="Pretendard" pitchFamily="34" charset="-120"/>
              </a:rPr>
              <a:t>A → B 시간순 R² 개선</a:t>
            </a:r>
            <a:endParaRPr lang="en-US" sz="1420" dirty="0"/>
          </a:p>
        </p:txBody>
      </p:sp>
      <p:sp>
        <p:nvSpPr>
          <p:cNvPr id="20" name="Shape 18"/>
          <p:cNvSpPr/>
          <p:nvPr/>
        </p:nvSpPr>
        <p:spPr>
          <a:xfrm>
            <a:off x="777240" y="3054096"/>
            <a:ext cx="10469880" cy="2240280"/>
          </a:xfrm>
          <a:prstGeom prst="rect">
            <a:avLst/>
          </a:prstGeom>
          <a:solidFill>
            <a:srgbClr val="F4F6F9"/>
          </a:solidFill>
          <a:ln w="7620">
            <a:solidFill>
              <a:srgbClr val="D4DAE3"/>
            </a:solidFill>
            <a:prstDash val="solid"/>
          </a:ln>
        </p:spPr>
      </p:sp>
      <p:sp>
        <p:nvSpPr>
          <p:cNvPr id="21" name="Text 19"/>
          <p:cNvSpPr/>
          <p:nvPr/>
        </p:nvSpPr>
        <p:spPr>
          <a:xfrm>
            <a:off x="1051560" y="3310128"/>
            <a:ext cx="2834640" cy="274320"/>
          </a:xfrm>
          <a:prstGeom prst="rect">
            <a:avLst/>
          </a:prstGeom>
          <a:noFill/>
          <a:ln/>
        </p:spPr>
        <p:txBody>
          <a:bodyPr wrap="square" lIns="508" tIns="508" rIns="508" bIns="508" rtlCol="0" anchor="ctr">
            <a:normAutofit/>
          </a:bodyPr>
          <a:lstStyle/>
          <a:p>
            <a:pPr indent="0" marL="0">
              <a:buNone/>
            </a:pPr>
            <a:r>
              <a:rPr lang="en-US" sz="1700" b="1" dirty="0">
                <a:solidFill>
                  <a:srgbClr val="26354F"/>
                </a:solidFill>
                <a:latin typeface="Pretendard" pitchFamily="34" charset="0"/>
                <a:ea typeface="Pretendard" pitchFamily="34" charset="-122"/>
                <a:cs typeface="Pretendard" pitchFamily="34" charset="-120"/>
              </a:rPr>
              <a:t>시간순 분할 XGBoost R²</a:t>
            </a:r>
            <a:endParaRPr lang="en-US" sz="1700" dirty="0"/>
          </a:p>
        </p:txBody>
      </p:sp>
      <p:sp>
        <p:nvSpPr>
          <p:cNvPr id="22" name="Text 20"/>
          <p:cNvSpPr/>
          <p:nvPr/>
        </p:nvSpPr>
        <p:spPr>
          <a:xfrm>
            <a:off x="1051560" y="3785616"/>
            <a:ext cx="1783080" cy="292608"/>
          </a:xfrm>
          <a:prstGeom prst="rect">
            <a:avLst/>
          </a:prstGeom>
          <a:noFill/>
          <a:ln/>
        </p:spPr>
        <p:txBody>
          <a:bodyPr wrap="square" lIns="508" tIns="508" rIns="508" bIns="508" rtlCol="0" anchor="ctr">
            <a:normAutofit/>
          </a:bodyPr>
          <a:lstStyle/>
          <a:p>
            <a:pPr indent="0" marL="0">
              <a:buNone/>
            </a:pPr>
            <a:r>
              <a:rPr lang="en-US" sz="1450" b="1" dirty="0">
                <a:solidFill>
                  <a:srgbClr val="2F3542"/>
                </a:solidFill>
                <a:latin typeface="Pretendard" pitchFamily="34" charset="0"/>
                <a:ea typeface="Pretendard" pitchFamily="34" charset="-122"/>
                <a:cs typeface="Pretendard" pitchFamily="34" charset="-120"/>
              </a:rPr>
              <a:t>A 기준선</a:t>
            </a:r>
            <a:endParaRPr lang="en-US" sz="1450" dirty="0"/>
          </a:p>
        </p:txBody>
      </p:sp>
      <p:sp>
        <p:nvSpPr>
          <p:cNvPr id="23" name="Shape 21"/>
          <p:cNvSpPr/>
          <p:nvPr/>
        </p:nvSpPr>
        <p:spPr>
          <a:xfrm>
            <a:off x="2926080" y="3822192"/>
            <a:ext cx="7178040" cy="310896"/>
          </a:xfrm>
          <a:prstGeom prst="rect">
            <a:avLst/>
          </a:prstGeom>
          <a:solidFill>
            <a:srgbClr val="E3E8EF"/>
          </a:solidFill>
          <a:ln w="7620">
            <a:solidFill>
              <a:srgbClr val="E3E8EF"/>
            </a:solidFill>
            <a:prstDash val="solid"/>
          </a:ln>
        </p:spPr>
      </p:sp>
      <p:sp>
        <p:nvSpPr>
          <p:cNvPr id="24" name="Shape 22"/>
          <p:cNvSpPr/>
          <p:nvPr/>
        </p:nvSpPr>
        <p:spPr>
          <a:xfrm>
            <a:off x="2926080" y="3822192"/>
            <a:ext cx="4773397" cy="310896"/>
          </a:xfrm>
          <a:prstGeom prst="rect">
            <a:avLst/>
          </a:prstGeom>
          <a:solidFill>
            <a:srgbClr val="26354F"/>
          </a:solidFill>
          <a:ln w="7620">
            <a:solidFill>
              <a:srgbClr val="26354F"/>
            </a:solidFill>
            <a:prstDash val="solid"/>
          </a:ln>
        </p:spPr>
      </p:sp>
      <p:sp>
        <p:nvSpPr>
          <p:cNvPr id="25" name="Text 23"/>
          <p:cNvSpPr/>
          <p:nvPr/>
        </p:nvSpPr>
        <p:spPr>
          <a:xfrm>
            <a:off x="10241280" y="3794760"/>
            <a:ext cx="658368" cy="274320"/>
          </a:xfrm>
          <a:prstGeom prst="rect">
            <a:avLst/>
          </a:prstGeom>
          <a:noFill/>
          <a:ln/>
        </p:spPr>
        <p:txBody>
          <a:bodyPr wrap="square" lIns="508" tIns="508" rIns="508" bIns="508" rtlCol="0" anchor="ctr">
            <a:normAutofit/>
          </a:bodyPr>
          <a:lstStyle/>
          <a:p>
            <a:pPr indent="0" marL="0">
              <a:buNone/>
            </a:pPr>
            <a:r>
              <a:rPr lang="en-US" sz="1320" b="1" dirty="0">
                <a:solidFill>
                  <a:srgbClr val="26354F"/>
                </a:solidFill>
                <a:latin typeface="Pretendard" pitchFamily="34" charset="0"/>
                <a:ea typeface="Pretendard" pitchFamily="34" charset="-122"/>
                <a:cs typeface="Pretendard" pitchFamily="34" charset="-120"/>
              </a:rPr>
              <a:t>0.665</a:t>
            </a:r>
            <a:endParaRPr lang="en-US" sz="1320" dirty="0"/>
          </a:p>
        </p:txBody>
      </p:sp>
      <p:sp>
        <p:nvSpPr>
          <p:cNvPr id="26" name="Text 24"/>
          <p:cNvSpPr/>
          <p:nvPr/>
        </p:nvSpPr>
        <p:spPr>
          <a:xfrm>
            <a:off x="1051560" y="4334256"/>
            <a:ext cx="1783080" cy="292608"/>
          </a:xfrm>
          <a:prstGeom prst="rect">
            <a:avLst/>
          </a:prstGeom>
          <a:noFill/>
          <a:ln/>
        </p:spPr>
        <p:txBody>
          <a:bodyPr wrap="square" lIns="508" tIns="508" rIns="508" bIns="508" rtlCol="0" anchor="ctr">
            <a:normAutofit/>
          </a:bodyPr>
          <a:lstStyle/>
          <a:p>
            <a:pPr indent="0" marL="0">
              <a:buNone/>
            </a:pPr>
            <a:r>
              <a:rPr lang="en-US" sz="1450" b="1" dirty="0">
                <a:solidFill>
                  <a:srgbClr val="2F3542"/>
                </a:solidFill>
                <a:latin typeface="Pretendard" pitchFamily="34" charset="0"/>
                <a:ea typeface="Pretendard" pitchFamily="34" charset="-122"/>
                <a:cs typeface="Pretendard" pitchFamily="34" charset="-120"/>
              </a:rPr>
              <a:t>B 거리</a:t>
            </a:r>
            <a:endParaRPr lang="en-US" sz="1450" dirty="0"/>
          </a:p>
        </p:txBody>
      </p:sp>
      <p:sp>
        <p:nvSpPr>
          <p:cNvPr id="27" name="Shape 25"/>
          <p:cNvSpPr/>
          <p:nvPr/>
        </p:nvSpPr>
        <p:spPr>
          <a:xfrm>
            <a:off x="2926080" y="4370832"/>
            <a:ext cx="7178040" cy="310896"/>
          </a:xfrm>
          <a:prstGeom prst="rect">
            <a:avLst/>
          </a:prstGeom>
          <a:solidFill>
            <a:srgbClr val="E3E8EF"/>
          </a:solidFill>
          <a:ln w="7620">
            <a:solidFill>
              <a:srgbClr val="E3E8EF"/>
            </a:solidFill>
            <a:prstDash val="solid"/>
          </a:ln>
        </p:spPr>
      </p:sp>
      <p:sp>
        <p:nvSpPr>
          <p:cNvPr id="28" name="Shape 26"/>
          <p:cNvSpPr/>
          <p:nvPr/>
        </p:nvSpPr>
        <p:spPr>
          <a:xfrm>
            <a:off x="2926080" y="4370832"/>
            <a:ext cx="5857281" cy="310896"/>
          </a:xfrm>
          <a:prstGeom prst="rect">
            <a:avLst/>
          </a:prstGeom>
          <a:solidFill>
            <a:srgbClr val="426A9B"/>
          </a:solidFill>
          <a:ln w="7620">
            <a:solidFill>
              <a:srgbClr val="426A9B"/>
            </a:solidFill>
            <a:prstDash val="solid"/>
          </a:ln>
        </p:spPr>
      </p:sp>
      <p:sp>
        <p:nvSpPr>
          <p:cNvPr id="29" name="Text 27"/>
          <p:cNvSpPr/>
          <p:nvPr/>
        </p:nvSpPr>
        <p:spPr>
          <a:xfrm>
            <a:off x="10241280" y="4343400"/>
            <a:ext cx="658368" cy="274320"/>
          </a:xfrm>
          <a:prstGeom prst="rect">
            <a:avLst/>
          </a:prstGeom>
          <a:noFill/>
          <a:ln/>
        </p:spPr>
        <p:txBody>
          <a:bodyPr wrap="square" lIns="508" tIns="508" rIns="508" bIns="508" rtlCol="0" anchor="ctr">
            <a:normAutofit/>
          </a:bodyPr>
          <a:lstStyle/>
          <a:p>
            <a:pPr indent="0" marL="0">
              <a:buNone/>
            </a:pPr>
            <a:r>
              <a:rPr lang="en-US" sz="1320" b="1" dirty="0">
                <a:solidFill>
                  <a:srgbClr val="26354F"/>
                </a:solidFill>
                <a:latin typeface="Pretendard" pitchFamily="34" charset="0"/>
                <a:ea typeface="Pretendard" pitchFamily="34" charset="-122"/>
                <a:cs typeface="Pretendard" pitchFamily="34" charset="-120"/>
              </a:rPr>
              <a:t>0.816</a:t>
            </a:r>
            <a:endParaRPr lang="en-US" sz="1320" dirty="0"/>
          </a:p>
        </p:txBody>
      </p:sp>
      <p:sp>
        <p:nvSpPr>
          <p:cNvPr id="30" name="Text 28"/>
          <p:cNvSpPr/>
          <p:nvPr/>
        </p:nvSpPr>
        <p:spPr>
          <a:xfrm>
            <a:off x="1051560" y="4882896"/>
            <a:ext cx="1783080" cy="292608"/>
          </a:xfrm>
          <a:prstGeom prst="rect">
            <a:avLst/>
          </a:prstGeom>
          <a:noFill/>
          <a:ln/>
        </p:spPr>
        <p:txBody>
          <a:bodyPr wrap="square" lIns="508" tIns="508" rIns="508" bIns="508" rtlCol="0" anchor="ctr">
            <a:normAutofit/>
          </a:bodyPr>
          <a:lstStyle/>
          <a:p>
            <a:pPr indent="0" marL="0">
              <a:buNone/>
            </a:pPr>
            <a:r>
              <a:rPr lang="en-US" sz="1450" b="1" dirty="0">
                <a:solidFill>
                  <a:srgbClr val="2F3542"/>
                </a:solidFill>
                <a:latin typeface="Pretendard" pitchFamily="34" charset="0"/>
                <a:ea typeface="Pretendard" pitchFamily="34" charset="-122"/>
                <a:cs typeface="Pretendard" pitchFamily="34" charset="-120"/>
              </a:rPr>
              <a:t>C 정합</a:t>
            </a:r>
            <a:endParaRPr lang="en-US" sz="1450" dirty="0"/>
          </a:p>
        </p:txBody>
      </p:sp>
      <p:sp>
        <p:nvSpPr>
          <p:cNvPr id="31" name="Shape 29"/>
          <p:cNvSpPr/>
          <p:nvPr/>
        </p:nvSpPr>
        <p:spPr>
          <a:xfrm>
            <a:off x="2926080" y="4919472"/>
            <a:ext cx="7178040" cy="310896"/>
          </a:xfrm>
          <a:prstGeom prst="rect">
            <a:avLst/>
          </a:prstGeom>
          <a:solidFill>
            <a:srgbClr val="E3E8EF"/>
          </a:solidFill>
          <a:ln w="7620">
            <a:solidFill>
              <a:srgbClr val="E3E8EF"/>
            </a:solidFill>
            <a:prstDash val="solid"/>
          </a:ln>
        </p:spPr>
      </p:sp>
      <p:sp>
        <p:nvSpPr>
          <p:cNvPr id="32" name="Shape 30"/>
          <p:cNvSpPr/>
          <p:nvPr/>
        </p:nvSpPr>
        <p:spPr>
          <a:xfrm>
            <a:off x="2926080" y="4919472"/>
            <a:ext cx="5735254" cy="310896"/>
          </a:xfrm>
          <a:prstGeom prst="rect">
            <a:avLst/>
          </a:prstGeom>
          <a:solidFill>
            <a:srgbClr val="4B7F68"/>
          </a:solidFill>
          <a:ln w="7620">
            <a:solidFill>
              <a:srgbClr val="4B7F68"/>
            </a:solidFill>
            <a:prstDash val="solid"/>
          </a:ln>
        </p:spPr>
      </p:sp>
      <p:sp>
        <p:nvSpPr>
          <p:cNvPr id="33" name="Text 31"/>
          <p:cNvSpPr/>
          <p:nvPr/>
        </p:nvSpPr>
        <p:spPr>
          <a:xfrm>
            <a:off x="10241280" y="4892040"/>
            <a:ext cx="658368" cy="274320"/>
          </a:xfrm>
          <a:prstGeom prst="rect">
            <a:avLst/>
          </a:prstGeom>
          <a:noFill/>
          <a:ln/>
        </p:spPr>
        <p:txBody>
          <a:bodyPr wrap="square" lIns="508" tIns="508" rIns="508" bIns="508" rtlCol="0" anchor="ctr">
            <a:normAutofit/>
          </a:bodyPr>
          <a:lstStyle/>
          <a:p>
            <a:pPr indent="0" marL="0">
              <a:buNone/>
            </a:pPr>
            <a:r>
              <a:rPr lang="en-US" sz="1320" b="1" dirty="0">
                <a:solidFill>
                  <a:srgbClr val="26354F"/>
                </a:solidFill>
                <a:latin typeface="Pretendard" pitchFamily="34" charset="0"/>
                <a:ea typeface="Pretendard" pitchFamily="34" charset="-122"/>
                <a:cs typeface="Pretendard" pitchFamily="34" charset="-120"/>
              </a:rPr>
              <a:t>0.799</a:t>
            </a:r>
            <a:endParaRPr lang="en-US" sz="1320" dirty="0"/>
          </a:p>
        </p:txBody>
      </p:sp>
      <p:sp>
        <p:nvSpPr>
          <p:cNvPr id="34" name="Text 32"/>
          <p:cNvSpPr/>
          <p:nvPr/>
        </p:nvSpPr>
        <p:spPr>
          <a:xfrm>
            <a:off x="1051560" y="5559552"/>
            <a:ext cx="9784080" cy="566928"/>
          </a:xfrm>
          <a:prstGeom prst="rect">
            <a:avLst/>
          </a:prstGeom>
          <a:noFill/>
          <a:ln/>
        </p:spPr>
        <p:txBody>
          <a:bodyPr wrap="square" lIns="508" tIns="508" rIns="508" bIns="508" rtlCol="0" anchor="ctr">
            <a:normAutofit/>
          </a:bodyPr>
          <a:lstStyle/>
          <a:p>
            <a:pPr indent="0" marL="0">
              <a:buNone/>
            </a:pPr>
            <a:r>
              <a:rPr lang="en-US" sz="1620" dirty="0">
                <a:solidFill>
                  <a:srgbClr val="2F3542"/>
                </a:solidFill>
                <a:latin typeface="Pretendard" pitchFamily="34" charset="0"/>
                <a:ea typeface="Pretendard" pitchFamily="34" charset="-122"/>
                <a:cs typeface="Pretendard" pitchFamily="34" charset="-120"/>
              </a:rPr>
              <a:t>• 거리 기반 전환은 시간순 예측 성능을 크게 개선</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시점 정합은 미래 정보 소급을 제거하는 타당성 장치</a:t>
            </a:r>
            <a:endParaRPr lang="en-US" sz="16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6354F"/>
          </a:solidFill>
          <a:ln w="7620">
            <a:solidFill>
              <a:srgbClr val="26354F"/>
            </a:solidFill>
            <a:prstDash val="solid"/>
          </a:ln>
        </p:spPr>
      </p:sp>
      <p:sp>
        <p:nvSpPr>
          <p:cNvPr id="3" name="Text 1"/>
          <p:cNvSpPr/>
          <p:nvPr/>
        </p:nvSpPr>
        <p:spPr>
          <a:xfrm>
            <a:off x="411480" y="128016"/>
            <a:ext cx="3840480" cy="182880"/>
          </a:xfrm>
          <a:prstGeom prst="rect">
            <a:avLst/>
          </a:prstGeom>
          <a:noFill/>
          <a:ln/>
        </p:spPr>
        <p:txBody>
          <a:bodyPr wrap="square" lIns="508" tIns="508" rIns="508" bIns="508" rtlCol="0" anchor="ctr">
            <a:normAutofit/>
          </a:bodyPr>
          <a:lstStyle/>
          <a:p>
            <a:pPr indent="0" marL="0">
              <a:buNone/>
            </a:pPr>
            <a:r>
              <a:rPr lang="en-US" sz="1050" b="1" dirty="0">
                <a:solidFill>
                  <a:srgbClr val="F2D16B"/>
                </a:solidFill>
                <a:latin typeface="Pretendard" pitchFamily="34" charset="0"/>
                <a:ea typeface="Pretendard" pitchFamily="34" charset="-122"/>
                <a:cs typeface="Pretendard" pitchFamily="34" charset="-120"/>
              </a:rPr>
              <a:t>04. RESULTS</a:t>
            </a:r>
            <a:endParaRPr lang="en-US" sz="1050" dirty="0"/>
          </a:p>
        </p:txBody>
      </p:sp>
      <p:sp>
        <p:nvSpPr>
          <p:cNvPr id="4" name="Text 2"/>
          <p:cNvSpPr/>
          <p:nvPr/>
        </p:nvSpPr>
        <p:spPr>
          <a:xfrm>
            <a:off x="11292840" y="109728"/>
            <a:ext cx="502920" cy="201168"/>
          </a:xfrm>
          <a:prstGeom prst="rect">
            <a:avLst/>
          </a:prstGeom>
          <a:noFill/>
          <a:ln/>
        </p:spPr>
        <p:txBody>
          <a:bodyPr wrap="square" lIns="508" tIns="508" rIns="508" bIns="508" rtlCol="0" anchor="ctr">
            <a:normAutofit/>
          </a:bodyPr>
          <a:lstStyle/>
          <a:p>
            <a:pPr algn="r" indent="0" marL="0">
              <a:buNone/>
            </a:pPr>
            <a:r>
              <a:rPr lang="en-US" sz="1050" b="1" dirty="0">
                <a:solidFill>
                  <a:srgbClr val="FFFFFF"/>
                </a:solidFill>
                <a:latin typeface="Pretendard" pitchFamily="34" charset="0"/>
                <a:ea typeface="Pretendard" pitchFamily="34" charset="-122"/>
                <a:cs typeface="Pretendard" pitchFamily="34" charset="-120"/>
              </a:rPr>
              <a:t>07</a:t>
            </a:r>
            <a:endParaRPr lang="en-US" sz="1050" dirty="0"/>
          </a:p>
        </p:txBody>
      </p:sp>
      <p:sp>
        <p:nvSpPr>
          <p:cNvPr id="5" name="Text 3"/>
          <p:cNvSpPr/>
          <p:nvPr/>
        </p:nvSpPr>
        <p:spPr>
          <a:xfrm>
            <a:off x="502920" y="749808"/>
            <a:ext cx="10424160" cy="438912"/>
          </a:xfrm>
          <a:prstGeom prst="rect">
            <a:avLst/>
          </a:prstGeom>
          <a:noFill/>
          <a:ln/>
        </p:spPr>
        <p:txBody>
          <a:bodyPr wrap="square" lIns="508" tIns="508" rIns="508" bIns="508" rtlCol="0" anchor="ctr">
            <a:normAutofit/>
          </a:bodyPr>
          <a:lstStyle/>
          <a:p>
            <a:pPr indent="0" marL="0">
              <a:buNone/>
            </a:pPr>
            <a:r>
              <a:rPr lang="en-US" sz="2400" b="1" dirty="0">
                <a:solidFill>
                  <a:srgbClr val="26354F"/>
                </a:solidFill>
                <a:latin typeface="Pretendard" pitchFamily="34" charset="0"/>
                <a:ea typeface="Pretendard" pitchFamily="34" charset="-122"/>
                <a:cs typeface="Pretendard" pitchFamily="34" charset="-120"/>
              </a:rPr>
              <a:t>전체 SHAP: 가격 예측 기여 구조</a:t>
            </a:r>
            <a:endParaRPr lang="en-US" sz="2400" dirty="0"/>
          </a:p>
        </p:txBody>
      </p:sp>
      <p:sp>
        <p:nvSpPr>
          <p:cNvPr id="6" name="Shape 4"/>
          <p:cNvSpPr/>
          <p:nvPr/>
        </p:nvSpPr>
        <p:spPr>
          <a:xfrm>
            <a:off x="502920" y="1280160"/>
            <a:ext cx="11155680" cy="0"/>
          </a:xfrm>
          <a:prstGeom prst="line">
            <a:avLst/>
          </a:prstGeom>
          <a:noFill/>
          <a:ln w="15240">
            <a:solidFill>
              <a:srgbClr val="D4DAE3"/>
            </a:solidFill>
            <a:prstDash val="solid"/>
          </a:ln>
        </p:spPr>
      </p:sp>
      <p:sp>
        <p:nvSpPr>
          <p:cNvPr id="7" name="Text 5"/>
          <p:cNvSpPr/>
          <p:nvPr/>
        </p:nvSpPr>
        <p:spPr>
          <a:xfrm>
            <a:off x="502920" y="6528816"/>
            <a:ext cx="4389120" cy="164592"/>
          </a:xfrm>
          <a:prstGeom prst="rect">
            <a:avLst/>
          </a:prstGeom>
          <a:noFill/>
          <a:ln/>
        </p:spPr>
        <p:txBody>
          <a:bodyPr wrap="square" lIns="508" tIns="508" rIns="508" bIns="508" rtlCol="0" anchor="ctr">
            <a:normAutofit/>
          </a:bodyPr>
          <a:lstStyle/>
          <a:p>
            <a:pPr indent="0" marL="0">
              <a:buNone/>
            </a:pPr>
            <a:r>
              <a:rPr lang="en-US" sz="820" dirty="0">
                <a:solidFill>
                  <a:srgbClr val="646B78"/>
                </a:solidFill>
                <a:latin typeface="Pretendard" pitchFamily="34" charset="0"/>
                <a:ea typeface="Pretendard" pitchFamily="34" charset="-122"/>
                <a:cs typeface="Pretendard" pitchFamily="34" charset="-120"/>
              </a:rPr>
              <a:t>석사학위논문 최종심사 발표 | 박현근</a:t>
            </a:r>
            <a:endParaRPr lang="en-US" sz="820" dirty="0"/>
          </a:p>
        </p:txBody>
      </p:sp>
      <p:sp>
        <p:nvSpPr>
          <p:cNvPr id="8" name="Shape 6"/>
          <p:cNvSpPr/>
          <p:nvPr/>
        </p:nvSpPr>
        <p:spPr>
          <a:xfrm>
            <a:off x="685800" y="1444752"/>
            <a:ext cx="6995160" cy="4498848"/>
          </a:xfrm>
          <a:prstGeom prst="rect">
            <a:avLst/>
          </a:prstGeom>
          <a:solidFill>
            <a:srgbClr val="F4F6F9"/>
          </a:solidFill>
          <a:ln w="7620">
            <a:solidFill>
              <a:srgbClr val="D4DAE3"/>
            </a:solidFill>
            <a:prstDash val="solid"/>
          </a:ln>
        </p:spPr>
      </p:sp>
      <p:sp>
        <p:nvSpPr>
          <p:cNvPr id="9" name="Text 7"/>
          <p:cNvSpPr/>
          <p:nvPr/>
        </p:nvSpPr>
        <p:spPr>
          <a:xfrm>
            <a:off x="960120" y="1719072"/>
            <a:ext cx="2926080" cy="292608"/>
          </a:xfrm>
          <a:prstGeom prst="rect">
            <a:avLst/>
          </a:prstGeom>
          <a:noFill/>
          <a:ln/>
        </p:spPr>
        <p:txBody>
          <a:bodyPr wrap="square" lIns="508" tIns="508" rIns="508" bIns="508" rtlCol="0" anchor="ctr">
            <a:normAutofit/>
          </a:bodyPr>
          <a:lstStyle/>
          <a:p>
            <a:pPr indent="0" marL="0">
              <a:buNone/>
            </a:pPr>
            <a:r>
              <a:rPr lang="en-US" sz="1700" b="1" dirty="0">
                <a:solidFill>
                  <a:srgbClr val="26354F"/>
                </a:solidFill>
                <a:latin typeface="Pretendard" pitchFamily="34" charset="0"/>
                <a:ea typeface="Pretendard" pitchFamily="34" charset="-122"/>
                <a:cs typeface="Pretendard" pitchFamily="34" charset="-120"/>
              </a:rPr>
              <a:t>상위 예측 기여 변수</a:t>
            </a:r>
            <a:endParaRPr lang="en-US" sz="1700" dirty="0"/>
          </a:p>
        </p:txBody>
      </p:sp>
      <p:sp>
        <p:nvSpPr>
          <p:cNvPr id="10" name="Text 8"/>
          <p:cNvSpPr/>
          <p:nvPr/>
        </p:nvSpPr>
        <p:spPr>
          <a:xfrm>
            <a:off x="960120" y="2249424"/>
            <a:ext cx="292608" cy="219456"/>
          </a:xfrm>
          <a:prstGeom prst="rect">
            <a:avLst/>
          </a:prstGeom>
          <a:solidFill>
            <a:srgbClr val="B8443E"/>
          </a:solidFill>
          <a:ln/>
        </p:spPr>
        <p:txBody>
          <a:bodyPr wrap="square" lIns="508" tIns="508" rIns="508" bIns="508" rtlCol="0" anchor="ctr">
            <a:normAutofit/>
          </a:bodyPr>
          <a:lstStyle/>
          <a:p>
            <a:pPr algn="ctr" indent="0" marL="0">
              <a:buNone/>
            </a:pPr>
            <a:r>
              <a:rPr lang="en-US" sz="1250" b="1" dirty="0">
                <a:solidFill>
                  <a:srgbClr val="FFFFFF"/>
                </a:solidFill>
                <a:latin typeface="Pretendard" pitchFamily="34" charset="0"/>
                <a:ea typeface="Pretendard" pitchFamily="34" charset="-122"/>
                <a:cs typeface="Pretendard" pitchFamily="34" charset="-120"/>
              </a:rPr>
              <a:t>1</a:t>
            </a:r>
            <a:endParaRPr lang="en-US" sz="1250" dirty="0"/>
          </a:p>
        </p:txBody>
      </p:sp>
      <p:sp>
        <p:nvSpPr>
          <p:cNvPr id="11" name="Text 9"/>
          <p:cNvSpPr/>
          <p:nvPr/>
        </p:nvSpPr>
        <p:spPr>
          <a:xfrm>
            <a:off x="1371600" y="2221992"/>
            <a:ext cx="2286000" cy="310896"/>
          </a:xfrm>
          <a:prstGeom prst="rect">
            <a:avLst/>
          </a:prstGeom>
          <a:noFill/>
          <a:ln/>
        </p:spPr>
        <p:txBody>
          <a:bodyPr wrap="square" lIns="508" tIns="508" rIns="508" bIns="508" rtlCol="0" anchor="ctr">
            <a:normAutofit/>
          </a:bodyPr>
          <a:lstStyle/>
          <a:p>
            <a:pPr indent="0" marL="0">
              <a:buNone/>
            </a:pPr>
            <a:r>
              <a:rPr lang="en-US" sz="1420" b="1" dirty="0">
                <a:solidFill>
                  <a:srgbClr val="2F3542"/>
                </a:solidFill>
                <a:latin typeface="Pretendard" pitchFamily="34" charset="0"/>
                <a:ea typeface="Pretendard" pitchFamily="34" charset="-122"/>
                <a:cs typeface="Pretendard" pitchFamily="34" charset="-120"/>
              </a:rPr>
              <a:t>강남구분</a:t>
            </a:r>
            <a:endParaRPr lang="en-US" sz="1420" dirty="0"/>
          </a:p>
        </p:txBody>
      </p:sp>
      <p:sp>
        <p:nvSpPr>
          <p:cNvPr id="12" name="Shape 10"/>
          <p:cNvSpPr/>
          <p:nvPr/>
        </p:nvSpPr>
        <p:spPr>
          <a:xfrm>
            <a:off x="3776472" y="2286000"/>
            <a:ext cx="3246120" cy="219456"/>
          </a:xfrm>
          <a:prstGeom prst="rect">
            <a:avLst/>
          </a:prstGeom>
          <a:solidFill>
            <a:srgbClr val="E3E8EF"/>
          </a:solidFill>
          <a:ln w="7620">
            <a:solidFill>
              <a:srgbClr val="E3E8EF"/>
            </a:solidFill>
            <a:prstDash val="solid"/>
          </a:ln>
        </p:spPr>
      </p:sp>
      <p:sp>
        <p:nvSpPr>
          <p:cNvPr id="13" name="Shape 11"/>
          <p:cNvSpPr/>
          <p:nvPr/>
        </p:nvSpPr>
        <p:spPr>
          <a:xfrm>
            <a:off x="3776472" y="2286000"/>
            <a:ext cx="3246120" cy="219456"/>
          </a:xfrm>
          <a:prstGeom prst="rect">
            <a:avLst/>
          </a:prstGeom>
          <a:solidFill>
            <a:srgbClr val="B8443E"/>
          </a:solidFill>
          <a:ln w="7620">
            <a:solidFill>
              <a:srgbClr val="B8443E"/>
            </a:solidFill>
            <a:prstDash val="solid"/>
          </a:ln>
        </p:spPr>
      </p:sp>
      <p:sp>
        <p:nvSpPr>
          <p:cNvPr id="14" name="Text 12"/>
          <p:cNvSpPr/>
          <p:nvPr/>
        </p:nvSpPr>
        <p:spPr>
          <a:xfrm>
            <a:off x="7114032" y="2221992"/>
            <a:ext cx="658368" cy="292608"/>
          </a:xfrm>
          <a:prstGeom prst="rect">
            <a:avLst/>
          </a:prstGeom>
          <a:noFill/>
          <a:ln/>
        </p:spPr>
        <p:txBody>
          <a:bodyPr wrap="square" lIns="508" tIns="508" rIns="508" bIns="508" rtlCol="0" anchor="ctr">
            <a:normAutofit/>
          </a:bodyPr>
          <a:lstStyle/>
          <a:p>
            <a:pPr indent="0" marL="0">
              <a:buNone/>
            </a:pPr>
            <a:r>
              <a:rPr lang="en-US" sz="1280" b="1" dirty="0">
                <a:solidFill>
                  <a:srgbClr val="26354F"/>
                </a:solidFill>
                <a:latin typeface="Pretendard" pitchFamily="34" charset="0"/>
                <a:ea typeface="Pretendard" pitchFamily="34" charset="-122"/>
                <a:cs typeface="Pretendard" pitchFamily="34" charset="-120"/>
              </a:rPr>
              <a:t>13.6%</a:t>
            </a:r>
            <a:endParaRPr lang="en-US" sz="1280" dirty="0"/>
          </a:p>
        </p:txBody>
      </p:sp>
      <p:sp>
        <p:nvSpPr>
          <p:cNvPr id="15" name="Text 13"/>
          <p:cNvSpPr/>
          <p:nvPr/>
        </p:nvSpPr>
        <p:spPr>
          <a:xfrm>
            <a:off x="960120" y="2706624"/>
            <a:ext cx="292608" cy="219456"/>
          </a:xfrm>
          <a:prstGeom prst="rect">
            <a:avLst/>
          </a:prstGeom>
          <a:solidFill>
            <a:srgbClr val="344865"/>
          </a:solidFill>
          <a:ln/>
        </p:spPr>
        <p:txBody>
          <a:bodyPr wrap="square" lIns="508" tIns="508" rIns="508" bIns="508" rtlCol="0" anchor="ctr">
            <a:normAutofit/>
          </a:bodyPr>
          <a:lstStyle/>
          <a:p>
            <a:pPr algn="ctr" indent="0" marL="0">
              <a:buNone/>
            </a:pPr>
            <a:r>
              <a:rPr lang="en-US" sz="1250" b="1" dirty="0">
                <a:solidFill>
                  <a:srgbClr val="FFFFFF"/>
                </a:solidFill>
                <a:latin typeface="Pretendard" pitchFamily="34" charset="0"/>
                <a:ea typeface="Pretendard" pitchFamily="34" charset="-122"/>
                <a:cs typeface="Pretendard" pitchFamily="34" charset="-120"/>
              </a:rPr>
              <a:t>2</a:t>
            </a:r>
            <a:endParaRPr lang="en-US" sz="1250" dirty="0"/>
          </a:p>
        </p:txBody>
      </p:sp>
      <p:sp>
        <p:nvSpPr>
          <p:cNvPr id="16" name="Text 14"/>
          <p:cNvSpPr/>
          <p:nvPr/>
        </p:nvSpPr>
        <p:spPr>
          <a:xfrm>
            <a:off x="1371600" y="2679192"/>
            <a:ext cx="2286000" cy="310896"/>
          </a:xfrm>
          <a:prstGeom prst="rect">
            <a:avLst/>
          </a:prstGeom>
          <a:noFill/>
          <a:ln/>
        </p:spPr>
        <p:txBody>
          <a:bodyPr wrap="square" lIns="508" tIns="508" rIns="508" bIns="508" rtlCol="0" anchor="ctr">
            <a:normAutofit/>
          </a:bodyPr>
          <a:lstStyle/>
          <a:p>
            <a:pPr indent="0" marL="0">
              <a:buNone/>
            </a:pPr>
            <a:r>
              <a:rPr lang="en-US" sz="1420" b="1" dirty="0">
                <a:solidFill>
                  <a:srgbClr val="2F3542"/>
                </a:solidFill>
                <a:latin typeface="Pretendard" pitchFamily="34" charset="0"/>
                <a:ea typeface="Pretendard" pitchFamily="34" charset="-122"/>
                <a:cs typeface="Pretendard" pitchFamily="34" charset="-120"/>
              </a:rPr>
              <a:t>M2 통화량</a:t>
            </a:r>
            <a:endParaRPr lang="en-US" sz="1420" dirty="0"/>
          </a:p>
        </p:txBody>
      </p:sp>
      <p:sp>
        <p:nvSpPr>
          <p:cNvPr id="17" name="Shape 15"/>
          <p:cNvSpPr/>
          <p:nvPr/>
        </p:nvSpPr>
        <p:spPr>
          <a:xfrm>
            <a:off x="3776472" y="2743200"/>
            <a:ext cx="3246120" cy="219456"/>
          </a:xfrm>
          <a:prstGeom prst="rect">
            <a:avLst/>
          </a:prstGeom>
          <a:solidFill>
            <a:srgbClr val="E3E8EF"/>
          </a:solidFill>
          <a:ln w="7620">
            <a:solidFill>
              <a:srgbClr val="E3E8EF"/>
            </a:solidFill>
            <a:prstDash val="solid"/>
          </a:ln>
        </p:spPr>
      </p:sp>
      <p:sp>
        <p:nvSpPr>
          <p:cNvPr id="18" name="Shape 16"/>
          <p:cNvSpPr/>
          <p:nvPr/>
        </p:nvSpPr>
        <p:spPr>
          <a:xfrm>
            <a:off x="3776472" y="2743200"/>
            <a:ext cx="2721012" cy="219456"/>
          </a:xfrm>
          <a:prstGeom prst="rect">
            <a:avLst/>
          </a:prstGeom>
          <a:solidFill>
            <a:srgbClr val="344865"/>
          </a:solidFill>
          <a:ln w="7620">
            <a:solidFill>
              <a:srgbClr val="344865"/>
            </a:solidFill>
            <a:prstDash val="solid"/>
          </a:ln>
        </p:spPr>
      </p:sp>
      <p:sp>
        <p:nvSpPr>
          <p:cNvPr id="19" name="Text 17"/>
          <p:cNvSpPr/>
          <p:nvPr/>
        </p:nvSpPr>
        <p:spPr>
          <a:xfrm>
            <a:off x="7114032" y="2679192"/>
            <a:ext cx="658368" cy="292608"/>
          </a:xfrm>
          <a:prstGeom prst="rect">
            <a:avLst/>
          </a:prstGeom>
          <a:noFill/>
          <a:ln/>
        </p:spPr>
        <p:txBody>
          <a:bodyPr wrap="square" lIns="508" tIns="508" rIns="508" bIns="508" rtlCol="0" anchor="ctr">
            <a:normAutofit/>
          </a:bodyPr>
          <a:lstStyle/>
          <a:p>
            <a:pPr indent="0" marL="0">
              <a:buNone/>
            </a:pPr>
            <a:r>
              <a:rPr lang="en-US" sz="1280" b="1" dirty="0">
                <a:solidFill>
                  <a:srgbClr val="26354F"/>
                </a:solidFill>
                <a:latin typeface="Pretendard" pitchFamily="34" charset="0"/>
                <a:ea typeface="Pretendard" pitchFamily="34" charset="-122"/>
                <a:cs typeface="Pretendard" pitchFamily="34" charset="-120"/>
              </a:rPr>
              <a:t>11.4%</a:t>
            </a:r>
            <a:endParaRPr lang="en-US" sz="1280" dirty="0"/>
          </a:p>
        </p:txBody>
      </p:sp>
      <p:sp>
        <p:nvSpPr>
          <p:cNvPr id="20" name="Text 18"/>
          <p:cNvSpPr/>
          <p:nvPr/>
        </p:nvSpPr>
        <p:spPr>
          <a:xfrm>
            <a:off x="960120" y="3163824"/>
            <a:ext cx="292608" cy="219456"/>
          </a:xfrm>
          <a:prstGeom prst="rect">
            <a:avLst/>
          </a:prstGeom>
          <a:solidFill>
            <a:srgbClr val="426A9B"/>
          </a:solidFill>
          <a:ln/>
        </p:spPr>
        <p:txBody>
          <a:bodyPr wrap="square" lIns="508" tIns="508" rIns="508" bIns="508" rtlCol="0" anchor="ctr">
            <a:normAutofit/>
          </a:bodyPr>
          <a:lstStyle/>
          <a:p>
            <a:pPr algn="ctr" indent="0" marL="0">
              <a:buNone/>
            </a:pPr>
            <a:r>
              <a:rPr lang="en-US" sz="1250" b="1" dirty="0">
                <a:solidFill>
                  <a:srgbClr val="FFFFFF"/>
                </a:solidFill>
                <a:latin typeface="Pretendard" pitchFamily="34" charset="0"/>
                <a:ea typeface="Pretendard" pitchFamily="34" charset="-122"/>
                <a:cs typeface="Pretendard" pitchFamily="34" charset="-120"/>
              </a:rPr>
              <a:t>3</a:t>
            </a:r>
            <a:endParaRPr lang="en-US" sz="1250" dirty="0"/>
          </a:p>
        </p:txBody>
      </p:sp>
      <p:sp>
        <p:nvSpPr>
          <p:cNvPr id="21" name="Text 19"/>
          <p:cNvSpPr/>
          <p:nvPr/>
        </p:nvSpPr>
        <p:spPr>
          <a:xfrm>
            <a:off x="1371600" y="3136392"/>
            <a:ext cx="2286000" cy="310896"/>
          </a:xfrm>
          <a:prstGeom prst="rect">
            <a:avLst/>
          </a:prstGeom>
          <a:noFill/>
          <a:ln/>
        </p:spPr>
        <p:txBody>
          <a:bodyPr wrap="square" lIns="508" tIns="508" rIns="508" bIns="508" rtlCol="0" anchor="ctr">
            <a:normAutofit/>
          </a:bodyPr>
          <a:lstStyle/>
          <a:p>
            <a:pPr indent="0" marL="0">
              <a:buNone/>
            </a:pPr>
            <a:r>
              <a:rPr lang="en-US" sz="1420" b="1" dirty="0">
                <a:solidFill>
                  <a:srgbClr val="2F3542"/>
                </a:solidFill>
                <a:latin typeface="Pretendard" pitchFamily="34" charset="0"/>
                <a:ea typeface="Pretendard" pitchFamily="34" charset="-122"/>
                <a:cs typeface="Pretendard" pitchFamily="34" charset="-120"/>
              </a:rPr>
              <a:t>건물연령</a:t>
            </a:r>
            <a:endParaRPr lang="en-US" sz="1420" dirty="0"/>
          </a:p>
        </p:txBody>
      </p:sp>
      <p:sp>
        <p:nvSpPr>
          <p:cNvPr id="22" name="Shape 20"/>
          <p:cNvSpPr/>
          <p:nvPr/>
        </p:nvSpPr>
        <p:spPr>
          <a:xfrm>
            <a:off x="3776472" y="3200400"/>
            <a:ext cx="3246120" cy="219456"/>
          </a:xfrm>
          <a:prstGeom prst="rect">
            <a:avLst/>
          </a:prstGeom>
          <a:solidFill>
            <a:srgbClr val="E3E8EF"/>
          </a:solidFill>
          <a:ln w="7620">
            <a:solidFill>
              <a:srgbClr val="E3E8EF"/>
            </a:solidFill>
            <a:prstDash val="solid"/>
          </a:ln>
        </p:spPr>
      </p:sp>
      <p:sp>
        <p:nvSpPr>
          <p:cNvPr id="23" name="Shape 21"/>
          <p:cNvSpPr/>
          <p:nvPr/>
        </p:nvSpPr>
        <p:spPr>
          <a:xfrm>
            <a:off x="3776472" y="3200400"/>
            <a:ext cx="2506196" cy="219456"/>
          </a:xfrm>
          <a:prstGeom prst="rect">
            <a:avLst/>
          </a:prstGeom>
          <a:solidFill>
            <a:srgbClr val="426A9B"/>
          </a:solidFill>
          <a:ln w="7620">
            <a:solidFill>
              <a:srgbClr val="426A9B"/>
            </a:solidFill>
            <a:prstDash val="solid"/>
          </a:ln>
        </p:spPr>
      </p:sp>
      <p:sp>
        <p:nvSpPr>
          <p:cNvPr id="24" name="Text 22"/>
          <p:cNvSpPr/>
          <p:nvPr/>
        </p:nvSpPr>
        <p:spPr>
          <a:xfrm>
            <a:off x="7114032" y="3136392"/>
            <a:ext cx="658368" cy="292608"/>
          </a:xfrm>
          <a:prstGeom prst="rect">
            <a:avLst/>
          </a:prstGeom>
          <a:noFill/>
          <a:ln/>
        </p:spPr>
        <p:txBody>
          <a:bodyPr wrap="square" lIns="508" tIns="508" rIns="508" bIns="508" rtlCol="0" anchor="ctr">
            <a:normAutofit/>
          </a:bodyPr>
          <a:lstStyle/>
          <a:p>
            <a:pPr indent="0" marL="0">
              <a:buNone/>
            </a:pPr>
            <a:r>
              <a:rPr lang="en-US" sz="1280" b="1" dirty="0">
                <a:solidFill>
                  <a:srgbClr val="26354F"/>
                </a:solidFill>
                <a:latin typeface="Pretendard" pitchFamily="34" charset="0"/>
                <a:ea typeface="Pretendard" pitchFamily="34" charset="-122"/>
                <a:cs typeface="Pretendard" pitchFamily="34" charset="-120"/>
              </a:rPr>
              <a:t>10.5%</a:t>
            </a:r>
            <a:endParaRPr lang="en-US" sz="1280" dirty="0"/>
          </a:p>
        </p:txBody>
      </p:sp>
      <p:sp>
        <p:nvSpPr>
          <p:cNvPr id="25" name="Text 23"/>
          <p:cNvSpPr/>
          <p:nvPr/>
        </p:nvSpPr>
        <p:spPr>
          <a:xfrm>
            <a:off x="960120" y="3621024"/>
            <a:ext cx="292608" cy="219456"/>
          </a:xfrm>
          <a:prstGeom prst="rect">
            <a:avLst/>
          </a:prstGeom>
          <a:solidFill>
            <a:srgbClr val="4B7F68"/>
          </a:solidFill>
          <a:ln/>
        </p:spPr>
        <p:txBody>
          <a:bodyPr wrap="square" lIns="508" tIns="508" rIns="508" bIns="508" rtlCol="0" anchor="ctr">
            <a:normAutofit/>
          </a:bodyPr>
          <a:lstStyle/>
          <a:p>
            <a:pPr algn="ctr" indent="0" marL="0">
              <a:buNone/>
            </a:pPr>
            <a:r>
              <a:rPr lang="en-US" sz="1250" b="1" dirty="0">
                <a:solidFill>
                  <a:srgbClr val="FFFFFF"/>
                </a:solidFill>
                <a:latin typeface="Pretendard" pitchFamily="34" charset="0"/>
                <a:ea typeface="Pretendard" pitchFamily="34" charset="-122"/>
                <a:cs typeface="Pretendard" pitchFamily="34" charset="-120"/>
              </a:rPr>
              <a:t>4</a:t>
            </a:r>
            <a:endParaRPr lang="en-US" sz="1250" dirty="0"/>
          </a:p>
        </p:txBody>
      </p:sp>
      <p:sp>
        <p:nvSpPr>
          <p:cNvPr id="26" name="Text 24"/>
          <p:cNvSpPr/>
          <p:nvPr/>
        </p:nvSpPr>
        <p:spPr>
          <a:xfrm>
            <a:off x="1371600" y="3593592"/>
            <a:ext cx="2286000" cy="310896"/>
          </a:xfrm>
          <a:prstGeom prst="rect">
            <a:avLst/>
          </a:prstGeom>
          <a:noFill/>
          <a:ln/>
        </p:spPr>
        <p:txBody>
          <a:bodyPr wrap="square" lIns="508" tIns="508" rIns="508" bIns="508" rtlCol="0" anchor="ctr">
            <a:normAutofit/>
          </a:bodyPr>
          <a:lstStyle/>
          <a:p>
            <a:pPr indent="0" marL="0">
              <a:buNone/>
            </a:pPr>
            <a:r>
              <a:rPr lang="en-US" sz="1420" b="1" dirty="0">
                <a:solidFill>
                  <a:srgbClr val="2F3542"/>
                </a:solidFill>
                <a:latin typeface="Pretendard" pitchFamily="34" charset="0"/>
                <a:ea typeface="Pretendard" pitchFamily="34" charset="-122"/>
                <a:cs typeface="Pretendard" pitchFamily="34" charset="-120"/>
              </a:rPr>
              <a:t>어린이집 1km 개수</a:t>
            </a:r>
            <a:endParaRPr lang="en-US" sz="1420" dirty="0"/>
          </a:p>
        </p:txBody>
      </p:sp>
      <p:sp>
        <p:nvSpPr>
          <p:cNvPr id="27" name="Shape 25"/>
          <p:cNvSpPr/>
          <p:nvPr/>
        </p:nvSpPr>
        <p:spPr>
          <a:xfrm>
            <a:off x="3776472" y="3657600"/>
            <a:ext cx="3246120" cy="219456"/>
          </a:xfrm>
          <a:prstGeom prst="rect">
            <a:avLst/>
          </a:prstGeom>
          <a:solidFill>
            <a:srgbClr val="E3E8EF"/>
          </a:solidFill>
          <a:ln w="7620">
            <a:solidFill>
              <a:srgbClr val="E3E8EF"/>
            </a:solidFill>
            <a:prstDash val="solid"/>
          </a:ln>
        </p:spPr>
      </p:sp>
      <p:sp>
        <p:nvSpPr>
          <p:cNvPr id="28" name="Shape 26"/>
          <p:cNvSpPr/>
          <p:nvPr/>
        </p:nvSpPr>
        <p:spPr>
          <a:xfrm>
            <a:off x="3776472" y="3657600"/>
            <a:ext cx="1312769" cy="219456"/>
          </a:xfrm>
          <a:prstGeom prst="rect">
            <a:avLst/>
          </a:prstGeom>
          <a:solidFill>
            <a:srgbClr val="4B7F68"/>
          </a:solidFill>
          <a:ln w="7620">
            <a:solidFill>
              <a:srgbClr val="4B7F68"/>
            </a:solidFill>
            <a:prstDash val="solid"/>
          </a:ln>
        </p:spPr>
      </p:sp>
      <p:sp>
        <p:nvSpPr>
          <p:cNvPr id="29" name="Text 27"/>
          <p:cNvSpPr/>
          <p:nvPr/>
        </p:nvSpPr>
        <p:spPr>
          <a:xfrm>
            <a:off x="7114032" y="3593592"/>
            <a:ext cx="658368" cy="292608"/>
          </a:xfrm>
          <a:prstGeom prst="rect">
            <a:avLst/>
          </a:prstGeom>
          <a:noFill/>
          <a:ln/>
        </p:spPr>
        <p:txBody>
          <a:bodyPr wrap="square" lIns="508" tIns="508" rIns="508" bIns="508" rtlCol="0" anchor="ctr">
            <a:normAutofit/>
          </a:bodyPr>
          <a:lstStyle/>
          <a:p>
            <a:pPr indent="0" marL="0">
              <a:buNone/>
            </a:pPr>
            <a:r>
              <a:rPr lang="en-US" sz="1280" b="1" dirty="0">
                <a:solidFill>
                  <a:srgbClr val="26354F"/>
                </a:solidFill>
                <a:latin typeface="Pretendard" pitchFamily="34" charset="0"/>
                <a:ea typeface="Pretendard" pitchFamily="34" charset="-122"/>
                <a:cs typeface="Pretendard" pitchFamily="34" charset="-120"/>
              </a:rPr>
              <a:t>5.5%</a:t>
            </a:r>
            <a:endParaRPr lang="en-US" sz="1280" dirty="0"/>
          </a:p>
        </p:txBody>
      </p:sp>
      <p:sp>
        <p:nvSpPr>
          <p:cNvPr id="30" name="Text 28"/>
          <p:cNvSpPr/>
          <p:nvPr/>
        </p:nvSpPr>
        <p:spPr>
          <a:xfrm>
            <a:off x="960120" y="4078224"/>
            <a:ext cx="292608" cy="219456"/>
          </a:xfrm>
          <a:prstGeom prst="rect">
            <a:avLst/>
          </a:prstGeom>
          <a:solidFill>
            <a:srgbClr val="344865"/>
          </a:solidFill>
          <a:ln/>
        </p:spPr>
        <p:txBody>
          <a:bodyPr wrap="square" lIns="508" tIns="508" rIns="508" bIns="508" rtlCol="0" anchor="ctr">
            <a:normAutofit/>
          </a:bodyPr>
          <a:lstStyle/>
          <a:p>
            <a:pPr algn="ctr" indent="0" marL="0">
              <a:buNone/>
            </a:pPr>
            <a:r>
              <a:rPr lang="en-US" sz="1250" b="1" dirty="0">
                <a:solidFill>
                  <a:srgbClr val="FFFFFF"/>
                </a:solidFill>
                <a:latin typeface="Pretendard" pitchFamily="34" charset="0"/>
                <a:ea typeface="Pretendard" pitchFamily="34" charset="-122"/>
                <a:cs typeface="Pretendard" pitchFamily="34" charset="-120"/>
              </a:rPr>
              <a:t>5</a:t>
            </a:r>
            <a:endParaRPr lang="en-US" sz="1250" dirty="0"/>
          </a:p>
        </p:txBody>
      </p:sp>
      <p:sp>
        <p:nvSpPr>
          <p:cNvPr id="31" name="Text 29"/>
          <p:cNvSpPr/>
          <p:nvPr/>
        </p:nvSpPr>
        <p:spPr>
          <a:xfrm>
            <a:off x="1371600" y="4050792"/>
            <a:ext cx="2286000" cy="310896"/>
          </a:xfrm>
          <a:prstGeom prst="rect">
            <a:avLst/>
          </a:prstGeom>
          <a:noFill/>
          <a:ln/>
        </p:spPr>
        <p:txBody>
          <a:bodyPr wrap="square" lIns="508" tIns="508" rIns="508" bIns="508" rtlCol="0" anchor="ctr">
            <a:normAutofit/>
          </a:bodyPr>
          <a:lstStyle/>
          <a:p>
            <a:pPr indent="0" marL="0">
              <a:buNone/>
            </a:pPr>
            <a:r>
              <a:rPr lang="en-US" sz="1420" b="1" dirty="0">
                <a:solidFill>
                  <a:srgbClr val="2F3542"/>
                </a:solidFill>
                <a:latin typeface="Pretendard" pitchFamily="34" charset="0"/>
                <a:ea typeface="Pretendard" pitchFamily="34" charset="-122"/>
                <a:cs typeface="Pretendard" pitchFamily="34" charset="-120"/>
              </a:rPr>
              <a:t>소비자물가지수</a:t>
            </a:r>
            <a:endParaRPr lang="en-US" sz="1420" dirty="0"/>
          </a:p>
        </p:txBody>
      </p:sp>
      <p:sp>
        <p:nvSpPr>
          <p:cNvPr id="32" name="Shape 30"/>
          <p:cNvSpPr/>
          <p:nvPr/>
        </p:nvSpPr>
        <p:spPr>
          <a:xfrm>
            <a:off x="3776472" y="4114800"/>
            <a:ext cx="3246120" cy="219456"/>
          </a:xfrm>
          <a:prstGeom prst="rect">
            <a:avLst/>
          </a:prstGeom>
          <a:solidFill>
            <a:srgbClr val="E3E8EF"/>
          </a:solidFill>
          <a:ln w="7620">
            <a:solidFill>
              <a:srgbClr val="E3E8EF"/>
            </a:solidFill>
            <a:prstDash val="solid"/>
          </a:ln>
        </p:spPr>
      </p:sp>
      <p:sp>
        <p:nvSpPr>
          <p:cNvPr id="33" name="Shape 31"/>
          <p:cNvSpPr/>
          <p:nvPr/>
        </p:nvSpPr>
        <p:spPr>
          <a:xfrm>
            <a:off x="3776472" y="4114800"/>
            <a:ext cx="1121821" cy="219456"/>
          </a:xfrm>
          <a:prstGeom prst="rect">
            <a:avLst/>
          </a:prstGeom>
          <a:solidFill>
            <a:srgbClr val="344865"/>
          </a:solidFill>
          <a:ln w="7620">
            <a:solidFill>
              <a:srgbClr val="344865"/>
            </a:solidFill>
            <a:prstDash val="solid"/>
          </a:ln>
        </p:spPr>
      </p:sp>
      <p:sp>
        <p:nvSpPr>
          <p:cNvPr id="34" name="Text 32"/>
          <p:cNvSpPr/>
          <p:nvPr/>
        </p:nvSpPr>
        <p:spPr>
          <a:xfrm>
            <a:off x="7114032" y="4050792"/>
            <a:ext cx="658368" cy="292608"/>
          </a:xfrm>
          <a:prstGeom prst="rect">
            <a:avLst/>
          </a:prstGeom>
          <a:noFill/>
          <a:ln/>
        </p:spPr>
        <p:txBody>
          <a:bodyPr wrap="square" lIns="508" tIns="508" rIns="508" bIns="508" rtlCol="0" anchor="ctr">
            <a:normAutofit/>
          </a:bodyPr>
          <a:lstStyle/>
          <a:p>
            <a:pPr indent="0" marL="0">
              <a:buNone/>
            </a:pPr>
            <a:r>
              <a:rPr lang="en-US" sz="1280" b="1" dirty="0">
                <a:solidFill>
                  <a:srgbClr val="26354F"/>
                </a:solidFill>
                <a:latin typeface="Pretendard" pitchFamily="34" charset="0"/>
                <a:ea typeface="Pretendard" pitchFamily="34" charset="-122"/>
                <a:cs typeface="Pretendard" pitchFamily="34" charset="-120"/>
              </a:rPr>
              <a:t>4.7%</a:t>
            </a:r>
            <a:endParaRPr lang="en-US" sz="1280" dirty="0"/>
          </a:p>
        </p:txBody>
      </p:sp>
      <p:sp>
        <p:nvSpPr>
          <p:cNvPr id="35" name="Text 33"/>
          <p:cNvSpPr/>
          <p:nvPr/>
        </p:nvSpPr>
        <p:spPr>
          <a:xfrm>
            <a:off x="960120" y="4535424"/>
            <a:ext cx="292608" cy="219456"/>
          </a:xfrm>
          <a:prstGeom prst="rect">
            <a:avLst/>
          </a:prstGeom>
          <a:solidFill>
            <a:srgbClr val="4B7F68"/>
          </a:solidFill>
          <a:ln/>
        </p:spPr>
        <p:txBody>
          <a:bodyPr wrap="square" lIns="508" tIns="508" rIns="508" bIns="508" rtlCol="0" anchor="ctr">
            <a:normAutofit/>
          </a:bodyPr>
          <a:lstStyle/>
          <a:p>
            <a:pPr algn="ctr" indent="0" marL="0">
              <a:buNone/>
            </a:pPr>
            <a:r>
              <a:rPr lang="en-US" sz="1250" b="1" dirty="0">
                <a:solidFill>
                  <a:srgbClr val="FFFFFF"/>
                </a:solidFill>
                <a:latin typeface="Pretendard" pitchFamily="34" charset="0"/>
                <a:ea typeface="Pretendard" pitchFamily="34" charset="-122"/>
                <a:cs typeface="Pretendard" pitchFamily="34" charset="-120"/>
              </a:rPr>
              <a:t>6</a:t>
            </a:r>
            <a:endParaRPr lang="en-US" sz="1250" dirty="0"/>
          </a:p>
        </p:txBody>
      </p:sp>
      <p:sp>
        <p:nvSpPr>
          <p:cNvPr id="36" name="Text 34"/>
          <p:cNvSpPr/>
          <p:nvPr/>
        </p:nvSpPr>
        <p:spPr>
          <a:xfrm>
            <a:off x="1371600" y="4507992"/>
            <a:ext cx="2286000" cy="310896"/>
          </a:xfrm>
          <a:prstGeom prst="rect">
            <a:avLst/>
          </a:prstGeom>
          <a:noFill/>
          <a:ln/>
        </p:spPr>
        <p:txBody>
          <a:bodyPr wrap="square" lIns="508" tIns="508" rIns="508" bIns="508" rtlCol="0" anchor="ctr">
            <a:normAutofit/>
          </a:bodyPr>
          <a:lstStyle/>
          <a:p>
            <a:pPr indent="0" marL="0">
              <a:buNone/>
            </a:pPr>
            <a:r>
              <a:rPr lang="en-US" sz="1420" b="1" dirty="0">
                <a:solidFill>
                  <a:srgbClr val="2F3542"/>
                </a:solidFill>
                <a:latin typeface="Pretendard" pitchFamily="34" charset="0"/>
                <a:ea typeface="Pretendard" pitchFamily="34" charset="-122"/>
                <a:cs typeface="Pretendard" pitchFamily="34" charset="-120"/>
              </a:rPr>
              <a:t>지하철 1km 역수</a:t>
            </a:r>
            <a:endParaRPr lang="en-US" sz="1420" dirty="0"/>
          </a:p>
        </p:txBody>
      </p:sp>
      <p:sp>
        <p:nvSpPr>
          <p:cNvPr id="37" name="Shape 35"/>
          <p:cNvSpPr/>
          <p:nvPr/>
        </p:nvSpPr>
        <p:spPr>
          <a:xfrm>
            <a:off x="3776472" y="4572000"/>
            <a:ext cx="3246120" cy="219456"/>
          </a:xfrm>
          <a:prstGeom prst="rect">
            <a:avLst/>
          </a:prstGeom>
          <a:solidFill>
            <a:srgbClr val="E3E8EF"/>
          </a:solidFill>
          <a:ln w="7620">
            <a:solidFill>
              <a:srgbClr val="E3E8EF"/>
            </a:solidFill>
            <a:prstDash val="solid"/>
          </a:ln>
        </p:spPr>
      </p:sp>
      <p:sp>
        <p:nvSpPr>
          <p:cNvPr id="38" name="Shape 36"/>
          <p:cNvSpPr/>
          <p:nvPr/>
        </p:nvSpPr>
        <p:spPr>
          <a:xfrm>
            <a:off x="3776472" y="4572000"/>
            <a:ext cx="1050215" cy="219456"/>
          </a:xfrm>
          <a:prstGeom prst="rect">
            <a:avLst/>
          </a:prstGeom>
          <a:solidFill>
            <a:srgbClr val="4B7F68"/>
          </a:solidFill>
          <a:ln w="7620">
            <a:solidFill>
              <a:srgbClr val="4B7F68"/>
            </a:solidFill>
            <a:prstDash val="solid"/>
          </a:ln>
        </p:spPr>
      </p:sp>
      <p:sp>
        <p:nvSpPr>
          <p:cNvPr id="39" name="Text 37"/>
          <p:cNvSpPr/>
          <p:nvPr/>
        </p:nvSpPr>
        <p:spPr>
          <a:xfrm>
            <a:off x="7114032" y="4507992"/>
            <a:ext cx="658368" cy="292608"/>
          </a:xfrm>
          <a:prstGeom prst="rect">
            <a:avLst/>
          </a:prstGeom>
          <a:noFill/>
          <a:ln/>
        </p:spPr>
        <p:txBody>
          <a:bodyPr wrap="square" lIns="508" tIns="508" rIns="508" bIns="508" rtlCol="0" anchor="ctr">
            <a:normAutofit/>
          </a:bodyPr>
          <a:lstStyle/>
          <a:p>
            <a:pPr indent="0" marL="0">
              <a:buNone/>
            </a:pPr>
            <a:r>
              <a:rPr lang="en-US" sz="1280" b="1" dirty="0">
                <a:solidFill>
                  <a:srgbClr val="26354F"/>
                </a:solidFill>
                <a:latin typeface="Pretendard" pitchFamily="34" charset="0"/>
                <a:ea typeface="Pretendard" pitchFamily="34" charset="-122"/>
                <a:cs typeface="Pretendard" pitchFamily="34" charset="-120"/>
              </a:rPr>
              <a:t>4.4%</a:t>
            </a:r>
            <a:endParaRPr lang="en-US" sz="1280" dirty="0"/>
          </a:p>
        </p:txBody>
      </p:sp>
      <p:sp>
        <p:nvSpPr>
          <p:cNvPr id="40" name="Text 38"/>
          <p:cNvSpPr/>
          <p:nvPr/>
        </p:nvSpPr>
        <p:spPr>
          <a:xfrm>
            <a:off x="960120" y="4992624"/>
            <a:ext cx="292608" cy="219456"/>
          </a:xfrm>
          <a:prstGeom prst="rect">
            <a:avLst/>
          </a:prstGeom>
          <a:solidFill>
            <a:srgbClr val="4B7F68"/>
          </a:solidFill>
          <a:ln/>
        </p:spPr>
        <p:txBody>
          <a:bodyPr wrap="square" lIns="508" tIns="508" rIns="508" bIns="508" rtlCol="0" anchor="ctr">
            <a:normAutofit/>
          </a:bodyPr>
          <a:lstStyle/>
          <a:p>
            <a:pPr algn="ctr" indent="0" marL="0">
              <a:buNone/>
            </a:pPr>
            <a:r>
              <a:rPr lang="en-US" sz="1250" b="1" dirty="0">
                <a:solidFill>
                  <a:srgbClr val="FFFFFF"/>
                </a:solidFill>
                <a:latin typeface="Pretendard" pitchFamily="34" charset="0"/>
                <a:ea typeface="Pretendard" pitchFamily="34" charset="-122"/>
                <a:cs typeface="Pretendard" pitchFamily="34" charset="-120"/>
              </a:rPr>
              <a:t>7</a:t>
            </a:r>
            <a:endParaRPr lang="en-US" sz="1250" dirty="0"/>
          </a:p>
        </p:txBody>
      </p:sp>
      <p:sp>
        <p:nvSpPr>
          <p:cNvPr id="41" name="Text 39"/>
          <p:cNvSpPr/>
          <p:nvPr/>
        </p:nvSpPr>
        <p:spPr>
          <a:xfrm>
            <a:off x="1371600" y="4965192"/>
            <a:ext cx="2286000" cy="310896"/>
          </a:xfrm>
          <a:prstGeom prst="rect">
            <a:avLst/>
          </a:prstGeom>
          <a:noFill/>
          <a:ln/>
        </p:spPr>
        <p:txBody>
          <a:bodyPr wrap="square" lIns="508" tIns="508" rIns="508" bIns="508" rtlCol="0" anchor="ctr">
            <a:normAutofit/>
          </a:bodyPr>
          <a:lstStyle/>
          <a:p>
            <a:pPr indent="0" marL="0">
              <a:buNone/>
            </a:pPr>
            <a:r>
              <a:rPr lang="en-US" sz="1420" b="1" dirty="0">
                <a:solidFill>
                  <a:srgbClr val="2F3542"/>
                </a:solidFill>
                <a:latin typeface="Pretendard" pitchFamily="34" charset="0"/>
                <a:ea typeface="Pretendard" pitchFamily="34" charset="-122"/>
                <a:cs typeface="Pretendard" pitchFamily="34" charset="-120"/>
              </a:rPr>
              <a:t>학원 1km 개수</a:t>
            </a:r>
            <a:endParaRPr lang="en-US" sz="1420" dirty="0"/>
          </a:p>
        </p:txBody>
      </p:sp>
      <p:sp>
        <p:nvSpPr>
          <p:cNvPr id="42" name="Shape 40"/>
          <p:cNvSpPr/>
          <p:nvPr/>
        </p:nvSpPr>
        <p:spPr>
          <a:xfrm>
            <a:off x="3776472" y="5029200"/>
            <a:ext cx="3246120" cy="219456"/>
          </a:xfrm>
          <a:prstGeom prst="rect">
            <a:avLst/>
          </a:prstGeom>
          <a:solidFill>
            <a:srgbClr val="E3E8EF"/>
          </a:solidFill>
          <a:ln w="7620">
            <a:solidFill>
              <a:srgbClr val="E3E8EF"/>
            </a:solidFill>
            <a:prstDash val="solid"/>
          </a:ln>
        </p:spPr>
      </p:sp>
      <p:sp>
        <p:nvSpPr>
          <p:cNvPr id="43" name="Shape 41"/>
          <p:cNvSpPr/>
          <p:nvPr/>
        </p:nvSpPr>
        <p:spPr>
          <a:xfrm>
            <a:off x="3776472" y="5029200"/>
            <a:ext cx="1002478" cy="219456"/>
          </a:xfrm>
          <a:prstGeom prst="rect">
            <a:avLst/>
          </a:prstGeom>
          <a:solidFill>
            <a:srgbClr val="4B7F68"/>
          </a:solidFill>
          <a:ln w="7620">
            <a:solidFill>
              <a:srgbClr val="4B7F68"/>
            </a:solidFill>
            <a:prstDash val="solid"/>
          </a:ln>
        </p:spPr>
      </p:sp>
      <p:sp>
        <p:nvSpPr>
          <p:cNvPr id="44" name="Text 42"/>
          <p:cNvSpPr/>
          <p:nvPr/>
        </p:nvSpPr>
        <p:spPr>
          <a:xfrm>
            <a:off x="7114032" y="4965192"/>
            <a:ext cx="658368" cy="292608"/>
          </a:xfrm>
          <a:prstGeom prst="rect">
            <a:avLst/>
          </a:prstGeom>
          <a:noFill/>
          <a:ln/>
        </p:spPr>
        <p:txBody>
          <a:bodyPr wrap="square" lIns="508" tIns="508" rIns="508" bIns="508" rtlCol="0" anchor="ctr">
            <a:normAutofit/>
          </a:bodyPr>
          <a:lstStyle/>
          <a:p>
            <a:pPr indent="0" marL="0">
              <a:buNone/>
            </a:pPr>
            <a:r>
              <a:rPr lang="en-US" sz="1280" b="1" dirty="0">
                <a:solidFill>
                  <a:srgbClr val="26354F"/>
                </a:solidFill>
                <a:latin typeface="Pretendard" pitchFamily="34" charset="0"/>
                <a:ea typeface="Pretendard" pitchFamily="34" charset="-122"/>
                <a:cs typeface="Pretendard" pitchFamily="34" charset="-120"/>
              </a:rPr>
              <a:t>4.2%</a:t>
            </a:r>
            <a:endParaRPr lang="en-US" sz="1280" dirty="0"/>
          </a:p>
        </p:txBody>
      </p:sp>
      <p:sp>
        <p:nvSpPr>
          <p:cNvPr id="45" name="Shape 43"/>
          <p:cNvSpPr/>
          <p:nvPr/>
        </p:nvSpPr>
        <p:spPr>
          <a:xfrm>
            <a:off x="8001000" y="1444752"/>
            <a:ext cx="3429000" cy="4498848"/>
          </a:xfrm>
          <a:prstGeom prst="rect">
            <a:avLst/>
          </a:prstGeom>
          <a:solidFill>
            <a:srgbClr val="F4F6F9"/>
          </a:solidFill>
          <a:ln w="7620">
            <a:solidFill>
              <a:srgbClr val="D4DAE3"/>
            </a:solidFill>
            <a:prstDash val="solid"/>
          </a:ln>
        </p:spPr>
      </p:sp>
      <p:sp>
        <p:nvSpPr>
          <p:cNvPr id="46" name="Text 44"/>
          <p:cNvSpPr/>
          <p:nvPr/>
        </p:nvSpPr>
        <p:spPr>
          <a:xfrm>
            <a:off x="8275320" y="1783080"/>
            <a:ext cx="1828800" cy="292608"/>
          </a:xfrm>
          <a:prstGeom prst="rect">
            <a:avLst/>
          </a:prstGeom>
          <a:noFill/>
          <a:ln/>
        </p:spPr>
        <p:txBody>
          <a:bodyPr wrap="square" lIns="508" tIns="508" rIns="508" bIns="508" rtlCol="0" anchor="ctr">
            <a:normAutofit/>
          </a:bodyPr>
          <a:lstStyle/>
          <a:p>
            <a:pPr indent="0" marL="0">
              <a:buNone/>
            </a:pPr>
            <a:r>
              <a:rPr lang="en-US" sz="1700" b="1" dirty="0">
                <a:solidFill>
                  <a:srgbClr val="26354F"/>
                </a:solidFill>
                <a:latin typeface="Pretendard" pitchFamily="34" charset="0"/>
                <a:ea typeface="Pretendard" pitchFamily="34" charset="-122"/>
                <a:cs typeface="Pretendard" pitchFamily="34" charset="-120"/>
              </a:rPr>
              <a:t>해석 포인트</a:t>
            </a:r>
            <a:endParaRPr lang="en-US" sz="1700" dirty="0"/>
          </a:p>
        </p:txBody>
      </p:sp>
      <p:sp>
        <p:nvSpPr>
          <p:cNvPr id="47" name="Shape 45"/>
          <p:cNvSpPr/>
          <p:nvPr/>
        </p:nvSpPr>
        <p:spPr>
          <a:xfrm>
            <a:off x="8275320" y="2331720"/>
            <a:ext cx="2880360" cy="1078992"/>
          </a:xfrm>
          <a:prstGeom prst="rect">
            <a:avLst/>
          </a:prstGeom>
          <a:solidFill>
            <a:srgbClr val="F4F6F9"/>
          </a:solidFill>
          <a:ln w="7620">
            <a:solidFill>
              <a:srgbClr val="D4DAE3"/>
            </a:solidFill>
            <a:prstDash val="solid"/>
          </a:ln>
        </p:spPr>
      </p:sp>
      <p:sp>
        <p:nvSpPr>
          <p:cNvPr id="48" name="Text 46"/>
          <p:cNvSpPr/>
          <p:nvPr/>
        </p:nvSpPr>
        <p:spPr>
          <a:xfrm>
            <a:off x="8385048" y="2496312"/>
            <a:ext cx="2660904" cy="438912"/>
          </a:xfrm>
          <a:prstGeom prst="rect">
            <a:avLst/>
          </a:prstGeom>
          <a:noFill/>
          <a:ln/>
        </p:spPr>
        <p:txBody>
          <a:bodyPr wrap="square" lIns="508" tIns="508" rIns="508" bIns="508" rtlCol="0" anchor="ctr">
            <a:normAutofit/>
          </a:bodyPr>
          <a:lstStyle/>
          <a:p>
            <a:pPr algn="ctr" indent="0" marL="0">
              <a:buNone/>
            </a:pPr>
            <a:r>
              <a:rPr lang="en-US" sz="2500" b="1" dirty="0">
                <a:solidFill>
                  <a:srgbClr val="4B7F68"/>
                </a:solidFill>
                <a:latin typeface="Pretendard" pitchFamily="34" charset="0"/>
                <a:ea typeface="Pretendard" pitchFamily="34" charset="-122"/>
                <a:cs typeface="Pretendard" pitchFamily="34" charset="-120"/>
              </a:rPr>
              <a:t>9개</a:t>
            </a:r>
            <a:endParaRPr lang="en-US" sz="2500" dirty="0"/>
          </a:p>
        </p:txBody>
      </p:sp>
      <p:sp>
        <p:nvSpPr>
          <p:cNvPr id="49" name="Text 47"/>
          <p:cNvSpPr/>
          <p:nvPr/>
        </p:nvSpPr>
        <p:spPr>
          <a:xfrm>
            <a:off x="8412480" y="3044952"/>
            <a:ext cx="2606040" cy="384048"/>
          </a:xfrm>
          <a:prstGeom prst="rect">
            <a:avLst/>
          </a:prstGeom>
          <a:noFill/>
          <a:ln/>
        </p:spPr>
        <p:txBody>
          <a:bodyPr wrap="square" lIns="508" tIns="508" rIns="508" bIns="508" rtlCol="0" anchor="ctr">
            <a:normAutofit/>
          </a:bodyPr>
          <a:lstStyle/>
          <a:p>
            <a:pPr algn="ctr" indent="0" marL="0">
              <a:buNone/>
            </a:pPr>
            <a:r>
              <a:rPr lang="en-US" sz="1320" dirty="0">
                <a:solidFill>
                  <a:srgbClr val="2F3542"/>
                </a:solidFill>
                <a:latin typeface="Pretendard" pitchFamily="34" charset="0"/>
                <a:ea typeface="Pretendard" pitchFamily="34" charset="-122"/>
                <a:cs typeface="Pretendard" pitchFamily="34" charset="-120"/>
              </a:rPr>
              <a:t>상위 15개 중</a:t>
            </a:r>
            <a:endParaRPr lang="en-US" sz="1320" dirty="0"/>
          </a:p>
          <a:p>
            <a:pPr algn="ctr" indent="0" marL="0">
              <a:buNone/>
            </a:pPr>
            <a:r>
              <a:rPr lang="en-US" sz="1320" dirty="0">
                <a:solidFill>
                  <a:srgbClr val="2F3542"/>
                </a:solidFill>
                <a:latin typeface="Pretendard" pitchFamily="34" charset="0"/>
                <a:ea typeface="Pretendard" pitchFamily="34" charset="-122"/>
                <a:cs typeface="Pretendard" pitchFamily="34" charset="-120"/>
              </a:rPr>
              <a:t>거리 기반 변수</a:t>
            </a:r>
            <a:endParaRPr lang="en-US" sz="1320" dirty="0"/>
          </a:p>
        </p:txBody>
      </p:sp>
      <p:sp>
        <p:nvSpPr>
          <p:cNvPr id="50" name="Shape 48"/>
          <p:cNvSpPr/>
          <p:nvPr/>
        </p:nvSpPr>
        <p:spPr>
          <a:xfrm>
            <a:off x="8275320" y="3657600"/>
            <a:ext cx="2880360" cy="1078992"/>
          </a:xfrm>
          <a:prstGeom prst="rect">
            <a:avLst/>
          </a:prstGeom>
          <a:solidFill>
            <a:srgbClr val="F4F6F9"/>
          </a:solidFill>
          <a:ln w="7620">
            <a:solidFill>
              <a:srgbClr val="D4DAE3"/>
            </a:solidFill>
            <a:prstDash val="solid"/>
          </a:ln>
        </p:spPr>
      </p:sp>
      <p:sp>
        <p:nvSpPr>
          <p:cNvPr id="51" name="Text 49"/>
          <p:cNvSpPr/>
          <p:nvPr/>
        </p:nvSpPr>
        <p:spPr>
          <a:xfrm>
            <a:off x="8385048" y="3822192"/>
            <a:ext cx="2660904" cy="438912"/>
          </a:xfrm>
          <a:prstGeom prst="rect">
            <a:avLst/>
          </a:prstGeom>
          <a:noFill/>
          <a:ln/>
        </p:spPr>
        <p:txBody>
          <a:bodyPr wrap="square" lIns="508" tIns="508" rIns="508" bIns="508" rtlCol="0" anchor="ctr">
            <a:normAutofit/>
          </a:bodyPr>
          <a:lstStyle/>
          <a:p>
            <a:pPr algn="ctr" indent="0" marL="0">
              <a:buNone/>
            </a:pPr>
            <a:r>
              <a:rPr lang="en-US" sz="2500" b="1" dirty="0">
                <a:solidFill>
                  <a:srgbClr val="B8443E"/>
                </a:solidFill>
                <a:latin typeface="Pretendard" pitchFamily="34" charset="0"/>
                <a:ea typeface="Pretendard" pitchFamily="34" charset="-122"/>
                <a:cs typeface="Pretendard" pitchFamily="34" charset="-120"/>
              </a:rPr>
              <a:t>32.6%</a:t>
            </a:r>
            <a:endParaRPr lang="en-US" sz="2500" dirty="0"/>
          </a:p>
        </p:txBody>
      </p:sp>
      <p:sp>
        <p:nvSpPr>
          <p:cNvPr id="52" name="Text 50"/>
          <p:cNvSpPr/>
          <p:nvPr/>
        </p:nvSpPr>
        <p:spPr>
          <a:xfrm>
            <a:off x="8412480" y="4370832"/>
            <a:ext cx="2606040" cy="384048"/>
          </a:xfrm>
          <a:prstGeom prst="rect">
            <a:avLst/>
          </a:prstGeom>
          <a:noFill/>
          <a:ln/>
        </p:spPr>
        <p:txBody>
          <a:bodyPr wrap="square" lIns="508" tIns="508" rIns="508" bIns="508" rtlCol="0" anchor="ctr">
            <a:normAutofit/>
          </a:bodyPr>
          <a:lstStyle/>
          <a:p>
            <a:pPr algn="ctr" indent="0" marL="0">
              <a:buNone/>
            </a:pPr>
            <a:r>
              <a:rPr lang="en-US" sz="1320" dirty="0">
                <a:solidFill>
                  <a:srgbClr val="2F3542"/>
                </a:solidFill>
                <a:latin typeface="Pretendard" pitchFamily="34" charset="0"/>
                <a:ea typeface="Pretendard" pitchFamily="34" charset="-122"/>
                <a:cs typeface="Pretendard" pitchFamily="34" charset="-120"/>
              </a:rPr>
              <a:t>거리 기반 변수</a:t>
            </a:r>
            <a:endParaRPr lang="en-US" sz="1320" dirty="0"/>
          </a:p>
          <a:p>
            <a:pPr algn="ctr" indent="0" marL="0">
              <a:buNone/>
            </a:pPr>
            <a:r>
              <a:rPr lang="en-US" sz="1320" dirty="0">
                <a:solidFill>
                  <a:srgbClr val="2F3542"/>
                </a:solidFill>
                <a:latin typeface="Pretendard" pitchFamily="34" charset="0"/>
                <a:ea typeface="Pretendard" pitchFamily="34" charset="-122"/>
                <a:cs typeface="Pretendard" pitchFamily="34" charset="-120"/>
              </a:rPr>
              <a:t>SHAP 비중 합계</a:t>
            </a:r>
            <a:endParaRPr lang="en-US" sz="1320" dirty="0"/>
          </a:p>
        </p:txBody>
      </p:sp>
      <p:sp>
        <p:nvSpPr>
          <p:cNvPr id="53" name="Text 51"/>
          <p:cNvSpPr/>
          <p:nvPr/>
        </p:nvSpPr>
        <p:spPr>
          <a:xfrm>
            <a:off x="8275320" y="5074920"/>
            <a:ext cx="2880360" cy="384048"/>
          </a:xfrm>
          <a:prstGeom prst="rect">
            <a:avLst/>
          </a:prstGeom>
          <a:noFill/>
          <a:ln/>
        </p:spPr>
        <p:txBody>
          <a:bodyPr wrap="square" lIns="508" tIns="508" rIns="508" bIns="508" rtlCol="0" anchor="ctr">
            <a:normAutofit/>
          </a:bodyPr>
          <a:lstStyle/>
          <a:p>
            <a:pPr algn="ctr" indent="0" marL="0">
              <a:buNone/>
            </a:pPr>
            <a:r>
              <a:rPr lang="en-US" sz="1480" b="1" dirty="0">
                <a:solidFill>
                  <a:srgbClr val="26354F"/>
                </a:solidFill>
                <a:latin typeface="Pretendard" pitchFamily="34" charset="0"/>
                <a:ea typeface="Pretendard" pitchFamily="34" charset="-122"/>
                <a:cs typeface="Pretendard" pitchFamily="34" charset="-120"/>
              </a:rPr>
              <a:t>SHAP은 인과효과가 아니라</a:t>
            </a:r>
            <a:endParaRPr lang="en-US" sz="1480" dirty="0"/>
          </a:p>
          <a:p>
            <a:pPr algn="ctr" indent="0" marL="0">
              <a:buNone/>
            </a:pPr>
            <a:r>
              <a:rPr lang="en-US" sz="1480" b="1" dirty="0">
                <a:solidFill>
                  <a:srgbClr val="26354F"/>
                </a:solidFill>
                <a:latin typeface="Pretendard" pitchFamily="34" charset="0"/>
                <a:ea typeface="Pretendard" pitchFamily="34" charset="-122"/>
                <a:cs typeface="Pretendard" pitchFamily="34" charset="-120"/>
              </a:rPr>
              <a:t>예측 기여도로 해석</a:t>
            </a:r>
            <a:endParaRPr lang="en-US" sz="14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6354F"/>
          </a:solidFill>
          <a:ln w="7620">
            <a:solidFill>
              <a:srgbClr val="26354F"/>
            </a:solidFill>
            <a:prstDash val="solid"/>
          </a:ln>
        </p:spPr>
      </p:sp>
      <p:sp>
        <p:nvSpPr>
          <p:cNvPr id="3" name="Text 1"/>
          <p:cNvSpPr/>
          <p:nvPr/>
        </p:nvSpPr>
        <p:spPr>
          <a:xfrm>
            <a:off x="411480" y="128016"/>
            <a:ext cx="3840480" cy="182880"/>
          </a:xfrm>
          <a:prstGeom prst="rect">
            <a:avLst/>
          </a:prstGeom>
          <a:noFill/>
          <a:ln/>
        </p:spPr>
        <p:txBody>
          <a:bodyPr wrap="square" lIns="508" tIns="508" rIns="508" bIns="508" rtlCol="0" anchor="ctr">
            <a:normAutofit/>
          </a:bodyPr>
          <a:lstStyle/>
          <a:p>
            <a:pPr indent="0" marL="0">
              <a:buNone/>
            </a:pPr>
            <a:r>
              <a:rPr lang="en-US" sz="1050" b="1" dirty="0">
                <a:solidFill>
                  <a:srgbClr val="F2D16B"/>
                </a:solidFill>
                <a:latin typeface="Pretendard" pitchFamily="34" charset="0"/>
                <a:ea typeface="Pretendard" pitchFamily="34" charset="-122"/>
                <a:cs typeface="Pretendard" pitchFamily="34" charset="-120"/>
              </a:rPr>
              <a:t>04. RESULTS</a:t>
            </a:r>
            <a:endParaRPr lang="en-US" sz="1050" dirty="0"/>
          </a:p>
        </p:txBody>
      </p:sp>
      <p:sp>
        <p:nvSpPr>
          <p:cNvPr id="4" name="Text 2"/>
          <p:cNvSpPr/>
          <p:nvPr/>
        </p:nvSpPr>
        <p:spPr>
          <a:xfrm>
            <a:off x="11292840" y="109728"/>
            <a:ext cx="502920" cy="201168"/>
          </a:xfrm>
          <a:prstGeom prst="rect">
            <a:avLst/>
          </a:prstGeom>
          <a:noFill/>
          <a:ln/>
        </p:spPr>
        <p:txBody>
          <a:bodyPr wrap="square" lIns="508" tIns="508" rIns="508" bIns="508" rtlCol="0" anchor="ctr">
            <a:normAutofit/>
          </a:bodyPr>
          <a:lstStyle/>
          <a:p>
            <a:pPr algn="r" indent="0" marL="0">
              <a:buNone/>
            </a:pPr>
            <a:r>
              <a:rPr lang="en-US" sz="1050" b="1" dirty="0">
                <a:solidFill>
                  <a:srgbClr val="FFFFFF"/>
                </a:solidFill>
                <a:latin typeface="Pretendard" pitchFamily="34" charset="0"/>
                <a:ea typeface="Pretendard" pitchFamily="34" charset="-122"/>
                <a:cs typeface="Pretendard" pitchFamily="34" charset="-120"/>
              </a:rPr>
              <a:t>08</a:t>
            </a:r>
            <a:endParaRPr lang="en-US" sz="1050" dirty="0"/>
          </a:p>
        </p:txBody>
      </p:sp>
      <p:sp>
        <p:nvSpPr>
          <p:cNvPr id="5" name="Text 3"/>
          <p:cNvSpPr/>
          <p:nvPr/>
        </p:nvSpPr>
        <p:spPr>
          <a:xfrm>
            <a:off x="502920" y="749808"/>
            <a:ext cx="10424160" cy="438912"/>
          </a:xfrm>
          <a:prstGeom prst="rect">
            <a:avLst/>
          </a:prstGeom>
          <a:noFill/>
          <a:ln/>
        </p:spPr>
        <p:txBody>
          <a:bodyPr wrap="square" lIns="508" tIns="508" rIns="508" bIns="508" rtlCol="0" anchor="ctr">
            <a:normAutofit/>
          </a:bodyPr>
          <a:lstStyle/>
          <a:p>
            <a:pPr indent="0" marL="0">
              <a:buNone/>
            </a:pPr>
            <a:r>
              <a:rPr lang="en-US" sz="2400" b="1" dirty="0">
                <a:solidFill>
                  <a:srgbClr val="26354F"/>
                </a:solidFill>
                <a:latin typeface="Pretendard" pitchFamily="34" charset="0"/>
                <a:ea typeface="Pretendard" pitchFamily="34" charset="-122"/>
                <a:cs typeface="Pretendard" pitchFamily="34" charset="-120"/>
              </a:rPr>
              <a:t>권역별 SHAP: 강남3구와 비강남의 구성 차이</a:t>
            </a:r>
            <a:endParaRPr lang="en-US" sz="2400" dirty="0"/>
          </a:p>
        </p:txBody>
      </p:sp>
      <p:sp>
        <p:nvSpPr>
          <p:cNvPr id="6" name="Shape 4"/>
          <p:cNvSpPr/>
          <p:nvPr/>
        </p:nvSpPr>
        <p:spPr>
          <a:xfrm>
            <a:off x="502920" y="1280160"/>
            <a:ext cx="11155680" cy="0"/>
          </a:xfrm>
          <a:prstGeom prst="line">
            <a:avLst/>
          </a:prstGeom>
          <a:noFill/>
          <a:ln w="15240">
            <a:solidFill>
              <a:srgbClr val="D4DAE3"/>
            </a:solidFill>
            <a:prstDash val="solid"/>
          </a:ln>
        </p:spPr>
      </p:sp>
      <p:sp>
        <p:nvSpPr>
          <p:cNvPr id="7" name="Text 5"/>
          <p:cNvSpPr/>
          <p:nvPr/>
        </p:nvSpPr>
        <p:spPr>
          <a:xfrm>
            <a:off x="502920" y="6528816"/>
            <a:ext cx="4389120" cy="164592"/>
          </a:xfrm>
          <a:prstGeom prst="rect">
            <a:avLst/>
          </a:prstGeom>
          <a:noFill/>
          <a:ln/>
        </p:spPr>
        <p:txBody>
          <a:bodyPr wrap="square" lIns="508" tIns="508" rIns="508" bIns="508" rtlCol="0" anchor="ctr">
            <a:normAutofit/>
          </a:bodyPr>
          <a:lstStyle/>
          <a:p>
            <a:pPr indent="0" marL="0">
              <a:buNone/>
            </a:pPr>
            <a:r>
              <a:rPr lang="en-US" sz="820" dirty="0">
                <a:solidFill>
                  <a:srgbClr val="646B78"/>
                </a:solidFill>
                <a:latin typeface="Pretendard" pitchFamily="34" charset="0"/>
                <a:ea typeface="Pretendard" pitchFamily="34" charset="-122"/>
                <a:cs typeface="Pretendard" pitchFamily="34" charset="-120"/>
              </a:rPr>
              <a:t>석사학위논문 최종심사 발표 | 박현근</a:t>
            </a:r>
            <a:endParaRPr lang="en-US" sz="820" dirty="0"/>
          </a:p>
        </p:txBody>
      </p:sp>
      <p:sp>
        <p:nvSpPr>
          <p:cNvPr id="8" name="Shape 6"/>
          <p:cNvSpPr/>
          <p:nvPr/>
        </p:nvSpPr>
        <p:spPr>
          <a:xfrm>
            <a:off x="685800" y="1508760"/>
            <a:ext cx="5257800" cy="4206240"/>
          </a:xfrm>
          <a:prstGeom prst="rect">
            <a:avLst/>
          </a:prstGeom>
          <a:solidFill>
            <a:srgbClr val="F4F6F9"/>
          </a:solidFill>
          <a:ln w="7620">
            <a:solidFill>
              <a:srgbClr val="D4DAE3"/>
            </a:solidFill>
            <a:prstDash val="solid"/>
          </a:ln>
        </p:spPr>
      </p:sp>
      <p:sp>
        <p:nvSpPr>
          <p:cNvPr id="9" name="Shape 7"/>
          <p:cNvSpPr/>
          <p:nvPr/>
        </p:nvSpPr>
        <p:spPr>
          <a:xfrm>
            <a:off x="6263640" y="1508760"/>
            <a:ext cx="5257800" cy="4206240"/>
          </a:xfrm>
          <a:prstGeom prst="rect">
            <a:avLst/>
          </a:prstGeom>
          <a:solidFill>
            <a:srgbClr val="F4F6F9"/>
          </a:solidFill>
          <a:ln w="7620">
            <a:solidFill>
              <a:srgbClr val="D4DAE3"/>
            </a:solidFill>
            <a:prstDash val="solid"/>
          </a:ln>
        </p:spPr>
      </p:sp>
      <p:sp>
        <p:nvSpPr>
          <p:cNvPr id="10" name="Text 8"/>
          <p:cNvSpPr/>
          <p:nvPr/>
        </p:nvSpPr>
        <p:spPr>
          <a:xfrm>
            <a:off x="960120" y="1810512"/>
            <a:ext cx="1828800" cy="320040"/>
          </a:xfrm>
          <a:prstGeom prst="rect">
            <a:avLst/>
          </a:prstGeom>
          <a:noFill/>
          <a:ln/>
        </p:spPr>
        <p:txBody>
          <a:bodyPr wrap="square" lIns="508" tIns="508" rIns="508" bIns="508" rtlCol="0" anchor="ctr">
            <a:normAutofit/>
          </a:bodyPr>
          <a:lstStyle/>
          <a:p>
            <a:pPr indent="0" marL="0">
              <a:buNone/>
            </a:pPr>
            <a:r>
              <a:rPr lang="en-US" sz="1900" b="1" dirty="0">
                <a:solidFill>
                  <a:srgbClr val="B8443E"/>
                </a:solidFill>
                <a:latin typeface="Pretendard" pitchFamily="34" charset="0"/>
                <a:ea typeface="Pretendard" pitchFamily="34" charset="-122"/>
                <a:cs typeface="Pretendard" pitchFamily="34" charset="-120"/>
              </a:rPr>
              <a:t>강남3구</a:t>
            </a:r>
            <a:endParaRPr lang="en-US" sz="1900" dirty="0"/>
          </a:p>
        </p:txBody>
      </p:sp>
      <p:sp>
        <p:nvSpPr>
          <p:cNvPr id="11" name="Text 9"/>
          <p:cNvSpPr/>
          <p:nvPr/>
        </p:nvSpPr>
        <p:spPr>
          <a:xfrm>
            <a:off x="6537960" y="1810512"/>
            <a:ext cx="1828800" cy="320040"/>
          </a:xfrm>
          <a:prstGeom prst="rect">
            <a:avLst/>
          </a:prstGeom>
          <a:noFill/>
          <a:ln/>
        </p:spPr>
        <p:txBody>
          <a:bodyPr wrap="square" lIns="508" tIns="508" rIns="508" bIns="508" rtlCol="0" anchor="ctr">
            <a:normAutofit/>
          </a:bodyPr>
          <a:lstStyle/>
          <a:p>
            <a:pPr indent="0" marL="0">
              <a:buNone/>
            </a:pPr>
            <a:r>
              <a:rPr lang="en-US" sz="1900" b="1" dirty="0">
                <a:solidFill>
                  <a:srgbClr val="426A9B"/>
                </a:solidFill>
                <a:latin typeface="Pretendard" pitchFamily="34" charset="0"/>
                <a:ea typeface="Pretendard" pitchFamily="34" charset="-122"/>
                <a:cs typeface="Pretendard" pitchFamily="34" charset="-120"/>
              </a:rPr>
              <a:t>비강남</a:t>
            </a:r>
            <a:endParaRPr lang="en-US" sz="1900" dirty="0"/>
          </a:p>
        </p:txBody>
      </p:sp>
      <p:sp>
        <p:nvSpPr>
          <p:cNvPr id="12" name="Shape 10"/>
          <p:cNvSpPr/>
          <p:nvPr/>
        </p:nvSpPr>
        <p:spPr>
          <a:xfrm>
            <a:off x="960120" y="2331720"/>
            <a:ext cx="4709160" cy="2926080"/>
          </a:xfrm>
          <a:prstGeom prst="rect">
            <a:avLst/>
          </a:prstGeom>
          <a:solidFill>
            <a:srgbClr val="FFFFFF"/>
          </a:solidFill>
          <a:ln w="7620">
            <a:solidFill>
              <a:srgbClr val="D4DAE3"/>
            </a:solidFill>
            <a:prstDash val="solid"/>
          </a:ln>
        </p:spPr>
      </p:sp>
      <p:sp>
        <p:nvSpPr>
          <p:cNvPr id="13" name="Shape 11"/>
          <p:cNvSpPr/>
          <p:nvPr/>
        </p:nvSpPr>
        <p:spPr>
          <a:xfrm>
            <a:off x="960120" y="2331720"/>
            <a:ext cx="594360" cy="457200"/>
          </a:xfrm>
          <a:prstGeom prst="rect">
            <a:avLst/>
          </a:prstGeom>
          <a:solidFill>
            <a:srgbClr val="EAF0F5"/>
          </a:solidFill>
          <a:ln w="7620">
            <a:solidFill>
              <a:srgbClr val="D4DAE3"/>
            </a:solidFill>
            <a:prstDash val="solid"/>
          </a:ln>
        </p:spPr>
      </p:sp>
      <p:sp>
        <p:nvSpPr>
          <p:cNvPr id="14" name="Text 12"/>
          <p:cNvSpPr/>
          <p:nvPr/>
        </p:nvSpPr>
        <p:spPr>
          <a:xfrm>
            <a:off x="996696" y="2432304"/>
            <a:ext cx="521208" cy="164592"/>
          </a:xfrm>
          <a:prstGeom prst="rect">
            <a:avLst/>
          </a:prstGeom>
          <a:noFill/>
          <a:ln/>
        </p:spPr>
        <p:txBody>
          <a:bodyPr wrap="square" lIns="508" tIns="508" rIns="508" bIns="508" rtlCol="0" anchor="ctr">
            <a:normAutofit/>
          </a:bodyPr>
          <a:lstStyle/>
          <a:p>
            <a:pPr algn="ctr" indent="0" marL="0">
              <a:buNone/>
            </a:pPr>
            <a:r>
              <a:rPr lang="en-US" sz="1420" b="1" dirty="0">
                <a:solidFill>
                  <a:srgbClr val="26354F"/>
                </a:solidFill>
                <a:latin typeface="Pretendard" pitchFamily="34" charset="0"/>
                <a:ea typeface="Pretendard" pitchFamily="34" charset="-122"/>
                <a:cs typeface="Pretendard" pitchFamily="34" charset="-120"/>
              </a:rPr>
              <a:t>순위</a:t>
            </a:r>
            <a:endParaRPr lang="en-US" sz="1420" dirty="0"/>
          </a:p>
        </p:txBody>
      </p:sp>
      <p:sp>
        <p:nvSpPr>
          <p:cNvPr id="15" name="Shape 13"/>
          <p:cNvSpPr/>
          <p:nvPr/>
        </p:nvSpPr>
        <p:spPr>
          <a:xfrm>
            <a:off x="1554480" y="2331720"/>
            <a:ext cx="4114800" cy="457200"/>
          </a:xfrm>
          <a:prstGeom prst="rect">
            <a:avLst/>
          </a:prstGeom>
          <a:solidFill>
            <a:srgbClr val="EAF0F5"/>
          </a:solidFill>
          <a:ln w="7620">
            <a:solidFill>
              <a:srgbClr val="D4DAE3"/>
            </a:solidFill>
            <a:prstDash val="solid"/>
          </a:ln>
        </p:spPr>
      </p:sp>
      <p:sp>
        <p:nvSpPr>
          <p:cNvPr id="16" name="Text 14"/>
          <p:cNvSpPr/>
          <p:nvPr/>
        </p:nvSpPr>
        <p:spPr>
          <a:xfrm>
            <a:off x="1591056" y="2432304"/>
            <a:ext cx="4041648" cy="164592"/>
          </a:xfrm>
          <a:prstGeom prst="rect">
            <a:avLst/>
          </a:prstGeom>
          <a:noFill/>
          <a:ln/>
        </p:spPr>
        <p:txBody>
          <a:bodyPr wrap="square" lIns="508" tIns="508" rIns="508" bIns="508" rtlCol="0" anchor="ctr">
            <a:normAutofit/>
          </a:bodyPr>
          <a:lstStyle/>
          <a:p>
            <a:pPr algn="ctr" indent="0" marL="0">
              <a:buNone/>
            </a:pPr>
            <a:r>
              <a:rPr lang="en-US" sz="1420" b="1" dirty="0">
                <a:solidFill>
                  <a:srgbClr val="26354F"/>
                </a:solidFill>
                <a:latin typeface="Pretendard" pitchFamily="34" charset="0"/>
                <a:ea typeface="Pretendard" pitchFamily="34" charset="-122"/>
                <a:cs typeface="Pretendard" pitchFamily="34" charset="-120"/>
              </a:rPr>
              <a:t>변수</a:t>
            </a:r>
            <a:endParaRPr lang="en-US" sz="1420" dirty="0"/>
          </a:p>
        </p:txBody>
      </p:sp>
      <p:sp>
        <p:nvSpPr>
          <p:cNvPr id="17" name="Shape 15"/>
          <p:cNvSpPr/>
          <p:nvPr/>
        </p:nvSpPr>
        <p:spPr>
          <a:xfrm>
            <a:off x="960120" y="2788920"/>
            <a:ext cx="594360" cy="493776"/>
          </a:xfrm>
          <a:prstGeom prst="rect">
            <a:avLst/>
          </a:prstGeom>
          <a:solidFill>
            <a:srgbClr val="FFFFFF"/>
          </a:solidFill>
          <a:ln w="7620">
            <a:solidFill>
              <a:srgbClr val="D4DAE3"/>
            </a:solidFill>
            <a:prstDash val="solid"/>
          </a:ln>
        </p:spPr>
      </p:sp>
      <p:sp>
        <p:nvSpPr>
          <p:cNvPr id="18" name="Text 16"/>
          <p:cNvSpPr/>
          <p:nvPr/>
        </p:nvSpPr>
        <p:spPr>
          <a:xfrm>
            <a:off x="1005840" y="2843784"/>
            <a:ext cx="502920" cy="384048"/>
          </a:xfrm>
          <a:prstGeom prst="rect">
            <a:avLst/>
          </a:prstGeom>
          <a:noFill/>
          <a:ln/>
        </p:spPr>
        <p:txBody>
          <a:bodyPr wrap="square" lIns="508" tIns="508" rIns="508" bIns="508" rtlCol="0" anchor="ctr">
            <a:normAutofit/>
          </a:bodyPr>
          <a:lstStyle/>
          <a:p>
            <a:pPr algn="ctr" indent="0" marL="0">
              <a:buNone/>
            </a:pPr>
            <a:r>
              <a:rPr lang="en-US" sz="1460" dirty="0">
                <a:solidFill>
                  <a:srgbClr val="26354F"/>
                </a:solidFill>
                <a:latin typeface="Pretendard" pitchFamily="34" charset="0"/>
                <a:ea typeface="Pretendard" pitchFamily="34" charset="-122"/>
                <a:cs typeface="Pretendard" pitchFamily="34" charset="-120"/>
              </a:rPr>
              <a:t>1</a:t>
            </a:r>
            <a:endParaRPr lang="en-US" sz="1460" dirty="0"/>
          </a:p>
        </p:txBody>
      </p:sp>
      <p:sp>
        <p:nvSpPr>
          <p:cNvPr id="19" name="Shape 17"/>
          <p:cNvSpPr/>
          <p:nvPr/>
        </p:nvSpPr>
        <p:spPr>
          <a:xfrm>
            <a:off x="1554480" y="2788920"/>
            <a:ext cx="4114800" cy="493776"/>
          </a:xfrm>
          <a:prstGeom prst="rect">
            <a:avLst/>
          </a:prstGeom>
          <a:solidFill>
            <a:srgbClr val="FFFFFF"/>
          </a:solidFill>
          <a:ln w="7620">
            <a:solidFill>
              <a:srgbClr val="D4DAE3"/>
            </a:solidFill>
            <a:prstDash val="solid"/>
          </a:ln>
        </p:spPr>
      </p:sp>
      <p:sp>
        <p:nvSpPr>
          <p:cNvPr id="20" name="Text 18"/>
          <p:cNvSpPr/>
          <p:nvPr/>
        </p:nvSpPr>
        <p:spPr>
          <a:xfrm>
            <a:off x="1600200" y="2843784"/>
            <a:ext cx="4023360" cy="384048"/>
          </a:xfrm>
          <a:prstGeom prst="rect">
            <a:avLst/>
          </a:prstGeom>
          <a:noFill/>
          <a:ln/>
        </p:spPr>
        <p:txBody>
          <a:bodyPr wrap="square" lIns="508" tIns="508" rIns="508" bIns="508" rtlCol="0" anchor="ctr">
            <a:normAutofit/>
          </a:bodyPr>
          <a:lstStyle/>
          <a:p>
            <a:pPr algn="ctr" indent="0" marL="0">
              <a:buNone/>
            </a:pPr>
            <a:r>
              <a:rPr lang="en-US" sz="1460" dirty="0">
                <a:solidFill>
                  <a:srgbClr val="2F3542"/>
                </a:solidFill>
                <a:latin typeface="Pretendard" pitchFamily="34" charset="0"/>
                <a:ea typeface="Pretendard" pitchFamily="34" charset="-122"/>
                <a:cs typeface="Pretendard" pitchFamily="34" charset="-120"/>
              </a:rPr>
              <a:t>건물연령</a:t>
            </a:r>
            <a:endParaRPr lang="en-US" sz="1460" dirty="0"/>
          </a:p>
        </p:txBody>
      </p:sp>
      <p:sp>
        <p:nvSpPr>
          <p:cNvPr id="21" name="Shape 19"/>
          <p:cNvSpPr/>
          <p:nvPr/>
        </p:nvSpPr>
        <p:spPr>
          <a:xfrm>
            <a:off x="960120" y="3282696"/>
            <a:ext cx="594360" cy="493776"/>
          </a:xfrm>
          <a:prstGeom prst="rect">
            <a:avLst/>
          </a:prstGeom>
          <a:solidFill>
            <a:srgbClr val="F4F6F9"/>
          </a:solidFill>
          <a:ln w="7620">
            <a:solidFill>
              <a:srgbClr val="D4DAE3"/>
            </a:solidFill>
            <a:prstDash val="solid"/>
          </a:ln>
        </p:spPr>
      </p:sp>
      <p:sp>
        <p:nvSpPr>
          <p:cNvPr id="22" name="Text 20"/>
          <p:cNvSpPr/>
          <p:nvPr/>
        </p:nvSpPr>
        <p:spPr>
          <a:xfrm>
            <a:off x="1005840" y="3337560"/>
            <a:ext cx="502920" cy="384048"/>
          </a:xfrm>
          <a:prstGeom prst="rect">
            <a:avLst/>
          </a:prstGeom>
          <a:noFill/>
          <a:ln/>
        </p:spPr>
        <p:txBody>
          <a:bodyPr wrap="square" lIns="508" tIns="508" rIns="508" bIns="508" rtlCol="0" anchor="ctr">
            <a:normAutofit/>
          </a:bodyPr>
          <a:lstStyle/>
          <a:p>
            <a:pPr algn="ctr" indent="0" marL="0">
              <a:buNone/>
            </a:pPr>
            <a:r>
              <a:rPr lang="en-US" sz="1460" dirty="0">
                <a:solidFill>
                  <a:srgbClr val="26354F"/>
                </a:solidFill>
                <a:latin typeface="Pretendard" pitchFamily="34" charset="0"/>
                <a:ea typeface="Pretendard" pitchFamily="34" charset="-122"/>
                <a:cs typeface="Pretendard" pitchFamily="34" charset="-120"/>
              </a:rPr>
              <a:t>2</a:t>
            </a:r>
            <a:endParaRPr lang="en-US" sz="1460" dirty="0"/>
          </a:p>
        </p:txBody>
      </p:sp>
      <p:sp>
        <p:nvSpPr>
          <p:cNvPr id="23" name="Shape 21"/>
          <p:cNvSpPr/>
          <p:nvPr/>
        </p:nvSpPr>
        <p:spPr>
          <a:xfrm>
            <a:off x="1554480" y="3282696"/>
            <a:ext cx="4114800" cy="493776"/>
          </a:xfrm>
          <a:prstGeom prst="rect">
            <a:avLst/>
          </a:prstGeom>
          <a:solidFill>
            <a:srgbClr val="F4F6F9"/>
          </a:solidFill>
          <a:ln w="7620">
            <a:solidFill>
              <a:srgbClr val="D4DAE3"/>
            </a:solidFill>
            <a:prstDash val="solid"/>
          </a:ln>
        </p:spPr>
      </p:sp>
      <p:sp>
        <p:nvSpPr>
          <p:cNvPr id="24" name="Text 22"/>
          <p:cNvSpPr/>
          <p:nvPr/>
        </p:nvSpPr>
        <p:spPr>
          <a:xfrm>
            <a:off x="1600200" y="3337560"/>
            <a:ext cx="4023360" cy="384048"/>
          </a:xfrm>
          <a:prstGeom prst="rect">
            <a:avLst/>
          </a:prstGeom>
          <a:noFill/>
          <a:ln/>
        </p:spPr>
        <p:txBody>
          <a:bodyPr wrap="square" lIns="508" tIns="508" rIns="508" bIns="508" rtlCol="0" anchor="ctr">
            <a:normAutofit/>
          </a:bodyPr>
          <a:lstStyle/>
          <a:p>
            <a:pPr algn="ctr" indent="0" marL="0">
              <a:buNone/>
            </a:pPr>
            <a:r>
              <a:rPr lang="en-US" sz="1460" dirty="0">
                <a:solidFill>
                  <a:srgbClr val="2F3542"/>
                </a:solidFill>
                <a:latin typeface="Pretendard" pitchFamily="34" charset="0"/>
                <a:ea typeface="Pretendard" pitchFamily="34" charset="-122"/>
                <a:cs typeface="Pretendard" pitchFamily="34" charset="-120"/>
              </a:rPr>
              <a:t>백화점 최근접</a:t>
            </a:r>
            <a:endParaRPr lang="en-US" sz="1460" dirty="0"/>
          </a:p>
        </p:txBody>
      </p:sp>
      <p:sp>
        <p:nvSpPr>
          <p:cNvPr id="25" name="Shape 23"/>
          <p:cNvSpPr/>
          <p:nvPr/>
        </p:nvSpPr>
        <p:spPr>
          <a:xfrm>
            <a:off x="960120" y="3776472"/>
            <a:ext cx="594360" cy="493776"/>
          </a:xfrm>
          <a:prstGeom prst="rect">
            <a:avLst/>
          </a:prstGeom>
          <a:solidFill>
            <a:srgbClr val="FFFFFF"/>
          </a:solidFill>
          <a:ln w="7620">
            <a:solidFill>
              <a:srgbClr val="D4DAE3"/>
            </a:solidFill>
            <a:prstDash val="solid"/>
          </a:ln>
        </p:spPr>
      </p:sp>
      <p:sp>
        <p:nvSpPr>
          <p:cNvPr id="26" name="Text 24"/>
          <p:cNvSpPr/>
          <p:nvPr/>
        </p:nvSpPr>
        <p:spPr>
          <a:xfrm>
            <a:off x="1005840" y="3831336"/>
            <a:ext cx="502920" cy="384048"/>
          </a:xfrm>
          <a:prstGeom prst="rect">
            <a:avLst/>
          </a:prstGeom>
          <a:noFill/>
          <a:ln/>
        </p:spPr>
        <p:txBody>
          <a:bodyPr wrap="square" lIns="508" tIns="508" rIns="508" bIns="508" rtlCol="0" anchor="ctr">
            <a:normAutofit/>
          </a:bodyPr>
          <a:lstStyle/>
          <a:p>
            <a:pPr algn="ctr" indent="0" marL="0">
              <a:buNone/>
            </a:pPr>
            <a:r>
              <a:rPr lang="en-US" sz="1460" dirty="0">
                <a:solidFill>
                  <a:srgbClr val="26354F"/>
                </a:solidFill>
                <a:latin typeface="Pretendard" pitchFamily="34" charset="0"/>
                <a:ea typeface="Pretendard" pitchFamily="34" charset="-122"/>
                <a:cs typeface="Pretendard" pitchFamily="34" charset="-120"/>
              </a:rPr>
              <a:t>3</a:t>
            </a:r>
            <a:endParaRPr lang="en-US" sz="1460" dirty="0"/>
          </a:p>
        </p:txBody>
      </p:sp>
      <p:sp>
        <p:nvSpPr>
          <p:cNvPr id="27" name="Shape 25"/>
          <p:cNvSpPr/>
          <p:nvPr/>
        </p:nvSpPr>
        <p:spPr>
          <a:xfrm>
            <a:off x="1554480" y="3776472"/>
            <a:ext cx="4114800" cy="493776"/>
          </a:xfrm>
          <a:prstGeom prst="rect">
            <a:avLst/>
          </a:prstGeom>
          <a:solidFill>
            <a:srgbClr val="FFFFFF"/>
          </a:solidFill>
          <a:ln w="7620">
            <a:solidFill>
              <a:srgbClr val="D4DAE3"/>
            </a:solidFill>
            <a:prstDash val="solid"/>
          </a:ln>
        </p:spPr>
      </p:sp>
      <p:sp>
        <p:nvSpPr>
          <p:cNvPr id="28" name="Text 26"/>
          <p:cNvSpPr/>
          <p:nvPr/>
        </p:nvSpPr>
        <p:spPr>
          <a:xfrm>
            <a:off x="1600200" y="3831336"/>
            <a:ext cx="4023360" cy="384048"/>
          </a:xfrm>
          <a:prstGeom prst="rect">
            <a:avLst/>
          </a:prstGeom>
          <a:noFill/>
          <a:ln/>
        </p:spPr>
        <p:txBody>
          <a:bodyPr wrap="square" lIns="508" tIns="508" rIns="508" bIns="508" rtlCol="0" anchor="ctr">
            <a:normAutofit/>
          </a:bodyPr>
          <a:lstStyle/>
          <a:p>
            <a:pPr algn="ctr" indent="0" marL="0">
              <a:buNone/>
            </a:pPr>
            <a:r>
              <a:rPr lang="en-US" sz="1460" dirty="0">
                <a:solidFill>
                  <a:srgbClr val="2F3542"/>
                </a:solidFill>
                <a:latin typeface="Pretendard" pitchFamily="34" charset="0"/>
                <a:ea typeface="Pretendard" pitchFamily="34" charset="-122"/>
                <a:cs typeface="Pretendard" pitchFamily="34" charset="-120"/>
              </a:rPr>
              <a:t>어린이집 1km 내 개수</a:t>
            </a:r>
            <a:endParaRPr lang="en-US" sz="1460" dirty="0"/>
          </a:p>
        </p:txBody>
      </p:sp>
      <p:sp>
        <p:nvSpPr>
          <p:cNvPr id="29" name="Shape 27"/>
          <p:cNvSpPr/>
          <p:nvPr/>
        </p:nvSpPr>
        <p:spPr>
          <a:xfrm>
            <a:off x="960120" y="4270248"/>
            <a:ext cx="594360" cy="493776"/>
          </a:xfrm>
          <a:prstGeom prst="rect">
            <a:avLst/>
          </a:prstGeom>
          <a:solidFill>
            <a:srgbClr val="F4F6F9"/>
          </a:solidFill>
          <a:ln w="7620">
            <a:solidFill>
              <a:srgbClr val="D4DAE3"/>
            </a:solidFill>
            <a:prstDash val="solid"/>
          </a:ln>
        </p:spPr>
      </p:sp>
      <p:sp>
        <p:nvSpPr>
          <p:cNvPr id="30" name="Text 28"/>
          <p:cNvSpPr/>
          <p:nvPr/>
        </p:nvSpPr>
        <p:spPr>
          <a:xfrm>
            <a:off x="1005840" y="4325112"/>
            <a:ext cx="502920" cy="384048"/>
          </a:xfrm>
          <a:prstGeom prst="rect">
            <a:avLst/>
          </a:prstGeom>
          <a:noFill/>
          <a:ln/>
        </p:spPr>
        <p:txBody>
          <a:bodyPr wrap="square" lIns="508" tIns="508" rIns="508" bIns="508" rtlCol="0" anchor="ctr">
            <a:normAutofit/>
          </a:bodyPr>
          <a:lstStyle/>
          <a:p>
            <a:pPr algn="ctr" indent="0" marL="0">
              <a:buNone/>
            </a:pPr>
            <a:r>
              <a:rPr lang="en-US" sz="1460" dirty="0">
                <a:solidFill>
                  <a:srgbClr val="26354F"/>
                </a:solidFill>
                <a:latin typeface="Pretendard" pitchFamily="34" charset="0"/>
                <a:ea typeface="Pretendard" pitchFamily="34" charset="-122"/>
                <a:cs typeface="Pretendard" pitchFamily="34" charset="-120"/>
              </a:rPr>
              <a:t>4</a:t>
            </a:r>
            <a:endParaRPr lang="en-US" sz="1460" dirty="0"/>
          </a:p>
        </p:txBody>
      </p:sp>
      <p:sp>
        <p:nvSpPr>
          <p:cNvPr id="31" name="Shape 29"/>
          <p:cNvSpPr/>
          <p:nvPr/>
        </p:nvSpPr>
        <p:spPr>
          <a:xfrm>
            <a:off x="1554480" y="4270248"/>
            <a:ext cx="4114800" cy="493776"/>
          </a:xfrm>
          <a:prstGeom prst="rect">
            <a:avLst/>
          </a:prstGeom>
          <a:solidFill>
            <a:srgbClr val="F4F6F9"/>
          </a:solidFill>
          <a:ln w="7620">
            <a:solidFill>
              <a:srgbClr val="D4DAE3"/>
            </a:solidFill>
            <a:prstDash val="solid"/>
          </a:ln>
        </p:spPr>
      </p:sp>
      <p:sp>
        <p:nvSpPr>
          <p:cNvPr id="32" name="Text 30"/>
          <p:cNvSpPr/>
          <p:nvPr/>
        </p:nvSpPr>
        <p:spPr>
          <a:xfrm>
            <a:off x="1600200" y="4325112"/>
            <a:ext cx="4023360" cy="384048"/>
          </a:xfrm>
          <a:prstGeom prst="rect">
            <a:avLst/>
          </a:prstGeom>
          <a:noFill/>
          <a:ln/>
        </p:spPr>
        <p:txBody>
          <a:bodyPr wrap="square" lIns="508" tIns="508" rIns="508" bIns="508" rtlCol="0" anchor="ctr">
            <a:normAutofit/>
          </a:bodyPr>
          <a:lstStyle/>
          <a:p>
            <a:pPr algn="ctr" indent="0" marL="0">
              <a:buNone/>
            </a:pPr>
            <a:r>
              <a:rPr lang="en-US" sz="1460" dirty="0">
                <a:solidFill>
                  <a:srgbClr val="2F3542"/>
                </a:solidFill>
                <a:latin typeface="Pretendard" pitchFamily="34" charset="0"/>
                <a:ea typeface="Pretendard" pitchFamily="34" charset="-122"/>
                <a:cs typeface="Pretendard" pitchFamily="34" charset="-120"/>
              </a:rPr>
              <a:t>초등학교 최근접</a:t>
            </a:r>
            <a:endParaRPr lang="en-US" sz="1460" dirty="0"/>
          </a:p>
        </p:txBody>
      </p:sp>
      <p:sp>
        <p:nvSpPr>
          <p:cNvPr id="33" name="Shape 31"/>
          <p:cNvSpPr/>
          <p:nvPr/>
        </p:nvSpPr>
        <p:spPr>
          <a:xfrm>
            <a:off x="960120" y="4764024"/>
            <a:ext cx="594360" cy="493776"/>
          </a:xfrm>
          <a:prstGeom prst="rect">
            <a:avLst/>
          </a:prstGeom>
          <a:solidFill>
            <a:srgbClr val="FFFFFF"/>
          </a:solidFill>
          <a:ln w="7620">
            <a:solidFill>
              <a:srgbClr val="D4DAE3"/>
            </a:solidFill>
            <a:prstDash val="solid"/>
          </a:ln>
        </p:spPr>
      </p:sp>
      <p:sp>
        <p:nvSpPr>
          <p:cNvPr id="34" name="Text 32"/>
          <p:cNvSpPr/>
          <p:nvPr/>
        </p:nvSpPr>
        <p:spPr>
          <a:xfrm>
            <a:off x="1005840" y="4818888"/>
            <a:ext cx="502920" cy="384048"/>
          </a:xfrm>
          <a:prstGeom prst="rect">
            <a:avLst/>
          </a:prstGeom>
          <a:noFill/>
          <a:ln/>
        </p:spPr>
        <p:txBody>
          <a:bodyPr wrap="square" lIns="508" tIns="508" rIns="508" bIns="508" rtlCol="0" anchor="ctr">
            <a:normAutofit/>
          </a:bodyPr>
          <a:lstStyle/>
          <a:p>
            <a:pPr algn="ctr" indent="0" marL="0">
              <a:buNone/>
            </a:pPr>
            <a:r>
              <a:rPr lang="en-US" sz="1460" dirty="0">
                <a:solidFill>
                  <a:srgbClr val="26354F"/>
                </a:solidFill>
                <a:latin typeface="Pretendard" pitchFamily="34" charset="0"/>
                <a:ea typeface="Pretendard" pitchFamily="34" charset="-122"/>
                <a:cs typeface="Pretendard" pitchFamily="34" charset="-120"/>
              </a:rPr>
              <a:t>5</a:t>
            </a:r>
            <a:endParaRPr lang="en-US" sz="1460" dirty="0"/>
          </a:p>
        </p:txBody>
      </p:sp>
      <p:sp>
        <p:nvSpPr>
          <p:cNvPr id="35" name="Shape 33"/>
          <p:cNvSpPr/>
          <p:nvPr/>
        </p:nvSpPr>
        <p:spPr>
          <a:xfrm>
            <a:off x="1554480" y="4764024"/>
            <a:ext cx="4114800" cy="493776"/>
          </a:xfrm>
          <a:prstGeom prst="rect">
            <a:avLst/>
          </a:prstGeom>
          <a:solidFill>
            <a:srgbClr val="FFFFFF"/>
          </a:solidFill>
          <a:ln w="7620">
            <a:solidFill>
              <a:srgbClr val="D4DAE3"/>
            </a:solidFill>
            <a:prstDash val="solid"/>
          </a:ln>
        </p:spPr>
      </p:sp>
      <p:sp>
        <p:nvSpPr>
          <p:cNvPr id="36" name="Text 34"/>
          <p:cNvSpPr/>
          <p:nvPr/>
        </p:nvSpPr>
        <p:spPr>
          <a:xfrm>
            <a:off x="1600200" y="4818888"/>
            <a:ext cx="4023360" cy="384048"/>
          </a:xfrm>
          <a:prstGeom prst="rect">
            <a:avLst/>
          </a:prstGeom>
          <a:noFill/>
          <a:ln/>
        </p:spPr>
        <p:txBody>
          <a:bodyPr wrap="square" lIns="508" tIns="508" rIns="508" bIns="508" rtlCol="0" anchor="ctr">
            <a:normAutofit/>
          </a:bodyPr>
          <a:lstStyle/>
          <a:p>
            <a:pPr algn="ctr" indent="0" marL="0">
              <a:buNone/>
            </a:pPr>
            <a:r>
              <a:rPr lang="en-US" sz="1460" dirty="0">
                <a:solidFill>
                  <a:srgbClr val="2F3542"/>
                </a:solidFill>
                <a:latin typeface="Pretendard" pitchFamily="34" charset="0"/>
                <a:ea typeface="Pretendard" pitchFamily="34" charset="-122"/>
                <a:cs typeface="Pretendard" pitchFamily="34" charset="-120"/>
              </a:rPr>
              <a:t>종합병원 최근접</a:t>
            </a:r>
            <a:endParaRPr lang="en-US" sz="1460" dirty="0"/>
          </a:p>
        </p:txBody>
      </p:sp>
      <p:sp>
        <p:nvSpPr>
          <p:cNvPr id="37" name="Shape 35"/>
          <p:cNvSpPr/>
          <p:nvPr/>
        </p:nvSpPr>
        <p:spPr>
          <a:xfrm>
            <a:off x="6537960" y="2331720"/>
            <a:ext cx="4709160" cy="2926080"/>
          </a:xfrm>
          <a:prstGeom prst="rect">
            <a:avLst/>
          </a:prstGeom>
          <a:solidFill>
            <a:srgbClr val="FFFFFF"/>
          </a:solidFill>
          <a:ln w="7620">
            <a:solidFill>
              <a:srgbClr val="D4DAE3"/>
            </a:solidFill>
            <a:prstDash val="solid"/>
          </a:ln>
        </p:spPr>
      </p:sp>
      <p:sp>
        <p:nvSpPr>
          <p:cNvPr id="38" name="Shape 36"/>
          <p:cNvSpPr/>
          <p:nvPr/>
        </p:nvSpPr>
        <p:spPr>
          <a:xfrm>
            <a:off x="6537960" y="2331720"/>
            <a:ext cx="594360" cy="457200"/>
          </a:xfrm>
          <a:prstGeom prst="rect">
            <a:avLst/>
          </a:prstGeom>
          <a:solidFill>
            <a:srgbClr val="EAF0F5"/>
          </a:solidFill>
          <a:ln w="7620">
            <a:solidFill>
              <a:srgbClr val="D4DAE3"/>
            </a:solidFill>
            <a:prstDash val="solid"/>
          </a:ln>
        </p:spPr>
      </p:sp>
      <p:sp>
        <p:nvSpPr>
          <p:cNvPr id="39" name="Text 37"/>
          <p:cNvSpPr/>
          <p:nvPr/>
        </p:nvSpPr>
        <p:spPr>
          <a:xfrm>
            <a:off x="6574536" y="2432304"/>
            <a:ext cx="521208" cy="164592"/>
          </a:xfrm>
          <a:prstGeom prst="rect">
            <a:avLst/>
          </a:prstGeom>
          <a:noFill/>
          <a:ln/>
        </p:spPr>
        <p:txBody>
          <a:bodyPr wrap="square" lIns="508" tIns="508" rIns="508" bIns="508" rtlCol="0" anchor="ctr">
            <a:normAutofit/>
          </a:bodyPr>
          <a:lstStyle/>
          <a:p>
            <a:pPr algn="ctr" indent="0" marL="0">
              <a:buNone/>
            </a:pPr>
            <a:r>
              <a:rPr lang="en-US" sz="1420" b="1" dirty="0">
                <a:solidFill>
                  <a:srgbClr val="26354F"/>
                </a:solidFill>
                <a:latin typeface="Pretendard" pitchFamily="34" charset="0"/>
                <a:ea typeface="Pretendard" pitchFamily="34" charset="-122"/>
                <a:cs typeface="Pretendard" pitchFamily="34" charset="-120"/>
              </a:rPr>
              <a:t>순위</a:t>
            </a:r>
            <a:endParaRPr lang="en-US" sz="1420" dirty="0"/>
          </a:p>
        </p:txBody>
      </p:sp>
      <p:sp>
        <p:nvSpPr>
          <p:cNvPr id="40" name="Shape 38"/>
          <p:cNvSpPr/>
          <p:nvPr/>
        </p:nvSpPr>
        <p:spPr>
          <a:xfrm>
            <a:off x="7132320" y="2331720"/>
            <a:ext cx="4114800" cy="457200"/>
          </a:xfrm>
          <a:prstGeom prst="rect">
            <a:avLst/>
          </a:prstGeom>
          <a:solidFill>
            <a:srgbClr val="EAF0F5"/>
          </a:solidFill>
          <a:ln w="7620">
            <a:solidFill>
              <a:srgbClr val="D4DAE3"/>
            </a:solidFill>
            <a:prstDash val="solid"/>
          </a:ln>
        </p:spPr>
      </p:sp>
      <p:sp>
        <p:nvSpPr>
          <p:cNvPr id="41" name="Text 39"/>
          <p:cNvSpPr/>
          <p:nvPr/>
        </p:nvSpPr>
        <p:spPr>
          <a:xfrm>
            <a:off x="7168896" y="2432304"/>
            <a:ext cx="4041648" cy="164592"/>
          </a:xfrm>
          <a:prstGeom prst="rect">
            <a:avLst/>
          </a:prstGeom>
          <a:noFill/>
          <a:ln/>
        </p:spPr>
        <p:txBody>
          <a:bodyPr wrap="square" lIns="508" tIns="508" rIns="508" bIns="508" rtlCol="0" anchor="ctr">
            <a:normAutofit/>
          </a:bodyPr>
          <a:lstStyle/>
          <a:p>
            <a:pPr algn="ctr" indent="0" marL="0">
              <a:buNone/>
            </a:pPr>
            <a:r>
              <a:rPr lang="en-US" sz="1420" b="1" dirty="0">
                <a:solidFill>
                  <a:srgbClr val="26354F"/>
                </a:solidFill>
                <a:latin typeface="Pretendard" pitchFamily="34" charset="0"/>
                <a:ea typeface="Pretendard" pitchFamily="34" charset="-122"/>
                <a:cs typeface="Pretendard" pitchFamily="34" charset="-120"/>
              </a:rPr>
              <a:t>변수</a:t>
            </a:r>
            <a:endParaRPr lang="en-US" sz="1420" dirty="0"/>
          </a:p>
        </p:txBody>
      </p:sp>
      <p:sp>
        <p:nvSpPr>
          <p:cNvPr id="42" name="Shape 40"/>
          <p:cNvSpPr/>
          <p:nvPr/>
        </p:nvSpPr>
        <p:spPr>
          <a:xfrm>
            <a:off x="6537960" y="2788920"/>
            <a:ext cx="594360" cy="493776"/>
          </a:xfrm>
          <a:prstGeom prst="rect">
            <a:avLst/>
          </a:prstGeom>
          <a:solidFill>
            <a:srgbClr val="FFFFFF"/>
          </a:solidFill>
          <a:ln w="7620">
            <a:solidFill>
              <a:srgbClr val="D4DAE3"/>
            </a:solidFill>
            <a:prstDash val="solid"/>
          </a:ln>
        </p:spPr>
      </p:sp>
      <p:sp>
        <p:nvSpPr>
          <p:cNvPr id="43" name="Text 41"/>
          <p:cNvSpPr/>
          <p:nvPr/>
        </p:nvSpPr>
        <p:spPr>
          <a:xfrm>
            <a:off x="6583680" y="2843784"/>
            <a:ext cx="502920" cy="384048"/>
          </a:xfrm>
          <a:prstGeom prst="rect">
            <a:avLst/>
          </a:prstGeom>
          <a:noFill/>
          <a:ln/>
        </p:spPr>
        <p:txBody>
          <a:bodyPr wrap="square" lIns="508" tIns="508" rIns="508" bIns="508" rtlCol="0" anchor="ctr">
            <a:normAutofit/>
          </a:bodyPr>
          <a:lstStyle/>
          <a:p>
            <a:pPr algn="ctr" indent="0" marL="0">
              <a:buNone/>
            </a:pPr>
            <a:r>
              <a:rPr lang="en-US" sz="1460" dirty="0">
                <a:solidFill>
                  <a:srgbClr val="26354F"/>
                </a:solidFill>
                <a:latin typeface="Pretendard" pitchFamily="34" charset="0"/>
                <a:ea typeface="Pretendard" pitchFamily="34" charset="-122"/>
                <a:cs typeface="Pretendard" pitchFamily="34" charset="-120"/>
              </a:rPr>
              <a:t>1</a:t>
            </a:r>
            <a:endParaRPr lang="en-US" sz="1460" dirty="0"/>
          </a:p>
        </p:txBody>
      </p:sp>
      <p:sp>
        <p:nvSpPr>
          <p:cNvPr id="44" name="Shape 42"/>
          <p:cNvSpPr/>
          <p:nvPr/>
        </p:nvSpPr>
        <p:spPr>
          <a:xfrm>
            <a:off x="7132320" y="2788920"/>
            <a:ext cx="4114800" cy="493776"/>
          </a:xfrm>
          <a:prstGeom prst="rect">
            <a:avLst/>
          </a:prstGeom>
          <a:solidFill>
            <a:srgbClr val="FFFFFF"/>
          </a:solidFill>
          <a:ln w="7620">
            <a:solidFill>
              <a:srgbClr val="D4DAE3"/>
            </a:solidFill>
            <a:prstDash val="solid"/>
          </a:ln>
        </p:spPr>
      </p:sp>
      <p:sp>
        <p:nvSpPr>
          <p:cNvPr id="45" name="Text 43"/>
          <p:cNvSpPr/>
          <p:nvPr/>
        </p:nvSpPr>
        <p:spPr>
          <a:xfrm>
            <a:off x="7178040" y="2843784"/>
            <a:ext cx="4023360" cy="384048"/>
          </a:xfrm>
          <a:prstGeom prst="rect">
            <a:avLst/>
          </a:prstGeom>
          <a:noFill/>
          <a:ln/>
        </p:spPr>
        <p:txBody>
          <a:bodyPr wrap="square" lIns="508" tIns="508" rIns="508" bIns="508" rtlCol="0" anchor="ctr">
            <a:normAutofit/>
          </a:bodyPr>
          <a:lstStyle/>
          <a:p>
            <a:pPr algn="ctr" indent="0" marL="0">
              <a:buNone/>
            </a:pPr>
            <a:r>
              <a:rPr lang="en-US" sz="1460" dirty="0">
                <a:solidFill>
                  <a:srgbClr val="2F3542"/>
                </a:solidFill>
                <a:latin typeface="Pretendard" pitchFamily="34" charset="0"/>
                <a:ea typeface="Pretendard" pitchFamily="34" charset="-122"/>
                <a:cs typeface="Pretendard" pitchFamily="34" charset="-120"/>
              </a:rPr>
              <a:t>건물연령</a:t>
            </a:r>
            <a:endParaRPr lang="en-US" sz="1460" dirty="0"/>
          </a:p>
        </p:txBody>
      </p:sp>
      <p:sp>
        <p:nvSpPr>
          <p:cNvPr id="46" name="Shape 44"/>
          <p:cNvSpPr/>
          <p:nvPr/>
        </p:nvSpPr>
        <p:spPr>
          <a:xfrm>
            <a:off x="6537960" y="3282696"/>
            <a:ext cx="594360" cy="493776"/>
          </a:xfrm>
          <a:prstGeom prst="rect">
            <a:avLst/>
          </a:prstGeom>
          <a:solidFill>
            <a:srgbClr val="F4F6F9"/>
          </a:solidFill>
          <a:ln w="7620">
            <a:solidFill>
              <a:srgbClr val="D4DAE3"/>
            </a:solidFill>
            <a:prstDash val="solid"/>
          </a:ln>
        </p:spPr>
      </p:sp>
      <p:sp>
        <p:nvSpPr>
          <p:cNvPr id="47" name="Text 45"/>
          <p:cNvSpPr/>
          <p:nvPr/>
        </p:nvSpPr>
        <p:spPr>
          <a:xfrm>
            <a:off x="6583680" y="3337560"/>
            <a:ext cx="502920" cy="384048"/>
          </a:xfrm>
          <a:prstGeom prst="rect">
            <a:avLst/>
          </a:prstGeom>
          <a:noFill/>
          <a:ln/>
        </p:spPr>
        <p:txBody>
          <a:bodyPr wrap="square" lIns="508" tIns="508" rIns="508" bIns="508" rtlCol="0" anchor="ctr">
            <a:normAutofit/>
          </a:bodyPr>
          <a:lstStyle/>
          <a:p>
            <a:pPr algn="ctr" indent="0" marL="0">
              <a:buNone/>
            </a:pPr>
            <a:r>
              <a:rPr lang="en-US" sz="1460" dirty="0">
                <a:solidFill>
                  <a:srgbClr val="26354F"/>
                </a:solidFill>
                <a:latin typeface="Pretendard" pitchFamily="34" charset="0"/>
                <a:ea typeface="Pretendard" pitchFamily="34" charset="-122"/>
                <a:cs typeface="Pretendard" pitchFamily="34" charset="-120"/>
              </a:rPr>
              <a:t>2</a:t>
            </a:r>
            <a:endParaRPr lang="en-US" sz="1460" dirty="0"/>
          </a:p>
        </p:txBody>
      </p:sp>
      <p:sp>
        <p:nvSpPr>
          <p:cNvPr id="48" name="Shape 46"/>
          <p:cNvSpPr/>
          <p:nvPr/>
        </p:nvSpPr>
        <p:spPr>
          <a:xfrm>
            <a:off x="7132320" y="3282696"/>
            <a:ext cx="4114800" cy="493776"/>
          </a:xfrm>
          <a:prstGeom prst="rect">
            <a:avLst/>
          </a:prstGeom>
          <a:solidFill>
            <a:srgbClr val="F4F6F9"/>
          </a:solidFill>
          <a:ln w="7620">
            <a:solidFill>
              <a:srgbClr val="D4DAE3"/>
            </a:solidFill>
            <a:prstDash val="solid"/>
          </a:ln>
        </p:spPr>
      </p:sp>
      <p:sp>
        <p:nvSpPr>
          <p:cNvPr id="49" name="Text 47"/>
          <p:cNvSpPr/>
          <p:nvPr/>
        </p:nvSpPr>
        <p:spPr>
          <a:xfrm>
            <a:off x="7178040" y="3337560"/>
            <a:ext cx="4023360" cy="384048"/>
          </a:xfrm>
          <a:prstGeom prst="rect">
            <a:avLst/>
          </a:prstGeom>
          <a:noFill/>
          <a:ln/>
        </p:spPr>
        <p:txBody>
          <a:bodyPr wrap="square" lIns="508" tIns="508" rIns="508" bIns="508" rtlCol="0" anchor="ctr">
            <a:normAutofit/>
          </a:bodyPr>
          <a:lstStyle/>
          <a:p>
            <a:pPr algn="ctr" indent="0" marL="0">
              <a:buNone/>
            </a:pPr>
            <a:r>
              <a:rPr lang="en-US" sz="1460" dirty="0">
                <a:solidFill>
                  <a:srgbClr val="2F3542"/>
                </a:solidFill>
                <a:latin typeface="Pretendard" pitchFamily="34" charset="0"/>
                <a:ea typeface="Pretendard" pitchFamily="34" charset="-122"/>
                <a:cs typeface="Pretendard" pitchFamily="34" charset="-120"/>
              </a:rPr>
              <a:t>지하철 1km 내 역수</a:t>
            </a:r>
            <a:endParaRPr lang="en-US" sz="1460" dirty="0"/>
          </a:p>
        </p:txBody>
      </p:sp>
      <p:sp>
        <p:nvSpPr>
          <p:cNvPr id="50" name="Shape 48"/>
          <p:cNvSpPr/>
          <p:nvPr/>
        </p:nvSpPr>
        <p:spPr>
          <a:xfrm>
            <a:off x="6537960" y="3776472"/>
            <a:ext cx="594360" cy="493776"/>
          </a:xfrm>
          <a:prstGeom prst="rect">
            <a:avLst/>
          </a:prstGeom>
          <a:solidFill>
            <a:srgbClr val="FFFFFF"/>
          </a:solidFill>
          <a:ln w="7620">
            <a:solidFill>
              <a:srgbClr val="D4DAE3"/>
            </a:solidFill>
            <a:prstDash val="solid"/>
          </a:ln>
        </p:spPr>
      </p:sp>
      <p:sp>
        <p:nvSpPr>
          <p:cNvPr id="51" name="Text 49"/>
          <p:cNvSpPr/>
          <p:nvPr/>
        </p:nvSpPr>
        <p:spPr>
          <a:xfrm>
            <a:off x="6583680" y="3831336"/>
            <a:ext cx="502920" cy="384048"/>
          </a:xfrm>
          <a:prstGeom prst="rect">
            <a:avLst/>
          </a:prstGeom>
          <a:noFill/>
          <a:ln/>
        </p:spPr>
        <p:txBody>
          <a:bodyPr wrap="square" lIns="508" tIns="508" rIns="508" bIns="508" rtlCol="0" anchor="ctr">
            <a:normAutofit/>
          </a:bodyPr>
          <a:lstStyle/>
          <a:p>
            <a:pPr algn="ctr" indent="0" marL="0">
              <a:buNone/>
            </a:pPr>
            <a:r>
              <a:rPr lang="en-US" sz="1460" dirty="0">
                <a:solidFill>
                  <a:srgbClr val="26354F"/>
                </a:solidFill>
                <a:latin typeface="Pretendard" pitchFamily="34" charset="0"/>
                <a:ea typeface="Pretendard" pitchFamily="34" charset="-122"/>
                <a:cs typeface="Pretendard" pitchFamily="34" charset="-120"/>
              </a:rPr>
              <a:t>3</a:t>
            </a:r>
            <a:endParaRPr lang="en-US" sz="1460" dirty="0"/>
          </a:p>
        </p:txBody>
      </p:sp>
      <p:sp>
        <p:nvSpPr>
          <p:cNvPr id="52" name="Shape 50"/>
          <p:cNvSpPr/>
          <p:nvPr/>
        </p:nvSpPr>
        <p:spPr>
          <a:xfrm>
            <a:off x="7132320" y="3776472"/>
            <a:ext cx="4114800" cy="493776"/>
          </a:xfrm>
          <a:prstGeom prst="rect">
            <a:avLst/>
          </a:prstGeom>
          <a:solidFill>
            <a:srgbClr val="FFFFFF"/>
          </a:solidFill>
          <a:ln w="7620">
            <a:solidFill>
              <a:srgbClr val="D4DAE3"/>
            </a:solidFill>
            <a:prstDash val="solid"/>
          </a:ln>
        </p:spPr>
      </p:sp>
      <p:sp>
        <p:nvSpPr>
          <p:cNvPr id="53" name="Text 51"/>
          <p:cNvSpPr/>
          <p:nvPr/>
        </p:nvSpPr>
        <p:spPr>
          <a:xfrm>
            <a:off x="7178040" y="3831336"/>
            <a:ext cx="4023360" cy="384048"/>
          </a:xfrm>
          <a:prstGeom prst="rect">
            <a:avLst/>
          </a:prstGeom>
          <a:noFill/>
          <a:ln/>
        </p:spPr>
        <p:txBody>
          <a:bodyPr wrap="square" lIns="508" tIns="508" rIns="508" bIns="508" rtlCol="0" anchor="ctr">
            <a:normAutofit/>
          </a:bodyPr>
          <a:lstStyle/>
          <a:p>
            <a:pPr algn="ctr" indent="0" marL="0">
              <a:buNone/>
            </a:pPr>
            <a:r>
              <a:rPr lang="en-US" sz="1460" dirty="0">
                <a:solidFill>
                  <a:srgbClr val="2F3542"/>
                </a:solidFill>
                <a:latin typeface="Pretendard" pitchFamily="34" charset="0"/>
                <a:ea typeface="Pretendard" pitchFamily="34" charset="-122"/>
                <a:cs typeface="Pretendard" pitchFamily="34" charset="-120"/>
              </a:rPr>
              <a:t>어린이집 1km 내 개수</a:t>
            </a:r>
            <a:endParaRPr lang="en-US" sz="1460" dirty="0"/>
          </a:p>
        </p:txBody>
      </p:sp>
      <p:sp>
        <p:nvSpPr>
          <p:cNvPr id="54" name="Shape 52"/>
          <p:cNvSpPr/>
          <p:nvPr/>
        </p:nvSpPr>
        <p:spPr>
          <a:xfrm>
            <a:off x="6537960" y="4270248"/>
            <a:ext cx="594360" cy="493776"/>
          </a:xfrm>
          <a:prstGeom prst="rect">
            <a:avLst/>
          </a:prstGeom>
          <a:solidFill>
            <a:srgbClr val="F4F6F9"/>
          </a:solidFill>
          <a:ln w="7620">
            <a:solidFill>
              <a:srgbClr val="D4DAE3"/>
            </a:solidFill>
            <a:prstDash val="solid"/>
          </a:ln>
        </p:spPr>
      </p:sp>
      <p:sp>
        <p:nvSpPr>
          <p:cNvPr id="55" name="Text 53"/>
          <p:cNvSpPr/>
          <p:nvPr/>
        </p:nvSpPr>
        <p:spPr>
          <a:xfrm>
            <a:off x="6583680" y="4325112"/>
            <a:ext cx="502920" cy="384048"/>
          </a:xfrm>
          <a:prstGeom prst="rect">
            <a:avLst/>
          </a:prstGeom>
          <a:noFill/>
          <a:ln/>
        </p:spPr>
        <p:txBody>
          <a:bodyPr wrap="square" lIns="508" tIns="508" rIns="508" bIns="508" rtlCol="0" anchor="ctr">
            <a:normAutofit/>
          </a:bodyPr>
          <a:lstStyle/>
          <a:p>
            <a:pPr algn="ctr" indent="0" marL="0">
              <a:buNone/>
            </a:pPr>
            <a:r>
              <a:rPr lang="en-US" sz="1460" dirty="0">
                <a:solidFill>
                  <a:srgbClr val="26354F"/>
                </a:solidFill>
                <a:latin typeface="Pretendard" pitchFamily="34" charset="0"/>
                <a:ea typeface="Pretendard" pitchFamily="34" charset="-122"/>
                <a:cs typeface="Pretendard" pitchFamily="34" charset="-120"/>
              </a:rPr>
              <a:t>4</a:t>
            </a:r>
            <a:endParaRPr lang="en-US" sz="1460" dirty="0"/>
          </a:p>
        </p:txBody>
      </p:sp>
      <p:sp>
        <p:nvSpPr>
          <p:cNvPr id="56" name="Shape 54"/>
          <p:cNvSpPr/>
          <p:nvPr/>
        </p:nvSpPr>
        <p:spPr>
          <a:xfrm>
            <a:off x="7132320" y="4270248"/>
            <a:ext cx="4114800" cy="493776"/>
          </a:xfrm>
          <a:prstGeom prst="rect">
            <a:avLst/>
          </a:prstGeom>
          <a:solidFill>
            <a:srgbClr val="F4F6F9"/>
          </a:solidFill>
          <a:ln w="7620">
            <a:solidFill>
              <a:srgbClr val="D4DAE3"/>
            </a:solidFill>
            <a:prstDash val="solid"/>
          </a:ln>
        </p:spPr>
      </p:sp>
      <p:sp>
        <p:nvSpPr>
          <p:cNvPr id="57" name="Text 55"/>
          <p:cNvSpPr/>
          <p:nvPr/>
        </p:nvSpPr>
        <p:spPr>
          <a:xfrm>
            <a:off x="7178040" y="4325112"/>
            <a:ext cx="4023360" cy="384048"/>
          </a:xfrm>
          <a:prstGeom prst="rect">
            <a:avLst/>
          </a:prstGeom>
          <a:noFill/>
          <a:ln/>
        </p:spPr>
        <p:txBody>
          <a:bodyPr wrap="square" lIns="508" tIns="508" rIns="508" bIns="508" rtlCol="0" anchor="ctr">
            <a:normAutofit/>
          </a:bodyPr>
          <a:lstStyle/>
          <a:p>
            <a:pPr algn="ctr" indent="0" marL="0">
              <a:buNone/>
            </a:pPr>
            <a:r>
              <a:rPr lang="en-US" sz="1460" dirty="0">
                <a:solidFill>
                  <a:srgbClr val="2F3542"/>
                </a:solidFill>
                <a:latin typeface="Pretendard" pitchFamily="34" charset="0"/>
                <a:ea typeface="Pretendard" pitchFamily="34" charset="-122"/>
                <a:cs typeface="Pretendard" pitchFamily="34" charset="-120"/>
              </a:rPr>
              <a:t>학원 1km 내 개수</a:t>
            </a:r>
            <a:endParaRPr lang="en-US" sz="1460" dirty="0"/>
          </a:p>
        </p:txBody>
      </p:sp>
      <p:sp>
        <p:nvSpPr>
          <p:cNvPr id="58" name="Shape 56"/>
          <p:cNvSpPr/>
          <p:nvPr/>
        </p:nvSpPr>
        <p:spPr>
          <a:xfrm>
            <a:off x="6537960" y="4764024"/>
            <a:ext cx="594360" cy="493776"/>
          </a:xfrm>
          <a:prstGeom prst="rect">
            <a:avLst/>
          </a:prstGeom>
          <a:solidFill>
            <a:srgbClr val="FFFFFF"/>
          </a:solidFill>
          <a:ln w="7620">
            <a:solidFill>
              <a:srgbClr val="D4DAE3"/>
            </a:solidFill>
            <a:prstDash val="solid"/>
          </a:ln>
        </p:spPr>
      </p:sp>
      <p:sp>
        <p:nvSpPr>
          <p:cNvPr id="59" name="Text 57"/>
          <p:cNvSpPr/>
          <p:nvPr/>
        </p:nvSpPr>
        <p:spPr>
          <a:xfrm>
            <a:off x="6583680" y="4818888"/>
            <a:ext cx="502920" cy="384048"/>
          </a:xfrm>
          <a:prstGeom prst="rect">
            <a:avLst/>
          </a:prstGeom>
          <a:noFill/>
          <a:ln/>
        </p:spPr>
        <p:txBody>
          <a:bodyPr wrap="square" lIns="508" tIns="508" rIns="508" bIns="508" rtlCol="0" anchor="ctr">
            <a:normAutofit/>
          </a:bodyPr>
          <a:lstStyle/>
          <a:p>
            <a:pPr algn="ctr" indent="0" marL="0">
              <a:buNone/>
            </a:pPr>
            <a:r>
              <a:rPr lang="en-US" sz="1460" dirty="0">
                <a:solidFill>
                  <a:srgbClr val="26354F"/>
                </a:solidFill>
                <a:latin typeface="Pretendard" pitchFamily="34" charset="0"/>
                <a:ea typeface="Pretendard" pitchFamily="34" charset="-122"/>
                <a:cs typeface="Pretendard" pitchFamily="34" charset="-120"/>
              </a:rPr>
              <a:t>5</a:t>
            </a:r>
            <a:endParaRPr lang="en-US" sz="1460" dirty="0"/>
          </a:p>
        </p:txBody>
      </p:sp>
      <p:sp>
        <p:nvSpPr>
          <p:cNvPr id="60" name="Shape 58"/>
          <p:cNvSpPr/>
          <p:nvPr/>
        </p:nvSpPr>
        <p:spPr>
          <a:xfrm>
            <a:off x="7132320" y="4764024"/>
            <a:ext cx="4114800" cy="493776"/>
          </a:xfrm>
          <a:prstGeom prst="rect">
            <a:avLst/>
          </a:prstGeom>
          <a:solidFill>
            <a:srgbClr val="FFFFFF"/>
          </a:solidFill>
          <a:ln w="7620">
            <a:solidFill>
              <a:srgbClr val="D4DAE3"/>
            </a:solidFill>
            <a:prstDash val="solid"/>
          </a:ln>
        </p:spPr>
      </p:sp>
      <p:sp>
        <p:nvSpPr>
          <p:cNvPr id="61" name="Text 59"/>
          <p:cNvSpPr/>
          <p:nvPr/>
        </p:nvSpPr>
        <p:spPr>
          <a:xfrm>
            <a:off x="7178040" y="4818888"/>
            <a:ext cx="4023360" cy="384048"/>
          </a:xfrm>
          <a:prstGeom prst="rect">
            <a:avLst/>
          </a:prstGeom>
          <a:noFill/>
          <a:ln/>
        </p:spPr>
        <p:txBody>
          <a:bodyPr wrap="square" lIns="508" tIns="508" rIns="508" bIns="508" rtlCol="0" anchor="ctr">
            <a:normAutofit/>
          </a:bodyPr>
          <a:lstStyle/>
          <a:p>
            <a:pPr algn="ctr" indent="0" marL="0">
              <a:buNone/>
            </a:pPr>
            <a:r>
              <a:rPr lang="en-US" sz="1460" dirty="0">
                <a:solidFill>
                  <a:srgbClr val="2F3542"/>
                </a:solidFill>
                <a:latin typeface="Pretendard" pitchFamily="34" charset="0"/>
                <a:ea typeface="Pretendard" pitchFamily="34" charset="-122"/>
                <a:cs typeface="Pretendard" pitchFamily="34" charset="-120"/>
              </a:rPr>
              <a:t>지하철 최근접</a:t>
            </a:r>
            <a:endParaRPr lang="en-US" sz="1460" dirty="0"/>
          </a:p>
        </p:txBody>
      </p:sp>
      <p:sp>
        <p:nvSpPr>
          <p:cNvPr id="62" name="Shape 60"/>
          <p:cNvSpPr/>
          <p:nvPr/>
        </p:nvSpPr>
        <p:spPr>
          <a:xfrm>
            <a:off x="685800" y="5870448"/>
            <a:ext cx="10835640" cy="502920"/>
          </a:xfrm>
          <a:prstGeom prst="rect">
            <a:avLst/>
          </a:prstGeom>
          <a:solidFill>
            <a:srgbClr val="26354F"/>
          </a:solidFill>
          <a:ln w="7620">
            <a:solidFill>
              <a:srgbClr val="26354F"/>
            </a:solidFill>
            <a:prstDash val="solid"/>
          </a:ln>
        </p:spPr>
      </p:sp>
      <p:sp>
        <p:nvSpPr>
          <p:cNvPr id="63" name="Text 61"/>
          <p:cNvSpPr/>
          <p:nvPr/>
        </p:nvSpPr>
        <p:spPr>
          <a:xfrm>
            <a:off x="960120" y="6016752"/>
            <a:ext cx="10287000" cy="201168"/>
          </a:xfrm>
          <a:prstGeom prst="rect">
            <a:avLst/>
          </a:prstGeom>
          <a:noFill/>
          <a:ln/>
        </p:spPr>
        <p:txBody>
          <a:bodyPr wrap="square" lIns="508" tIns="508" rIns="508" bIns="508" rtlCol="0" anchor="ctr">
            <a:normAutofit/>
          </a:bodyPr>
          <a:lstStyle/>
          <a:p>
            <a:pPr algn="ctr" indent="0" marL="0">
              <a:buNone/>
            </a:pPr>
            <a:r>
              <a:rPr lang="en-US" sz="1540" b="1" dirty="0">
                <a:solidFill>
                  <a:srgbClr val="FFFFFF"/>
                </a:solidFill>
                <a:latin typeface="Pretendard" pitchFamily="34" charset="0"/>
                <a:ea typeface="Pretendard" pitchFamily="34" charset="-122"/>
                <a:cs typeface="Pretendard" pitchFamily="34" charset="-120"/>
              </a:rPr>
              <a:t>강남3구는 상업·교육·의료 접근성, 비강남은 교통·생활 인프라가 반복적으로 중요</a:t>
            </a:r>
            <a:endParaRPr lang="en-US" sz="15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6354F"/>
          </a:solidFill>
          <a:ln w="7620">
            <a:solidFill>
              <a:srgbClr val="26354F"/>
            </a:solidFill>
            <a:prstDash val="solid"/>
          </a:ln>
        </p:spPr>
      </p:sp>
      <p:sp>
        <p:nvSpPr>
          <p:cNvPr id="3" name="Text 1"/>
          <p:cNvSpPr/>
          <p:nvPr/>
        </p:nvSpPr>
        <p:spPr>
          <a:xfrm>
            <a:off x="411480" y="128016"/>
            <a:ext cx="3840480" cy="182880"/>
          </a:xfrm>
          <a:prstGeom prst="rect">
            <a:avLst/>
          </a:prstGeom>
          <a:noFill/>
          <a:ln/>
        </p:spPr>
        <p:txBody>
          <a:bodyPr wrap="square" lIns="508" tIns="508" rIns="508" bIns="508" rtlCol="0" anchor="ctr">
            <a:normAutofit/>
          </a:bodyPr>
          <a:lstStyle/>
          <a:p>
            <a:pPr indent="0" marL="0">
              <a:buNone/>
            </a:pPr>
            <a:r>
              <a:rPr lang="en-US" sz="1050" b="1" dirty="0">
                <a:solidFill>
                  <a:srgbClr val="F2D16B"/>
                </a:solidFill>
                <a:latin typeface="Pretendard" pitchFamily="34" charset="0"/>
                <a:ea typeface="Pretendard" pitchFamily="34" charset="-122"/>
                <a:cs typeface="Pretendard" pitchFamily="34" charset="-120"/>
              </a:rPr>
              <a:t>04. RESULTS</a:t>
            </a:r>
            <a:endParaRPr lang="en-US" sz="1050" dirty="0"/>
          </a:p>
        </p:txBody>
      </p:sp>
      <p:sp>
        <p:nvSpPr>
          <p:cNvPr id="4" name="Text 2"/>
          <p:cNvSpPr/>
          <p:nvPr/>
        </p:nvSpPr>
        <p:spPr>
          <a:xfrm>
            <a:off x="11292840" y="109728"/>
            <a:ext cx="502920" cy="201168"/>
          </a:xfrm>
          <a:prstGeom prst="rect">
            <a:avLst/>
          </a:prstGeom>
          <a:noFill/>
          <a:ln/>
        </p:spPr>
        <p:txBody>
          <a:bodyPr wrap="square" lIns="508" tIns="508" rIns="508" bIns="508" rtlCol="0" anchor="ctr">
            <a:normAutofit/>
          </a:bodyPr>
          <a:lstStyle/>
          <a:p>
            <a:pPr algn="r" indent="0" marL="0">
              <a:buNone/>
            </a:pPr>
            <a:r>
              <a:rPr lang="en-US" sz="1050" b="1" dirty="0">
                <a:solidFill>
                  <a:srgbClr val="FFFFFF"/>
                </a:solidFill>
                <a:latin typeface="Pretendard" pitchFamily="34" charset="0"/>
                <a:ea typeface="Pretendard" pitchFamily="34" charset="-122"/>
                <a:cs typeface="Pretendard" pitchFamily="34" charset="-120"/>
              </a:rPr>
              <a:t>09</a:t>
            </a:r>
            <a:endParaRPr lang="en-US" sz="1050" dirty="0"/>
          </a:p>
        </p:txBody>
      </p:sp>
      <p:sp>
        <p:nvSpPr>
          <p:cNvPr id="5" name="Text 3"/>
          <p:cNvSpPr/>
          <p:nvPr/>
        </p:nvSpPr>
        <p:spPr>
          <a:xfrm>
            <a:off x="502920" y="749808"/>
            <a:ext cx="10424160" cy="438912"/>
          </a:xfrm>
          <a:prstGeom prst="rect">
            <a:avLst/>
          </a:prstGeom>
          <a:noFill/>
          <a:ln/>
        </p:spPr>
        <p:txBody>
          <a:bodyPr wrap="square" lIns="508" tIns="508" rIns="508" bIns="508" rtlCol="0" anchor="ctr">
            <a:normAutofit/>
          </a:bodyPr>
          <a:lstStyle/>
          <a:p>
            <a:pPr indent="0" marL="0">
              <a:buNone/>
            </a:pPr>
            <a:r>
              <a:rPr lang="en-US" sz="2400" b="1" dirty="0">
                <a:solidFill>
                  <a:srgbClr val="26354F"/>
                </a:solidFill>
                <a:latin typeface="Pretendard" pitchFamily="34" charset="0"/>
                <a:ea typeface="Pretendard" pitchFamily="34" charset="-122"/>
                <a:cs typeface="Pretendard" pitchFamily="34" charset="-120"/>
              </a:rPr>
              <a:t>연도×권역: 2022년 조정기와 시공간 이질성</a:t>
            </a:r>
            <a:endParaRPr lang="en-US" sz="2400" dirty="0"/>
          </a:p>
        </p:txBody>
      </p:sp>
      <p:sp>
        <p:nvSpPr>
          <p:cNvPr id="6" name="Shape 4"/>
          <p:cNvSpPr/>
          <p:nvPr/>
        </p:nvSpPr>
        <p:spPr>
          <a:xfrm>
            <a:off x="502920" y="1280160"/>
            <a:ext cx="11155680" cy="0"/>
          </a:xfrm>
          <a:prstGeom prst="line">
            <a:avLst/>
          </a:prstGeom>
          <a:noFill/>
          <a:ln w="15240">
            <a:solidFill>
              <a:srgbClr val="D4DAE3"/>
            </a:solidFill>
            <a:prstDash val="solid"/>
          </a:ln>
        </p:spPr>
      </p:sp>
      <p:sp>
        <p:nvSpPr>
          <p:cNvPr id="7" name="Text 5"/>
          <p:cNvSpPr/>
          <p:nvPr/>
        </p:nvSpPr>
        <p:spPr>
          <a:xfrm>
            <a:off x="502920" y="6528816"/>
            <a:ext cx="4389120" cy="164592"/>
          </a:xfrm>
          <a:prstGeom prst="rect">
            <a:avLst/>
          </a:prstGeom>
          <a:noFill/>
          <a:ln/>
        </p:spPr>
        <p:txBody>
          <a:bodyPr wrap="square" lIns="508" tIns="508" rIns="508" bIns="508" rtlCol="0" anchor="ctr">
            <a:normAutofit/>
          </a:bodyPr>
          <a:lstStyle/>
          <a:p>
            <a:pPr indent="0" marL="0">
              <a:buNone/>
            </a:pPr>
            <a:r>
              <a:rPr lang="en-US" sz="820" dirty="0">
                <a:solidFill>
                  <a:srgbClr val="646B78"/>
                </a:solidFill>
                <a:latin typeface="Pretendard" pitchFamily="34" charset="0"/>
                <a:ea typeface="Pretendard" pitchFamily="34" charset="-122"/>
                <a:cs typeface="Pretendard" pitchFamily="34" charset="-120"/>
              </a:rPr>
              <a:t>석사학위논문 최종심사 발표 | 박현근</a:t>
            </a:r>
            <a:endParaRPr lang="en-US" sz="820" dirty="0"/>
          </a:p>
        </p:txBody>
      </p:sp>
      <p:sp>
        <p:nvSpPr>
          <p:cNvPr id="8" name="Shape 6"/>
          <p:cNvSpPr/>
          <p:nvPr/>
        </p:nvSpPr>
        <p:spPr>
          <a:xfrm>
            <a:off x="685800" y="1508760"/>
            <a:ext cx="3108960" cy="4526280"/>
          </a:xfrm>
          <a:prstGeom prst="rect">
            <a:avLst/>
          </a:prstGeom>
          <a:solidFill>
            <a:srgbClr val="26354F"/>
          </a:solidFill>
          <a:ln w="7620">
            <a:solidFill>
              <a:srgbClr val="26354F"/>
            </a:solidFill>
            <a:prstDash val="solid"/>
          </a:ln>
        </p:spPr>
      </p:sp>
      <p:sp>
        <p:nvSpPr>
          <p:cNvPr id="9" name="Text 7"/>
          <p:cNvSpPr/>
          <p:nvPr/>
        </p:nvSpPr>
        <p:spPr>
          <a:xfrm>
            <a:off x="868680" y="1874520"/>
            <a:ext cx="2743200" cy="594360"/>
          </a:xfrm>
          <a:prstGeom prst="rect">
            <a:avLst/>
          </a:prstGeom>
          <a:noFill/>
          <a:ln/>
        </p:spPr>
        <p:txBody>
          <a:bodyPr wrap="square" lIns="508" tIns="508" rIns="508" bIns="508" rtlCol="0" anchor="ctr">
            <a:normAutofit/>
          </a:bodyPr>
          <a:lstStyle/>
          <a:p>
            <a:pPr algn="ctr" indent="0" marL="0">
              <a:buNone/>
            </a:pPr>
            <a:r>
              <a:rPr lang="en-US" sz="3600" b="1" dirty="0">
                <a:solidFill>
                  <a:srgbClr val="F2D16B"/>
                </a:solidFill>
                <a:latin typeface="Pretendard" pitchFamily="34" charset="0"/>
                <a:ea typeface="Pretendard" pitchFamily="34" charset="-122"/>
                <a:cs typeface="Pretendard" pitchFamily="34" charset="-120"/>
              </a:rPr>
              <a:t>2022</a:t>
            </a:r>
            <a:endParaRPr lang="en-US" sz="3600" dirty="0"/>
          </a:p>
        </p:txBody>
      </p:sp>
      <p:sp>
        <p:nvSpPr>
          <p:cNvPr id="10" name="Text 8"/>
          <p:cNvSpPr/>
          <p:nvPr/>
        </p:nvSpPr>
        <p:spPr>
          <a:xfrm>
            <a:off x="914400" y="2788920"/>
            <a:ext cx="2651760" cy="960120"/>
          </a:xfrm>
          <a:prstGeom prst="rect">
            <a:avLst/>
          </a:prstGeom>
          <a:noFill/>
          <a:ln/>
        </p:spPr>
        <p:txBody>
          <a:bodyPr wrap="square" lIns="508" tIns="508" rIns="508" bIns="508" rtlCol="0" anchor="ctr">
            <a:normAutofit/>
          </a:bodyP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금리 급등과</a:t>
            </a:r>
            <a:endParaRPr lang="en-US" sz="1800" dirty="0"/>
          </a:p>
          <a:p>
            <a:pPr algn="ctr" indent="0" marL="0">
              <a:buNone/>
            </a:pPr>
            <a:r>
              <a:rPr lang="en-US" sz="1800" b="1" dirty="0">
                <a:solidFill>
                  <a:srgbClr val="FFFFFF"/>
                </a:solidFill>
                <a:latin typeface="Pretendard" pitchFamily="34" charset="0"/>
                <a:ea typeface="Pretendard" pitchFamily="34" charset="-122"/>
                <a:cs typeface="Pretendard" pitchFamily="34" charset="-120"/>
              </a:rPr>
              <a:t>거래량 급감이 겹친</a:t>
            </a:r>
            <a:endParaRPr lang="en-US" sz="1800" dirty="0"/>
          </a:p>
          <a:p>
            <a:pPr algn="ctr" indent="0" marL="0">
              <a:buNone/>
            </a:pPr>
            <a:r>
              <a:rPr lang="en-US" sz="1800" b="1" dirty="0">
                <a:solidFill>
                  <a:srgbClr val="FFFFFF"/>
                </a:solidFill>
                <a:latin typeface="Pretendard" pitchFamily="34" charset="0"/>
                <a:ea typeface="Pretendard" pitchFamily="34" charset="-122"/>
                <a:cs typeface="Pretendard" pitchFamily="34" charset="-120"/>
              </a:rPr>
              <a:t>조정기</a:t>
            </a:r>
            <a:endParaRPr lang="en-US" sz="1800" dirty="0"/>
          </a:p>
        </p:txBody>
      </p:sp>
      <p:sp>
        <p:nvSpPr>
          <p:cNvPr id="11" name="Text 9"/>
          <p:cNvSpPr/>
          <p:nvPr/>
        </p:nvSpPr>
        <p:spPr>
          <a:xfrm>
            <a:off x="914400" y="4343400"/>
            <a:ext cx="2651760" cy="640080"/>
          </a:xfrm>
          <a:prstGeom prst="rect">
            <a:avLst/>
          </a:prstGeom>
          <a:noFill/>
          <a:ln/>
        </p:spPr>
        <p:txBody>
          <a:bodyPr wrap="square" lIns="508" tIns="508" rIns="508" bIns="508" rtlCol="0" anchor="ctr">
            <a:normAutofit/>
          </a:bodyPr>
          <a:lstStyle/>
          <a:p>
            <a:pPr algn="ctr" indent="0" marL="0">
              <a:buNone/>
            </a:pPr>
            <a:r>
              <a:rPr lang="en-US" sz="1550" dirty="0">
                <a:solidFill>
                  <a:srgbClr val="DDE4EE"/>
                </a:solidFill>
                <a:latin typeface="Pretendard" pitchFamily="34" charset="0"/>
                <a:ea typeface="Pretendard" pitchFamily="34" charset="-122"/>
                <a:cs typeface="Pretendard" pitchFamily="34" charset="-120"/>
              </a:rPr>
              <a:t>세 권역 모두</a:t>
            </a:r>
            <a:endParaRPr lang="en-US" sz="1550" dirty="0"/>
          </a:p>
          <a:p>
            <a:pPr algn="ctr" indent="0" marL="0">
              <a:buNone/>
            </a:pPr>
            <a:r>
              <a:rPr lang="en-US" sz="1550" dirty="0">
                <a:solidFill>
                  <a:srgbClr val="DDE4EE"/>
                </a:solidFill>
                <a:latin typeface="Pretendard" pitchFamily="34" charset="0"/>
                <a:ea typeface="Pretendard" pitchFamily="34" charset="-122"/>
                <a:cs typeface="Pretendard" pitchFamily="34" charset="-120"/>
              </a:rPr>
              <a:t>예측 안정성 저하</a:t>
            </a:r>
            <a:endParaRPr lang="en-US" sz="1550" dirty="0"/>
          </a:p>
        </p:txBody>
      </p:sp>
      <p:sp>
        <p:nvSpPr>
          <p:cNvPr id="12" name="Shape 10"/>
          <p:cNvSpPr/>
          <p:nvPr/>
        </p:nvSpPr>
        <p:spPr>
          <a:xfrm>
            <a:off x="4069080" y="1508760"/>
            <a:ext cx="7269480" cy="2971800"/>
          </a:xfrm>
          <a:prstGeom prst="rect">
            <a:avLst/>
          </a:prstGeom>
          <a:solidFill>
            <a:srgbClr val="F4F6F9"/>
          </a:solidFill>
          <a:ln w="7620">
            <a:solidFill>
              <a:srgbClr val="D4DAE3"/>
            </a:solidFill>
            <a:prstDash val="solid"/>
          </a:ln>
        </p:spPr>
      </p:sp>
      <p:sp>
        <p:nvSpPr>
          <p:cNvPr id="13" name="Text 11"/>
          <p:cNvSpPr/>
          <p:nvPr/>
        </p:nvSpPr>
        <p:spPr>
          <a:xfrm>
            <a:off x="4343400" y="1783080"/>
            <a:ext cx="2743200" cy="292608"/>
          </a:xfrm>
          <a:prstGeom prst="rect">
            <a:avLst/>
          </a:prstGeom>
          <a:noFill/>
          <a:ln/>
        </p:spPr>
        <p:txBody>
          <a:bodyPr wrap="square" lIns="508" tIns="508" rIns="508" bIns="508" rtlCol="0" anchor="ctr">
            <a:normAutofit/>
          </a:bodyPr>
          <a:lstStyle/>
          <a:p>
            <a:pPr indent="0" marL="0">
              <a:buNone/>
            </a:pPr>
            <a:r>
              <a:rPr lang="en-US" sz="1750" b="1" dirty="0">
                <a:solidFill>
                  <a:srgbClr val="26354F"/>
                </a:solidFill>
                <a:latin typeface="Pretendard" pitchFamily="34" charset="0"/>
                <a:ea typeface="Pretendard" pitchFamily="34" charset="-122"/>
                <a:cs typeface="Pretendard" pitchFamily="34" charset="-120"/>
              </a:rPr>
              <a:t>연도별 예측 안정성</a:t>
            </a:r>
            <a:endParaRPr lang="en-US" sz="1750" dirty="0"/>
          </a:p>
        </p:txBody>
      </p:sp>
      <p:sp>
        <p:nvSpPr>
          <p:cNvPr id="14" name="Shape 12"/>
          <p:cNvSpPr/>
          <p:nvPr/>
        </p:nvSpPr>
        <p:spPr>
          <a:xfrm>
            <a:off x="4343400" y="2331720"/>
            <a:ext cx="6629400" cy="2322576"/>
          </a:xfrm>
          <a:prstGeom prst="rect">
            <a:avLst/>
          </a:prstGeom>
          <a:solidFill>
            <a:srgbClr val="FFFFFF"/>
          </a:solidFill>
          <a:ln w="7620">
            <a:solidFill>
              <a:srgbClr val="D4DAE3"/>
            </a:solidFill>
            <a:prstDash val="solid"/>
          </a:ln>
        </p:spPr>
      </p:sp>
      <p:sp>
        <p:nvSpPr>
          <p:cNvPr id="15" name="Shape 13"/>
          <p:cNvSpPr/>
          <p:nvPr/>
        </p:nvSpPr>
        <p:spPr>
          <a:xfrm>
            <a:off x="4343400" y="2331720"/>
            <a:ext cx="1920240" cy="512064"/>
          </a:xfrm>
          <a:prstGeom prst="rect">
            <a:avLst/>
          </a:prstGeom>
          <a:solidFill>
            <a:srgbClr val="EAF0F5"/>
          </a:solidFill>
          <a:ln w="7620">
            <a:solidFill>
              <a:srgbClr val="D4DAE3"/>
            </a:solidFill>
            <a:prstDash val="solid"/>
          </a:ln>
        </p:spPr>
      </p:sp>
      <p:sp>
        <p:nvSpPr>
          <p:cNvPr id="16" name="Text 14"/>
          <p:cNvSpPr/>
          <p:nvPr/>
        </p:nvSpPr>
        <p:spPr>
          <a:xfrm>
            <a:off x="4379976" y="2432304"/>
            <a:ext cx="1847088" cy="164592"/>
          </a:xfrm>
          <a:prstGeom prst="rect">
            <a:avLst/>
          </a:prstGeom>
          <a:noFill/>
          <a:ln/>
        </p:spPr>
        <p:txBody>
          <a:bodyPr wrap="square" lIns="508" tIns="508" rIns="508" bIns="508" rtlCol="0" anchor="ctr">
            <a:normAutofit/>
          </a:bodyPr>
          <a:lstStyle/>
          <a:p>
            <a:pPr algn="ctr" indent="0" marL="0">
              <a:buNone/>
            </a:pPr>
            <a:r>
              <a:rPr lang="en-US" sz="1460" b="1" dirty="0">
                <a:solidFill>
                  <a:srgbClr val="26354F"/>
                </a:solidFill>
                <a:latin typeface="Pretendard" pitchFamily="34" charset="0"/>
                <a:ea typeface="Pretendard" pitchFamily="34" charset="-122"/>
                <a:cs typeface="Pretendard" pitchFamily="34" charset="-120"/>
              </a:rPr>
              <a:t>구분</a:t>
            </a:r>
            <a:endParaRPr lang="en-US" sz="1460" dirty="0"/>
          </a:p>
        </p:txBody>
      </p:sp>
      <p:sp>
        <p:nvSpPr>
          <p:cNvPr id="17" name="Shape 15"/>
          <p:cNvSpPr/>
          <p:nvPr/>
        </p:nvSpPr>
        <p:spPr>
          <a:xfrm>
            <a:off x="6263640" y="2331720"/>
            <a:ext cx="1554480" cy="512064"/>
          </a:xfrm>
          <a:prstGeom prst="rect">
            <a:avLst/>
          </a:prstGeom>
          <a:solidFill>
            <a:srgbClr val="EAF0F5"/>
          </a:solidFill>
          <a:ln w="7620">
            <a:solidFill>
              <a:srgbClr val="D4DAE3"/>
            </a:solidFill>
            <a:prstDash val="solid"/>
          </a:ln>
        </p:spPr>
      </p:sp>
      <p:sp>
        <p:nvSpPr>
          <p:cNvPr id="18" name="Text 16"/>
          <p:cNvSpPr/>
          <p:nvPr/>
        </p:nvSpPr>
        <p:spPr>
          <a:xfrm>
            <a:off x="6300216" y="2432304"/>
            <a:ext cx="1481328" cy="164592"/>
          </a:xfrm>
          <a:prstGeom prst="rect">
            <a:avLst/>
          </a:prstGeom>
          <a:noFill/>
          <a:ln/>
        </p:spPr>
        <p:txBody>
          <a:bodyPr wrap="square" lIns="508" tIns="508" rIns="508" bIns="508" rtlCol="0" anchor="ctr">
            <a:normAutofit/>
          </a:bodyPr>
          <a:lstStyle/>
          <a:p>
            <a:pPr algn="ctr" indent="0" marL="0">
              <a:buNone/>
            </a:pPr>
            <a:r>
              <a:rPr lang="en-US" sz="1460" b="1" dirty="0">
                <a:solidFill>
                  <a:srgbClr val="26354F"/>
                </a:solidFill>
                <a:latin typeface="Pretendard" pitchFamily="34" charset="0"/>
                <a:ea typeface="Pretendard" pitchFamily="34" charset="-122"/>
                <a:cs typeface="Pretendard" pitchFamily="34" charset="-120"/>
              </a:rPr>
              <a:t>2019</a:t>
            </a:r>
            <a:endParaRPr lang="en-US" sz="1460" dirty="0"/>
          </a:p>
        </p:txBody>
      </p:sp>
      <p:sp>
        <p:nvSpPr>
          <p:cNvPr id="19" name="Shape 17"/>
          <p:cNvSpPr/>
          <p:nvPr/>
        </p:nvSpPr>
        <p:spPr>
          <a:xfrm>
            <a:off x="7818120" y="2331720"/>
            <a:ext cx="1554480" cy="512064"/>
          </a:xfrm>
          <a:prstGeom prst="rect">
            <a:avLst/>
          </a:prstGeom>
          <a:solidFill>
            <a:srgbClr val="EAF0F5"/>
          </a:solidFill>
          <a:ln w="7620">
            <a:solidFill>
              <a:srgbClr val="D4DAE3"/>
            </a:solidFill>
            <a:prstDash val="solid"/>
          </a:ln>
        </p:spPr>
      </p:sp>
      <p:sp>
        <p:nvSpPr>
          <p:cNvPr id="20" name="Text 18"/>
          <p:cNvSpPr/>
          <p:nvPr/>
        </p:nvSpPr>
        <p:spPr>
          <a:xfrm>
            <a:off x="7854696" y="2432304"/>
            <a:ext cx="1481328" cy="164592"/>
          </a:xfrm>
          <a:prstGeom prst="rect">
            <a:avLst/>
          </a:prstGeom>
          <a:noFill/>
          <a:ln/>
        </p:spPr>
        <p:txBody>
          <a:bodyPr wrap="square" lIns="508" tIns="508" rIns="508" bIns="508" rtlCol="0" anchor="ctr">
            <a:normAutofit/>
          </a:bodyPr>
          <a:lstStyle/>
          <a:p>
            <a:pPr algn="ctr" indent="0" marL="0">
              <a:buNone/>
            </a:pPr>
            <a:r>
              <a:rPr lang="en-US" sz="1460" b="1" dirty="0">
                <a:solidFill>
                  <a:srgbClr val="26354F"/>
                </a:solidFill>
                <a:latin typeface="Pretendard" pitchFamily="34" charset="0"/>
                <a:ea typeface="Pretendard" pitchFamily="34" charset="-122"/>
                <a:cs typeface="Pretendard" pitchFamily="34" charset="-120"/>
              </a:rPr>
              <a:t>2022</a:t>
            </a:r>
            <a:endParaRPr lang="en-US" sz="1460" dirty="0"/>
          </a:p>
        </p:txBody>
      </p:sp>
      <p:sp>
        <p:nvSpPr>
          <p:cNvPr id="21" name="Shape 19"/>
          <p:cNvSpPr/>
          <p:nvPr/>
        </p:nvSpPr>
        <p:spPr>
          <a:xfrm>
            <a:off x="9372600" y="2331720"/>
            <a:ext cx="1600200" cy="512064"/>
          </a:xfrm>
          <a:prstGeom prst="rect">
            <a:avLst/>
          </a:prstGeom>
          <a:solidFill>
            <a:srgbClr val="EAF0F5"/>
          </a:solidFill>
          <a:ln w="7620">
            <a:solidFill>
              <a:srgbClr val="D4DAE3"/>
            </a:solidFill>
            <a:prstDash val="solid"/>
          </a:ln>
        </p:spPr>
      </p:sp>
      <p:sp>
        <p:nvSpPr>
          <p:cNvPr id="22" name="Text 20"/>
          <p:cNvSpPr/>
          <p:nvPr/>
        </p:nvSpPr>
        <p:spPr>
          <a:xfrm>
            <a:off x="9409176" y="2432304"/>
            <a:ext cx="1527048" cy="164592"/>
          </a:xfrm>
          <a:prstGeom prst="rect">
            <a:avLst/>
          </a:prstGeom>
          <a:noFill/>
          <a:ln/>
        </p:spPr>
        <p:txBody>
          <a:bodyPr wrap="square" lIns="508" tIns="508" rIns="508" bIns="508" rtlCol="0" anchor="ctr">
            <a:normAutofit/>
          </a:bodyPr>
          <a:lstStyle/>
          <a:p>
            <a:pPr algn="ctr" indent="0" marL="0">
              <a:buNone/>
            </a:pPr>
            <a:r>
              <a:rPr lang="en-US" sz="1460" b="1" dirty="0">
                <a:solidFill>
                  <a:srgbClr val="26354F"/>
                </a:solidFill>
                <a:latin typeface="Pretendard" pitchFamily="34" charset="0"/>
                <a:ea typeface="Pretendard" pitchFamily="34" charset="-122"/>
                <a:cs typeface="Pretendard" pitchFamily="34" charset="-120"/>
              </a:rPr>
              <a:t>2025</a:t>
            </a:r>
            <a:endParaRPr lang="en-US" sz="1460" dirty="0"/>
          </a:p>
        </p:txBody>
      </p:sp>
      <p:sp>
        <p:nvSpPr>
          <p:cNvPr id="23" name="Shape 21"/>
          <p:cNvSpPr/>
          <p:nvPr/>
        </p:nvSpPr>
        <p:spPr>
          <a:xfrm>
            <a:off x="4343400" y="2843784"/>
            <a:ext cx="1920240" cy="603504"/>
          </a:xfrm>
          <a:prstGeom prst="rect">
            <a:avLst/>
          </a:prstGeom>
          <a:solidFill>
            <a:srgbClr val="FFFFFF"/>
          </a:solidFill>
          <a:ln w="7620">
            <a:solidFill>
              <a:srgbClr val="D4DAE3"/>
            </a:solidFill>
            <a:prstDash val="solid"/>
          </a:ln>
        </p:spPr>
      </p:sp>
      <p:sp>
        <p:nvSpPr>
          <p:cNvPr id="24" name="Text 22"/>
          <p:cNvSpPr/>
          <p:nvPr/>
        </p:nvSpPr>
        <p:spPr>
          <a:xfrm>
            <a:off x="4389120" y="2898648"/>
            <a:ext cx="1828800" cy="493776"/>
          </a:xfrm>
          <a:prstGeom prst="rect">
            <a:avLst/>
          </a:prstGeom>
          <a:noFill/>
          <a:ln/>
        </p:spPr>
        <p:txBody>
          <a:bodyPr wrap="square" lIns="508" tIns="508" rIns="508" bIns="508" rtlCol="0" anchor="ctr">
            <a:normAutofit/>
          </a:bodyPr>
          <a:lstStyle/>
          <a:p>
            <a:pPr algn="ctr" indent="0" marL="0">
              <a:buNone/>
            </a:pPr>
            <a:r>
              <a:rPr lang="en-US" sz="1520" dirty="0">
                <a:solidFill>
                  <a:srgbClr val="26354F"/>
                </a:solidFill>
                <a:latin typeface="Pretendard" pitchFamily="34" charset="0"/>
                <a:ea typeface="Pretendard" pitchFamily="34" charset="-122"/>
                <a:cs typeface="Pretendard" pitchFamily="34" charset="-120"/>
              </a:rPr>
              <a:t>강남3구 R²</a:t>
            </a:r>
            <a:endParaRPr lang="en-US" sz="1520" dirty="0"/>
          </a:p>
        </p:txBody>
      </p:sp>
      <p:sp>
        <p:nvSpPr>
          <p:cNvPr id="25" name="Shape 23"/>
          <p:cNvSpPr/>
          <p:nvPr/>
        </p:nvSpPr>
        <p:spPr>
          <a:xfrm>
            <a:off x="6263640" y="2843784"/>
            <a:ext cx="1554480" cy="603504"/>
          </a:xfrm>
          <a:prstGeom prst="rect">
            <a:avLst/>
          </a:prstGeom>
          <a:solidFill>
            <a:srgbClr val="FFFFFF"/>
          </a:solidFill>
          <a:ln w="7620">
            <a:solidFill>
              <a:srgbClr val="D4DAE3"/>
            </a:solidFill>
            <a:prstDash val="solid"/>
          </a:ln>
        </p:spPr>
      </p:sp>
      <p:sp>
        <p:nvSpPr>
          <p:cNvPr id="26" name="Text 24"/>
          <p:cNvSpPr/>
          <p:nvPr/>
        </p:nvSpPr>
        <p:spPr>
          <a:xfrm>
            <a:off x="6309360" y="2898648"/>
            <a:ext cx="1463040" cy="493776"/>
          </a:xfrm>
          <a:prstGeom prst="rect">
            <a:avLst/>
          </a:prstGeom>
          <a:noFill/>
          <a:ln/>
        </p:spPr>
        <p:txBody>
          <a:bodyPr wrap="square" lIns="508" tIns="508" rIns="508" bIns="508" rtlCol="0" anchor="ctr">
            <a:normAutofit/>
          </a:bodyPr>
          <a:lstStyle/>
          <a:p>
            <a:pPr algn="ctr" indent="0" marL="0">
              <a:buNone/>
            </a:pPr>
            <a:r>
              <a:rPr lang="en-US" sz="1520" dirty="0">
                <a:solidFill>
                  <a:srgbClr val="2F3542"/>
                </a:solidFill>
                <a:latin typeface="Pretendard" pitchFamily="34" charset="0"/>
                <a:ea typeface="Pretendard" pitchFamily="34" charset="-122"/>
                <a:cs typeface="Pretendard" pitchFamily="34" charset="-120"/>
              </a:rPr>
              <a:t>0.894</a:t>
            </a:r>
            <a:endParaRPr lang="en-US" sz="1520" dirty="0"/>
          </a:p>
        </p:txBody>
      </p:sp>
      <p:sp>
        <p:nvSpPr>
          <p:cNvPr id="27" name="Shape 25"/>
          <p:cNvSpPr/>
          <p:nvPr/>
        </p:nvSpPr>
        <p:spPr>
          <a:xfrm>
            <a:off x="7818120" y="2843784"/>
            <a:ext cx="1554480" cy="603504"/>
          </a:xfrm>
          <a:prstGeom prst="rect">
            <a:avLst/>
          </a:prstGeom>
          <a:solidFill>
            <a:srgbClr val="FFFFFF"/>
          </a:solidFill>
          <a:ln w="7620">
            <a:solidFill>
              <a:srgbClr val="D4DAE3"/>
            </a:solidFill>
            <a:prstDash val="solid"/>
          </a:ln>
        </p:spPr>
      </p:sp>
      <p:sp>
        <p:nvSpPr>
          <p:cNvPr id="28" name="Text 26"/>
          <p:cNvSpPr/>
          <p:nvPr/>
        </p:nvSpPr>
        <p:spPr>
          <a:xfrm>
            <a:off x="7863840" y="2898648"/>
            <a:ext cx="1463040" cy="493776"/>
          </a:xfrm>
          <a:prstGeom prst="rect">
            <a:avLst/>
          </a:prstGeom>
          <a:noFill/>
          <a:ln/>
        </p:spPr>
        <p:txBody>
          <a:bodyPr wrap="square" lIns="508" tIns="508" rIns="508" bIns="508" rtlCol="0" anchor="ctr">
            <a:normAutofit/>
          </a:bodyPr>
          <a:lstStyle/>
          <a:p>
            <a:pPr algn="ctr" indent="0" marL="0">
              <a:buNone/>
            </a:pPr>
            <a:r>
              <a:rPr lang="en-US" sz="1520" dirty="0">
                <a:solidFill>
                  <a:srgbClr val="2F3542"/>
                </a:solidFill>
                <a:latin typeface="Pretendard" pitchFamily="34" charset="0"/>
                <a:ea typeface="Pretendard" pitchFamily="34" charset="-122"/>
                <a:cs typeface="Pretendard" pitchFamily="34" charset="-120"/>
              </a:rPr>
              <a:t>0.831</a:t>
            </a:r>
            <a:endParaRPr lang="en-US" sz="1520" dirty="0"/>
          </a:p>
        </p:txBody>
      </p:sp>
      <p:sp>
        <p:nvSpPr>
          <p:cNvPr id="29" name="Shape 27"/>
          <p:cNvSpPr/>
          <p:nvPr/>
        </p:nvSpPr>
        <p:spPr>
          <a:xfrm>
            <a:off x="9372600" y="2843784"/>
            <a:ext cx="1600200" cy="603504"/>
          </a:xfrm>
          <a:prstGeom prst="rect">
            <a:avLst/>
          </a:prstGeom>
          <a:solidFill>
            <a:srgbClr val="FFFFFF"/>
          </a:solidFill>
          <a:ln w="7620">
            <a:solidFill>
              <a:srgbClr val="D4DAE3"/>
            </a:solidFill>
            <a:prstDash val="solid"/>
          </a:ln>
        </p:spPr>
      </p:sp>
      <p:sp>
        <p:nvSpPr>
          <p:cNvPr id="30" name="Text 28"/>
          <p:cNvSpPr/>
          <p:nvPr/>
        </p:nvSpPr>
        <p:spPr>
          <a:xfrm>
            <a:off x="9418320" y="2898648"/>
            <a:ext cx="1508760" cy="493776"/>
          </a:xfrm>
          <a:prstGeom prst="rect">
            <a:avLst/>
          </a:prstGeom>
          <a:noFill/>
          <a:ln/>
        </p:spPr>
        <p:txBody>
          <a:bodyPr wrap="square" lIns="508" tIns="508" rIns="508" bIns="508" rtlCol="0" anchor="ctr">
            <a:normAutofit/>
          </a:bodyPr>
          <a:lstStyle/>
          <a:p>
            <a:pPr algn="ctr" indent="0" marL="0">
              <a:buNone/>
            </a:pPr>
            <a:r>
              <a:rPr lang="en-US" sz="1520" dirty="0">
                <a:solidFill>
                  <a:srgbClr val="2F3542"/>
                </a:solidFill>
                <a:latin typeface="Pretendard" pitchFamily="34" charset="0"/>
                <a:ea typeface="Pretendard" pitchFamily="34" charset="-122"/>
                <a:cs typeface="Pretendard" pitchFamily="34" charset="-120"/>
              </a:rPr>
              <a:t>0.906</a:t>
            </a:r>
            <a:endParaRPr lang="en-US" sz="1520" dirty="0"/>
          </a:p>
        </p:txBody>
      </p:sp>
      <p:sp>
        <p:nvSpPr>
          <p:cNvPr id="31" name="Shape 29"/>
          <p:cNvSpPr/>
          <p:nvPr/>
        </p:nvSpPr>
        <p:spPr>
          <a:xfrm>
            <a:off x="4343400" y="3447288"/>
            <a:ext cx="1920240" cy="603504"/>
          </a:xfrm>
          <a:prstGeom prst="rect">
            <a:avLst/>
          </a:prstGeom>
          <a:solidFill>
            <a:srgbClr val="F4F6F9"/>
          </a:solidFill>
          <a:ln w="7620">
            <a:solidFill>
              <a:srgbClr val="D4DAE3"/>
            </a:solidFill>
            <a:prstDash val="solid"/>
          </a:ln>
        </p:spPr>
      </p:sp>
      <p:sp>
        <p:nvSpPr>
          <p:cNvPr id="32" name="Text 30"/>
          <p:cNvSpPr/>
          <p:nvPr/>
        </p:nvSpPr>
        <p:spPr>
          <a:xfrm>
            <a:off x="4389120" y="3502152"/>
            <a:ext cx="1828800" cy="493776"/>
          </a:xfrm>
          <a:prstGeom prst="rect">
            <a:avLst/>
          </a:prstGeom>
          <a:noFill/>
          <a:ln/>
        </p:spPr>
        <p:txBody>
          <a:bodyPr wrap="square" lIns="508" tIns="508" rIns="508" bIns="508" rtlCol="0" anchor="ctr">
            <a:normAutofit/>
          </a:bodyPr>
          <a:lstStyle/>
          <a:p>
            <a:pPr algn="ctr" indent="0" marL="0">
              <a:buNone/>
            </a:pPr>
            <a:r>
              <a:rPr lang="en-US" sz="1520" dirty="0">
                <a:solidFill>
                  <a:srgbClr val="26354F"/>
                </a:solidFill>
                <a:latin typeface="Pretendard" pitchFamily="34" charset="0"/>
                <a:ea typeface="Pretendard" pitchFamily="34" charset="-122"/>
                <a:cs typeface="Pretendard" pitchFamily="34" charset="-120"/>
              </a:rPr>
              <a:t>비강남 R²</a:t>
            </a:r>
            <a:endParaRPr lang="en-US" sz="1520" dirty="0"/>
          </a:p>
        </p:txBody>
      </p:sp>
      <p:sp>
        <p:nvSpPr>
          <p:cNvPr id="33" name="Shape 31"/>
          <p:cNvSpPr/>
          <p:nvPr/>
        </p:nvSpPr>
        <p:spPr>
          <a:xfrm>
            <a:off x="6263640" y="3447288"/>
            <a:ext cx="1554480" cy="603504"/>
          </a:xfrm>
          <a:prstGeom prst="rect">
            <a:avLst/>
          </a:prstGeom>
          <a:solidFill>
            <a:srgbClr val="F4F6F9"/>
          </a:solidFill>
          <a:ln w="7620">
            <a:solidFill>
              <a:srgbClr val="D4DAE3"/>
            </a:solidFill>
            <a:prstDash val="solid"/>
          </a:ln>
        </p:spPr>
      </p:sp>
      <p:sp>
        <p:nvSpPr>
          <p:cNvPr id="34" name="Text 32"/>
          <p:cNvSpPr/>
          <p:nvPr/>
        </p:nvSpPr>
        <p:spPr>
          <a:xfrm>
            <a:off x="6309360" y="3502152"/>
            <a:ext cx="1463040" cy="493776"/>
          </a:xfrm>
          <a:prstGeom prst="rect">
            <a:avLst/>
          </a:prstGeom>
          <a:noFill/>
          <a:ln/>
        </p:spPr>
        <p:txBody>
          <a:bodyPr wrap="square" lIns="508" tIns="508" rIns="508" bIns="508" rtlCol="0" anchor="ctr">
            <a:normAutofit/>
          </a:bodyPr>
          <a:lstStyle/>
          <a:p>
            <a:pPr algn="ctr" indent="0" marL="0">
              <a:buNone/>
            </a:pPr>
            <a:r>
              <a:rPr lang="en-US" sz="1520" dirty="0">
                <a:solidFill>
                  <a:srgbClr val="2F3542"/>
                </a:solidFill>
                <a:latin typeface="Pretendard" pitchFamily="34" charset="0"/>
                <a:ea typeface="Pretendard" pitchFamily="34" charset="-122"/>
                <a:cs typeface="Pretendard" pitchFamily="34" charset="-120"/>
              </a:rPr>
              <a:t>0.887</a:t>
            </a:r>
            <a:endParaRPr lang="en-US" sz="1520" dirty="0"/>
          </a:p>
        </p:txBody>
      </p:sp>
      <p:sp>
        <p:nvSpPr>
          <p:cNvPr id="35" name="Shape 33"/>
          <p:cNvSpPr/>
          <p:nvPr/>
        </p:nvSpPr>
        <p:spPr>
          <a:xfrm>
            <a:off x="7818120" y="3447288"/>
            <a:ext cx="1554480" cy="603504"/>
          </a:xfrm>
          <a:prstGeom prst="rect">
            <a:avLst/>
          </a:prstGeom>
          <a:solidFill>
            <a:srgbClr val="F4F6F9"/>
          </a:solidFill>
          <a:ln w="7620">
            <a:solidFill>
              <a:srgbClr val="D4DAE3"/>
            </a:solidFill>
            <a:prstDash val="solid"/>
          </a:ln>
        </p:spPr>
      </p:sp>
      <p:sp>
        <p:nvSpPr>
          <p:cNvPr id="36" name="Text 34"/>
          <p:cNvSpPr/>
          <p:nvPr/>
        </p:nvSpPr>
        <p:spPr>
          <a:xfrm>
            <a:off x="7863840" y="3502152"/>
            <a:ext cx="1463040" cy="493776"/>
          </a:xfrm>
          <a:prstGeom prst="rect">
            <a:avLst/>
          </a:prstGeom>
          <a:noFill/>
          <a:ln/>
        </p:spPr>
        <p:txBody>
          <a:bodyPr wrap="square" lIns="508" tIns="508" rIns="508" bIns="508" rtlCol="0" anchor="ctr">
            <a:normAutofit/>
          </a:bodyPr>
          <a:lstStyle/>
          <a:p>
            <a:pPr algn="ctr" indent="0" marL="0">
              <a:buNone/>
            </a:pPr>
            <a:r>
              <a:rPr lang="en-US" sz="1520" dirty="0">
                <a:solidFill>
                  <a:srgbClr val="2F3542"/>
                </a:solidFill>
                <a:latin typeface="Pretendard" pitchFamily="34" charset="0"/>
                <a:ea typeface="Pretendard" pitchFamily="34" charset="-122"/>
                <a:cs typeface="Pretendard" pitchFamily="34" charset="-120"/>
              </a:rPr>
              <a:t>0.788</a:t>
            </a:r>
            <a:endParaRPr lang="en-US" sz="1520" dirty="0"/>
          </a:p>
        </p:txBody>
      </p:sp>
      <p:sp>
        <p:nvSpPr>
          <p:cNvPr id="37" name="Shape 35"/>
          <p:cNvSpPr/>
          <p:nvPr/>
        </p:nvSpPr>
        <p:spPr>
          <a:xfrm>
            <a:off x="9372600" y="3447288"/>
            <a:ext cx="1600200" cy="603504"/>
          </a:xfrm>
          <a:prstGeom prst="rect">
            <a:avLst/>
          </a:prstGeom>
          <a:solidFill>
            <a:srgbClr val="F4F6F9"/>
          </a:solidFill>
          <a:ln w="7620">
            <a:solidFill>
              <a:srgbClr val="D4DAE3"/>
            </a:solidFill>
            <a:prstDash val="solid"/>
          </a:ln>
        </p:spPr>
      </p:sp>
      <p:sp>
        <p:nvSpPr>
          <p:cNvPr id="38" name="Text 36"/>
          <p:cNvSpPr/>
          <p:nvPr/>
        </p:nvSpPr>
        <p:spPr>
          <a:xfrm>
            <a:off x="9418320" y="3502152"/>
            <a:ext cx="1508760" cy="493776"/>
          </a:xfrm>
          <a:prstGeom prst="rect">
            <a:avLst/>
          </a:prstGeom>
          <a:noFill/>
          <a:ln/>
        </p:spPr>
        <p:txBody>
          <a:bodyPr wrap="square" lIns="508" tIns="508" rIns="508" bIns="508" rtlCol="0" anchor="ctr">
            <a:normAutofit/>
          </a:bodyPr>
          <a:lstStyle/>
          <a:p>
            <a:pPr algn="ctr" indent="0" marL="0">
              <a:buNone/>
            </a:pPr>
            <a:r>
              <a:rPr lang="en-US" sz="1520" dirty="0">
                <a:solidFill>
                  <a:srgbClr val="2F3542"/>
                </a:solidFill>
                <a:latin typeface="Pretendard" pitchFamily="34" charset="0"/>
                <a:ea typeface="Pretendard" pitchFamily="34" charset="-122"/>
                <a:cs typeface="Pretendard" pitchFamily="34" charset="-120"/>
              </a:rPr>
              <a:t>0.891</a:t>
            </a:r>
            <a:endParaRPr lang="en-US" sz="1520" dirty="0"/>
          </a:p>
        </p:txBody>
      </p:sp>
      <p:sp>
        <p:nvSpPr>
          <p:cNvPr id="39" name="Shape 37"/>
          <p:cNvSpPr/>
          <p:nvPr/>
        </p:nvSpPr>
        <p:spPr>
          <a:xfrm>
            <a:off x="4343400" y="4050792"/>
            <a:ext cx="1920240" cy="603504"/>
          </a:xfrm>
          <a:prstGeom prst="rect">
            <a:avLst/>
          </a:prstGeom>
          <a:solidFill>
            <a:srgbClr val="FFFFFF"/>
          </a:solidFill>
          <a:ln w="7620">
            <a:solidFill>
              <a:srgbClr val="D4DAE3"/>
            </a:solidFill>
            <a:prstDash val="solid"/>
          </a:ln>
        </p:spPr>
      </p:sp>
      <p:sp>
        <p:nvSpPr>
          <p:cNvPr id="40" name="Text 38"/>
          <p:cNvSpPr/>
          <p:nvPr/>
        </p:nvSpPr>
        <p:spPr>
          <a:xfrm>
            <a:off x="4389120" y="4105656"/>
            <a:ext cx="1828800" cy="493776"/>
          </a:xfrm>
          <a:prstGeom prst="rect">
            <a:avLst/>
          </a:prstGeom>
          <a:noFill/>
          <a:ln/>
        </p:spPr>
        <p:txBody>
          <a:bodyPr wrap="square" lIns="508" tIns="508" rIns="508" bIns="508" rtlCol="0" anchor="ctr">
            <a:normAutofit/>
          </a:bodyPr>
          <a:lstStyle/>
          <a:p>
            <a:pPr algn="ctr" indent="0" marL="0">
              <a:buNone/>
            </a:pPr>
            <a:r>
              <a:rPr lang="en-US" sz="1520" dirty="0">
                <a:solidFill>
                  <a:srgbClr val="26354F"/>
                </a:solidFill>
                <a:latin typeface="Pretendard" pitchFamily="34" charset="0"/>
                <a:ea typeface="Pretendard" pitchFamily="34" charset="-122"/>
                <a:cs typeface="Pretendard" pitchFamily="34" charset="-120"/>
              </a:rPr>
              <a:t>전체 R²</a:t>
            </a:r>
            <a:endParaRPr lang="en-US" sz="1520" dirty="0"/>
          </a:p>
        </p:txBody>
      </p:sp>
      <p:sp>
        <p:nvSpPr>
          <p:cNvPr id="41" name="Shape 39"/>
          <p:cNvSpPr/>
          <p:nvPr/>
        </p:nvSpPr>
        <p:spPr>
          <a:xfrm>
            <a:off x="6263640" y="4050792"/>
            <a:ext cx="1554480" cy="603504"/>
          </a:xfrm>
          <a:prstGeom prst="rect">
            <a:avLst/>
          </a:prstGeom>
          <a:solidFill>
            <a:srgbClr val="FFFFFF"/>
          </a:solidFill>
          <a:ln w="7620">
            <a:solidFill>
              <a:srgbClr val="D4DAE3"/>
            </a:solidFill>
            <a:prstDash val="solid"/>
          </a:ln>
        </p:spPr>
      </p:sp>
      <p:sp>
        <p:nvSpPr>
          <p:cNvPr id="42" name="Text 40"/>
          <p:cNvSpPr/>
          <p:nvPr/>
        </p:nvSpPr>
        <p:spPr>
          <a:xfrm>
            <a:off x="6309360" y="4105656"/>
            <a:ext cx="1463040" cy="493776"/>
          </a:xfrm>
          <a:prstGeom prst="rect">
            <a:avLst/>
          </a:prstGeom>
          <a:noFill/>
          <a:ln/>
        </p:spPr>
        <p:txBody>
          <a:bodyPr wrap="square" lIns="508" tIns="508" rIns="508" bIns="508" rtlCol="0" anchor="ctr">
            <a:normAutofit/>
          </a:bodyPr>
          <a:lstStyle/>
          <a:p>
            <a:pPr algn="ctr" indent="0" marL="0">
              <a:buNone/>
            </a:pPr>
            <a:r>
              <a:rPr lang="en-US" sz="1520" dirty="0">
                <a:solidFill>
                  <a:srgbClr val="2F3542"/>
                </a:solidFill>
                <a:latin typeface="Pretendard" pitchFamily="34" charset="0"/>
                <a:ea typeface="Pretendard" pitchFamily="34" charset="-122"/>
                <a:cs typeface="Pretendard" pitchFamily="34" charset="-120"/>
              </a:rPr>
              <a:t>0.921</a:t>
            </a:r>
            <a:endParaRPr lang="en-US" sz="1520" dirty="0"/>
          </a:p>
        </p:txBody>
      </p:sp>
      <p:sp>
        <p:nvSpPr>
          <p:cNvPr id="43" name="Shape 41"/>
          <p:cNvSpPr/>
          <p:nvPr/>
        </p:nvSpPr>
        <p:spPr>
          <a:xfrm>
            <a:off x="7818120" y="4050792"/>
            <a:ext cx="1554480" cy="603504"/>
          </a:xfrm>
          <a:prstGeom prst="rect">
            <a:avLst/>
          </a:prstGeom>
          <a:solidFill>
            <a:srgbClr val="FFFFFF"/>
          </a:solidFill>
          <a:ln w="7620">
            <a:solidFill>
              <a:srgbClr val="D4DAE3"/>
            </a:solidFill>
            <a:prstDash val="solid"/>
          </a:ln>
        </p:spPr>
      </p:sp>
      <p:sp>
        <p:nvSpPr>
          <p:cNvPr id="44" name="Text 42"/>
          <p:cNvSpPr/>
          <p:nvPr/>
        </p:nvSpPr>
        <p:spPr>
          <a:xfrm>
            <a:off x="7863840" y="4105656"/>
            <a:ext cx="1463040" cy="493776"/>
          </a:xfrm>
          <a:prstGeom prst="rect">
            <a:avLst/>
          </a:prstGeom>
          <a:noFill/>
          <a:ln/>
        </p:spPr>
        <p:txBody>
          <a:bodyPr wrap="square" lIns="508" tIns="508" rIns="508" bIns="508" rtlCol="0" anchor="ctr">
            <a:normAutofit/>
          </a:bodyPr>
          <a:lstStyle/>
          <a:p>
            <a:pPr algn="ctr" indent="0" marL="0">
              <a:buNone/>
            </a:pPr>
            <a:r>
              <a:rPr lang="en-US" sz="1520" dirty="0">
                <a:solidFill>
                  <a:srgbClr val="2F3542"/>
                </a:solidFill>
                <a:latin typeface="Pretendard" pitchFamily="34" charset="0"/>
                <a:ea typeface="Pretendard" pitchFamily="34" charset="-122"/>
                <a:cs typeface="Pretendard" pitchFamily="34" charset="-120"/>
              </a:rPr>
              <a:t>0.841</a:t>
            </a:r>
            <a:endParaRPr lang="en-US" sz="1520" dirty="0"/>
          </a:p>
        </p:txBody>
      </p:sp>
      <p:sp>
        <p:nvSpPr>
          <p:cNvPr id="45" name="Shape 43"/>
          <p:cNvSpPr/>
          <p:nvPr/>
        </p:nvSpPr>
        <p:spPr>
          <a:xfrm>
            <a:off x="9372600" y="4050792"/>
            <a:ext cx="1600200" cy="603504"/>
          </a:xfrm>
          <a:prstGeom prst="rect">
            <a:avLst/>
          </a:prstGeom>
          <a:solidFill>
            <a:srgbClr val="FFFFFF"/>
          </a:solidFill>
          <a:ln w="7620">
            <a:solidFill>
              <a:srgbClr val="D4DAE3"/>
            </a:solidFill>
            <a:prstDash val="solid"/>
          </a:ln>
        </p:spPr>
      </p:sp>
      <p:sp>
        <p:nvSpPr>
          <p:cNvPr id="46" name="Text 44"/>
          <p:cNvSpPr/>
          <p:nvPr/>
        </p:nvSpPr>
        <p:spPr>
          <a:xfrm>
            <a:off x="9418320" y="4105656"/>
            <a:ext cx="1508760" cy="493776"/>
          </a:xfrm>
          <a:prstGeom prst="rect">
            <a:avLst/>
          </a:prstGeom>
          <a:noFill/>
          <a:ln/>
        </p:spPr>
        <p:txBody>
          <a:bodyPr wrap="square" lIns="508" tIns="508" rIns="508" bIns="508" rtlCol="0" anchor="ctr">
            <a:normAutofit/>
          </a:bodyPr>
          <a:lstStyle/>
          <a:p>
            <a:pPr algn="ctr" indent="0" marL="0">
              <a:buNone/>
            </a:pPr>
            <a:r>
              <a:rPr lang="en-US" sz="1520" dirty="0">
                <a:solidFill>
                  <a:srgbClr val="2F3542"/>
                </a:solidFill>
                <a:latin typeface="Pretendard" pitchFamily="34" charset="0"/>
                <a:ea typeface="Pretendard" pitchFamily="34" charset="-122"/>
                <a:cs typeface="Pretendard" pitchFamily="34" charset="-120"/>
              </a:rPr>
              <a:t>0.916</a:t>
            </a:r>
            <a:endParaRPr lang="en-US" sz="1520" dirty="0"/>
          </a:p>
        </p:txBody>
      </p:sp>
      <p:sp>
        <p:nvSpPr>
          <p:cNvPr id="47" name="Shape 45"/>
          <p:cNvSpPr/>
          <p:nvPr/>
        </p:nvSpPr>
        <p:spPr>
          <a:xfrm>
            <a:off x="4069080" y="4773168"/>
            <a:ext cx="7269480" cy="1261872"/>
          </a:xfrm>
          <a:prstGeom prst="rect">
            <a:avLst/>
          </a:prstGeom>
          <a:solidFill>
            <a:srgbClr val="F4F6F9"/>
          </a:solidFill>
          <a:ln w="7620">
            <a:solidFill>
              <a:srgbClr val="D4DAE3"/>
            </a:solidFill>
            <a:prstDash val="solid"/>
          </a:ln>
        </p:spPr>
      </p:sp>
      <p:sp>
        <p:nvSpPr>
          <p:cNvPr id="48" name="Text 46"/>
          <p:cNvSpPr/>
          <p:nvPr/>
        </p:nvSpPr>
        <p:spPr>
          <a:xfrm>
            <a:off x="4343400" y="5056632"/>
            <a:ext cx="6629400" cy="640080"/>
          </a:xfrm>
          <a:prstGeom prst="rect">
            <a:avLst/>
          </a:prstGeom>
          <a:noFill/>
          <a:ln/>
        </p:spPr>
        <p:txBody>
          <a:bodyPr wrap="square" lIns="508" tIns="508" rIns="508" bIns="508" rtlCol="0" anchor="ctr">
            <a:normAutofit/>
          </a:bodyPr>
          <a:lstStyle/>
          <a:p>
            <a:pPr indent="0" marL="0">
              <a:buNone/>
            </a:pPr>
            <a:r>
              <a:rPr lang="en-US" sz="1620" dirty="0">
                <a:solidFill>
                  <a:srgbClr val="2F3542"/>
                </a:solidFill>
                <a:latin typeface="Pretendard" pitchFamily="34" charset="0"/>
                <a:ea typeface="Pretendard" pitchFamily="34" charset="-122"/>
                <a:cs typeface="Pretendard" pitchFamily="34" charset="-120"/>
              </a:rPr>
              <a:t>• 비강남은 건물연령·교통 변수의 반복성이 강함</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강남3구는 상위 변수가 시장 국면별로 이동</a:t>
            </a:r>
            <a:endParaRPr lang="en-US" sz="16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6354F"/>
          </a:solidFill>
          <a:ln w="7620">
            <a:solidFill>
              <a:srgbClr val="26354F"/>
            </a:solidFill>
            <a:prstDash val="solid"/>
          </a:ln>
        </p:spPr>
      </p:sp>
      <p:sp>
        <p:nvSpPr>
          <p:cNvPr id="3" name="Text 1"/>
          <p:cNvSpPr/>
          <p:nvPr/>
        </p:nvSpPr>
        <p:spPr>
          <a:xfrm>
            <a:off x="411480" y="128016"/>
            <a:ext cx="3840480" cy="182880"/>
          </a:xfrm>
          <a:prstGeom prst="rect">
            <a:avLst/>
          </a:prstGeom>
          <a:noFill/>
          <a:ln/>
        </p:spPr>
        <p:txBody>
          <a:bodyPr wrap="square" lIns="508" tIns="508" rIns="508" bIns="508" rtlCol="0" anchor="ctr">
            <a:normAutofit/>
          </a:bodyPr>
          <a:lstStyle/>
          <a:p>
            <a:pPr indent="0" marL="0">
              <a:buNone/>
            </a:pPr>
            <a:r>
              <a:rPr lang="en-US" sz="1050" b="1" dirty="0">
                <a:solidFill>
                  <a:srgbClr val="F2D16B"/>
                </a:solidFill>
                <a:latin typeface="Pretendard" pitchFamily="34" charset="0"/>
                <a:ea typeface="Pretendard" pitchFamily="34" charset="-122"/>
                <a:cs typeface="Pretendard" pitchFamily="34" charset="-120"/>
              </a:rPr>
              <a:t>05. CONCLUSION</a:t>
            </a:r>
            <a:endParaRPr lang="en-US" sz="1050" dirty="0"/>
          </a:p>
        </p:txBody>
      </p:sp>
      <p:sp>
        <p:nvSpPr>
          <p:cNvPr id="4" name="Text 2"/>
          <p:cNvSpPr/>
          <p:nvPr/>
        </p:nvSpPr>
        <p:spPr>
          <a:xfrm>
            <a:off x="11292840" y="109728"/>
            <a:ext cx="502920" cy="201168"/>
          </a:xfrm>
          <a:prstGeom prst="rect">
            <a:avLst/>
          </a:prstGeom>
          <a:noFill/>
          <a:ln/>
        </p:spPr>
        <p:txBody>
          <a:bodyPr wrap="square" lIns="508" tIns="508" rIns="508" bIns="508" rtlCol="0" anchor="ctr">
            <a:normAutofit/>
          </a:bodyPr>
          <a:lstStyle/>
          <a:p>
            <a:pPr algn="r" indent="0" marL="0">
              <a:buNone/>
            </a:pPr>
            <a:r>
              <a:rPr lang="en-US" sz="1050" b="1" dirty="0">
                <a:solidFill>
                  <a:srgbClr val="FFFFFF"/>
                </a:solidFill>
                <a:latin typeface="Pretendard" pitchFamily="34" charset="0"/>
                <a:ea typeface="Pretendard" pitchFamily="34" charset="-122"/>
                <a:cs typeface="Pretendard" pitchFamily="34" charset="-120"/>
              </a:rPr>
              <a:t>10</a:t>
            </a:r>
            <a:endParaRPr lang="en-US" sz="1050" dirty="0"/>
          </a:p>
        </p:txBody>
      </p:sp>
      <p:sp>
        <p:nvSpPr>
          <p:cNvPr id="5" name="Text 3"/>
          <p:cNvSpPr/>
          <p:nvPr/>
        </p:nvSpPr>
        <p:spPr>
          <a:xfrm>
            <a:off x="502920" y="749808"/>
            <a:ext cx="10424160" cy="438912"/>
          </a:xfrm>
          <a:prstGeom prst="rect">
            <a:avLst/>
          </a:prstGeom>
          <a:noFill/>
          <a:ln/>
        </p:spPr>
        <p:txBody>
          <a:bodyPr wrap="square" lIns="508" tIns="508" rIns="508" bIns="508" rtlCol="0" anchor="ctr">
            <a:normAutofit/>
          </a:bodyPr>
          <a:lstStyle/>
          <a:p>
            <a:pPr indent="0" marL="0">
              <a:buNone/>
            </a:pPr>
            <a:r>
              <a:rPr lang="en-US" sz="2400" b="1" dirty="0">
                <a:solidFill>
                  <a:srgbClr val="26354F"/>
                </a:solidFill>
                <a:latin typeface="Pretendard" pitchFamily="34" charset="0"/>
                <a:ea typeface="Pretendard" pitchFamily="34" charset="-122"/>
                <a:cs typeface="Pretendard" pitchFamily="34" charset="-120"/>
              </a:rPr>
              <a:t>결론: 예측 성능보다 설명 가능한 가격 구조</a:t>
            </a:r>
            <a:endParaRPr lang="en-US" sz="2400" dirty="0"/>
          </a:p>
        </p:txBody>
      </p:sp>
      <p:sp>
        <p:nvSpPr>
          <p:cNvPr id="6" name="Shape 4"/>
          <p:cNvSpPr/>
          <p:nvPr/>
        </p:nvSpPr>
        <p:spPr>
          <a:xfrm>
            <a:off x="502920" y="1280160"/>
            <a:ext cx="11155680" cy="0"/>
          </a:xfrm>
          <a:prstGeom prst="line">
            <a:avLst/>
          </a:prstGeom>
          <a:noFill/>
          <a:ln w="15240">
            <a:solidFill>
              <a:srgbClr val="D4DAE3"/>
            </a:solidFill>
            <a:prstDash val="solid"/>
          </a:ln>
        </p:spPr>
      </p:sp>
      <p:sp>
        <p:nvSpPr>
          <p:cNvPr id="7" name="Text 5"/>
          <p:cNvSpPr/>
          <p:nvPr/>
        </p:nvSpPr>
        <p:spPr>
          <a:xfrm>
            <a:off x="502920" y="6528816"/>
            <a:ext cx="4389120" cy="164592"/>
          </a:xfrm>
          <a:prstGeom prst="rect">
            <a:avLst/>
          </a:prstGeom>
          <a:noFill/>
          <a:ln/>
        </p:spPr>
        <p:txBody>
          <a:bodyPr wrap="square" lIns="508" tIns="508" rIns="508" bIns="508" rtlCol="0" anchor="ctr">
            <a:normAutofit/>
          </a:bodyPr>
          <a:lstStyle/>
          <a:p>
            <a:pPr indent="0" marL="0">
              <a:buNone/>
            </a:pPr>
            <a:r>
              <a:rPr lang="en-US" sz="820" dirty="0">
                <a:solidFill>
                  <a:srgbClr val="646B78"/>
                </a:solidFill>
                <a:latin typeface="Pretendard" pitchFamily="34" charset="0"/>
                <a:ea typeface="Pretendard" pitchFamily="34" charset="-122"/>
                <a:cs typeface="Pretendard" pitchFamily="34" charset="-120"/>
              </a:rPr>
              <a:t>석사학위논문 최종심사 발표 | 박현근</a:t>
            </a:r>
            <a:endParaRPr lang="en-US" sz="820" dirty="0"/>
          </a:p>
        </p:txBody>
      </p:sp>
      <p:sp>
        <p:nvSpPr>
          <p:cNvPr id="8" name="Shape 6"/>
          <p:cNvSpPr/>
          <p:nvPr/>
        </p:nvSpPr>
        <p:spPr>
          <a:xfrm>
            <a:off x="685800" y="1508760"/>
            <a:ext cx="3474720" cy="4251960"/>
          </a:xfrm>
          <a:prstGeom prst="rect">
            <a:avLst/>
          </a:prstGeom>
          <a:solidFill>
            <a:srgbClr val="F4F6F9"/>
          </a:solidFill>
          <a:ln w="7620">
            <a:solidFill>
              <a:srgbClr val="D4DAE3"/>
            </a:solidFill>
            <a:prstDash val="solid"/>
          </a:ln>
        </p:spPr>
      </p:sp>
      <p:sp>
        <p:nvSpPr>
          <p:cNvPr id="9" name="Shape 7"/>
          <p:cNvSpPr/>
          <p:nvPr/>
        </p:nvSpPr>
        <p:spPr>
          <a:xfrm>
            <a:off x="4389120" y="1508760"/>
            <a:ext cx="3474720" cy="4251960"/>
          </a:xfrm>
          <a:prstGeom prst="rect">
            <a:avLst/>
          </a:prstGeom>
          <a:solidFill>
            <a:srgbClr val="F4F6F9"/>
          </a:solidFill>
          <a:ln w="7620">
            <a:solidFill>
              <a:srgbClr val="D4DAE3"/>
            </a:solidFill>
            <a:prstDash val="solid"/>
          </a:ln>
        </p:spPr>
      </p:sp>
      <p:sp>
        <p:nvSpPr>
          <p:cNvPr id="10" name="Shape 8"/>
          <p:cNvSpPr/>
          <p:nvPr/>
        </p:nvSpPr>
        <p:spPr>
          <a:xfrm>
            <a:off x="8092440" y="1508760"/>
            <a:ext cx="3474720" cy="4251960"/>
          </a:xfrm>
          <a:prstGeom prst="rect">
            <a:avLst/>
          </a:prstGeom>
          <a:solidFill>
            <a:srgbClr val="F4F6F9"/>
          </a:solidFill>
          <a:ln w="7620">
            <a:solidFill>
              <a:srgbClr val="D4DAE3"/>
            </a:solidFill>
            <a:prstDash val="solid"/>
          </a:ln>
        </p:spPr>
      </p:sp>
      <p:sp>
        <p:nvSpPr>
          <p:cNvPr id="11" name="Text 9"/>
          <p:cNvSpPr/>
          <p:nvPr/>
        </p:nvSpPr>
        <p:spPr>
          <a:xfrm>
            <a:off x="960120" y="1828800"/>
            <a:ext cx="2926080" cy="310896"/>
          </a:xfrm>
          <a:prstGeom prst="rect">
            <a:avLst/>
          </a:prstGeom>
          <a:noFill/>
          <a:ln/>
        </p:spPr>
        <p:txBody>
          <a:bodyPr wrap="square" lIns="508" tIns="508" rIns="508" bIns="508" rtlCol="0" anchor="ctr">
            <a:normAutofit/>
          </a:bodyPr>
          <a:lstStyle/>
          <a:p>
            <a:pPr algn="ctr" indent="0" marL="0">
              <a:buNone/>
            </a:pPr>
            <a:r>
              <a:rPr lang="en-US" sz="1820" b="1" dirty="0">
                <a:solidFill>
                  <a:srgbClr val="26354F"/>
                </a:solidFill>
                <a:latin typeface="Pretendard" pitchFamily="34" charset="0"/>
                <a:ea typeface="Pretendard" pitchFamily="34" charset="-122"/>
                <a:cs typeface="Pretendard" pitchFamily="34" charset="-120"/>
              </a:rPr>
              <a:t>연구 결과</a:t>
            </a:r>
            <a:endParaRPr lang="en-US" sz="1820" dirty="0"/>
          </a:p>
        </p:txBody>
      </p:sp>
      <p:sp>
        <p:nvSpPr>
          <p:cNvPr id="12" name="Text 10"/>
          <p:cNvSpPr/>
          <p:nvPr/>
        </p:nvSpPr>
        <p:spPr>
          <a:xfrm>
            <a:off x="4663440" y="1828800"/>
            <a:ext cx="2926080" cy="310896"/>
          </a:xfrm>
          <a:prstGeom prst="rect">
            <a:avLst/>
          </a:prstGeom>
          <a:noFill/>
          <a:ln/>
        </p:spPr>
        <p:txBody>
          <a:bodyPr wrap="square" lIns="508" tIns="508" rIns="508" bIns="508" rtlCol="0" anchor="ctr">
            <a:normAutofit/>
          </a:bodyPr>
          <a:lstStyle/>
          <a:p>
            <a:pPr algn="ctr" indent="0" marL="0">
              <a:buNone/>
            </a:pPr>
            <a:r>
              <a:rPr lang="en-US" sz="1820" b="1" dirty="0">
                <a:solidFill>
                  <a:srgbClr val="26354F"/>
                </a:solidFill>
                <a:latin typeface="Pretendard" pitchFamily="34" charset="0"/>
                <a:ea typeface="Pretendard" pitchFamily="34" charset="-122"/>
                <a:cs typeface="Pretendard" pitchFamily="34" charset="-120"/>
              </a:rPr>
              <a:t>학술·실무 기여</a:t>
            </a:r>
            <a:endParaRPr lang="en-US" sz="1820" dirty="0"/>
          </a:p>
        </p:txBody>
      </p:sp>
      <p:sp>
        <p:nvSpPr>
          <p:cNvPr id="13" name="Text 11"/>
          <p:cNvSpPr/>
          <p:nvPr/>
        </p:nvSpPr>
        <p:spPr>
          <a:xfrm>
            <a:off x="8366760" y="1828800"/>
            <a:ext cx="2926080" cy="310896"/>
          </a:xfrm>
          <a:prstGeom prst="rect">
            <a:avLst/>
          </a:prstGeom>
          <a:noFill/>
          <a:ln/>
        </p:spPr>
        <p:txBody>
          <a:bodyPr wrap="square" lIns="508" tIns="508" rIns="508" bIns="508" rtlCol="0" anchor="ctr">
            <a:normAutofit/>
          </a:bodyPr>
          <a:lstStyle/>
          <a:p>
            <a:pPr algn="ctr" indent="0" marL="0">
              <a:buNone/>
            </a:pPr>
            <a:r>
              <a:rPr lang="en-US" sz="1820" b="1" dirty="0">
                <a:solidFill>
                  <a:srgbClr val="26354F"/>
                </a:solidFill>
                <a:latin typeface="Pretendard" pitchFamily="34" charset="0"/>
                <a:ea typeface="Pretendard" pitchFamily="34" charset="-122"/>
                <a:cs typeface="Pretendard" pitchFamily="34" charset="-120"/>
              </a:rPr>
              <a:t>한계와 후속 과제</a:t>
            </a:r>
            <a:endParaRPr lang="en-US" sz="1820" dirty="0"/>
          </a:p>
        </p:txBody>
      </p:sp>
      <p:sp>
        <p:nvSpPr>
          <p:cNvPr id="14" name="Text 12"/>
          <p:cNvSpPr/>
          <p:nvPr/>
        </p:nvSpPr>
        <p:spPr>
          <a:xfrm>
            <a:off x="960120" y="2359152"/>
            <a:ext cx="2926080" cy="2148840"/>
          </a:xfrm>
          <a:prstGeom prst="rect">
            <a:avLst/>
          </a:prstGeom>
          <a:noFill/>
          <a:ln/>
        </p:spPr>
        <p:txBody>
          <a:bodyPr wrap="square" lIns="508" tIns="508" rIns="508" bIns="508" rtlCol="0" anchor="ctr">
            <a:normAutofit/>
          </a:bodyPr>
          <a:lstStyle/>
          <a:p>
            <a:pPr indent="0" marL="0">
              <a:buNone/>
            </a:pPr>
            <a:r>
              <a:rPr lang="en-US" sz="1620" dirty="0">
                <a:solidFill>
                  <a:srgbClr val="2F3542"/>
                </a:solidFill>
                <a:latin typeface="Pretendard" pitchFamily="34" charset="0"/>
                <a:ea typeface="Pretendard" pitchFamily="34" charset="-122"/>
                <a:cs typeface="Pretendard" pitchFamily="34" charset="-120"/>
              </a:rPr>
              <a:t>• XGBoost가 비교 모형 상회</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거리 변수는 시간순 조건에서 유용</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권역·연도별 기여 구조 차이</a:t>
            </a:r>
            <a:endParaRPr lang="en-US" sz="1620" dirty="0"/>
          </a:p>
        </p:txBody>
      </p:sp>
      <p:sp>
        <p:nvSpPr>
          <p:cNvPr id="15" name="Text 13"/>
          <p:cNvSpPr/>
          <p:nvPr/>
        </p:nvSpPr>
        <p:spPr>
          <a:xfrm>
            <a:off x="4663440" y="2359152"/>
            <a:ext cx="2926080" cy="2148840"/>
          </a:xfrm>
          <a:prstGeom prst="rect">
            <a:avLst/>
          </a:prstGeom>
          <a:noFill/>
          <a:ln/>
        </p:spPr>
        <p:txBody>
          <a:bodyPr wrap="square" lIns="508" tIns="508" rIns="508" bIns="508" rtlCol="0" anchor="ctr">
            <a:normAutofit/>
          </a:bodyPr>
          <a:lstStyle/>
          <a:p>
            <a:pPr indent="0" marL="0">
              <a:buNone/>
            </a:pPr>
            <a:r>
              <a:rPr lang="en-US" sz="1620" dirty="0">
                <a:solidFill>
                  <a:srgbClr val="2F3542"/>
                </a:solidFill>
                <a:latin typeface="Pretendard" pitchFamily="34" charset="0"/>
                <a:ea typeface="Pretendard" pitchFamily="34" charset="-122"/>
                <a:cs typeface="Pretendard" pitchFamily="34" charset="-120"/>
              </a:rPr>
              <a:t>• 단지 좌표 기반 접근성 적용</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연도별 활동 시설로 정보누수 방지</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권역·연도 SHAP으로 AVM 해석</a:t>
            </a:r>
            <a:endParaRPr lang="en-US" sz="1620" dirty="0"/>
          </a:p>
        </p:txBody>
      </p:sp>
      <p:sp>
        <p:nvSpPr>
          <p:cNvPr id="16" name="Text 14"/>
          <p:cNvSpPr/>
          <p:nvPr/>
        </p:nvSpPr>
        <p:spPr>
          <a:xfrm>
            <a:off x="8366760" y="2359152"/>
            <a:ext cx="2926080" cy="2148840"/>
          </a:xfrm>
          <a:prstGeom prst="rect">
            <a:avLst/>
          </a:prstGeom>
          <a:noFill/>
          <a:ln/>
        </p:spPr>
        <p:txBody>
          <a:bodyPr wrap="square" lIns="508" tIns="508" rIns="508" bIns="508" rtlCol="0" anchor="ctr">
            <a:normAutofit/>
          </a:bodyPr>
          <a:lstStyle/>
          <a:p>
            <a:pPr indent="0" marL="0">
              <a:buNone/>
            </a:pPr>
            <a:r>
              <a:rPr lang="en-US" sz="1620" dirty="0">
                <a:solidFill>
                  <a:srgbClr val="2F3542"/>
                </a:solidFill>
                <a:latin typeface="Pretendard" pitchFamily="34" charset="0"/>
                <a:ea typeface="Pretendard" pitchFamily="34" charset="-122"/>
                <a:cs typeface="Pretendard" pitchFamily="34" charset="-120"/>
              </a:rPr>
              <a:t>• SHAP은 예측 기여도</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도보 시간은 대체 근사</a:t>
            </a:r>
            <a:endParaRPr lang="en-US" sz="1620" dirty="0"/>
          </a:p>
          <a:p>
            <a:pPr indent="0" marL="0">
              <a:buNone/>
            </a:pPr>
            <a:r>
              <a:rPr lang="en-US" sz="1620" dirty="0">
                <a:solidFill>
                  <a:srgbClr val="2F3542"/>
                </a:solidFill>
                <a:latin typeface="Pretendard" pitchFamily="34" charset="0"/>
                <a:ea typeface="Pretendard" pitchFamily="34" charset="-122"/>
                <a:cs typeface="Pretendard" pitchFamily="34" charset="-120"/>
              </a:rPr>
              <a:t>• 신규 단지는 공간계량 보완 필요</a:t>
            </a:r>
            <a:endParaRPr lang="en-US" sz="1620" dirty="0"/>
          </a:p>
        </p:txBody>
      </p:sp>
      <p:sp>
        <p:nvSpPr>
          <p:cNvPr id="17" name="Shape 15"/>
          <p:cNvSpPr/>
          <p:nvPr/>
        </p:nvSpPr>
        <p:spPr>
          <a:xfrm>
            <a:off x="685800" y="5943600"/>
            <a:ext cx="10881360" cy="502920"/>
          </a:xfrm>
          <a:prstGeom prst="rect">
            <a:avLst/>
          </a:prstGeom>
          <a:solidFill>
            <a:srgbClr val="26354F"/>
          </a:solidFill>
          <a:ln w="7620">
            <a:solidFill>
              <a:srgbClr val="26354F"/>
            </a:solidFill>
            <a:prstDash val="solid"/>
          </a:ln>
        </p:spPr>
      </p:sp>
      <p:sp>
        <p:nvSpPr>
          <p:cNvPr id="18" name="Text 16"/>
          <p:cNvSpPr/>
          <p:nvPr/>
        </p:nvSpPr>
        <p:spPr>
          <a:xfrm>
            <a:off x="914400" y="6071616"/>
            <a:ext cx="10424160" cy="237744"/>
          </a:xfrm>
          <a:prstGeom prst="rect">
            <a:avLst/>
          </a:prstGeom>
          <a:noFill/>
          <a:ln/>
        </p:spPr>
        <p:txBody>
          <a:bodyPr wrap="square" lIns="508" tIns="508" rIns="508" bIns="508" rtlCol="0" anchor="ctr">
            <a:normAutofit/>
          </a:bodyPr>
          <a:lstStyle/>
          <a:p>
            <a:pPr algn="ctr" indent="0" marL="0">
              <a:buNone/>
            </a:pPr>
            <a:r>
              <a:rPr lang="en-US" sz="1460" b="1" dirty="0">
                <a:solidFill>
                  <a:srgbClr val="FFFFFF"/>
                </a:solidFill>
                <a:latin typeface="Pretendard" pitchFamily="34" charset="0"/>
                <a:ea typeface="Pretendard" pitchFamily="34" charset="-122"/>
                <a:cs typeface="Pretendard" pitchFamily="34" charset="-120"/>
              </a:rPr>
              <a:t>핵심 결론: 가격 구조는 거리 접근성·시장 국면·권역 조건이 결합된 예측 기여 구조로 읽어야 한다.</a:t>
            </a:r>
            <a:endParaRPr lang="en-US" sz="14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한양대학교 부동산융합대학원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서울시 아파트 매매가격 구조 분석</dc:title>
  <dc:subject>석사학위논문 최종심사 발표</dc:subject>
  <dc:creator>박현근</dc:creator>
  <cp:lastModifiedBy>박현근</cp:lastModifiedBy>
  <cp:revision>1</cp:revision>
  <dcterms:created xsi:type="dcterms:W3CDTF">2026-06-04T14:15:04Z</dcterms:created>
  <dcterms:modified xsi:type="dcterms:W3CDTF">2026-06-04T14:15:04Z</dcterms:modified>
</cp:coreProperties>
</file>