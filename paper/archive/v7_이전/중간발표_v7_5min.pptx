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737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XGBoost와 SHAP을 활용한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아파트 </a:t>
            </a:r>
            <a:pPr algn="ctr" indent="0" marL="0">
              <a:buNone/>
            </a:pPr>
            <a:r>
              <a:rPr lang="en-US" sz="4400" b="1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단위면적당 매매가격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패턴 분석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Explanatory Patterns of Apartment Unit-Area Sale Prices in Seoul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한양대학교 부동산융합대학원 · 도시부동산정책전공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석사학위 중간발표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 현 근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서 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· 기존 문헌 3대 공백 · 본 연구의 차별성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A5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75.2%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가계 자산 중 실물자산 비중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통계청(2024) 가계금융복지조사. 서울 아파트는 자산 축적·주거 안정의 핵심 매개로, 가격 결정 구조 이해가 학술·정책적 과제.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7040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554480"/>
            <a:ext cx="73152" cy="2194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91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국내 서울 아파트 ML 연구의 3대 공백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548640" cy="2743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단위 거친 집계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자치구(25개) 단위 → 동네 수준 이질성 유실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2148840"/>
            <a:ext cx="548640" cy="2743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모형 예측 비교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880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OLS vs ML 성능 비교에 머무름 → SHAP 해석 체계 부재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0" y="2148840"/>
            <a:ext cx="548640" cy="27432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총가격 모형의 면적 독점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880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면적이 SHAP 상위 22% 독점 → 질적·입지적 신호 가려짐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0012" y="39319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012" y="3931920"/>
            <a:ext cx="73152" cy="260604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8612" y="4160520"/>
            <a:ext cx="5943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8612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4332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단위면적 정규화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4332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 = ln(거래금액[만원] / 전용면적[㎡])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332" y="5440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규모효과를 분모로 제거. 소형·대형 평형 간 단위가격 프리미엄을 독립변수로 보존(Malpezzi 2003, Sirmans et al. 2005 log-price 전통).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89908" y="39319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89908" y="3931920"/>
            <a:ext cx="73152" cy="260604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8508" y="4160520"/>
            <a:ext cx="5943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8508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 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64228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행정동 215개 세분화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4228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25개 대비 약 8.6배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64228" y="5440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Nominatim 지오코딩 + GeoJSON 공간조인으로 법정동→행정동 매핑 파이프라인 구축. 세분화된 공간 단위에서 설명 패턴 탐색.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29804" y="3931920"/>
            <a:ext cx="3611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29804" y="3931920"/>
            <a:ext cx="73152" cy="260604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58404" y="4160520"/>
            <a:ext cx="5943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58404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04124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별도 3모형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4124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· 강남3구 · 비강남 22개구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04124" y="54406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강남더미 제거한 17변수로 각 지역 독립 적합. 통합 모형 SHAP 재집계가 아닌 별도 모형으로 공간 이질성 실증.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연구 설계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· 18개 독립변수 체계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012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4332" y="17190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A5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391,826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4332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아파트 매매 실거래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4332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2019.01 ~ 2025.12 (84개월)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9908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4228" y="17190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64228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행정동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4228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25개 8.6배 세분화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29804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4124" y="17190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BB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04124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독립변수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04124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3 · 입지 2 · 환경 9 · 거시 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4292" y="3383280"/>
            <a:ext cx="270662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4292" y="3383280"/>
            <a:ext cx="73152" cy="306324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892" y="3611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 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8612" y="4023360"/>
            <a:ext cx="220370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전용면적(㎡)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층(층)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건물연령(년)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29788" y="3383280"/>
            <a:ext cx="270662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29788" y="3383280"/>
            <a:ext cx="73152" cy="3063240"/>
          </a:xfrm>
          <a:prstGeom prst="rect">
            <a:avLst/>
          </a:prstGeom>
          <a:solidFill>
            <a:srgbClr val="006B7F"/>
          </a:solidFill>
          <a:ln w="12700">
            <a:solidFill>
              <a:srgbClr val="006B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8388" y="3611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 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04108" y="4023360"/>
            <a:ext cx="220370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강남구분(더미)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지하철역수(개)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55284" y="3383280"/>
            <a:ext cx="270662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5284" y="3383280"/>
            <a:ext cx="73152" cy="3063240"/>
          </a:xfrm>
          <a:prstGeom prst="rect">
            <a:avLst/>
          </a:prstGeom>
          <a:solidFill>
            <a:srgbClr val="FBB040"/>
          </a:solidFill>
          <a:ln w="12700">
            <a:solidFill>
              <a:srgbClr val="FBB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3884" y="3611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  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9604" y="4023360"/>
            <a:ext cx="220370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초/중/고교수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CCTV수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백화점수(매장)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공원/도서관수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학원수/어린이집수 (구 단위 프록시)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80780" y="3383280"/>
            <a:ext cx="270662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80780" y="3383280"/>
            <a:ext cx="73152" cy="3063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09380" y="36118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거시   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55100" y="4023360"/>
            <a:ext cx="220370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기준금리(%)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CD금리(%)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소비자물가지수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 광의통화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종속변수: Y = ln(거래금액 ÷ 전용면적). 계수 β → 준탄력성 (e^β − 1)·100% 로 해석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연구 설계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데이터 분할 · OLS · RF · XGBoost · SHAP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012" y="155448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0012" y="1554480"/>
            <a:ext cx="73152" cy="274320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8612" y="1783080"/>
            <a:ext cx="100584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861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무작위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4332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 70/10/20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433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274,277 · 검증 39,183 · 테스트 78,366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4332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 동일 단지 내 예측 성능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4332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단지 반복거래 공존 가능 → 낙관적 추정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9908" y="155448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9908" y="1554480"/>
            <a:ext cx="73152" cy="2743200"/>
          </a:xfrm>
          <a:prstGeom prst="rect">
            <a:avLst/>
          </a:prstGeom>
          <a:solidFill>
            <a:srgbClr val="FBB040"/>
          </a:solidFill>
          <a:ln w="12700">
            <a:solidFill>
              <a:srgbClr val="FBB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8508" y="1783080"/>
            <a:ext cx="100584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850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Group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64228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단지 기준 분할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64228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법정동 + 아파트명 기준 8,601 단지 · overlap =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4228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 미경험 신규 단지 일반화 성능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64228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단지 누수 차단 → 가장 보수적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29804" y="155448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29804" y="1554480"/>
            <a:ext cx="73152" cy="2743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8404" y="1783080"/>
            <a:ext cx="100584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84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시간순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04124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Chronological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04124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≤ 2023.12 · 검증 2024.01–06 · 테스트 ≥ 2024.07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04124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 미래 시점 예측 성능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04124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국면 이동(금리 인하 전환) 반영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526280"/>
            <a:ext cx="11064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모형 공통 평가 · 동일 하이퍼파라미터 · SHAP (TreeSHAP 5,000 샘플) 해석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5120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5440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선형 · 베이스라인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준탄력성 해석, 잔차 진단 Moran's 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5120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80560" y="5440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배깅 · 분산 감소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n=200, max_depth=15, min_leaf=5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2440" y="5120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92440" y="5440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부스팅 · 편향 감소 · 대표 해석 모형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92440" y="5715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max_depth=8, lr=0.1, rounds≤2000, early stop 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실증 분석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기술통계 · OLS 회귀 결과 (베이스라인)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760720" cy="2057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A5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1.90×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: 비강남 단위가격 배율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평균 1,337.7 만원/㎡ · 중앙값 1,142.7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강남3구 2,207.5 / 비강남 22구 1,164.5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총가격 배율 2.20×보다 작음 → 강남 대형 평형 집중이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총가격 격차의 일부를 설명함을 단위면적 정규화가 실증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554480"/>
            <a:ext cx="73152" cy="2057400"/>
          </a:xfrm>
          <a:prstGeom prst="rect">
            <a:avLst/>
          </a:prstGeom>
          <a:solidFill>
            <a:srgbClr val="FBB040"/>
          </a:solidFill>
          <a:ln w="12700">
            <a:solidFill>
              <a:srgbClr val="FBB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OLS 베이스라인 결과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0.506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|   Adj R² = 0.506   |   N = 391,826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단위가격 총 변동의 약 50.6%만 18개 변수의 선형 결합으로 설명 → OLS 선형 가정이 비선형 가격구조(재건축·입지 상호작용·국면 전환)를 충분히 포착하지 못함을 시사. 설명적 기준선으로만 활용.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1064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OLS 주요 준탄력성 (log 계수 B, (e^B − 1)·100% 해석)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343400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822960"/>
                <a:gridCol w="1463040"/>
                <a:gridCol w="5577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준탄력성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+0.368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177.7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+44.46%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비강남 대비 강남 단위가격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지하철역수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+0.061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104.8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+6.27%/역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역세권 프리미엄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도서관수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+0.028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27.3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+2.79%/개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문화 인프라 프리미엄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건물연령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−0.0035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−63.8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−0.35%/년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연식 1년당 단위가격 감소 (U자 반등 구간 존재)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어린이집수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−0.0182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−199.8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−1.80%/개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주거밀집지 혼재로 음의 계수(지역 별도 모형서 재검토)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기준금리·CD금리 VIF 110.1 / 96.4 → 거시변수는 개별 효과가 아닌 시장 국면 대리 묶음으로 해석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실증 분석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모형별 · 분할별 예측 성능 (종속변수: log ㎡당 가격)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80160"/>
                <a:gridCol w="1280160"/>
                <a:gridCol w="1508760"/>
                <a:gridCol w="150876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OLS R²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RF R²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XGBoost R²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XGB Median APE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XGB MAPE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무작위 (동일 단지 내)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0.5061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0.8937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0.9554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4.16%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6.73%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Group (미경험 단지)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0.4618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0.7414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0.8005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11.72%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15.52%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시간순 (미래 시점)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0.3939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0.6955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0.7972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12.61%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15.15%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0012" y="411480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0012" y="4114800"/>
            <a:ext cx="73152" cy="219456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8612" y="4343400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8612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4332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서열: XGB &gt; RF &gt;&gt; OLS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4332" y="5212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분할 모두에서 동일 서열. OLS R² 0.39~0.51 vs XGB 0.80~0.96 — 약 +0.30~0.45p 비선형 설명력 차이.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89908" y="411480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9908" y="4114800"/>
            <a:ext cx="73152" cy="219456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18508" y="4343400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8508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64228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≈ 시간순 (R² 차이 0.003)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64228" y="5212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 0.8005 vs 시간순 0.7972. 단지 누수 효과(≈0.15p)가 국면 이동 효과보다 예측력에 더 큰 영향.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29804" y="4114800"/>
            <a:ext cx="3611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29804" y="4114800"/>
            <a:ext cx="73152" cy="219456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8404" y="4343400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8404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04124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이원 기준 해석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304124" y="5212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 R²=0.9554는 '동일 단지 내', Group/시간순 R²≈0.80은 '미경험 단지·미래 시점' 보수적 일반화 기준.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SHAP 분석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단위면적 정규화가 가져온 SHAP Top 6 재편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v6 총가격 모형 (log 거래금액)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77440"/>
          <a:ext cx="44805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22.2%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건물연령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M2 통화량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백화점수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어린이집수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5.2%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92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면적이 SHAP 상위 22% 독점 → 질적·입지적 신호 가려짐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0644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A5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492240" y="1600200"/>
            <a:ext cx="5212080" cy="4114800"/>
          </a:xfrm>
          <a:prstGeom prst="rect">
            <a:avLst/>
          </a:prstGeom>
          <a:solidFill>
            <a:srgbClr val="E6F7FA"/>
          </a:solidFill>
          <a:ln w="25400">
            <a:solidFill>
              <a:srgbClr val="08A5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v7 단위가격 모형 (log ㎡당 가격)</a:t>
            </a:r>
            <a:endParaRPr lang="en-US" sz="17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77440"/>
          <a:ext cx="46634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01752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건물연령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11.74%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어린이집수 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11.53%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M2 통화량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10.77%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학원수 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9.61%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 (1→6)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9.55%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766560" y="4892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주거권(어린이집) · 사교육(학원) · 재건축(건물연령) 신호 전면화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852160"/>
            <a:ext cx="11064240" cy="68580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0080" y="5852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변화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 1위 22.2% → 6위 9.55%로 규모효과 분리 · 거시(M2+CPI+금리) 통합 기여도 17.8% → 21.35%로 국면 민감도 증가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지역 비교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별도 3모형 — 질적으로 다른 두 시장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4709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🏙️ 강남 3구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 = 65,077   (16.6%)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 R² = 0.9356 · MedAPE 4.10%   |   OLS R² = 0.379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51760"/>
          <a:ext cx="4892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 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건물연령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16.46%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소비자물가지수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13.25%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백화점수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13.04%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12.68%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15/17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어린이집수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0AEC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914400" y="5349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주도 축: 재건축 기대 · 상업 집적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760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압구정·대치·잠실 등 노후 단지 재건축과 명품·상업 집적이 단위가격을 주도. 어린이집·학원 프록시는 하위권.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00200"/>
            <a:ext cx="73152" cy="470916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🏘️ 비강남 22구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469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 = 326,749   (83.4%)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 R² = 0.9421 · MedAPE 4.07%   |   OLS R² = 0.381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651760"/>
          <a:ext cx="4892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 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건물연령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14.81%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소비자물가지수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11.79%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11.19%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어린이집수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10.57%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10.11%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학원수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8.63%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537960" y="5349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주도 축: 주거권 · 사교육 인프라 · 거시 유동성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760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어린이집·학원 프록시가 상위권에 진입 — 비강남 주거권 특성·사교육 수요가 단위가격 차별화 신호.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어린이집수 대비: 강남 15/17위 1.69% ↔ 비강남 4위 10.57% — 동일 변수가 지역에 따라 질적으로 다른 설명 역할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강건성 점검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비선형 패턴 · Moran's I · Ablation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577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411480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SHAP Dependence Plot — 비선형 패턴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건물연령 U자형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증가 → SHAP 감소 기본 추세 위에, 25~30년 이상 구간에서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반등 U자 패턴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재건축 기대·입지·표본 조합의 비선형 결합. OLS 선형 가정으로는 포착 불가.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 체감형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소형(40–60㎡) SHAP +, 중·대형(85㎡+) SHAP − 전환. 규모 정규화 후에도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소형 프리미엄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비선형 체감 형태로 잔존.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00200"/>
            <a:ext cx="73152" cy="4114800"/>
          </a:xfrm>
          <a:prstGeom prst="rect">
            <a:avLst/>
          </a:prstGeom>
          <a:solidFill>
            <a:srgbClr val="FBB040"/>
          </a:solidFill>
          <a:ln w="12700">
            <a:solidFill>
              <a:srgbClr val="FBB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🧪 공간 자기상관 · Ablation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214개 행정동 잔차 · 같은 구 인접 가중 · 499 순열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514600"/>
          <a:ext cx="4846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OLS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XGBoost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Moran I (잔차)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0.3247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0.0042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Z-score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8.882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0.252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p-value (순열)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0.001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0.880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Ablation ΔR² (학원·어린이집 제거)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30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−0.0542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6B7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−0.0004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58368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XGB의 비선형 조합이 공간 구조 흡수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프록시 두 변수 없이도 예측 구조 유지 (측정 한계 비왜곡)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5943600"/>
            <a:ext cx="11064240" cy="73152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5943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OLS가 포착 못 한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U자·체감·임계 비선형 패턴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XGBoost+SHAP이 정량 실증 — 공간계량 모형 없이 공간 구조 흡수 · 프록시 한계 비의존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A5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결 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학술·정책·실무 시사점 · 한계 및 향후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02920" cy="36576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012" y="15544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8612" y="1755648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8612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4332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XAI 국내 확장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4332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단위면적 정규화 × 행정동(215) × 지역 별도 3모형 — 국내 부동산 XAI 문헌 최초 3축 결합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9908" y="15544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8508" y="1755648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8508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4228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🏛️ 이원 시장 설계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4228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강남=재건축·상업, 비강남=주거권·사교육. 가격 수준이 아닌 결정 구조 자체가 상이 → 지역별 차별 정책 시사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9804" y="15544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58404" y="1755648"/>
            <a:ext cx="822960" cy="274320"/>
          </a:xfrm>
          <a:prstGeom prst="rect">
            <a:avLst/>
          </a:prstGeom>
          <a:solidFill>
            <a:srgbClr val="E6F7FA"/>
          </a:solidFill>
          <a:ln w="12700">
            <a:solidFill>
              <a:srgbClr val="E6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8404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04124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💼 AVM 설명 책무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4124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단위가격 SHAP 분해로 면적에 가려지지 않은 질적 프리미엄 투명화 — 감정평가·프롭테크 설명 책무 지원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20440"/>
            <a:ext cx="73152" cy="2651760"/>
          </a:xfrm>
          <a:prstGeom prst="rect">
            <a:avLst/>
          </a:prstGeom>
          <a:solidFill>
            <a:srgbClr val="FBB040"/>
          </a:solidFill>
          <a:ln w="12700">
            <a:solidFill>
              <a:srgbClr val="FBB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03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연구의 한계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1148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변수 stock 병합 — 연도별 변동 미반영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BB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[교수 지적]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학원·어린이집 구 단위 프록시 균등 배분 한계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도보 반경·최단거리 변수 미사용 (행정동 경계 count 기반)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질적 변수(브랜드·조망·재건축 단계) 미반영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공간계량(SAR/SEM) 직접 비교 미수행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520440"/>
            <a:ext cx="73152" cy="2651760"/>
          </a:xfrm>
          <a:prstGeom prst="rect">
            <a:avLst/>
          </a:prstGeom>
          <a:solidFill>
            <a:srgbClr val="08A5C1"/>
          </a:solidFill>
          <a:ln w="12700">
            <a:solidFill>
              <a:srgbClr val="08A5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703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 향후 과제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41148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시설 패널 (행안부·교육부 연간 스냅샷)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GIS 기반 최근접 거리 변수 · Queen/Rook 경계 가중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평형대(60/85/132㎡)별 ㎡단가 보조 분석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LightGBM·CatBoost·TabNet 확장, LIME·ALE 교차 XAI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수도권·지방 대도시로 범위 확장 비교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경청해 주셔서 감사드립니다 · 질의 환영합니다    박 현 근 · 한양대 부동산융합대학원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서울시 아파트 단위면적당 매매가격의 설명 패턴 분석</dc:title>
  <dc:subject>PptxGenJS Presentation</dc:subject>
  <dc:creator>박현근</dc:creator>
  <cp:lastModifiedBy>박현근</cp:lastModifiedBy>
  <cp:revision>1</cp:revision>
  <dcterms:created xsi:type="dcterms:W3CDTF">2026-04-24T13:46:12Z</dcterms:created>
  <dcterms:modified xsi:type="dcterms:W3CDTF">2026-04-24T13:46:12Z</dcterms:modified>
</cp:coreProperties>
</file>