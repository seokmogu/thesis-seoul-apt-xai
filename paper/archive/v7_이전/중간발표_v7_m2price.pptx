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359" r:id="rId11"/>
    <p:sldId id="361" r:id="rId12"/>
    <p:sldId id="362" r:id="rId13"/>
    <p:sldId id="264" r:id="rId14"/>
    <p:sldId id="267" r:id="rId15"/>
    <p:sldId id="268" r:id="rId16"/>
    <p:sldId id="269" r:id="rId17"/>
    <p:sldId id="270" r:id="rId18"/>
    <p:sldId id="271" r:id="rId19"/>
    <p:sldId id="357" r:id="rId20"/>
    <p:sldId id="363" r:id="rId21"/>
    <p:sldId id="276" r:id="rId22"/>
    <p:sldId id="275" r:id="rId23"/>
    <p:sldId id="364" r:id="rId24"/>
    <p:sldId id="274" r:id="rId25"/>
    <p:sldId id="365" r:id="rId26"/>
    <p:sldId id="277" r:id="rId27"/>
    <p:sldId id="278" r:id="rId28"/>
    <p:sldId id="279" r:id="rId29"/>
    <p:sldId id="280" r:id="rId30"/>
    <p:sldId id="284" r:id="rId31"/>
    <p:sldId id="291" r:id="rId32"/>
    <p:sldId id="286" r:id="rId33"/>
    <p:sldId id="287" r:id="rId34"/>
    <p:sldId id="366" r:id="rId35"/>
    <p:sldId id="288" r:id="rId36"/>
    <p:sldId id="290" r:id="rId37"/>
  </p:sldIdLst>
  <p:sldSz cx="18288000" cy="10287000"/>
  <p:notesSz cx="7102475" cy="10234613"/>
  <p:embeddedFontLst>
    <p:embeddedFont>
      <p:font typeface="NanumGothicBold" panose="020B0600000101010101" charset="-127"/>
      <p:bold r:id="rId39"/>
    </p:embeddedFont>
    <p:embeddedFont>
      <p:font typeface="Pretendard Bold" panose="020B0600000101010101" charset="-127"/>
      <p:bold r:id="rId40"/>
    </p:embeddedFont>
    <p:embeddedFont>
      <p:font typeface="Pretendard Light" panose="020B0600000101010101" charset="-127"/>
      <p:regular r:id="rId41"/>
    </p:embeddedFont>
    <p:embeddedFont>
      <p:font typeface="Pretendard Regular" panose="020B0600000101010101" charset="-127"/>
      <p:regular r:id="rId42"/>
    </p:embeddedFont>
    <p:embeddedFont>
      <p:font typeface="Pretendard SemiBold" panose="020B0600000101010101" charset="-127"/>
      <p:bold r:id="rId43"/>
    </p:embeddedFont>
    <p:embeddedFont>
      <p:font typeface="조선가는고딕" panose="020B0600000101010101" charset="-127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Montserrat Bold" panose="020B0600000101010101" charset="0"/>
      <p:bold r:id="rId49"/>
    </p:embeddedFont>
    <p:embeddedFont>
      <p:font typeface="Montserrat Medium" panose="020B0600000101010101" charset="0"/>
      <p:regular r:id="rId50"/>
      <p:bold r:id="rId51"/>
      <p:italic r:id="rId52"/>
    </p:embeddedFont>
    <p:embeddedFont>
      <p:font typeface="Montserrat SemiBold" panose="020B0600000101010101" charset="0"/>
      <p:bold r:id="rId53"/>
      <p:boldItalic r:id="rId54"/>
    </p:embeddedFont>
    <p:embeddedFont>
      <p:font typeface="나눔고딕" panose="020D0804000000000000" pitchFamily="50" charset="-127"/>
      <p:regular r:id="rId55"/>
      <p:bold r:id="rId56"/>
    </p:embeddedFont>
    <p:embeddedFont>
      <p:font typeface="나눔고딕" panose="020D0804000000000000" pitchFamily="50" charset="-127"/>
      <p:regular r:id="rId55"/>
      <p:bold r:id="rId56"/>
    </p:embeddedFont>
    <p:embeddedFont>
      <p:font typeface="맑은 고딕" panose="020B0503020000020004" pitchFamily="50" charset="-127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font" Target="fonts/font7.fntdata"/><Relationship Id="rId46" Type="http://schemas.openxmlformats.org/officeDocument/2006/relationships/font" Target="fonts/font8.fntdata"/><Relationship Id="rId47" Type="http://schemas.openxmlformats.org/officeDocument/2006/relationships/font" Target="fonts/font9.fntdata"/><Relationship Id="rId48" Type="http://schemas.openxmlformats.org/officeDocument/2006/relationships/font" Target="fonts/font10.fntdata"/><Relationship Id="rId49" Type="http://schemas.openxmlformats.org/officeDocument/2006/relationships/font" Target="fonts/font11.fntdata"/><Relationship Id="rId50" Type="http://schemas.openxmlformats.org/officeDocument/2006/relationships/font" Target="fonts/font12.fntdata"/><Relationship Id="rId51" Type="http://schemas.openxmlformats.org/officeDocument/2006/relationships/font" Target="fonts/font13.fntdata"/><Relationship Id="rId52" Type="http://schemas.openxmlformats.org/officeDocument/2006/relationships/font" Target="fonts/font14.fntdata"/><Relationship Id="rId53" Type="http://schemas.openxmlformats.org/officeDocument/2006/relationships/font" Target="fonts/font15.fntdata"/><Relationship Id="rId54" Type="http://schemas.openxmlformats.org/officeDocument/2006/relationships/font" Target="fonts/font16.fntdata"/><Relationship Id="rId55" Type="http://schemas.openxmlformats.org/officeDocument/2006/relationships/font" Target="fonts/font17.fntdata"/><Relationship Id="rId56" Type="http://schemas.openxmlformats.org/officeDocument/2006/relationships/font" Target="fonts/font18.fntdata"/><Relationship Id="rId57" Type="http://schemas.openxmlformats.org/officeDocument/2006/relationships/font" Target="fonts/font19.fntdata"/><Relationship Id="rId58" Type="http://schemas.openxmlformats.org/officeDocument/2006/relationships/font" Target="fonts/font20.fntdata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n moon" userId="1b6eed213736b55c" providerId="LiveId" clId="{4A09AD4A-640D-4CAB-B0EC-20AE88029260}"/>
    <pc:docChg chg="modSld">
      <pc:chgData name="sujin moon" userId="1b6eed213736b55c" providerId="LiveId" clId="{4A09AD4A-640D-4CAB-B0EC-20AE88029260}" dt="2024-12-03T04:18:28.699" v="214" actId="14100"/>
      <pc:docMkLst>
        <pc:docMk/>
      </pc:docMkLst>
      <pc:sldChg chg="modSp mod">
        <pc:chgData name="sujin moon" userId="1b6eed213736b55c" providerId="LiveId" clId="{4A09AD4A-640D-4CAB-B0EC-20AE88029260}" dt="2024-12-03T04:17:11.558" v="2" actId="20577"/>
        <pc:sldMkLst>
          <pc:docMk/>
          <pc:sldMk cId="0" sldId="284"/>
        </pc:sldMkLst>
        <pc:graphicFrameChg chg="modGraphic">
          <ac:chgData name="sujin moon" userId="1b6eed213736b55c" providerId="LiveId" clId="{4A09AD4A-640D-4CAB-B0EC-20AE88029260}" dt="2024-12-03T04:17:11.558" v="2" actId="20577"/>
          <ac:graphicFrameMkLst>
            <pc:docMk/>
            <pc:sldMk cId="0" sldId="284"/>
            <ac:graphicFrameMk id="4" creationId="{23348C1F-9B35-8CCB-D7A8-F12ECCD4CD38}"/>
          </ac:graphicFrameMkLst>
        </pc:graphicFrameChg>
      </pc:sldChg>
      <pc:sldChg chg="modSp mod">
        <pc:chgData name="sujin moon" userId="1b6eed213736b55c" providerId="LiveId" clId="{4A09AD4A-640D-4CAB-B0EC-20AE88029260}" dt="2024-12-03T04:18:28.699" v="214" actId="14100"/>
        <pc:sldMkLst>
          <pc:docMk/>
          <pc:sldMk cId="1871778127" sldId="291"/>
        </pc:sldMkLst>
        <pc:spChg chg="mod">
          <ac:chgData name="sujin moon" userId="1b6eed213736b55c" providerId="LiveId" clId="{4A09AD4A-640D-4CAB-B0EC-20AE88029260}" dt="2024-12-03T04:18:23.617" v="213" actId="14100"/>
          <ac:spMkLst>
            <pc:docMk/>
            <pc:sldMk cId="1871778127" sldId="291"/>
            <ac:spMk id="4" creationId="{DE920A8E-9B2D-A609-DF5E-CF2A28876400}"/>
          </ac:spMkLst>
        </pc:spChg>
        <pc:picChg chg="mod">
          <ac:chgData name="sujin moon" userId="1b6eed213736b55c" providerId="LiveId" clId="{4A09AD4A-640D-4CAB-B0EC-20AE88029260}" dt="2024-12-03T04:18:28.699" v="214" actId="14100"/>
          <ac:picMkLst>
            <pc:docMk/>
            <pc:sldMk cId="1871778127" sldId="291"/>
            <ac:picMk id="9" creationId="{13B6B93E-1B26-49E1-8BF8-50984D3E7F66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7738" cy="513508"/>
          </a:xfrm>
          <a:prstGeom prst="rect">
            <a:avLst/>
          </a:prstGeom>
        </p:spPr>
        <p:txBody>
          <a:bodyPr vert="horz" lIns="94649" tIns="47324" rIns="94649" bIns="4732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1"/>
            <a:ext cx="3077738" cy="513508"/>
          </a:xfrm>
          <a:prstGeom prst="rect">
            <a:avLst/>
          </a:prstGeom>
        </p:spPr>
        <p:txBody>
          <a:bodyPr vert="horz" lIns="94649" tIns="47324" rIns="94649" bIns="47324" rtlCol="0"/>
          <a:lstStyle>
            <a:lvl1pPr algn="r">
              <a:defRPr sz="1200"/>
            </a:lvl1pPr>
          </a:lstStyle>
          <a:p>
            <a:fld id="{0EB512AD-7CE1-4D66-B479-E0155F7336A5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9" tIns="47324" rIns="94649" bIns="473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9" y="4925408"/>
            <a:ext cx="5681980" cy="4029879"/>
          </a:xfrm>
          <a:prstGeom prst="rect">
            <a:avLst/>
          </a:prstGeom>
        </p:spPr>
        <p:txBody>
          <a:bodyPr vert="horz" lIns="94649" tIns="47324" rIns="94649" bIns="4732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7738" cy="513507"/>
          </a:xfrm>
          <a:prstGeom prst="rect">
            <a:avLst/>
          </a:prstGeom>
        </p:spPr>
        <p:txBody>
          <a:bodyPr vert="horz" lIns="94649" tIns="47324" rIns="94649" bIns="4732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8" cy="513507"/>
          </a:xfrm>
          <a:prstGeom prst="rect">
            <a:avLst/>
          </a:prstGeom>
        </p:spPr>
        <p:txBody>
          <a:bodyPr vert="horz" lIns="94649" tIns="47324" rIns="94649" bIns="47324" rtlCol="0" anchor="b"/>
          <a:lstStyle>
            <a:lvl1pPr algn="r">
              <a:defRPr sz="1200"/>
            </a:lvl1pPr>
          </a:lstStyle>
          <a:p>
            <a:fld id="{7FD1BCBF-0968-468A-9AA7-80564CBE11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53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1BCBF-0968-468A-9AA7-80564CBE11F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371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ABDB-FBD7-1084-3F9D-3613F6A1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A5161D-F998-50FD-BEBA-2EFB7857E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24CAA-A004-AC0A-EF68-8F71CB312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412B05-9403-9ECF-ED92-CDD5711D5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1BCBF-0968-468A-9AA7-80564CBE11F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3490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301752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ea typeface="Pretendard"/>
                <a:latin typeface="Pretendard"/>
              </a:rPr>
              <a:t>XGBoost와 SHAP을 활용한</a:t>
            </a:r>
          </a:p>
          <a:p>
            <a:pPr algn="ctr"/>
            <a:r>
              <a:rPr sz="4000" b="1">
                <a:solidFill>
                  <a:srgbClr val="08A5C1"/>
                </a:solidFill>
                <a:ea typeface="Pretendard"/>
                <a:latin typeface="Pretendard"/>
              </a:rPr>
              <a:t>서울시 아파트 단위면적당 매매가격의</a:t>
            </a:r>
          </a:p>
          <a:p>
            <a:pPr algn="ctr"/>
            <a:r>
              <a:rPr sz="4000" b="1">
                <a:solidFill>
                  <a:srgbClr val="08A5C1"/>
                </a:solidFill>
                <a:ea typeface="Pretendard"/>
                <a:latin typeface="Pretendard"/>
              </a:rPr>
              <a:t>설명 패턴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943600"/>
            <a:ext cx="1554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단위면적 정규화 · 행정동 분석 · 지역 별도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7772400"/>
            <a:ext cx="1463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ea typeface="Pretendard"/>
                <a:latin typeface="Pretendard"/>
              </a:rPr>
              <a:t>한양대학교 부동산융합대학원 · 도시부동산정책전공</a:t>
            </a:r>
          </a:p>
          <a:p>
            <a:pPr algn="ctr"/>
            <a:r>
              <a:rPr sz="2400" b="1">
                <a:solidFill>
                  <a:srgbClr val="FFFFFF"/>
                </a:solidFill>
                <a:ea typeface="Pretendard"/>
                <a:latin typeface="Pretendard"/>
              </a:rPr>
              <a:t>석사학위 중간발표  |  박 현 근</a:t>
            </a:r>
          </a:p>
          <a:p>
            <a:pPr algn="ctr"/>
            <a:r>
              <a:rPr sz="1600" b="0">
                <a:solidFill>
                  <a:srgbClr val="FFFFFF"/>
                </a:solidFill>
                <a:ea typeface="Pretendard"/>
                <a:latin typeface="Pretendard"/>
              </a:rPr>
              <a:t>2026. 04.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-647700"/>
            <a:ext cx="3314700" cy="353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5359400"/>
            <a:ext cx="4673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5346700"/>
            <a:ext cx="46736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0" y="5346700"/>
            <a:ext cx="46736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7569200"/>
            <a:ext cx="46736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0" y="7556500"/>
            <a:ext cx="46736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2700" y="54102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83100" y="5626100"/>
            <a:ext cx="1511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서 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69100" y="53848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400" y="5613400"/>
            <a:ext cx="25654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이론적 배경 및 선행연구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및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선행연구고찰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68200" y="53848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9700" y="5613400"/>
            <a:ext cx="2844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연구 설계 및 방법</a:t>
            </a:r>
            <a:r>
              <a:rPr lang="en-US" sz="2800" b="0" i="0" u="none" strike="noStrike">
                <a:solidFill>
                  <a:srgbClr val="393939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393939"/>
                </a:solidFill>
                <a:ea typeface="Pretendard"/>
                <a:latin typeface="Pretendard"/>
              </a:rPr>
              <a:t>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0800" y="76200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0200" y="7835900"/>
            <a:ext cx="31496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393939"/>
                </a:solidFill>
                <a:ea typeface="Pretendard"/>
                <a:latin typeface="Pretendard"/>
              </a:rPr>
              <a:t>실증 분석 결과</a:t>
            </a:r>
            <a:endParaRPr lang="ko-KR" sz="2800" b="0" i="0" u="none" strike="noStrike" dirty="0">
              <a:solidFill>
                <a:srgbClr val="393939"/>
              </a:solidFill>
              <a:ea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819900" y="7594600"/>
            <a:ext cx="17399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400" b="0" i="0" u="none" strike="noStrike">
                <a:solidFill>
                  <a:srgbClr val="393939"/>
                </a:solidFill>
                <a:latin typeface="Montserrat Medium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61400" y="7823200"/>
            <a:ext cx="2844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393939"/>
                </a:solidFill>
                <a:ea typeface="Pretendard"/>
                <a:latin typeface="Pretendard"/>
              </a:rPr>
              <a:t>결론 및 시사점</a:t>
            </a:r>
            <a:endParaRPr lang="en-US" altLang="ko-KR" sz="2800" b="0" i="0" u="none" strike="noStrike" dirty="0">
              <a:solidFill>
                <a:srgbClr val="393939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39600" y="2286000"/>
            <a:ext cx="49149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9500" b="0" i="0" u="none" strike="noStrike">
                <a:solidFill>
                  <a:srgbClr val="08A5C1"/>
                </a:solidFill>
                <a:ea typeface="Pretendard"/>
                <a:latin typeface="Pretendar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0" b="0">
                <a:solidFill>
                  <a:srgbClr val="08A5C1"/>
                </a:solidFill>
                <a:ea typeface="Pretendard"/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FFFFF"/>
                </a:solidFill>
                <a:ea typeface="Pretendard"/>
                <a:latin typeface="Pretendard"/>
              </a:rPr>
              <a:t>서 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669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1. 연구의 배경 및 목적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2. 연구의 범위 및 방법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서 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[한국 부동산 시장의 구조적 중요성]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한국 가계 자산의 75.2%가 실물자산, 대부분 부동산 (통계청, 2024)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서울 아파트 = 자산 축적·주거 안정·거시경제 파급효과의 핵심 매개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[기존 가격 예측 접근의 한계]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전통적 OLS 헤도닉 모형: 선형 가정 → 비선형·상호작용 포착 한계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머신러닝(RF·XGBoost): 예측 성능 우수하나 "블랙박스" 문제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[XAI의 등장과 국내 공백]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SHAP (Lundberg &amp; Lee, 2017): 예측값 기여도 이론적 분해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해외에서 SHAP 기반 부동산 연구 축적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국내 아파트 시장에 XAI를 체계적으로 적용한 연구는 여전히 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서 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필요성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[연구 동기 — 왜 이 주제인가]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AVM(자동감정평가) 실무 확산 ↔ 국내 설명 프레임워크 부재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기존 한국 ML 연구의 3공백: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① 자치구(25개) 단위 집계   ② 단일 모형 예측 비교   ③ 통합 SHAP만 보고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총가격 모형: 면적이 SHAP 상위 독점 → 질적 신호 가려짐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연구의 3가지 차별성]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① 단위면적당 가격 정규화 = log(거래금액/전용면적) → 규모효과 분리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② 행정동(215개) 단위 세분화 → 기존 자치구(25개) 대비 공간 정밀도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③ 지역 별도 모형 3개 (전체 · 강남3구 · 비강남 22개구) 직접 비교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[연구 목적]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서울 아파트 단위가격 결정의 숨은 질적 구조를 드러내고,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AVM 실무의 설명 책무를 뒷받침하는 XAI 프레임워크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서 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[공간적 범위]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서울특별시 25개 자치구 · 215개 행정동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[시간적 범위]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2019년 1월 ~ 2025년 12월 (84개월, 7년)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COVID-19·금리인상·인하 전환의 거시 국면 모두 포함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[분석 대상]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아파트 매매 실거래 391,826건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[데이터 출처]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국토교통부 실거래가 (data.go.kr)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서울열린데이터광장 — 지하철·백화점·CCTV·공원·도서관·어린이집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NEIS 교육정보 — 학교·학원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한국은행 ECOS — 금리·CPI·M2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서 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[1단계] 데이터 수집 및 전처리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법정동 → 행정동 매핑 (Nominatim 지오코딩 + GeoJSON 공간조인)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Y = log(거래금액 / 전용면적) 파생변수 계산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[2단계] 3가지 모형 적합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OLS (베이스라인) · Random Forest · XGBoost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3가지 분할: 무작위 / Group(단지) / 시간순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[3단계] SHAP 해석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TreeSHAP (Lundberg et al., 2020), 테스트 5,000건 샘플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글로벌 중요도 + Dependence Plot + Force Plot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[4단계] 지역 별도 모형 및 강건성 점검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전체·강남3구·비강남 22개구 독립 적합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Ablation · Moran's I · 시기별 3구간 보조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0" b="0">
                <a:solidFill>
                  <a:srgbClr val="08A5C1"/>
                </a:solidFill>
                <a:ea typeface="Pretendard"/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FFFFF"/>
                </a:solidFill>
                <a:ea typeface="Pretendard"/>
                <a:latin typeface="Pretendard"/>
              </a:rPr>
              <a:t>이론적 배경 및 선행연구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669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1. 헤도닉 가격모형과 정규화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2. 머신러닝 기반 예측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3. XAI와 SHAP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4. 선행연구 종합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헤도닉 가격모형과 단위면적 정규화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[헤도닉 이론의 기초]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Lancaster (1966): 소비자 효용 = 재화의 속성 묶음에서 파생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Rosen (1974): 이질적 재화의 암묵적 가격 P = f(z₁, z₂, …, zₙ)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전통 OLS 추정: P = β₀ + β₁z₁ + … + βₙzₙ + ε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[OLS 헤도닉 추정의 3대 한계]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선형 가정 → 비선형 가격 변동 미포착 (예: 재건축 U자형)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변수 간 상호작용 효과 수동 지정 필요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다중공선성에 취약 (거시 변수 간 VIF &gt; 100)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연구의 설계: log(㎡당 가격)]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Y = ln(거래금액 / 전용면적) → 규모효과를 분모에 흡수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Malpezzi(2003), Sirmans et al.(2005) 표준 log-price 전통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준 탄력성 해석: β → (e^β − 1)·100% / 단위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09CCE-55A8-84A5-0BD4-B68AAACA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머신러닝 기반 예측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[트리 기반 앙상블]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Random Forest (Breiman, 2001): 배깅 기반 독립 트리 평균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XGBoost (Chen &amp; Guestrin, 2016): 부스팅 + L1/L2 정규화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LightGBM, CatBoost: 최신 부스팅 변형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 XGBoost 하이퍼파라미터]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max_depth = 8, learning_rate = 0.1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min_child_weight = 5, reg_alpha = 0.1, reg_lambda = 1.0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subsample = 0.8, colsample_bytree = 0.8, tree_method = hist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최대 2,000 라운드 + early stopping patience = 50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[Random Forest 설정]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n_estimators = 200, max_depth = 15, min_samples_leaf = 5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50,000건 표본 + 3-Fold CV로 사전 탐색 후 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3528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9DE67-4145-1C93-B509-F7759651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3절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XAI와 SHAP (SHapley Additive exPlanations)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[SHAP의 이론적 기초]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Lundberg &amp; Lee (2017): 게임이론 Shapley value를 ML 해석에 적용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각 특성이 개별 예측에 미치는 기여도를 이론적으로 일관되게 분해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블랙박스 모형의 해석 가능성 확보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[TreeSHAP (Lundberg et al., 2020)]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트리 기반 모형 전용 정확 Shapley 계산 알고리즘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본 연구: 테스트 5,000건 샘플에 대해 SHAP값 산출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 활용 3계층]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글로벌 중요도: mean(|SHAP_log|) 기준 18개 변수 서열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Dependence Plot: 변수값 vs SHAP의 비선형 관계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Force/Waterfall: 개별 거래 단위 기여 분해 (방법론 기반)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[역변환 해석]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exp(SHAP_log) ≈ 1 + SHAP_log → ±x% 단위가격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8769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EAA18-D443-0E43-A803-21CE4635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선행연구 검토 및 본 연구의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[국내 ML 예측 연구]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김이환 외(2022), 김학현 외(2023), 이선구(2025): 예측 성능 비교 중심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조보근 외(2020): LIME 해석력 검증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진수정(2024): 그래프 신경망 서울 아파트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[해외 XAI 부동산 적용]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Neves et al.(2024): 리스본 스마트시티 SHAP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Mora-García et al.(2022): COVID-19 시기 ML+DL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Chun et al.(2025), Kim et al.(2025), An et al.(2025): 한국 초기 적용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연구의 차별성]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단위면적 정규화 (규모효과 분리) × 행정동 × 지역 별도 모형 (3축 결합)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3가지 분할 동시 보고 · Ablation · Moran's I 강건성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국내 XAI 부동산 연구에서 최초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10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선행연구 상세 1 — 전통 헤도닉·공간계량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[국내 헤도닉·공간 연구]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김우성 외(2019): 강남 아파트 헤도닉 구조 변화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신광문·이재수(2019): 공간 헤도닉 소형 임대료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장희선 외(2021): 공간 헤도닉 서울 공원 서비스 편익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Kim et al.(2022): 서울 주택 공간회귀 공간의존성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[국내 거시·정책 연구]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배종찬·정재호(2021): VEC 거시+부동산정책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노산하·신진호(2021): 검색빈도 주택가격 인하효과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정진오·정재호(2023): 조세·금융정책 차별효과 VAR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김명진·서원석(2023): 코로나19 소매시설 시계열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선행연구 상세 2 — 머신러닝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[국내]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배성완·유정석(2018): SVM/RF/GBT/DNN/LSTM 초기 비교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김이환 외(2022): ML 아파트 매매가격지수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김학현 외(2023): DNN·XGBoost·CatBoost 비교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조보근 외(2020): 지역별 예측모델 + LIME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이선구(2025): XGBoost AVM 은평 다세대 86.4%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[해외]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Limsombunchai(2004): 헤도닉 vs ANN 초기 비교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Čeh et al.(2018): RF vs 다중회귀 성능 실증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Choy &amp; Ho(2023): ML 부동산 적용 문헌 리뷰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Mora-García et al.(2022): COVID-19 시기 ML+DL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선행연구 상세 3 — XAI·SHAP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[XAI 이론 기반]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Ribeiro et al.(2016): LIME 원 프레임워크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Lundberg &amp; Lee(2017): SHAP 이론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Lundberg et al.(2020): TreeSHAP 확장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[해외 XAI 부동산 적용]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Neves et al.(2024): 리스본 스마트시티 SHAP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Tarasov &amp; Dessoulavy-Śliwiński(2025): XAI 헤도닉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Ezil Sam Leni et al.(2025): XGBoost+SHAP+웹배포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[한국 XAI 초기 적용]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Chun et al.(2025): 서울 주택 XAI+ML 초기 적용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Kim et al.(2025): 한국 대량감정평가 XAI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An et al.(2025): 헤도닉 vs ML 투명성·정확성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국내 XAI 적용은 초기 단계, 단위가격·지역별 분해는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본 연구의 위치 설정 (종합)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[방법론적 차별화]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① 종속변수: log(㎡당 가격) → 규모효과 제거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② 공간 단위: 215개 행정동 (기존 25개 자치구 대비 세분)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③ 지역 별도 모형: 전체 · 강남3구 · 비강남 22개구 독립 적합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④ 이중 해석: SHAP 글로벌 + Dependence + Force (기반)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[실증 설계 차별화]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3가지 분할 동시 보고 (Random / Group / Chronological)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Ablation 실험 (학원·어린이집 제거)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Moran's I 공간 자기상관 검정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시기별 3구간 보조 분석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[해석 관점 차별화]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준 탄력성 해석(%) — 실무 이해 용이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AVM 설명 책무(explainability obligation)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이론적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선행연구 종합 비교표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[구분 기준] 종속변수 | 공간 단위 | 모형 | 해석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Čeh et al.(2018): 총가격 | Ljubljana | OLS vs RF | 성능만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Chun et al.(2025): 총가격 | 서울 구 | XGB+SHAP | 통합 SHAP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Kim et al.(2025): 총가격 | 한국 | XAI 앙상블 | 통합 SHAP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An et al.(2025): 총가격 | 서울 | 헤도닉 vs ML | 투명성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Neves et al.(2024): 총가격 | 리스본 | XGB+SHAP | 공원 거리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[본 연구]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Y: log(㎡당 가격) | 서울 215 행정동 | OLS + RF + XGB + SHAP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지역 별도 3모형 · 3가지 분할 · Ablation · Moran's I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단위가격 + 지역 별도 + 다각 강건성 결합은 국내 최초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0" b="0">
                <a:solidFill>
                  <a:srgbClr val="08A5C1"/>
                </a:solidFill>
                <a:ea typeface="Pretendard"/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FFFFF"/>
                </a:solidFill>
                <a:ea typeface="Pretendard"/>
                <a:latin typeface="Pretendard"/>
              </a:rPr>
              <a:t>연구 설계 및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669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1. 연구 흐름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2. 변수 설정 및 분할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3. 모형·평가지표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4. SHAP 분석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5. 강건성·지역 별도 모형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흐름도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[1단계] 데이터 수집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국토교통부 · 서울데이터광장 · NEIS · 한국은행 ECOS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[2단계] 전처리 및 파생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법정동 → 행정동 매핑 (Nominatim + GeoJSON 공간조인)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Y = log(거래금액 / 전용면적) 계산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[3단계] 모형 적합 (OLS · RF · XGBoost)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3가지 분할: 무작위 / Group(단지) / 시간순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[4단계] SHAP 해석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TreeSHAP 기반 글로벌 · Dependence · Force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[5단계] 지역 별도 모형 · 강건성 점검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전체 · 강남3구 · 비강남 22개구 독립 적합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Ablation · Moran's I · 시기별 3구간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79285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253A0-4B8C-B374-B5B6-08E0519F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변수 설정 (종속 1 + 독립 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[종속변수]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log(단위면적당 가격) = ln(거래금액[만원] / 전용면적[㎡])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[독립변수 18개]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물리적 특성 (3): 전용면적(㎡), 층, 건물연령(년)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입지 특성 (2): 강남구분(0/1 더미), 지하철역수(개)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환경 특성 (9):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초·중·고등학교수 / CCTV수 / 백화점수* / 공원수 / 도서관수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학원수† · 어린이집수† (구 단위 프록시)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거시경제 (4): 기준금리, CD금리, 소비자물가지수, M2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300" b="0">
                <a:solidFill>
                  <a:srgbClr val="7A7A7A"/>
                </a:solidFill>
                <a:ea typeface="Pretendard"/>
                <a:latin typeface="Pretendard"/>
              </a:rPr>
              <a:t>* 백화점수 = LOCALDATA_072405에서 "백화점" 매장 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† 프록시: 구 단위 총량을 행정동 수로 균등 배분</a:t>
            </a:r>
          </a:p>
          <a:p>
            <a:r>
              <a:rPr sz="1300" b="0">
                <a:solidFill>
                  <a:srgbClr val="7A7A7A"/>
                </a:solidFill>
                <a:ea typeface="Pretendard"/>
                <a:latin typeface="Pretendard"/>
              </a:rPr>
              <a:t>※ 시설 변수는 수집시점 stock을 전 기간 병합 (연도별 변동 미반영)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37672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3가지 데이터 분할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[① 무작위 분할 (Random 70/10/20)]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학습 274,277 / 검증 39,183 / 테스트 78,366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동일 단지·평형 반복거래 공존 가능 → "동일 단지 내 예측" 성능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[② Group 분할 (법정동+아파트명 기준)]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GroupShuffleSplit, 단지 수 8,601, overlap = 0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미경험 단지 일반화 성능 (가장 보수적)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[③ 시간순 분할 (Chronological)]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학습: 2019.01 ~ 2023.12 (250,544건)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검증: 2024.01 ~ 2024.06 (27,813건)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테스트: 2024.07 ~ 2025.12 (113,469건)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미래 시점 + 시장 국면 이동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3절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모형 구성 및 평가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[OLS 다중회귀 (베이스라인)]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log(P/A) = β₀ + Σβᵢxᵢ + ε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준 탄력성 해석: (e^β − 1) × 100% / 단위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[Random Forest / XGBoost]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동일 하이퍼파라미터 (앞 장 참고)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모든 분할 · 모든 지역 모형에 동일 설정 유지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[평가 지표]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R²_log: log 스케일 결정계수 (모형 간 동일 척도 비교)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RMSE_log / MAE_log: log 스케일 오차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MAPE / Median APE: 원 스케일(만원/㎡) 역변환 상대 오차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단위가격 분포가 우측 skewed이므로 평균과 중앙값을 병기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0B145-371A-BDEF-A173-6F51834B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SHAP 분석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[TreeSHAP (Lundberg et al., 2020)]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XGBoost 전용 정확 Shapley 계산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테스트 데이터에서 5,000건 무작위 샘플링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[3가지 분석 층위]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글로벌 변수 중요도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mean(|SHAP_log|) 기준 18개 변수 서열 및 비중(%)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Dependence Plot (비선형 검증)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변수값 ↔ SHAP 산점도 → 임계구간·체감·반등 패턴 확인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Force / Waterfall Plot (개별 해석)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base value → 최종 예측까지 변수별 기여 분해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[역변환]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exp(SHAP_log) ≈ ±x% 단위가격 변화 (실무 친화적 해석)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4712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5절  연구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강건성 점검 및 지역 별도 모형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[강건성 점검 4종]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① 3가지 분할 비교 (누수·국면 이동 분해)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② Ablation: 학원·어린이집 제거 시 ΔR² 측정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③ Moran's I: 잔차 공간 자기상관 검정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④ 시기별 3구간: 유동성·금리인상·금리인하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[지역 별도 모형 설계 — 교수 피드백 반영]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기존 접근: 통합 모형 + SHAP 지역별 재집계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본 연구: 3개 지역 독립 적합 (강남더미 제거, 17 features)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— 전체 (n=391,826)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— 강남3구 (n=65,077)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 — 비강남 22개구 (n=326,749)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동일 하이퍼파라미터 · 동일 70/10/20 무작위 분할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각 지역 내부에서 독립 SHAP 구조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1D2AC-D504-D57F-1555-54DA71081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2A120A8-C8A4-B79F-490F-9C3957C0B9E5}"/>
              </a:ext>
            </a:extLst>
          </p:cNvPr>
          <p:cNvSpPr txBox="1"/>
          <p:nvPr/>
        </p:nvSpPr>
        <p:spPr>
          <a:xfrm>
            <a:off x="1574800" y="736600"/>
            <a:ext cx="5435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100" b="0" i="0" u="none" strike="noStrike" dirty="0">
                <a:solidFill>
                  <a:srgbClr val="393939"/>
                </a:solidFill>
                <a:ea typeface="Pretendard Bold"/>
              </a:rPr>
              <a:t>분석방법</a:t>
            </a:r>
            <a:r>
              <a:rPr lang="ko-KR" altLang="en-US" sz="3100" b="0" i="0" u="none" strike="noStrike" dirty="0">
                <a:solidFill>
                  <a:srgbClr val="393939"/>
                </a:solidFill>
                <a:ea typeface="Pretendard Bold"/>
              </a:rPr>
              <a:t>론</a:t>
            </a:r>
            <a:endParaRPr lang="ko-KR" sz="3100" b="0" i="0" u="none" strike="noStrike" dirty="0">
              <a:solidFill>
                <a:srgbClr val="393939"/>
              </a:solidFill>
              <a:ea typeface="Pretendard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DAD692-835C-F6A7-8005-49A8FE9BE860}"/>
              </a:ext>
            </a:extLst>
          </p:cNvPr>
          <p:cNvSpPr txBox="1"/>
          <p:nvPr/>
        </p:nvSpPr>
        <p:spPr>
          <a:xfrm>
            <a:off x="889000" y="723900"/>
            <a:ext cx="8255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8A5C1"/>
                </a:solidFill>
                <a:latin typeface="Montserrat Bold"/>
              </a:rPr>
              <a:t>3</a:t>
            </a:r>
            <a:r>
              <a:rPr lang="ko-KR" altLang="en-US" sz="3000" b="0" i="0" u="none" strike="noStrike" dirty="0">
                <a:solidFill>
                  <a:srgbClr val="08A5C1"/>
                </a:solidFill>
                <a:latin typeface="Montserrat Bold"/>
              </a:rPr>
              <a:t>절</a:t>
            </a:r>
            <a:endParaRPr lang="en-US" altLang="ko-KR" sz="30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altLang="ko-KR" sz="3100" b="0" i="0" u="none" strike="noStrike" dirty="0">
              <a:solidFill>
                <a:srgbClr val="08A5C1"/>
              </a:solidFill>
              <a:latin typeface="Montserrat Bold"/>
            </a:endParaRPr>
          </a:p>
          <a:p>
            <a:pPr lvl="0" algn="l">
              <a:lnSpc>
                <a:spcPct val="116199"/>
              </a:lnSpc>
            </a:pPr>
            <a:endParaRPr lang="en-US" sz="3100" b="0" i="0" u="none" strike="noStrike" dirty="0">
              <a:solidFill>
                <a:srgbClr val="08A5C1"/>
              </a:solidFill>
              <a:latin typeface="Montserrat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ED5B95F-634E-D64E-8BEA-1C2FDDD6DCF3}"/>
              </a:ext>
            </a:extLst>
          </p:cNvPr>
          <p:cNvSpPr txBox="1"/>
          <p:nvPr/>
        </p:nvSpPr>
        <p:spPr>
          <a:xfrm>
            <a:off x="965200" y="2032000"/>
            <a:ext cx="78359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6990"/>
              </a:lnSpc>
            </a:pPr>
            <a:r>
              <a:rPr lang="en-US" altLang="ko-KR" sz="2500" b="1" i="0" u="none" strike="noStrike" dirty="0">
                <a:solidFill>
                  <a:srgbClr val="000000"/>
                </a:solidFill>
                <a:ea typeface="조선가는고딕"/>
              </a:rPr>
              <a:t>3. </a:t>
            </a:r>
            <a:r>
              <a:rPr lang="ko-KR" altLang="en-US" sz="2500" b="1" i="0" u="none" strike="noStrike" dirty="0">
                <a:solidFill>
                  <a:srgbClr val="000000"/>
                </a:solidFill>
                <a:ea typeface="조선가는고딕"/>
              </a:rPr>
              <a:t>자료분석방법</a:t>
            </a:r>
            <a:endParaRPr lang="ko-KR" sz="2500" b="1" i="0" u="none" strike="noStrike" dirty="0">
              <a:solidFill>
                <a:srgbClr val="000000"/>
              </a:solidFill>
              <a:ea typeface="조선가는고딕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7067E95-5E7B-4C30-626F-F6CC80F1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448800" y="8978900"/>
            <a:ext cx="3733800" cy="254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B69D72E-D334-0D44-DA1A-976BC4D94D8E}"/>
              </a:ext>
            </a:extLst>
          </p:cNvPr>
          <p:cNvSpPr txBox="1"/>
          <p:nvPr/>
        </p:nvSpPr>
        <p:spPr>
          <a:xfrm>
            <a:off x="1219200" y="3289300"/>
            <a:ext cx="163195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b="1" dirty="0"/>
              <a:t>선별 기준</a:t>
            </a:r>
            <a:r>
              <a:rPr lang="en-US" altLang="ko-KR" sz="2400" dirty="0"/>
              <a:t>: </a:t>
            </a:r>
            <a:r>
              <a:rPr lang="ko-KR" altLang="en-US" sz="2400" dirty="0"/>
              <a:t>전용면적 </a:t>
            </a:r>
            <a:r>
              <a:rPr lang="en-US" altLang="ko-KR" sz="2400" dirty="0"/>
              <a:t>35㎡ </a:t>
            </a:r>
            <a:r>
              <a:rPr lang="ko-KR" altLang="en-US" sz="2400" dirty="0"/>
              <a:t>이하의 연립 및 다세대 주택 데이터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en-US" altLang="ko-KR" sz="2400" dirty="0"/>
              <a:t>Stata </a:t>
            </a:r>
            <a:r>
              <a:rPr lang="ko-KR" altLang="en-US" sz="2400" dirty="0"/>
              <a:t>필터링 명령어</a:t>
            </a:r>
            <a:r>
              <a:rPr lang="en-US" altLang="ko-KR" sz="2400" dirty="0"/>
              <a:t>: keep if </a:t>
            </a:r>
            <a:r>
              <a:rPr lang="ko-KR" altLang="en-US" sz="2400" dirty="0"/>
              <a:t>면적 </a:t>
            </a:r>
            <a:r>
              <a:rPr lang="en-US" altLang="ko-KR" sz="2400" dirty="0"/>
              <a:t>&lt;= 35</a:t>
            </a:r>
            <a:endParaRPr lang="en-US" altLang="ko-KR" sz="2400" dirty="0">
              <a:solidFill>
                <a:srgbClr val="040000"/>
              </a:solidFill>
              <a:latin typeface="조선가는고딕"/>
            </a:endParaRPr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B3F6D4D6-9F00-6052-B2BB-EB373211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80889" y="9659937"/>
            <a:ext cx="586411" cy="365125"/>
          </a:xfrm>
        </p:spPr>
        <p:txBody>
          <a:bodyPr/>
          <a:lstStyle/>
          <a:p>
            <a:r>
              <a:rPr lang="en-US" altLang="ko-KR" sz="2000" dirty="0"/>
              <a:t>20</a:t>
            </a:r>
            <a:endParaRPr lang="ko-KR" altLang="en-US" sz="2000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842B4E6-0760-B72D-379F-FEE30670CFBD}"/>
              </a:ext>
            </a:extLst>
          </p:cNvPr>
          <p:cNvSpPr txBox="1"/>
          <p:nvPr/>
        </p:nvSpPr>
        <p:spPr>
          <a:xfrm>
            <a:off x="730250" y="4025900"/>
            <a:ext cx="16319500" cy="355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40000"/>
              </a:solidFill>
              <a:latin typeface="조선가는고딕"/>
            </a:endParaRP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기술 통계 분석</a:t>
            </a:r>
            <a:r>
              <a:rPr lang="en-US" altLang="ko-KR" sz="2400" dirty="0"/>
              <a:t>: </a:t>
            </a:r>
            <a:r>
              <a:rPr lang="ko-KR" altLang="en-US" sz="2400" dirty="0"/>
              <a:t>주요 변수의 분포 확인 및 데이터 적합성 검토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다중회귀분석</a:t>
            </a:r>
            <a:r>
              <a:rPr lang="en-US" altLang="ko-KR" sz="2400" dirty="0"/>
              <a:t>: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독립 변수</a:t>
            </a:r>
            <a:r>
              <a:rPr lang="en-US" altLang="ko-KR" sz="2400" dirty="0"/>
              <a:t>: </a:t>
            </a:r>
            <a:r>
              <a:rPr lang="ko-KR" altLang="en-US" sz="2400" dirty="0"/>
              <a:t>생활권역</a:t>
            </a:r>
            <a:r>
              <a:rPr lang="en-US" altLang="ko-KR" sz="2400" dirty="0"/>
              <a:t>, </a:t>
            </a:r>
            <a:r>
              <a:rPr lang="ko-KR" altLang="en-US" sz="2400" dirty="0"/>
              <a:t>청년안심주택 </a:t>
            </a:r>
            <a:r>
              <a:rPr lang="ko-KR" altLang="en-US" sz="2400" dirty="0" err="1"/>
              <a:t>세대수</a:t>
            </a:r>
            <a:r>
              <a:rPr lang="en-US" altLang="ko-KR" sz="2400" dirty="0"/>
              <a:t>, </a:t>
            </a:r>
            <a:r>
              <a:rPr lang="ko-KR" altLang="en-US" sz="2400" dirty="0"/>
              <a:t>지하철역 거리</a:t>
            </a:r>
            <a:r>
              <a:rPr lang="en-US" altLang="ko-KR" sz="2400" dirty="0"/>
              <a:t>, </a:t>
            </a:r>
            <a:r>
              <a:rPr lang="ko-KR" altLang="en-US" sz="2400" dirty="0"/>
              <a:t>임대주택 수</a:t>
            </a:r>
            <a:r>
              <a:rPr lang="en-US" altLang="ko-KR" sz="2400" dirty="0"/>
              <a:t>, </a:t>
            </a:r>
            <a:r>
              <a:rPr lang="ko-KR" altLang="en-US" sz="2400" dirty="0"/>
              <a:t>전용면적</a:t>
            </a:r>
            <a:r>
              <a:rPr lang="en-US" altLang="ko-KR" sz="2400" dirty="0"/>
              <a:t>, </a:t>
            </a:r>
            <a:r>
              <a:rPr lang="ko-KR" altLang="en-US" sz="2400" dirty="0"/>
              <a:t>층수</a:t>
            </a:r>
            <a:r>
              <a:rPr lang="en-US" altLang="ko-KR" sz="2400" dirty="0"/>
              <a:t>, </a:t>
            </a:r>
            <a:r>
              <a:rPr lang="ko-KR" altLang="en-US" sz="2400" dirty="0"/>
              <a:t>경과연수</a:t>
            </a:r>
            <a:r>
              <a:rPr lang="en-US" altLang="ko-KR" sz="2400" dirty="0"/>
              <a:t>, </a:t>
            </a:r>
            <a:r>
              <a:rPr lang="ko-KR" altLang="en-US" sz="2400" dirty="0"/>
              <a:t>주택 유형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종속 변수</a:t>
            </a:r>
            <a:r>
              <a:rPr lang="en-US" altLang="ko-KR" sz="2400" dirty="0"/>
              <a:t>: </a:t>
            </a:r>
            <a:r>
              <a:rPr lang="ko-KR" altLang="en-US" sz="2400" dirty="0"/>
              <a:t>단위면적당 전세 가격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en-US" altLang="ko-KR" sz="2400" dirty="0"/>
              <a:t>Stata </a:t>
            </a:r>
            <a:r>
              <a:rPr lang="ko-KR" altLang="en-US" sz="2400" dirty="0"/>
              <a:t>명령어</a:t>
            </a:r>
            <a:r>
              <a:rPr lang="en-US" altLang="ko-KR" sz="2400" dirty="0"/>
              <a:t>: reg </a:t>
            </a:r>
            <a:r>
              <a:rPr lang="ko-KR" altLang="en-US" sz="2400" dirty="0"/>
              <a:t>종속변수 독립변수</a:t>
            </a:r>
            <a:r>
              <a:rPr lang="en-US" altLang="ko-KR" sz="2400" dirty="0"/>
              <a:t>1, </a:t>
            </a:r>
            <a:r>
              <a:rPr lang="ko-KR" altLang="en-US" sz="2400" dirty="0"/>
              <a:t>독립변수</a:t>
            </a:r>
            <a:r>
              <a:rPr lang="en-US" altLang="ko-KR" sz="2400" dirty="0"/>
              <a:t>2, ..., </a:t>
            </a:r>
            <a:r>
              <a:rPr lang="ko-KR" altLang="en-US" sz="2400" dirty="0"/>
              <a:t>독립변수</a:t>
            </a:r>
            <a:r>
              <a:rPr lang="en-US" altLang="ko-KR" sz="2400" dirty="0"/>
              <a:t>N.</a:t>
            </a:r>
          </a:p>
          <a:p>
            <a:pPr marL="800100" lvl="1" indent="-342900">
              <a:lnSpc>
                <a:spcPct val="124499"/>
              </a:lnSpc>
              <a:buClr>
                <a:srgbClr val="040000"/>
              </a:buClr>
              <a:buFont typeface="Arial" panose="020B0604020202020204" pitchFamily="34" charset="0"/>
              <a:buChar char="•"/>
            </a:pPr>
            <a:r>
              <a:rPr lang="ko-KR" altLang="en-US" sz="2400" dirty="0"/>
              <a:t>심층 분석</a:t>
            </a:r>
            <a:r>
              <a:rPr lang="en-US" altLang="ko-KR" sz="2400" dirty="0"/>
              <a:t>: </a:t>
            </a:r>
            <a:r>
              <a:rPr lang="ko-KR" altLang="en-US" sz="2400" dirty="0"/>
              <a:t>상호작용 항</a:t>
            </a:r>
            <a:r>
              <a:rPr lang="en-US" altLang="ko-KR" sz="2400" dirty="0"/>
              <a:t>(interaction term)</a:t>
            </a:r>
            <a:r>
              <a:rPr lang="ko-KR" altLang="en-US" sz="2400" dirty="0"/>
              <a:t>을 포함한 회귀분석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096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0" b="0">
                <a:solidFill>
                  <a:srgbClr val="08A5C1"/>
                </a:solidFill>
                <a:ea typeface="Pretendard"/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FFFFF"/>
                </a:solidFill>
                <a:ea typeface="Pretendard"/>
                <a:latin typeface="Pretendard"/>
              </a:rPr>
              <a:t>실증 분석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669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1. 기술통계 및 지역별 분포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2. 상관관계 및 VIF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3. Ablation·Moran's I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4. 모형 성능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5. SHAP·지역 비교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실증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기술통계 및 지역별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[전체 표본] n = 391,826건 (2019.1~2025.12, 215개 행정동)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[종속변수: ㎡당 가격 (만원/㎡)]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평균 1,337.7 / 중앙값 1,142.7 / 최대 10,586.7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25%분위 844.4 / 75%분위 1,614.9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log 변환 후 평균 7.0747, 표준편차 0.4879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[지역별 단위가격]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강남3구 (n=65,077): 평균 2,207.5만원/㎡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비강남 (n=326,749): 평균 1,164.5만원/㎡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배율 1.90배 (총가격 2.20배 → 면적효과 일부 분해)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[독립변수 분포]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전용면적 평균 75.76㎡, 중앙값 79.47㎡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건물연령 평균 19.85년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기준금리 0.50% ~ 3.50% (팬데믹·긴축·인하 전환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실증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상관관계 및 VIF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[log(㎡당 가격)과의 상관계수 (양의 방향 상위)]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강남구분 r = +0.481 (가장 강한 연관)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백화점수 r = +0.396 (상업 집적)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M2 통화량 r = +0.353 (유동성)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소비자물가지수 r = +0.331 (인플레이션)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층 r = +0.187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[약한 또는 음의 상관]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전용면적 r = +0.053 (총가격 0.581 → 규모효과 분리 증거)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건물연령 r = −0.082 (재건축 U자형 비선형 배후)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어린이집수 r = −0.296 (비강남 주거밀집지 혼재)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[VIF Top (다중공선성 진단)]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기준금리 110.11, CD금리 96.44 (거시변수 간 극심한 공선성)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CPI 42.87, M2 28.38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어린이집 5.99, 나머지 미시변수 모두 &lt;5 (허용 수준)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3절  실증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Ablation 및 Moran's I 공간 자기상관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[Ablation: 학원수 · 어린이집수 제거]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OLS       ΔR²_log = −0.0542 (선형 모형이 프록시에 의존)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Random Forest  ΔR² = −0.0062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XGBoost   ΔR²_log = −0.0004 (영향 사실상 없음)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XGBoost는 두 프록시 없이도 동등 예측 구조 유지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구 단위 배분 한계가 전체 결과를 왜곡하지 않음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[Moran's I 잔차 공간 자기상관 (같은 구 내 인접 가중)]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OLS      I = 0.3247, Z = 8.882, p &lt; 0.001 (강한 양의 자기상관)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XGBoost  I = 0.0042, Z = 0.252, p = 0.880 (통계적 유의성 없음)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XGBoost 비선형 조합이 공간 구조 상당 부분 흡수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정밀 경계 기반 가중 행렬 재검증은 후속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4절  실증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모형별 · 분할별 예측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[분할 | OLS | Random Forest | XGBoost]  (R²_log / Median APE)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무작위  0.5061 / 22.04%   0.8937 / 7.51%   0.9554 / 4.16%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Group   0.4618 / 22.35%   0.7414 / 13.12%  0.8005 / 11.72%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시간순  0.3939 / 24.74%   0.6955 / 14.82%  0.7972 / 12.61%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[핵심 해석]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모든 분할에서 XGBoost &gt; RF &gt;&gt; OLS 일관된 서열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무작위 R²=0.9554: 동일 단지 내 예측 성능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Group / 시간순 R² ≈ 0.80: 미경험 단지·미래 시점 일반화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Group ≈ 시간순 → 단지 누수 &gt; 국면 이동 효과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[일반화 참조값]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미경험 단지 예측 R²≈0.80, Median APE≈12% (실무 AVM 기준선)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70FD9-7CC0-70FC-C6B4-F08F8F6A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5절  실증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SHAP 결과 및 지역 별도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[전체 모형 SHAP Top 6 — 규모 정규화 후 재편]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건물연령 12.43% (1위, 총가격 모형에서 3위였음)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강남구분 11.74%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어린이집수 11.53% ★ (총가격 8위 → 3위)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M2 통화량 10.77%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학원수 9.61% ★ (총가격 7위 → 5위)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전용면적 9.55% (총가격 1위 22.2% → 6위, 규모효과 분리)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[지역 별도 모형 SHAP Top 3]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강남3구 (R²=0.9356): 건물연령 16.5% - CPI 13.3% - 백화점 13.0%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비강남 (R²=0.9421): 건물연령 14.8% - CPI 11.8% - 전용면적 11.2%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  비강남 4~6위: 어린이집 10.6% · M2 10.1% · 학원 8.6%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500" b="1">
                <a:solidFill>
                  <a:srgbClr val="08A5C1"/>
                </a:solidFill>
                <a:ea typeface="Pretendard"/>
                <a:latin typeface="Pretendard"/>
              </a:rPr>
              <a:t>→ 강남 = 재건축·상업 주도  /  비강남 = 주거권·사교육 주도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31</a:t>
            </a:r>
          </a:p>
        </p:txBody>
      </p:sp>
      <p:pic>
        <p:nvPicPr>
          <p:cNvPr id="6" name="Picture 5" descr="fig5_shap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943600"/>
            <a:ext cx="5501529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78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0" b="0">
                <a:solidFill>
                  <a:srgbClr val="08A5C1"/>
                </a:solidFill>
                <a:ea typeface="Pretendard"/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FFFFF"/>
                </a:solidFill>
                <a:ea typeface="Pretendard"/>
                <a:latin typeface="Pretendard"/>
              </a:rPr>
              <a:t>결론 및 시사점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669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1. 시사점</a:t>
            </a:r>
          </a:p>
          <a:p>
            <a:r>
              <a:rPr sz="2200" b="0">
                <a:solidFill>
                  <a:srgbClr val="FFFFFF"/>
                </a:solidFill>
                <a:ea typeface="Pretendard"/>
                <a:latin typeface="Pretendard"/>
              </a:rPr>
              <a:t>2. 한계 및 향후 과제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1절 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[학술적 시사점]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국내 아파트 시장에 XAI 체계적 적용 범위 확장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단위면적 정규화 → 가려진 질적·입지적 설명 신호 드러냄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지역 별도 모형으로 공간 이질성 직접 실증 (통합 SHAP 재집계 대비)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[정책 참고점]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 vs 비강남: 단위가격 결정 구조가 질적으로 상이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재건축 규제는 강남에, 주거·교육 인프라는 비강남에 차별적 효과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M2·CPI 거시 변수는 시장 국면 대리신호 (인과 근거 ✗)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건물연령 U자형 패턴 → 재건축 정책 연령 구간별 차등 검토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[실무적 시사점 (AVM)]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단위가격 SHAP 분해 = 면적에 가려지지 않은 질적 프리미엄 투명화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프롭테크·감정평가 실무 XAI 설명 책무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DC2C6-CF36-FB09-B07A-E4821D88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A7A7A"/>
                </a:solidFill>
                <a:ea typeface="Pretendard"/>
                <a:latin typeface="Pretendard"/>
              </a:rPr>
              <a:t>2절 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93939"/>
                </a:solidFill>
                <a:ea typeface="Pretendard"/>
                <a:latin typeface="Pretendard"/>
              </a:rPr>
              <a:t>연구의 한계 및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824960" cy="754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[한계]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시설 변수 stock 정보 병합 (연도별 변동 미반영) ← 교수 지적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학원수·어린이집수 구 단위 균등 배분 프록시 한계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질적 변수 (브랜드·조망·재건축 단계) 미반영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Moran's I 간이 가중 행렬 (정밀 경계 기반 미적용)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공간계량 모형(SAR/SEM) 직접 비교 미수행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강남3구 표본 규모 제약 (비강남의 1/5)</a:t>
            </a:r>
          </a:p>
          <a:p>
            <a:r>
              <a:rPr sz="800" b="0">
                <a:solidFill>
                  <a:srgbClr val="393939"/>
                </a:solidFill>
                <a:ea typeface="Pretendard"/>
                <a:latin typeface="Pretendard"/>
              </a:rPr>
              <a:t> </a:t>
            </a:r>
          </a:p>
          <a:p>
            <a:r>
              <a:rPr sz="1800" b="1">
                <a:solidFill>
                  <a:srgbClr val="08A5C1"/>
                </a:solidFill>
                <a:ea typeface="Pretendard"/>
                <a:latin typeface="Pretendard"/>
              </a:rPr>
              <a:t>[향후 과제]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연도별 시설 패널 구축 (행안부·교육부 연간 스냅샷)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GIS 기반 최근접 거리(nearest distance) 변수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Queen/Rook 경계 기반 정밀 공간 가중 행렬 재검증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LightGBM · CatBoost · TabNet 추가 비교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LIME · ALE · Permutation Importance 교차 XAI 검증</a:t>
            </a:r>
          </a:p>
          <a:p>
            <a:r>
              <a:rPr sz="1500" b="0">
                <a:solidFill>
                  <a:srgbClr val="393939"/>
                </a:solidFill>
                <a:ea typeface="Pretendard"/>
                <a:latin typeface="Pretendard"/>
              </a:rPr>
              <a:t>• 수도권 · 지방 대도시로 분석 범위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9555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7A7A7A"/>
                </a:solidFill>
                <a:ea typeface="Pretendard"/>
                <a:latin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269907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645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93939"/>
                </a:solidFill>
                <a:ea typeface="Pretendard"/>
                <a:latin typeface="Pretendard"/>
              </a:rPr>
              <a:t>참고문헌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2296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8A5C1"/>
                </a:solidFill>
                <a:ea typeface="Pretendard"/>
                <a:latin typeface="Pretendard"/>
              </a:rPr>
              <a:t>[국내문헌]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김명진, 서원석 (2023). 코로나19에 따른 소매유통시설의 아파트 가격 영향. 토지주택연구, 14(3), 37-53.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김우성 외 (2019). 헤도닉 가격 모형을 통한 강남 지역 주거 선호 구조 변화. 부동산학보, 76, 137-150.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김이환 외 (2022). 기계학습 방법론 아파트 매매가격지수 연구. 부동산분석, 8(3), 1-29.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김학현 외 (2023). 딥러닝·머신러닝 아파트 실거래가 예측. 정보처리학회 논문지, 12(2), 59-76.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노산하, 신진호 (2021). 검색빈도 종합부동산세·재산세 주택가격 효과. 국토연구, 110, 81-93.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배성완, 유정석 (2018). ML·시계열 분석 부동산 가격지수 예측. 주택연구, 26(1), 107-133.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배종찬, 정재호 (2021). 거시경제·부동산정책 서울 아파트가격 영향. 토지주택연구, 12(4), 41-59.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신광문, 이재수 (2019). 공간 헤도닉 소형주택 임대료 결정. 부동산분석, 5(3), 49-66.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이선구 (2025). XGBoost AVM 은평구 다세대 실증. 부동산분석, 11(2), 21-40.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장희선 외 (2021). 공간헤도닉 서울 도시공원 편익측정. 국토계획, 56(5), 215-227.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정진오, 정재호 (2023). 조세·금융정책 부동산가격 영향. 토지주택연구, 14(3), 55-75.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조보근 외 (2020). ML 알고리즘 지역별 아파트 예측 + LIME. 정보시스템연구, 29(3), 119-144.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진수정 (2024). SRGCNN 서울시 아파트 매매가격 예측. 서울대학교 석사논문.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통계청 (2024). 가계금융복지조사 결과.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280160"/>
            <a:ext cx="841248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8A5C1"/>
                </a:solidFill>
                <a:ea typeface="Pretendard"/>
                <a:latin typeface="Pretendard"/>
              </a:rPr>
              <a:t>[해외문헌]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An, S. et al. (2025). Hedonic vs ML housing appraisal. Financial Innovation, 11:141.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Anselin, L. (1988). Spatial Econometrics. Kluwer.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Breiman, L. (2001). Random forests. Machine Learning, 45(1), 5-32.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Čeh, M. et al. (2018). RF vs regression apartment prices. ISPRS IJGI, 7(5), 168.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Chen, T. &amp; Guestrin, C. (2016). XGBoost. KDD'16, 785-794.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Choy, L. &amp; Ho, W. (2023). ML in real estate research. Land, 12(4), 740.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Chun, H. et al. (2025). Seoul XAI+ML housing price. KSII, 19(4), 1077-1096.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Friedman, J. (2001). Gradient boosting machine. Annals of Stat., 29(5).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Kim, J.-J. et al. (2022). Spatial regression multiplex houses. Sustainability, 14(12), 7116.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Kim, W. et al. (2025). Explainable AI mass appraisal Korea. IJSPM, 29(5), 350-376.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Lancaster, K. (1966). Consumer theory. J. Political Economy, 74(2).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Limsombunchai, V. (2004). Hedonic vs ANN. NZARES Conf.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Lundberg, S. &amp; Lee, S. (2017). SHAP. NeurIPS 30, 4765-4774.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Lundberg, S. et al. (2020). TreeSHAP. Nature MI, 2(1), 56-67.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Mora-García, R. et al. (2022). ML COVID-19 housing. Land, 11(11), 2100.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Neves, F. et al. (2024). Open data + XAI real estate. Applied Sciences, 14(5), 2209.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Ribeiro, M. et al. (2016). LIME. KDD'16, 1135-1144.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Rosen, S. (1974). Hedonic prices. J. Political Economy, 82(1).</a:t>
            </a:r>
          </a:p>
          <a:p>
            <a:r>
              <a:rPr sz="1000" b="0">
                <a:solidFill>
                  <a:srgbClr val="393939"/>
                </a:solidFill>
                <a:ea typeface="Pretendard"/>
                <a:latin typeface="Pretendard"/>
              </a:rPr>
              <a:t>• Tarasov, S. &amp; Dessoulavy-Ś. (2025). XAI hedonic pricing. REMV, 33(1), 22-34.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700" y="3657600"/>
            <a:ext cx="6019800" cy="6172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04000" y="4216400"/>
            <a:ext cx="67945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8800" b="0" i="0" u="none" strike="noStrike">
                <a:solidFill>
                  <a:srgbClr val="FFFFFF"/>
                </a:solidFill>
                <a:ea typeface="Pretendard"/>
                <a:latin typeface="Pretendar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4332</Words>
  <Application>Microsoft Office PowerPoint</Application>
  <PresentationFormat>사용자 지정</PresentationFormat>
  <Paragraphs>1432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3" baseType="lpstr">
      <vt:lpstr>Montserrat SemiBold</vt:lpstr>
      <vt:lpstr>Wingdings</vt:lpstr>
      <vt:lpstr>Pretendard Light</vt:lpstr>
      <vt:lpstr>Pretendard Bold</vt:lpstr>
      <vt:lpstr>Calibri</vt:lpstr>
      <vt:lpstr>맑은 고딕</vt:lpstr>
      <vt:lpstr>나눔고딕</vt:lpstr>
      <vt:lpstr>Montserrat Medium</vt:lpstr>
      <vt:lpstr>Pretendard SemiBold</vt:lpstr>
      <vt:lpstr>조선가는고딕</vt:lpstr>
      <vt:lpstr>나눔고딕</vt:lpstr>
      <vt:lpstr>Pretendard Regular</vt:lpstr>
      <vt:lpstr>NanumGothicBold</vt:lpstr>
      <vt:lpstr>Montserrat Bold</vt:lpstr>
      <vt:lpstr>-윤고딕110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양재영(PC-0206)</cp:lastModifiedBy>
  <cp:revision>85</cp:revision>
  <cp:lastPrinted>2024-10-30T06:42:10Z</cp:lastPrinted>
  <dcterms:created xsi:type="dcterms:W3CDTF">2006-08-16T00:00:00Z</dcterms:created>
  <dcterms:modified xsi:type="dcterms:W3CDTF">2024-12-03T06:55:01Z</dcterms:modified>
</cp:coreProperties>
</file>