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[표지]</a:t>
            </a:r>
          </a:p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안녕하십니까. 한양대학교 부동산융합대학원 도시부동산정책전공 박현근입니다.</a:t>
            </a:r>
          </a:p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"XGBoost와 SHAP을 활용한 서울시 아파트 단위면적당 매매가격의 설명 패턴 분석"이라는 주제로 석사학위논문 중간발표를 시작하겠습니다.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발표는 서론·선행연구·연구방법·결과·결론 다섯 부분으로 진행하겠습니다.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[INTRODUCTION 연구 배경]</a:t>
            </a:r>
          </a:p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본 연구의 동기는 세 층위입니다.</a:t>
            </a:r>
          </a:p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실무 층위에서 AVM 확산에 따라 가격 설명 프레임워크가 요구되고 있고,</a:t>
            </a:r>
          </a:p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학술 층위에서는 기존 ML 부동산 연구가 공간 단위 거침, 시점 정합 부재, 단일 SHAP이라는 세 공백을 공유합니다.</a:t>
            </a:r>
          </a:p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시장 국면 층위에서는 2019부터 2025년까지가 급등·조정·회복을 모두 포함한 7년이라는 점입니다.</a:t>
            </a:r>
          </a:p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이로부터 네 가지 연구 질문을 도출했습니다.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연구 질문은 공간 정합·시간 정합·시공간 이질성·해석 프레임워크 네 축이며, 기여는 방법론적 타당성·예측 성능·시공간 이질성 세 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기존 연구의 세 공백을 정리하면 공간 단위 거침, 시간 정합성 불완전, 단일 SHAP 해석 한계입니다. 본 연구는 이 세 가지를 정면으로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본 연구는 종속변수 정규화·공간 정합·시간 정합·시공간 이질성 네 축으로 기존 연구의 세 공백을 메웁니다.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서울 215개 행정동, 391,826건의 아파트 실거래를 분석했습니다. 카카오 API로 8,601개 단지를 지오코딩해 거래 100% 좌표 커버를 확보했고, 7년간 시장 국면을 모두 포함합니다.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아파트 단지 지오코딩은 3단계로 진행했습니다. 1차로 93%, 2차 쿼리 변형으로 100% 커버, 3차로 전 시설 좌표체계를 WGS84로 통일했습니다.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거리 변수는 13 시설군에 대해 최근접 거리, 반경 500m·1km·2km 개수, 도보 추정 분 4축으로 산출했습니다. 도서관 도보권은 12.0분, 백화점은 38.5분으로 차량 권역에 해당합니다.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시점 정합은 6개 시설군에 적용했고, 5개 시설군은 원자료 한계로 2026년 스냅샷을 적용하며 한계로 명시했습니다.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모형은 OLS·Random Forest·XGBoost 3종을 무작위·단지·시간순 3분할에서 비교했고, Ablation은 4 시나리오로 공간 정합·시간 정합·결합 효과를 분리했습니다.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[RESULTS Ablation]</a:t>
            </a:r>
          </a:p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Ablation 결과 거리 전환만으로 시간순 R²가 5.6%p 개선되었고, 시점 정합 단독 효과는 R²로는 작지만 미래 시설 정보 누수를 제거하는 방법론적 가치가 있습니다.</a:t>
            </a:r>
          </a:p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통합 모형 D는 무작위 0.959, 시간순 0.871, 단지 그룹 0.804로 모든 분할에서 최고 성능을 보였습니다.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시각적으로도 D 시나리오가 무작위·시간순·단지 세 분할 모두에서 가장 높은 막대를 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전체 SHAP Top 5는 강남구분·건물연령·M2·전용면적·어린이집 1km입니다. 거리 기반 변수가 상위 8개 차지합니다.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건물연령은 25~30년 구간에서 반등하는 U자형이고, 지하철 최근접거리는 500m 이내 강한 양에서 평탄화되는 임계반응형입니다. OLS는 못 잡는 패턴입니다.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강남은 백화점·CCTV 등 상업·안전 신호, 비강남은 학원·어린이집 등 사교육·보육 신호가 상위에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2022년에 두 권역 모두 R² 0.857로 dip을 보입니다. 거래량 -70%와 금리 급등이 동반된 조정기에서 예측 안정성이 약화된 것으로 해석합니다.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강남 Top1은 7년간 6회 바뀌고, 비강남은 거의 매년 건물연령이 1위입니다. 두 권역의 가격 설명 구조가 서로 다른 시간 안정성을 가집니다.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학술 기여 4가지와 실무 기여 4가지를 정리했습니다.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한계와 후속 연구 방향을 정리하며 마무리합니다. 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103120" cy="4114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210312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석사학위논문 중간발표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11430000" cy="219456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ea typeface="Apple SD Gothic Neo"/>
                <a:latin typeface="Apple SD Gothic Neo"/>
              </a:rPr>
              <a:t>XGBoost와 SHAP을 활용한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11064240" cy="8229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ea typeface="Apple SD Gothic Neo"/>
                <a:latin typeface="Apple SD Gothic Neo"/>
              </a:rPr>
              <a:t>서울시 아파트 단위면적당 매매가격의 설명 패턴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106424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ea typeface="Apple SD Gothic Neo"/>
                <a:latin typeface="Apple SD Gothic Neo"/>
              </a:rPr>
              <a:t>Explanatory Patterns of Apartment Unit-Area Sale Prices in Seoul Using XGBoost and SHAP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0"/>
            <a:ext cx="11430000" cy="457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333333"/>
                </a:solidFill>
                <a:ea typeface="Apple SD Gothic Neo"/>
                <a:latin typeface="Apple SD Gothic Neo"/>
              </a:rPr>
              <a:t>지도교수 : 고 준 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669280"/>
            <a:ext cx="11430000" cy="4114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ea typeface="Apple SD Gothic Neo"/>
                <a:latin typeface="Apple SD Gothic Neo"/>
              </a:rPr>
              <a:t>2026. 04.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035040"/>
            <a:ext cx="11430000" cy="4114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ea typeface="Apple SD Gothic Neo"/>
                <a:latin typeface="Apple SD Gothic Neo"/>
              </a:rPr>
              <a:t>한양대학교 부동산융합대학원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55080"/>
            <a:ext cx="11430000" cy="4114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333333"/>
                </a:solidFill>
                <a:ea typeface="Apple SD Gothic Neo"/>
                <a:latin typeface="Apple SD Gothic Neo"/>
              </a:rPr>
              <a:t>도시부동산정책전공  박  현  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ea typeface="Apple SD Gothic Neo"/>
                <a:latin typeface="Apple SD Gothic Neo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685800" cy="54864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685800" cy="54864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ea typeface="Apple SD Gothic Neo"/>
                <a:latin typeface="Apple SD Gothic Ne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371600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D3E5C"/>
                </a:solidFill>
                <a:ea typeface="Apple SD Gothic Neo"/>
                <a:latin typeface="Apple SD Gothic Neo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691640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77777"/>
                </a:solidFill>
                <a:ea typeface="Apple SD Gothic Neo"/>
                <a:latin typeface="Apple SD Gothic Neo"/>
              </a:rPr>
              <a:t>연구 배경 및 연구 질문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240280"/>
            <a:ext cx="685800" cy="54864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40280"/>
            <a:ext cx="685800" cy="54864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ea typeface="Apple SD Gothic Neo"/>
                <a:latin typeface="Apple SD Gothic Ne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240280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D3E5C"/>
                </a:solidFill>
                <a:ea typeface="Apple SD Gothic Neo"/>
                <a:latin typeface="Apple SD Gothic Neo"/>
              </a:rPr>
              <a:t>LITERATURE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560320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77777"/>
                </a:solidFill>
                <a:ea typeface="Apple SD Gothic Neo"/>
                <a:latin typeface="Apple SD Gothic Neo"/>
              </a:rPr>
              <a:t>선행연구 검토와 본 연구의 차별성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108960"/>
            <a:ext cx="685800" cy="54864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108960"/>
            <a:ext cx="685800" cy="54864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ea typeface="Apple SD Gothic Neo"/>
                <a:latin typeface="Apple SD Gothic Ne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108960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D3E5C"/>
                </a:solidFill>
                <a:ea typeface="Apple SD Gothic Neo"/>
                <a:latin typeface="Apple SD Gothic Neo"/>
              </a:rPr>
              <a:t>METHODS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429000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77777"/>
                </a:solidFill>
                <a:ea typeface="Apple SD Gothic Neo"/>
                <a:latin typeface="Apple SD Gothic Neo"/>
              </a:rPr>
              <a:t>데이터·변수 설계·모형 구축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977639"/>
            <a:ext cx="685800" cy="54864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977639"/>
            <a:ext cx="685800" cy="54864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ea typeface="Apple SD Gothic Neo"/>
                <a:latin typeface="Apple SD Gothic Ne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977639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D3E5C"/>
                </a:solidFill>
                <a:ea typeface="Apple SD Gothic Neo"/>
                <a:latin typeface="Apple SD Gothic Neo"/>
              </a:rP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297679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77777"/>
                </a:solidFill>
                <a:ea typeface="Apple SD Gothic Neo"/>
                <a:latin typeface="Apple SD Gothic Neo"/>
              </a:rPr>
              <a:t>Ablation·SHAP·시공간 이질성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4846320"/>
            <a:ext cx="685800" cy="54864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846320"/>
            <a:ext cx="685800" cy="54864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ea typeface="Apple SD Gothic Neo"/>
                <a:latin typeface="Apple SD Gothic Neo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846320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D3E5C"/>
                </a:solidFill>
                <a:ea typeface="Apple SD Gothic Neo"/>
                <a:latin typeface="Apple SD Gothic Neo"/>
              </a:rPr>
              <a:t>CONCLUSION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166359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77777"/>
                </a:solidFill>
                <a:ea typeface="Apple SD Gothic Neo"/>
                <a:latin typeface="Apple SD Gothic Neo"/>
              </a:rPr>
              <a:t>결과 요약·기여·한계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ea typeface="Apple SD Gothic Neo"/>
                <a:latin typeface="Apple SD Gothic Ne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01.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연구 배경 : 세 가지 동기 층위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91440"/>
            <a:ext cx="621792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77777"/>
                </a:solidFill>
                <a:ea typeface="Apple SD Gothic Neo"/>
                <a:latin typeface="Apple SD Gothic Neo"/>
              </a:rPr>
              <a:t>Explanatory Patterns of Apartment Unit-Area Sale Prices in Seoul Using XGBoost and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500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ea typeface="Apple SD Gothic Neo"/>
                <a:latin typeface="Apple SD Gothic Neo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657600" cy="54864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3657600" cy="54864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실무·제도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3657600" cy="411480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3291840" cy="9144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D3E5C"/>
                </a:solidFill>
                <a:ea typeface="Apple SD Gothic Neo"/>
                <a:latin typeface="Apple SD Gothic Neo"/>
              </a:rPr>
              <a:t>AVM·감정평가의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2D3E5C"/>
                </a:solidFill>
                <a:ea typeface="Apple SD Gothic Neo"/>
                <a:latin typeface="Apple SD Gothic Neo"/>
              </a:rPr>
              <a:t>설명 가능성 요구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3291840" cy="2743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자동감정평가(AVM) 실무 확산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감정평가·은행·세무에서 "왜 이 가격인가" 설명 필요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2022년 금리 급등 국면 모형 안정성 시험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280160"/>
            <a:ext cx="3657600" cy="54864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280160"/>
            <a:ext cx="3657600" cy="54864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학술 공백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657600" cy="411480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965960"/>
            <a:ext cx="3291840" cy="9144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D3E5C"/>
                </a:solidFill>
                <a:ea typeface="Apple SD Gothic Neo"/>
                <a:latin typeface="Apple SD Gothic Neo"/>
              </a:rPr>
              <a:t>ML 부동산 연구의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2D3E5C"/>
                </a:solidFill>
                <a:ea typeface="Apple SD Gothic Neo"/>
                <a:latin typeface="Apple SD Gothic Neo"/>
              </a:rPr>
              <a:t>세 공백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108960"/>
            <a:ext cx="3291840" cy="2743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공간 단위 거침(자치구·MAUP)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시점 정합 부재(temporal leakage)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단일 SHAP에 머무는 해석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80160"/>
            <a:ext cx="3657600" cy="54864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280160"/>
            <a:ext cx="3657600" cy="54864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시장 국면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828800"/>
            <a:ext cx="3657600" cy="411480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965960"/>
            <a:ext cx="3291840" cy="9144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D3E5C"/>
                </a:solidFill>
                <a:ea typeface="Apple SD Gothic Neo"/>
                <a:latin typeface="Apple SD Gothic Neo"/>
              </a:rPr>
              <a:t>2019~2025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2D3E5C"/>
                </a:solidFill>
                <a:ea typeface="Apple SD Gothic Neo"/>
                <a:latin typeface="Apple SD Gothic Neo"/>
              </a:rPr>
              <a:t>급등→조정→회복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108960"/>
            <a:ext cx="3291840" cy="2743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기준금리 0.5% → 3.5% → 2.5%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2022 거래량 −70% (조정기)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국면 전환기 가격 신호 재구성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080760"/>
            <a:ext cx="11247120" cy="4114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C8443D"/>
                </a:solidFill>
                <a:ea typeface="Apple SD Gothic Neo"/>
                <a:latin typeface="Apple SD Gothic Neo"/>
              </a:rPr>
              <a:t>→ 네 가지 연구 질문 (Q1 공간 정합 · Q2 시간 정합 · Q3 시공간 이질성 · Q4 해석 프레임워크)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01.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연구 질문과 기여 3축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91440"/>
            <a:ext cx="621792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77777"/>
                </a:solidFill>
                <a:ea typeface="Apple SD Gothic Neo"/>
                <a:latin typeface="Apple SD Gothic Neo"/>
              </a:rPr>
              <a:t>Explanatory Patterns of Apartment Unit-Area Sale Prices in Seoul Using XGBoost and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500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ea typeface="Apple SD Gothic Neo"/>
                <a:latin typeface="Apple SD Gothic Neo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669280" cy="45720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566928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연구 질문 (Research Questions)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502920" cy="86868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83080"/>
            <a:ext cx="502920" cy="8686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28800"/>
            <a:ext cx="5074920" cy="77724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거리 기반 접근성 변수가 행정동 집계 대비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예측 성능과 해석 안정성을 개선하는가?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502920" cy="86868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743200"/>
            <a:ext cx="502920" cy="8686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5074920" cy="77724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연도별 시점 정합 변수가 시간역전 누수를 제거하면서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시간순 분할에서의 일반화 성능을 유지하는가?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03320"/>
            <a:ext cx="502920" cy="86868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703320"/>
            <a:ext cx="502920" cy="8686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49039"/>
            <a:ext cx="5074920" cy="77724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강남3구와 비강남의 가격 예측 신호는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구성과 연도별 변화 양상이 어떻게 다른가?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63440"/>
            <a:ext cx="502920" cy="86868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63440"/>
            <a:ext cx="502920" cy="8686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709160"/>
            <a:ext cx="5074920" cy="77724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SHAP 권역별·연도별·면적대별 분해로 도출되는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해석 구조가 AVM 실무에 활용 가능한가?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188720"/>
            <a:ext cx="5486400" cy="45720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188720"/>
            <a:ext cx="54864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기여 (Contributions)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783080"/>
            <a:ext cx="5486400" cy="41148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783080"/>
            <a:ext cx="534924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방법론적 타당성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286000"/>
            <a:ext cx="5486400" cy="6400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행정동 집계·거리 기반·시점 정합·통합 4 시나리오 Ablation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063239"/>
            <a:ext cx="5486400" cy="41148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063239"/>
            <a:ext cx="534924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예측 성능 개선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566159"/>
            <a:ext cx="5486400" cy="6400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시간순 분할 R² +7.1%p (행정동 집계 대비) · 통합 모형 D 최고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343400"/>
            <a:ext cx="5486400" cy="41148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343400"/>
            <a:ext cx="534924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시공간 이질성 해석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846320"/>
            <a:ext cx="5486400" cy="6400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권역×연도 21 SHAP — 강남 6회 Top1 교체 vs 비강남 7년 안정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02.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국내외 ML 부동산 연구의 세 공백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91440"/>
            <a:ext cx="621792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77777"/>
                </a:solidFill>
                <a:ea typeface="Apple SD Gothic Neo"/>
                <a:latin typeface="Apple SD Gothic Neo"/>
              </a:rPr>
              <a:t>Explanatory Patterns of Apartment Unit-Area Sale Prices in Seoul Using XGBoost and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500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ea typeface="Apple SD Gothic Neo"/>
                <a:latin typeface="Apple SD Gothic Neo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서울 부동산 ML 예측 연구는 다수 존재(김이환 2022, 김학현 2023, 조보근 2020, Chun 2025, Kim 2025) — 그러나 다음 세 공백 공유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1280160" cy="1280160"/>
          </a:xfrm>
          <a:prstGeom prst="rect">
            <a:avLst/>
          </a:prstGeom>
          <a:solidFill>
            <a:srgbClr val="C84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128016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GAP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48840"/>
            <a:ext cx="1280160" cy="8229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ea typeface="Apple SD Gothic Neo"/>
                <a:latin typeface="Apple SD Gothic Neo"/>
              </a:rPr>
              <a:t>공간 단위가 거침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1691640"/>
            <a:ext cx="10012680" cy="128016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1828800"/>
            <a:ext cx="969264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D3E5C"/>
                </a:solidFill>
                <a:ea typeface="Apple SD Gothic Neo"/>
                <a:latin typeface="Apple SD Gothic Neo"/>
              </a:rPr>
              <a:t>MAUP
(Modifiable Areal Unit Problem)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331720"/>
            <a:ext cx="9692640" cy="5943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자치구(25개) 또는 법정동 단위 집계 변수 사용 → 미시 입지 신호 가려짐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54680"/>
            <a:ext cx="1280160" cy="1280160"/>
          </a:xfrm>
          <a:prstGeom prst="rect">
            <a:avLst/>
          </a:prstGeom>
          <a:solidFill>
            <a:srgbClr val="C84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154680"/>
            <a:ext cx="128016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GAP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11880"/>
            <a:ext cx="1280160" cy="8229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ea typeface="Apple SD Gothic Neo"/>
                <a:latin typeface="Apple SD Gothic Neo"/>
              </a:rPr>
              <a:t>시간 정합성 불완전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3154680"/>
            <a:ext cx="10012680" cy="128016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65960" y="3291840"/>
            <a:ext cx="969264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D3E5C"/>
                </a:solidFill>
                <a:ea typeface="Apple SD Gothic Neo"/>
                <a:latin typeface="Apple SD Gothic Neo"/>
              </a:rPr>
              <a:t>Temporal Leakage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794760"/>
            <a:ext cx="9692640" cy="5943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환경 변수를 수집 시점 stock으로 분석 기간 전체 병합 → 미래 시설 정보가 과거 거래에 소급 적용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617720"/>
            <a:ext cx="1280160" cy="1280160"/>
          </a:xfrm>
          <a:prstGeom prst="rect">
            <a:avLst/>
          </a:prstGeom>
          <a:solidFill>
            <a:srgbClr val="C84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617720"/>
            <a:ext cx="128016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GAP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74920"/>
            <a:ext cx="1280160" cy="8229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ea typeface="Apple SD Gothic Neo"/>
                <a:latin typeface="Apple SD Gothic Neo"/>
              </a:rPr>
              <a:t>해석이 단일 SHAP에 머묾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83080" y="4617720"/>
            <a:ext cx="10012680" cy="128016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65960" y="4754880"/>
            <a:ext cx="969264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D3E5C"/>
                </a:solidFill>
                <a:ea typeface="Apple SD Gothic Neo"/>
                <a:latin typeface="Apple SD Gothic Neo"/>
              </a:rPr>
              <a:t>Aggregate-only SHAP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5257800"/>
            <a:ext cx="9692640" cy="5943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권역(강남/비강남)·연도(국면)·면적대(생애주기) 간 설명 신호의 이질성 미포착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02.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본 연구의 차별성 — 세 공백을 메우는 네 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91440"/>
            <a:ext cx="621792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77777"/>
                </a:solidFill>
                <a:ea typeface="Apple SD Gothic Neo"/>
                <a:latin typeface="Apple SD Gothic Neo"/>
              </a:rPr>
              <a:t>Explanatory Patterns of Apartment Unit-Area Sale Prices in Seoul Using XGBoost and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500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ea typeface="Apple SD Gothic Neo"/>
                <a:latin typeface="Apple SD Gothic Neo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200400" cy="105156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3017520" cy="4114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1. 종속변수 정규화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log(㎡당 가격)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371600"/>
            <a:ext cx="8138160" cy="105156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508760"/>
            <a:ext cx="7863840" cy="77724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규모효과 분리 → 질적·입지 신호 부각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06040"/>
            <a:ext cx="3200400" cy="105156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3017520" cy="4114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2. 공간 정합 개선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5468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거리 기반 접근성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2606040"/>
            <a:ext cx="8138160" cy="105156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2743200"/>
            <a:ext cx="7863840" cy="77724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13 시설군 × 최근접 + 반경 + 도보 분 — MAUP 완화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0480"/>
            <a:ext cx="3200400" cy="105156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77640"/>
            <a:ext cx="3017520" cy="4114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3. 시간 정합 개선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8912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연도별 활동 스냅샷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3840480"/>
            <a:ext cx="8138160" cy="105156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3977640"/>
            <a:ext cx="7863840" cy="77724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학교·학원·어린이집·공원·근린·지하철 6군 시점 정합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74920"/>
            <a:ext cx="3200400" cy="105156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12080"/>
            <a:ext cx="3017520" cy="4114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4. 시공간 이질성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2356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권역×연도 SHAP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5074920"/>
            <a:ext cx="8138160" cy="105156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5212080"/>
            <a:ext cx="7863840" cy="77724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21 서브모델 Top1 변화 추적 — 단일 SHAP 한계 극복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03.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분석 데이터 — 서울 391,826 거래 (2019.01~2025.12)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91440"/>
            <a:ext cx="621792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77777"/>
                </a:solidFill>
                <a:ea typeface="Apple SD Gothic Neo"/>
                <a:latin typeface="Apple SD Gothic Neo"/>
              </a:rPr>
              <a:t>Explanatory Patterns of Apartment Unit-Area Sale Prices in Seoul Using XGBoost and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500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ea typeface="Apple SD Gothic Neo"/>
                <a:latin typeface="Apple SD Gothic Neo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4114800" cy="502920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4114800" cy="457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ea typeface="Apple SD Gothic Neo"/>
                <a:latin typeface="Apple SD Gothic Neo"/>
              </a:rPr>
              <a:t>서울 215개 행정동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4114800" cy="12801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6800" b="1">
                <a:solidFill>
                  <a:srgbClr val="FFFFFF"/>
                </a:solidFill>
                <a:ea typeface="Apple SD Gothic Neo"/>
                <a:latin typeface="Apple SD Gothic Neo"/>
              </a:rPr>
              <a:t>391,826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83280"/>
            <a:ext cx="4114800" cy="36576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ea typeface="Apple SD Gothic Neo"/>
                <a:latin typeface="Apple SD Gothic Neo"/>
              </a:rPr>
              <a:t>아파트 매매 실거래 (건)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14800"/>
            <a:ext cx="4114800" cy="36576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ea typeface="Apple SD Gothic Neo"/>
                <a:latin typeface="Apple SD Gothic Neo"/>
              </a:rPr>
              <a:t>8,601 유니크 단지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72000"/>
            <a:ext cx="4114800" cy="36576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ea typeface="Apple SD Gothic Neo"/>
                <a:latin typeface="Apple SD Gothic Neo"/>
              </a:rPr>
              <a:t>거래 100% 좌표 커버 (Kakao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188720"/>
            <a:ext cx="7040880" cy="45720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188720"/>
            <a:ext cx="704088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ea typeface="Apple SD Gothic Neo"/>
                <a:latin typeface="Apple SD Gothic Neo"/>
              </a:rPr>
              <a:t>연도별 거래 분포 — 시장 국면을 모두 포함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691640"/>
            <a:ext cx="914400" cy="502920"/>
          </a:xfrm>
          <a:prstGeom prst="rect">
            <a:avLst/>
          </a:prstGeom>
          <a:solidFill>
            <a:srgbClr val="4B5D82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1691640"/>
            <a:ext cx="8229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ea typeface="Apple SD Gothic Neo"/>
                <a:latin typeface="Apple SD Gothic Neo"/>
              </a:rPr>
              <a:t>연도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691640"/>
            <a:ext cx="1371600" cy="502920"/>
          </a:xfrm>
          <a:prstGeom prst="rect">
            <a:avLst/>
          </a:prstGeom>
          <a:solidFill>
            <a:srgbClr val="4B5D82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1691640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ea typeface="Apple SD Gothic Neo"/>
                <a:latin typeface="Apple SD Gothic Neo"/>
              </a:rPr>
              <a:t>건수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1691640"/>
            <a:ext cx="2286000" cy="502920"/>
          </a:xfrm>
          <a:prstGeom prst="rect">
            <a:avLst/>
          </a:prstGeom>
          <a:solidFill>
            <a:srgbClr val="4B5D82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1691640"/>
            <a:ext cx="21945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ea typeface="Apple SD Gothic Neo"/>
                <a:latin typeface="Apple SD Gothic Neo"/>
              </a:rPr>
              <a:t>국면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691640"/>
            <a:ext cx="2468880" cy="502920"/>
          </a:xfrm>
          <a:prstGeom prst="rect">
            <a:avLst/>
          </a:prstGeom>
          <a:solidFill>
            <a:srgbClr val="4B5D82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1691640"/>
            <a:ext cx="237744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ea typeface="Apple SD Gothic Neo"/>
                <a:latin typeface="Apple SD Gothic Neo"/>
              </a:rPr>
              <a:t>기준금리 변동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194560"/>
            <a:ext cx="91440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2194560"/>
            <a:ext cx="8229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2019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2194560"/>
            <a:ext cx="137160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2194560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333333"/>
                </a:solidFill>
                <a:ea typeface="Apple SD Gothic Neo"/>
                <a:latin typeface="Apple SD Gothic Neo"/>
              </a:rPr>
              <a:t>74,896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2194560"/>
            <a:ext cx="228600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2194560"/>
            <a:ext cx="21945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안정기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194560"/>
            <a:ext cx="246888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2194560"/>
            <a:ext cx="237744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1.75%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269748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2697480"/>
            <a:ext cx="8229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2020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269748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0" y="2697480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333333"/>
                </a:solidFill>
                <a:ea typeface="Apple SD Gothic Neo"/>
                <a:latin typeface="Apple SD Gothic Neo"/>
              </a:rPr>
              <a:t>83,916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269748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0" y="2697480"/>
            <a:ext cx="21945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유동성 급등 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269748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2697480"/>
            <a:ext cx="237744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0.50% (저점)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3200400"/>
            <a:ext cx="91440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00600" y="3200400"/>
            <a:ext cx="8229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2021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3200400"/>
            <a:ext cx="137160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15000" y="3200400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333333"/>
                </a:solidFill>
                <a:ea typeface="Apple SD Gothic Neo"/>
                <a:latin typeface="Apple SD Gothic Neo"/>
              </a:rPr>
              <a:t>43,379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80" y="3200400"/>
            <a:ext cx="228600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86600" y="3200400"/>
            <a:ext cx="21945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급등 말기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3200400"/>
            <a:ext cx="246888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72600" y="3200400"/>
            <a:ext cx="237744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0.50→1.00%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370332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00600" y="3703320"/>
            <a:ext cx="8229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2022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370332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5000" y="3703320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333333"/>
                </a:solidFill>
                <a:ea typeface="Apple SD Gothic Neo"/>
                <a:latin typeface="Apple SD Gothic Neo"/>
              </a:rPr>
              <a:t>12,788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40880" y="370332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86600" y="3703320"/>
            <a:ext cx="21945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금리 충격 조정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0" y="370332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72600" y="3703320"/>
            <a:ext cx="237744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1.00→3.25% (-70% 거래)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4206240"/>
            <a:ext cx="91440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00600" y="4206240"/>
            <a:ext cx="8229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2023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0" y="4206240"/>
            <a:ext cx="137160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15000" y="4206240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333333"/>
                </a:solidFill>
                <a:ea typeface="Apple SD Gothic Neo"/>
                <a:latin typeface="Apple SD Gothic Neo"/>
              </a:rPr>
              <a:t>35,565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40880" y="4206240"/>
            <a:ext cx="228600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86600" y="4206240"/>
            <a:ext cx="21945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회복 초기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0" y="4206240"/>
            <a:ext cx="246888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72600" y="4206240"/>
            <a:ext cx="237744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3.25→3.50% (고점)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754880" y="470916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00600" y="4709160"/>
            <a:ext cx="8229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2024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0" y="470916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15000" y="4709160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333333"/>
                </a:solidFill>
                <a:ea typeface="Apple SD Gothic Neo"/>
                <a:latin typeface="Apple SD Gothic Neo"/>
              </a:rPr>
              <a:t>57,710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40880" y="470916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86600" y="4709160"/>
            <a:ext cx="21945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회복 확산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26880" y="470916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372600" y="4709160"/>
            <a:ext cx="237744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3.50→3.00%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754880" y="5212080"/>
            <a:ext cx="91440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00600" y="5212080"/>
            <a:ext cx="8229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2025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0" y="5212080"/>
            <a:ext cx="137160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715000" y="5212080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333333"/>
                </a:solidFill>
                <a:ea typeface="Apple SD Gothic Neo"/>
                <a:latin typeface="Apple SD Gothic Neo"/>
              </a:rPr>
              <a:t>83,572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040880" y="5212080"/>
            <a:ext cx="228600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086600" y="5212080"/>
            <a:ext cx="21945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안정화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26880" y="5212080"/>
            <a:ext cx="246888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372600" y="5212080"/>
            <a:ext cx="237744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~2.50%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03.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아파트 단지 지오코딩 — Kakao Local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91440"/>
            <a:ext cx="621792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77777"/>
                </a:solidFill>
                <a:ea typeface="Apple SD Gothic Neo"/>
                <a:latin typeface="Apple SD Gothic Neo"/>
              </a:rPr>
              <a:t>Explanatory Patterns of Apartment Unit-Area Sale Prices in Seoul Using XGBoost and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500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ea typeface="Apple SD Gothic Neo"/>
                <a:latin typeface="Apple SD Gothic Neo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11430000" cy="36576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국토교통부 실거래 자료에 위경도 정보 부재 → (구·법정동·아파트명) 키로 8,601개 유니크 단지 식별 후 Kakao로 좌표 확보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83080"/>
            <a:ext cx="3657600" cy="502920"/>
          </a:xfrm>
          <a:prstGeom prst="rect">
            <a:avLst/>
          </a:prstGeom>
          <a:solidFill>
            <a:srgbClr val="C84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36576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STEP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3657600" cy="54864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86000"/>
            <a:ext cx="3657600" cy="54864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키워드 검색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34640"/>
            <a:ext cx="3657600" cy="146304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26080"/>
            <a:ext cx="3383280" cy="13258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Kakao Local API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키워드 + 구·법정동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97680"/>
            <a:ext cx="3657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2D3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3383280" cy="1371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D3E5C"/>
                </a:solidFill>
                <a:ea typeface="Apple SD Gothic Neo"/>
                <a:latin typeface="Apple SD Gothic Neo"/>
              </a:rPr>
              <a:t>7,999 단지 (93.0%)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2D3E5C"/>
                </a:solidFill>
                <a:ea typeface="Apple SD Gothic Neo"/>
                <a:latin typeface="Apple SD Gothic Neo"/>
              </a:rPr>
              <a:t>구·법정동 완전 일치(score=3)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783080"/>
            <a:ext cx="3657600" cy="502920"/>
          </a:xfrm>
          <a:prstGeom prst="rect">
            <a:avLst/>
          </a:prstGeom>
          <a:solidFill>
            <a:srgbClr val="C84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783080"/>
            <a:ext cx="36576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STEP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2286000"/>
            <a:ext cx="3657600" cy="54864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2286000"/>
            <a:ext cx="3657600" cy="54864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쿼리 변형 재시도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834640"/>
            <a:ext cx="3657600" cy="146304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926080"/>
            <a:ext cx="3383280" cy="13258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특수문자·로마숫자·접미어 제거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→ 변형 쿼리 재호출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4297680"/>
            <a:ext cx="3657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2D3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4434840"/>
            <a:ext cx="3383280" cy="1371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D3E5C"/>
                </a:solidFill>
                <a:ea typeface="Apple SD Gothic Neo"/>
                <a:latin typeface="Apple SD Gothic Neo"/>
              </a:rPr>
              <a:t>+602 단지 회복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2D3E5C"/>
                </a:solidFill>
                <a:ea typeface="Apple SD Gothic Neo"/>
                <a:latin typeface="Apple SD Gothic Neo"/>
              </a:rPr>
              <a:t>→ 누적 100% 커버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783080"/>
            <a:ext cx="3657600" cy="502920"/>
          </a:xfrm>
          <a:prstGeom prst="rect">
            <a:avLst/>
          </a:prstGeom>
          <a:solidFill>
            <a:srgbClr val="C84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1783080"/>
            <a:ext cx="36576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STEP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2286000"/>
            <a:ext cx="3657600" cy="54864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286000"/>
            <a:ext cx="3657600" cy="54864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좌표체계 통일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2834640"/>
            <a:ext cx="3657600" cy="146304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2926080"/>
            <a:ext cx="3383280" cy="13258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시설별 WGS84 / TM(EPSG:2097) 혼재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→ pyproj로 EPSG:4326 통일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4297680"/>
            <a:ext cx="3657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2D3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4434840"/>
            <a:ext cx="3383280" cy="1371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D3E5C"/>
                </a:solidFill>
                <a:ea typeface="Apple SD Gothic Neo"/>
                <a:latin typeface="Apple SD Gothic Neo"/>
              </a:rPr>
              <a:t>13 시설군 × 통일 좌표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2D3E5C"/>
                </a:solidFill>
                <a:ea typeface="Apple SD Gothic Neo"/>
                <a:latin typeface="Apple SD Gothic Neo"/>
              </a:rPr>
              <a:t>BallTree haversine 거리 계산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8443D"/>
                </a:solidFill>
                <a:ea typeface="Apple SD Gothic Neo"/>
                <a:latin typeface="Apple SD Gothic Neo"/>
              </a:rPr>
              <a:t>→ 거래 391,826건 100% 매핑 (단지 단위 평균 좌표 또는 법정동 중심좌표 fallback)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03.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거리 기반 입지 변수 — 13 시설군 × 4 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91440"/>
            <a:ext cx="621792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77777"/>
                </a:solidFill>
                <a:ea typeface="Apple SD Gothic Neo"/>
                <a:latin typeface="Apple SD Gothic Neo"/>
              </a:rPr>
              <a:t>Explanatory Patterns of Apartment Unit-Area Sale Prices in Seoul Using XGBoost and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500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ea typeface="Apple SD Gothic Neo"/>
                <a:latin typeface="Apple SD Gothic Neo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11430000" cy="36576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단지 좌표 기준 — 최근접 직선거리(m) + 반경 500m/1km/2km 개수 + 도보 추정 시간(분, 직선×1.35/4 km·h)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83080"/>
            <a:ext cx="11430000" cy="45720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36576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범주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783080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시설군 (개수)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783080"/>
            <a:ext cx="310896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대표 도보 분(중앙값)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40280"/>
            <a:ext cx="11430000" cy="45720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40280"/>
            <a:ext cx="36576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D3E5C"/>
                </a:solidFill>
                <a:ea typeface="Apple SD Gothic Neo"/>
                <a:latin typeface="Apple SD Gothic Neo"/>
              </a:rPr>
              <a:t>교통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240280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지하철역 (799)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40280"/>
            <a:ext cx="310896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8443D"/>
                </a:solidFill>
                <a:ea typeface="Apple SD Gothic Neo"/>
                <a:latin typeface="Apple SD Gothic Neo"/>
              </a:rPr>
              <a:t>도보 9.4분 (중앙값)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97480"/>
            <a:ext cx="11430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697480"/>
            <a:ext cx="36576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D3E5C"/>
                </a:solidFill>
                <a:ea typeface="Apple SD Gothic Neo"/>
                <a:latin typeface="Apple SD Gothic Neo"/>
              </a:rPr>
              <a:t>교육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697480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초·중·고 (1,415) · 학원 (25,437)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697480"/>
            <a:ext cx="310896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8443D"/>
                </a:solidFill>
                <a:ea typeface="Apple SD Gothic Neo"/>
                <a:latin typeface="Apple SD Gothic Neo"/>
              </a:rPr>
              <a:t>도보 7.3분 (초등)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54680"/>
            <a:ext cx="11430000" cy="45720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154680"/>
            <a:ext cx="36576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D3E5C"/>
                </a:solidFill>
                <a:ea typeface="Apple SD Gothic Neo"/>
                <a:latin typeface="Apple SD Gothic Neo"/>
              </a:rPr>
              <a:t>보육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154680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어린이집 (8,787)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154680"/>
            <a:ext cx="310896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8443D"/>
                </a:solidFill>
                <a:ea typeface="Apple SD Gothic Neo"/>
                <a:latin typeface="Apple SD Gothic Neo"/>
              </a:rPr>
              <a:t>도보 1.4분 (밀도)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11880"/>
            <a:ext cx="11430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11880"/>
            <a:ext cx="36576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D3E5C"/>
                </a:solidFill>
                <a:ea typeface="Apple SD Gothic Neo"/>
                <a:latin typeface="Apple SD Gothic Neo"/>
              </a:rPr>
              <a:t>근린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611880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대규모점포 영업중 (37k)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611880"/>
            <a:ext cx="310896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8443D"/>
                </a:solidFill>
                <a:ea typeface="Apple SD Gothic Neo"/>
                <a:latin typeface="Apple SD Gothic Neo"/>
              </a:rPr>
              <a:t>도보 7.9분 (대형마트)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069080"/>
            <a:ext cx="11430000" cy="45720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69080"/>
            <a:ext cx="36576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D3E5C"/>
                </a:solidFill>
                <a:ea typeface="Apple SD Gothic Neo"/>
                <a:latin typeface="Apple SD Gothic Neo"/>
              </a:rPr>
              <a:t>상업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069080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백화점 (36) · 대형마트 (473)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069080"/>
            <a:ext cx="310896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8443D"/>
                </a:solidFill>
                <a:ea typeface="Apple SD Gothic Neo"/>
                <a:latin typeface="Apple SD Gothic Neo"/>
              </a:rPr>
              <a:t>도보 38.5분 (백화점)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526280"/>
            <a:ext cx="11430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526280"/>
            <a:ext cx="36576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D3E5C"/>
                </a:solidFill>
                <a:ea typeface="Apple SD Gothic Neo"/>
                <a:latin typeface="Apple SD Gothic Neo"/>
              </a:rPr>
              <a:t>의료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4526280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병원 (1,117) — 종합병원 25 별도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526280"/>
            <a:ext cx="310896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8443D"/>
                </a:solidFill>
                <a:ea typeface="Apple SD Gothic Neo"/>
                <a:latin typeface="Apple SD Gothic Neo"/>
              </a:rPr>
              <a:t>도보 40.9분 (종합병원)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983480"/>
            <a:ext cx="11430000" cy="45720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983480"/>
            <a:ext cx="36576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D3E5C"/>
                </a:solidFill>
                <a:ea typeface="Apple SD Gothic Neo"/>
                <a:latin typeface="Apple SD Gothic Neo"/>
              </a:rPr>
              <a:t>문화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4983480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도서관 (215) · 공원 (130)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4983480"/>
            <a:ext cx="310896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8443D"/>
                </a:solidFill>
                <a:ea typeface="Apple SD Gothic Neo"/>
                <a:latin typeface="Apple SD Gothic Neo"/>
              </a:rPr>
              <a:t>도보 12.0분 (도서관)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40680"/>
            <a:ext cx="11430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440680"/>
            <a:ext cx="36576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D3E5C"/>
                </a:solidFill>
                <a:ea typeface="Apple SD Gothic Neo"/>
                <a:latin typeface="Apple SD Gothic Neo"/>
              </a:rPr>
              <a:t>안전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5440680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CCTV (129,123) — 500m 밀도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5440680"/>
            <a:ext cx="310896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8443D"/>
                </a:solidFill>
                <a:ea typeface="Apple SD Gothic Neo"/>
                <a:latin typeface="Apple SD Gothic Neo"/>
              </a:rPr>
              <a:t>500m 251개 (밀도)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C8443D"/>
                </a:solidFill>
                <a:ea typeface="Apple SD Gothic Neo"/>
                <a:latin typeface="Apple SD Gothic Neo"/>
              </a:rPr>
              <a:t>도서관 12.0분(생활SOC 도보권), 백화점 38.5분(차량권 프리미엄)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03.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시점 정합 — 연도별 활동 시설 스냅샷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91440"/>
            <a:ext cx="621792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77777"/>
                </a:solidFill>
                <a:ea typeface="Apple SD Gothic Neo"/>
                <a:latin typeface="Apple SD Gothic Neo"/>
              </a:rPr>
              <a:t>Explanatory Patterns of Apartment Unit-Area Sale Prices in Seoul Using XGBoost and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500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ea typeface="Apple SD Gothic Neo"/>
                <a:latin typeface="Apple SD Gothic Neo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11430000" cy="36576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거래 연도(Y) 말일(Y-12-31) 기준 활동 중인 시설만 포함 — temporal leakage 제거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83080"/>
            <a:ext cx="5669280" cy="45720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566928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ea typeface="Apple SD Gothic Neo"/>
                <a:latin typeface="Apple SD Gothic Neo"/>
              </a:rPr>
              <a:t>✓ 시점 정합 적용 시설군 (6)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548640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학교 (FOND_YMD 개교일)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학원 (ESTBL_YMD + REG_STTUS_NM)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어린이집 (CRCNFMDT 인가일 + CRABLDT)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공원 (OPEN_YMD 개원일)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근린시설 (APVPERMYMD + DCBYMD)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지하철 (2019~2025 신규 15역 보강)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783080"/>
            <a:ext cx="5669280" cy="457200"/>
          </a:xfrm>
          <a:prstGeom prst="rect">
            <a:avLst/>
          </a:prstGeom>
          <a:solidFill>
            <a:srgbClr val="C84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783080"/>
            <a:ext cx="566928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ea typeface="Apple SD Gothic Neo"/>
                <a:latin typeface="Apple SD Gothic Neo"/>
              </a:rPr>
              <a:t>✗ 스냅샷 잔존 (5) — 한계 명시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31720"/>
            <a:ext cx="548640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도서관 (개관일 필드 부재)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백화점 (Kakao 카테고리 — 개점일 부재)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대형마트 (Kakao MT1 — 개점일 부재)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CCTV (설치일 부재 — UPDTDATE만)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병원 (Kakao HP8 — 개원일 부재)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ea typeface="Apple SD Gothic Neo"/>
                <a:latin typeface="Apple SD Gothic Neo"/>
              </a:rPr>
              <a:t>연도별 시설 활동 수: 학원 14,876(2019) → 25,034(2025), 어린이집 5,818(2019) → 4,106(2025)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03.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모형·분할 설계 + Ablation 4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91440"/>
            <a:ext cx="621792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77777"/>
                </a:solidFill>
                <a:ea typeface="Apple SD Gothic Neo"/>
                <a:latin typeface="Apple SD Gothic Neo"/>
              </a:rPr>
              <a:t>Explanatory Patterns of Apartment Unit-Area Sale Prices in Seoul Using XGBoost and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500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ea typeface="Apple SD Gothic Neo"/>
                <a:latin typeface="Apple SD Gothic Neo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669280" cy="45720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566928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ea typeface="Apple SD Gothic Neo"/>
                <a:latin typeface="Apple SD Gothic Neo"/>
              </a:rPr>
              <a:t>예측 모형 (3) × 분할 (3)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1554480" cy="41148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15544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828800"/>
            <a:ext cx="38404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선형 해석 기준선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1554480" cy="41148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15544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286000"/>
            <a:ext cx="38404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배깅 비선형 기준선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1554480" cy="41148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15544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XGBoost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2743200"/>
            <a:ext cx="38404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그래디언트 부스팅 (대표 해석)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1554480" cy="411480"/>
          </a:xfrm>
          <a:prstGeom prst="rect">
            <a:avLst/>
          </a:prstGeom>
          <a:solidFill>
            <a:srgbClr val="C84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15544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ea typeface="Apple SD Gothic Neo"/>
                <a:latin typeface="Apple SD Gothic Neo"/>
              </a:rPr>
              <a:t>무작위 분할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657600"/>
            <a:ext cx="38404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같은 단지 중첩 — 가장 쉬움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1554480" cy="411480"/>
          </a:xfrm>
          <a:prstGeom prst="rect">
            <a:avLst/>
          </a:prstGeom>
          <a:solidFill>
            <a:srgbClr val="C84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14800"/>
            <a:ext cx="15544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ea typeface="Apple SD Gothic Neo"/>
                <a:latin typeface="Apple SD Gothic Neo"/>
              </a:rPr>
              <a:t>단지 분할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114800"/>
            <a:ext cx="38404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미관측 단지 외삽 — 가장 엄격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72000"/>
            <a:ext cx="1554480" cy="411480"/>
          </a:xfrm>
          <a:prstGeom prst="rect">
            <a:avLst/>
          </a:prstGeom>
          <a:solidFill>
            <a:srgbClr val="C84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5544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ea typeface="Apple SD Gothic Neo"/>
                <a:latin typeface="Apple SD Gothic Neo"/>
              </a:rPr>
              <a:t>시간순 분할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572000"/>
            <a:ext cx="38404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≤2023 train / ≥2024 test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280160"/>
            <a:ext cx="5486400" cy="45720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280160"/>
            <a:ext cx="54864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ea typeface="Apple SD Gothic Neo"/>
                <a:latin typeface="Apple SD Gothic Neo"/>
              </a:rPr>
              <a:t>Ablation 4 시나리오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828800"/>
            <a:ext cx="640080" cy="86868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828800"/>
            <a:ext cx="640080" cy="8686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ea typeface="Apple SD Gothic Neo"/>
                <a:latin typeface="Apple SD Gothic Neo"/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1874519"/>
            <a:ext cx="4754880" cy="4114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행정동 집계만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2286000"/>
            <a:ext cx="4754880" cy="4114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18 변수 (선행연구 재현)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788920"/>
            <a:ext cx="640080" cy="86868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2788920"/>
            <a:ext cx="640080" cy="8686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ea typeface="Apple SD Gothic Neo"/>
                <a:latin typeface="Apple SD Gothic Neo"/>
              </a:rPr>
              <a:t>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2834639"/>
            <a:ext cx="4754880" cy="4114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거리 기반 + 시점 무관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3246120"/>
            <a:ext cx="4754880" cy="4114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26 변수 (2026 스냅샷)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749039"/>
            <a:ext cx="640080" cy="86868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749039"/>
            <a:ext cx="640080" cy="8686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ea typeface="Apple SD Gothic Neo"/>
                <a:latin typeface="Apple SD Gothic Neo"/>
              </a:rPr>
              <a:t>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3794759"/>
            <a:ext cx="4754880" cy="4114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거리 + 시점 정합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206240"/>
            <a:ext cx="4754880" cy="4114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26 변수 (연도별)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709160"/>
            <a:ext cx="640080" cy="86868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4709160"/>
            <a:ext cx="640080" cy="8686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ea typeface="Apple SD Gothic Neo"/>
                <a:latin typeface="Apple SD Gothic Neo"/>
              </a:rPr>
              <a:t>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4754880"/>
            <a:ext cx="4754880" cy="4114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거리 + 시점 + 행정동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166360"/>
            <a:ext cx="4754880" cy="4114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36 변수 (통합 — 본 연구)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04.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Ablation — 거리 전환이 시간순 R² +7.1%p 견인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91440"/>
            <a:ext cx="621792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77777"/>
                </a:solidFill>
                <a:ea typeface="Apple SD Gothic Neo"/>
                <a:latin typeface="Apple SD Gothic Neo"/>
              </a:rPr>
              <a:t>Explanatory Patterns of Apartment Unit-Area Sale Prices in Seoul Using XGBoost and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500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ea typeface="Apple SD Gothic Neo"/>
                <a:latin typeface="Apple SD Gothic Neo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D3E5C"/>
                </a:solidFill>
                <a:ea typeface="Apple SD Gothic Neo"/>
                <a:latin typeface="Apple SD Gothic Neo"/>
              </a:rPr>
              <a:t>&lt; 표 &gt; 시나리오별 XGBoost R² (동일 테스트 조건)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45920"/>
            <a:ext cx="10287000" cy="45720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45920"/>
            <a:ext cx="384048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시나리오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645920"/>
            <a:ext cx="169164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무작위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1645920"/>
            <a:ext cx="169164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시간순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645920"/>
            <a:ext cx="169164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단지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1645920"/>
            <a:ext cx="13716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변수 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103120"/>
            <a:ext cx="3840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103120"/>
            <a:ext cx="374904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A 행정동 집계만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103120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2103120"/>
            <a:ext cx="1600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0.921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7880" y="2103120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2103120"/>
            <a:ext cx="1600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0.800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103120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2103120"/>
            <a:ext cx="1600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0.777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210312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103120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18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06039"/>
            <a:ext cx="384048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606039"/>
            <a:ext cx="374904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B 거리 기반 + 시점 무관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2606039"/>
            <a:ext cx="169164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60" y="2606039"/>
            <a:ext cx="1600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0.952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97880" y="2606039"/>
            <a:ext cx="169164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2606039"/>
            <a:ext cx="1600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0.856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2606039"/>
            <a:ext cx="169164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2606039"/>
            <a:ext cx="1600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0.727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60" y="2606039"/>
            <a:ext cx="137160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2606039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108960"/>
            <a:ext cx="3840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108960"/>
            <a:ext cx="374904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C 거리 + 시점 정합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3108960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51960" y="3108960"/>
            <a:ext cx="1600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0.949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97880" y="3108960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3108960"/>
            <a:ext cx="1600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0.851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3108960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5240" y="3108960"/>
            <a:ext cx="1600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0.726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81160" y="310896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3108960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611880"/>
            <a:ext cx="3840480" cy="502920"/>
          </a:xfrm>
          <a:prstGeom prst="rect">
            <a:avLst/>
          </a:prstGeom>
          <a:solidFill>
            <a:srgbClr val="4B5D82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3611880"/>
            <a:ext cx="374904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D 거리 + 시점 + 행정동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3611880"/>
            <a:ext cx="1691640" cy="502920"/>
          </a:xfrm>
          <a:prstGeom prst="rect">
            <a:avLst/>
          </a:prstGeom>
          <a:solidFill>
            <a:srgbClr val="4B5D82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3611880"/>
            <a:ext cx="1600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0.959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97880" y="3611880"/>
            <a:ext cx="1691640" cy="502920"/>
          </a:xfrm>
          <a:prstGeom prst="rect">
            <a:avLst/>
          </a:prstGeom>
          <a:solidFill>
            <a:srgbClr val="4B5D82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0" y="3611880"/>
            <a:ext cx="1600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0.871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3611880"/>
            <a:ext cx="1691640" cy="502920"/>
          </a:xfrm>
          <a:prstGeom prst="rect">
            <a:avLst/>
          </a:prstGeom>
          <a:solidFill>
            <a:srgbClr val="4B5D82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35240" y="3611880"/>
            <a:ext cx="1600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0.804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81160" y="3611880"/>
            <a:ext cx="1371600" cy="502920"/>
          </a:xfrm>
          <a:prstGeom prst="rect">
            <a:avLst/>
          </a:prstGeom>
          <a:solidFill>
            <a:srgbClr val="4B5D82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0" y="3611880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36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572000"/>
            <a:ext cx="11430000" cy="146304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C8443D"/>
                </a:solidFill>
                <a:ea typeface="Apple SD Gothic Neo"/>
                <a:latin typeface="Apple SD Gothic Neo"/>
              </a:rPr>
              <a:t>핵심 발견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5029200"/>
            <a:ext cx="11064240" cy="10058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A→B (거리 기반 전환) : 시간순 +5.6%p — MAUP 완화 효과의 정량 증거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B→C (시점 정합 단독) : R² 단독 효과 0.5%p 이내 — 성능 아닌 leakage 제거 가치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D (거리+시점+행정동) : 무작위·시간순·단지 분할 모두 최고 — 보완적 결합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04.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Ablation 시나리오별 XGB R²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91440"/>
            <a:ext cx="621792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77777"/>
                </a:solidFill>
                <a:ea typeface="Apple SD Gothic Neo"/>
                <a:latin typeface="Apple SD Gothic Neo"/>
              </a:rPr>
              <a:t>Explanatory Patterns of Apartment Unit-Area Sale Prices in Seoul Using XGBoost and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500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ea typeface="Apple SD Gothic Neo"/>
                <a:latin typeface="Apple SD Gothic Neo"/>
              </a:rPr>
              <a:t>13</a:t>
            </a:r>
          </a:p>
        </p:txBody>
      </p:sp>
      <p:pic>
        <p:nvPicPr>
          <p:cNvPr id="9" name="Picture 8" descr="fig10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280160"/>
            <a:ext cx="7772400" cy="41898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C8443D"/>
                </a:solidFill>
                <a:ea typeface="Apple SD Gothic Neo"/>
                <a:latin typeface="Apple SD Gothic Neo"/>
              </a:rPr>
              <a:t>→ 모든 분할에서 D(통합)가 최고. A→B 거리 전환의 시간순 분할 개선이 가장 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04.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전체 SHAP — 거리 기반 변수가 상위 53% (8/15)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91440"/>
            <a:ext cx="621792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77777"/>
                </a:solidFill>
                <a:ea typeface="Apple SD Gothic Neo"/>
                <a:latin typeface="Apple SD Gothic Neo"/>
              </a:rPr>
              <a:t>Explanatory Patterns of Apartment Unit-Area Sale Prices in Seoul Using XGBoost and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500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ea typeface="Apple SD Gothic Neo"/>
                <a:latin typeface="Apple SD Gothic Neo"/>
              </a:rPr>
              <a:t>14</a:t>
            </a:r>
          </a:p>
        </p:txBody>
      </p:sp>
      <p:pic>
        <p:nvPicPr>
          <p:cNvPr id="9" name="Picture 8" descr="fig4_sha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858000" cy="52940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589520" y="1188720"/>
            <a:ext cx="4297680" cy="45720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188720"/>
            <a:ext cx="429768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ea typeface="Apple SD Gothic Neo"/>
                <a:latin typeface="Apple SD Gothic Neo"/>
              </a:rPr>
              <a:t>Top 5 변수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691640"/>
            <a:ext cx="45720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691640"/>
            <a:ext cx="457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691640"/>
            <a:ext cx="379476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691640"/>
            <a:ext cx="25146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강남구분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1691640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C8443D"/>
                </a:solidFill>
                <a:ea typeface="Apple SD Gothic Neo"/>
                <a:latin typeface="Apple SD Gothic Neo"/>
              </a:rPr>
              <a:t>12.5%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240280"/>
            <a:ext cx="45720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2240280"/>
            <a:ext cx="457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2240280"/>
            <a:ext cx="379476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2240280"/>
            <a:ext cx="25146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건물연령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2240280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C8443D"/>
                </a:solidFill>
                <a:ea typeface="Apple SD Gothic Neo"/>
                <a:latin typeface="Apple SD Gothic Neo"/>
              </a:rPr>
              <a:t>10.4%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788920"/>
            <a:ext cx="45720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788920"/>
            <a:ext cx="457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2788920"/>
            <a:ext cx="379476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2788920"/>
            <a:ext cx="25146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M2 통화량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2788920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C8443D"/>
                </a:solidFill>
                <a:ea typeface="Apple SD Gothic Neo"/>
                <a:latin typeface="Apple SD Gothic Neo"/>
              </a:rPr>
              <a:t>9.8%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3337560"/>
            <a:ext cx="45720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3337560"/>
            <a:ext cx="457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3337560"/>
            <a:ext cx="379476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3337560"/>
            <a:ext cx="25146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전용면적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3337560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C8443D"/>
                </a:solidFill>
                <a:ea typeface="Apple SD Gothic Neo"/>
                <a:latin typeface="Apple SD Gothic Neo"/>
              </a:rPr>
              <a:t>7.8%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3886200"/>
            <a:ext cx="45720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3886200"/>
            <a:ext cx="457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92440" y="3886200"/>
            <a:ext cx="3794760" cy="50292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3886200"/>
            <a:ext cx="25146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어린이집 1km 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3886200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C8443D"/>
                </a:solidFill>
                <a:ea typeface="Apple SD Gothic Neo"/>
                <a:latin typeface="Apple SD Gothic Neo"/>
              </a:rPr>
              <a:t>6.4%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663440"/>
            <a:ext cx="4297680" cy="1371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거리 기반 변수가 상위 15 중 8개(53%) — 행정동 단순 집계에서 가려져 있던 미시 입지 신호가 전면에 드러남 (MAUP 완화 효과 실증)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04.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SHAP 비선형 패턴 — 건물연령 U자 / 지하철 임계반응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91440"/>
            <a:ext cx="621792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77777"/>
                </a:solidFill>
                <a:ea typeface="Apple SD Gothic Neo"/>
                <a:latin typeface="Apple SD Gothic Neo"/>
              </a:rPr>
              <a:t>Explanatory Patterns of Apartment Unit-Area Sale Prices in Seoul Using XGBoost and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500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ea typeface="Apple SD Gothic Neo"/>
                <a:latin typeface="Apple SD Gothic Neo"/>
              </a:rPr>
              <a:t>15</a:t>
            </a:r>
          </a:p>
        </p:txBody>
      </p:sp>
      <p:pic>
        <p:nvPicPr>
          <p:cNvPr id="9" name="Picture 8" descr="fig6_dep_건물연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760720" cy="4536764"/>
          </a:xfrm>
          <a:prstGeom prst="rect">
            <a:avLst/>
          </a:prstGeom>
        </p:spPr>
      </p:pic>
      <p:pic>
        <p:nvPicPr>
          <p:cNvPr id="10" name="Picture 9" descr="fig8_dep_subway_nea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760720" cy="45507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5806440"/>
            <a:ext cx="5760720" cy="32004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ea typeface="Apple SD Gothic Neo"/>
                <a:latin typeface="Apple SD Gothic Neo"/>
              </a:rPr>
              <a:t>건물연령 25~30년 반등 — 재건축 기대 신호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806440"/>
            <a:ext cx="5760720" cy="32004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ea typeface="Apple SD Gothic Neo"/>
                <a:latin typeface="Apple SD Gothic Neo"/>
              </a:rPr>
              <a:t>지하철 500m 이내 강한 양 → 평탄화 — 도보 역세권 프리미엄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C8443D"/>
                </a:solidFill>
                <a:ea typeface="Apple SD Gothic Neo"/>
                <a:latin typeface="Apple SD Gothic Neo"/>
              </a:rPr>
              <a:t>→ OLS 선형 가정으로 포착되지 않는 비선형 패턴을 SHAP이 정량 시각화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04.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권역별 SHAP — 강남(상업·안전) vs 비강남(사교육·주거)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91440"/>
            <a:ext cx="621792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77777"/>
                </a:solidFill>
                <a:ea typeface="Apple SD Gothic Neo"/>
                <a:latin typeface="Apple SD Gothic Neo"/>
              </a:rPr>
              <a:t>Explanatory Patterns of Apartment Unit-Area Sale Prices in Seoul Using XGBoost and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500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ea typeface="Apple SD Gothic Neo"/>
                <a:latin typeface="Apple SD Gothic Neo"/>
              </a:rPr>
              <a:t>16</a:t>
            </a:r>
          </a:p>
        </p:txBody>
      </p:sp>
      <p:pic>
        <p:nvPicPr>
          <p:cNvPr id="9" name="Picture 8" descr="fig11_region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315200" cy="394336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955279" y="1188720"/>
            <a:ext cx="4023360" cy="45720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188720"/>
            <a:ext cx="402336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ea typeface="Apple SD Gothic Neo"/>
                <a:latin typeface="Apple SD Gothic Neo"/>
              </a:rPr>
              <a:t>권역별 Top 5 변수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69164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C8443D"/>
                </a:solidFill>
                <a:ea typeface="Apple SD Gothic Neo"/>
                <a:latin typeface="Apple SD Gothic Neo"/>
              </a:rPr>
              <a:t>강남3구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169164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2D3E5C"/>
                </a:solidFill>
                <a:ea typeface="Apple SD Gothic Neo"/>
                <a:latin typeface="Apple SD Gothic Neo"/>
              </a:rPr>
              <a:t>비강남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103120"/>
            <a:ext cx="2011680" cy="41148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2103120"/>
            <a:ext cx="20116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1. 건물연령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2103120"/>
            <a:ext cx="2011680" cy="41148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2103120"/>
            <a:ext cx="20116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1. 건물연령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2560320"/>
            <a:ext cx="2011680" cy="41148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2560320"/>
            <a:ext cx="20116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2. 백화점 최근접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2560320"/>
            <a:ext cx="2011680" cy="41148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2560320"/>
            <a:ext cx="20116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2. 학원수(행정동)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3017520"/>
            <a:ext cx="2011680" cy="41148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3017520"/>
            <a:ext cx="20116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3. 전용면적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3017520"/>
            <a:ext cx="2011680" cy="41148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3017520"/>
            <a:ext cx="20116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3. 전용면적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3474720"/>
            <a:ext cx="2011680" cy="41148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3474720"/>
            <a:ext cx="20116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4. 백화점수(행정동)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3474720"/>
            <a:ext cx="2011680" cy="41148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3474720"/>
            <a:ext cx="20116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4. 어린이집수(행정동)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3931920"/>
            <a:ext cx="2011680" cy="41148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3931920"/>
            <a:ext cx="20116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5. CCTV 500m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66960" y="3931920"/>
            <a:ext cx="2011680" cy="411480"/>
          </a:xfrm>
          <a:prstGeom prst="rect">
            <a:avLst/>
          </a:prstGeom>
          <a:solidFill>
            <a:srgbClr val="F1F3F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0" y="3931920"/>
            <a:ext cx="201168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5. 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C8443D"/>
                </a:solidFill>
                <a:ea typeface="Apple SD Gothic Neo"/>
                <a:latin typeface="Apple SD Gothic Neo"/>
              </a:rPr>
              <a:t>→ R² 강남 0.964, 비강남 0.952 — 두 권역의 가격 설명 구조에 질적 차이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04.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연도×권역 R² — 2022 조정기 동시 dip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91440"/>
            <a:ext cx="621792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77777"/>
                </a:solidFill>
                <a:ea typeface="Apple SD Gothic Neo"/>
                <a:latin typeface="Apple SD Gothic Neo"/>
              </a:rPr>
              <a:t>Explanatory Patterns of Apartment Unit-Area Sale Prices in Seoul Using XGBoost and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500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ea typeface="Apple SD Gothic Neo"/>
                <a:latin typeface="Apple SD Gothic Neo"/>
              </a:rPr>
              <a:t>17</a:t>
            </a:r>
          </a:p>
        </p:txBody>
      </p:sp>
      <p:pic>
        <p:nvPicPr>
          <p:cNvPr id="9" name="Picture 8" descr="fig12_year_reg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5486400" cy="386480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15200" y="1188720"/>
            <a:ext cx="4572000" cy="45720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188720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핵심 패턴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783080"/>
            <a:ext cx="4572000" cy="128016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874519"/>
            <a:ext cx="4206240" cy="11430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두 권역 모두 0.92 이상 안정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(2021 비강남 0.919만 예외)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3200400"/>
            <a:ext cx="4572000" cy="128016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3291840"/>
            <a:ext cx="4206240" cy="11430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2022 R² 동시 0.857 dip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→ 거래 −70% + 금리 1.25→3.25% 급등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4617720"/>
            <a:ext cx="4572000" cy="128016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4709159"/>
            <a:ext cx="4206240" cy="11430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전체 R² 0.892 &gt; 권역별 0.857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→ 권역 간 가격 수준 차로 pooled variance 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04.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연도별 Top 1 SHAP 변수 — 강남 6회 교체 vs 비강남 안정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91440"/>
            <a:ext cx="621792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77777"/>
                </a:solidFill>
                <a:ea typeface="Apple SD Gothic Neo"/>
                <a:latin typeface="Apple SD Gothic Neo"/>
              </a:rPr>
              <a:t>Explanatory Patterns of Apartment Unit-Area Sale Prices in Seoul Using XGBoost and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500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ea typeface="Apple SD Gothic Neo"/>
                <a:latin typeface="Apple SD Gothic Neo"/>
              </a:rPr>
              <a:t>18</a:t>
            </a:r>
          </a:p>
        </p:txBody>
      </p:sp>
      <p:pic>
        <p:nvPicPr>
          <p:cNvPr id="9" name="Picture 8" descr="fig13_top1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188720"/>
            <a:ext cx="10515600" cy="381194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65760" y="5029200"/>
            <a:ext cx="11430000" cy="155448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C8443D"/>
                </a:solidFill>
                <a:ea typeface="Apple SD Gothic Neo"/>
                <a:latin typeface="Apple SD Gothic Neo"/>
              </a:rPr>
              <a:t>핵심 발견 — 권역별 시간 안정성의 차이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1064240" cy="10972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강남3구 : 백화점수→건물연령→CCTV→건물연령→종합병원→건물연령→백화점 최근접 — 7년간 6회 교체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비강남 : 7년 중 5년 건물연령 1위 (2020 어린이집수·2021 전용면적 예외) — 안정적 구조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단일 SHAP에서 보이지 않던 "권역별 시간 안정성 차이"가 본 연구의 차별 발견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05.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학술·실무 기여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91440"/>
            <a:ext cx="621792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77777"/>
                </a:solidFill>
                <a:ea typeface="Apple SD Gothic Neo"/>
                <a:latin typeface="Apple SD Gothic Neo"/>
              </a:rPr>
              <a:t>Explanatory Patterns of Apartment Unit-Area Sale Prices in Seoul Using XGBoost and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500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ea typeface="Apple SD Gothic Neo"/>
                <a:latin typeface="Apple SD Gothic Neo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11430000" cy="8686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ea typeface="Apple SD Gothic Neo"/>
                <a:latin typeface="Apple SD Gothic Neo"/>
              </a:rPr>
              <a:t>본 연구의 한 줄 기여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ea typeface="Apple SD Gothic Neo"/>
                <a:latin typeface="Apple SD Gothic Neo"/>
              </a:rPr>
              <a:t>"공간 단위·시간 정합성을 통제한 뒤 예측 신호의 권역×연도 이질성을 설명 가능한 방식으로 검증"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31720"/>
            <a:ext cx="5669280" cy="45720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331720"/>
            <a:ext cx="566928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학술적 기여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5486400" cy="32004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MAUP 완화의 실증 — 시간순 R² +7.1%p 개선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시간 정합성의 방법론적 통제 — leakage 제거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시공간 이질성의 XAI 해석 — 권역×연도 21 SHAP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발견(insight)형 기여 (algorithm·module 아님)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331720"/>
            <a:ext cx="5669280" cy="457200"/>
          </a:xfrm>
          <a:prstGeom prst="rect">
            <a:avLst/>
          </a:prstGeom>
          <a:solidFill>
            <a:srgbClr val="C84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331720"/>
            <a:ext cx="566928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실무·정책 참고점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80360"/>
            <a:ext cx="5486400" cy="32004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AVM 설명가능성 강화 (SHAP 분해)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권역 맞춤 모형 — 강남/비강남 분리 운용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국면 전환기 진단 — 2022 dip 사례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ea typeface="Apple SD Gothic Neo"/>
                <a:latin typeface="Apple SD Gothic Neo"/>
              </a:rPr>
              <a:t>· 재건축 기대의 비선형 신호 (건물연령 U자)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0292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05.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3E5C"/>
                </a:solidFill>
                <a:ea typeface="Apple SD Gothic Neo"/>
                <a:latin typeface="Apple SD Gothic Neo"/>
              </a:rPr>
              <a:t>연구의 한계 · 후속 연구 · 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91440"/>
            <a:ext cx="6217920" cy="36576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77777"/>
                </a:solidFill>
                <a:ea typeface="Apple SD Gothic Neo"/>
                <a:latin typeface="Apple SD Gothic Neo"/>
              </a:rPr>
              <a:t>Explanatory Patterns of Apartment Unit-Area Sale Prices in Seoul Using XGBoost and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500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solidFill>
            <a:srgbClr val="2D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31752" y="6446520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ea typeface="Apple SD Gothic Neo"/>
                <a:latin typeface="Apple SD Gothic Neo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669280" cy="457200"/>
          </a:xfrm>
          <a:prstGeom prst="rect">
            <a:avLst/>
          </a:prstGeom>
          <a:solidFill>
            <a:srgbClr val="C84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566928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5486400" cy="2743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5 시설군 스냅샷 잔존 (도서관·백화점·대형마트·CCTV·병원)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도보 추정은 직선거리 × 1.35 / 4 km·h 근사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거시·정책 변수 미포함 (LTV·DTI·재건축 인허가)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SHAP은 인과 효과 아닌 예측 기여도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단지 분할 외삽 한계 + 비교 모형 범위 제한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5669280" cy="457200"/>
          </a:xfrm>
          <a:prstGeom prst="rect">
            <a:avLst/>
          </a:prstGeom>
          <a:solidFill>
            <a:srgbClr val="4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188720"/>
            <a:ext cx="5669280" cy="45720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ea typeface="Apple SD Gothic Neo"/>
                <a:latin typeface="Apple SD Gothic Neo"/>
              </a:rPr>
              <a:t>후속 연구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37360"/>
            <a:ext cx="5486400" cy="2743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정밀 보행 네트워크 거리 (OSRM·ORS) 검증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시설 개폐업 완전 패널 + 정책 이벤트 결합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반복매매 지수와의 교차검증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LightGBM·CatBoost·TabNet과의 비교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ea typeface="Apple SD Gothic Neo"/>
                <a:latin typeface="Apple SD Gothic Neo"/>
              </a:rPr>
              <a:t>· 수도권·지방 대도시 외적 타당성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D3E5C"/>
                </a:solidFill>
                <a:ea typeface="Apple SD Gothic Neo"/>
                <a:latin typeface="Apple SD Gothic Neo"/>
              </a:rPr>
              <a:t>감사합니다 ·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