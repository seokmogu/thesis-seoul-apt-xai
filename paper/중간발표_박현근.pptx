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100" b="0">
                <a:solidFill>
                  <a:srgbClr val="333333"/>
                </a:solidFill>
                <a:ea typeface="Apple SD Gothic Neo"/>
                <a:latin typeface="Apple SD Gothic Neo"/>
              </a:rPr>
              <a:t>[표지]</a:t>
            </a:r>
          </a:p>
          <a:p>
            <a:r>
              <a:rPr sz="1100" b="0">
                <a:solidFill>
                  <a:srgbClr val="333333"/>
                </a:solidFill>
                <a:ea typeface="Apple SD Gothic Neo"/>
                <a:latin typeface="Apple SD Gothic Neo"/>
              </a:rPr>
              <a:t>안녕하십니까. 한양대학교 부동산융합대학원 도시부동산정책전공 박현근입니다.</a:t>
            </a:r>
          </a:p>
          <a:p>
            <a:r>
              <a:rPr sz="1100" b="0">
                <a:solidFill>
                  <a:srgbClr val="333333"/>
                </a:solidFill>
                <a:ea typeface="Apple SD Gothic Neo"/>
                <a:latin typeface="Apple SD Gothic Neo"/>
              </a:rPr>
              <a:t>"XGBoost와 SHAP을 활용한 서울시 아파트 단위면적당 매매가격의 설명 패턴 분석"이라는 주제로 석사학위논문 중간발표를 시작하겠습니다.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100" b="0">
                <a:solidFill>
                  <a:srgbClr val="333333"/>
                </a:solidFill>
                <a:ea typeface="Apple SD Gothic Neo"/>
                <a:latin typeface="Apple SD Gothic Neo"/>
              </a:rPr>
              <a:t>발표는 서론·선행연구·연구방법·결과·결론 다섯 부분으로 진행하겠습니다.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100" b="0">
                <a:solidFill>
                  <a:srgbClr val="333333"/>
                </a:solidFill>
                <a:ea typeface="Apple SD Gothic Neo"/>
                <a:latin typeface="Apple SD Gothic Neo"/>
              </a:rPr>
              <a:t>[INTRODUCTION 연구 배경]</a:t>
            </a:r>
          </a:p>
          <a:p>
            <a:r>
              <a:rPr sz="1100" b="0">
                <a:solidFill>
                  <a:srgbClr val="333333"/>
                </a:solidFill>
                <a:ea typeface="Apple SD Gothic Neo"/>
                <a:latin typeface="Apple SD Gothic Neo"/>
              </a:rPr>
              <a:t>본 연구의 동기는 세 층위입니다.</a:t>
            </a:r>
          </a:p>
          <a:p>
            <a:r>
              <a:rPr sz="1100" b="0">
                <a:solidFill>
                  <a:srgbClr val="333333"/>
                </a:solidFill>
                <a:ea typeface="Apple SD Gothic Neo"/>
                <a:latin typeface="Apple SD Gothic Neo"/>
              </a:rPr>
              <a:t>실무 층위에서 AVM 확산에 따라 가격 설명 프레임워크가 요구되고 있고,</a:t>
            </a:r>
          </a:p>
          <a:p>
            <a:r>
              <a:rPr sz="1100" b="0">
                <a:solidFill>
                  <a:srgbClr val="333333"/>
                </a:solidFill>
                <a:ea typeface="Apple SD Gothic Neo"/>
                <a:latin typeface="Apple SD Gothic Neo"/>
              </a:rPr>
              <a:t>학술 층위에서는 기존 ML 부동산 연구가 공간 단위 거침, 시점 정합 부재, 단일 SHAP이라는 세 공백을 공유합니다.</a:t>
            </a:r>
          </a:p>
          <a:p>
            <a:r>
              <a:rPr sz="1100" b="0">
                <a:solidFill>
                  <a:srgbClr val="333333"/>
                </a:solidFill>
                <a:ea typeface="Apple SD Gothic Neo"/>
                <a:latin typeface="Apple SD Gothic Neo"/>
              </a:rPr>
              <a:t>시장 국면 층위에서는 2019부터 2025년까지가 급등·조정·회복을 모두 포함한 7년이라는 점입니다.</a:t>
            </a:r>
          </a:p>
          <a:p>
            <a:r>
              <a:rPr sz="1100" b="0">
                <a:solidFill>
                  <a:srgbClr val="333333"/>
                </a:solidFill>
                <a:ea typeface="Apple SD Gothic Neo"/>
                <a:latin typeface="Apple SD Gothic Neo"/>
              </a:rPr>
              <a:t>이로부터 네 가지 연구 질문을 도출했습니다.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100" b="0">
                <a:solidFill>
                  <a:srgbClr val="333333"/>
                </a:solidFill>
                <a:ea typeface="Apple SD Gothic Neo"/>
                <a:latin typeface="Apple SD Gothic Neo"/>
              </a:rPr>
              <a:t>연구 질문은 공간 정합·시간 정합·시공간 이질성·해석 프레임워크 네 축이며, 기여는 방법론적 타당성·예측 성능·시공간 이질성 세 축입니다.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100" b="0">
                <a:solidFill>
                  <a:srgbClr val="333333"/>
                </a:solidFill>
                <a:ea typeface="Apple SD Gothic Neo"/>
                <a:latin typeface="Apple SD Gothic Neo"/>
              </a:rPr>
              <a:t>기존 연구의 세 공백을 정리하면 공간 단위 거침, 시간 정합성 불완전, 단일 SHAP 해석 한계입니다. 본 연구는 이 세 가지를 정면으로 다룹니다.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100" b="0">
                <a:solidFill>
                  <a:srgbClr val="333333"/>
                </a:solidFill>
                <a:ea typeface="Apple SD Gothic Neo"/>
                <a:latin typeface="Apple SD Gothic Neo"/>
              </a:rPr>
              <a:t>본 연구는 종속변수 정규화·공간 정합·시간 정합·시공간 이질성 네 축으로 기존 연구의 세 공백을 메웁니다.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100" b="0">
                <a:solidFill>
                  <a:srgbClr val="333333"/>
                </a:solidFill>
                <a:ea typeface="Apple SD Gothic Neo"/>
                <a:latin typeface="Apple SD Gothic Neo"/>
              </a:rPr>
              <a:t>서울 215개 행정동, 391,826건의 아파트 실거래를 분석했습니다. 카카오 API로 8,601개 단지를 지오코딩해 거래 100% 좌표 커버를 확보했고, 7년간 시장 국면을 모두 포함합니다.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100" b="0">
                <a:solidFill>
                  <a:srgbClr val="333333"/>
                </a:solidFill>
                <a:ea typeface="Apple SD Gothic Neo"/>
                <a:latin typeface="Apple SD Gothic Neo"/>
              </a:rPr>
              <a:t>아파트 단지 지오코딩은 3단계로 진행했습니다. 1차로 93%, 2차 쿼리 변형으로 100% 커버, 3차로 전 시설 좌표체계를 WGS84로 통일했습니다.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100" b="0">
                <a:solidFill>
                  <a:srgbClr val="333333"/>
                </a:solidFill>
                <a:ea typeface="Apple SD Gothic Neo"/>
                <a:latin typeface="Apple SD Gothic Neo"/>
              </a:rPr>
              <a:t>거리 변수는 13 시설군에 대해 최근접 거리, 반경 500m·1km·2km 개수, 도보 추정 분 4축으로 산출했습니다. 도서관 도보권은 12.0분, 백화점은 38.5분으로 차량 권역에 해당합니다.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100" b="0">
                <a:solidFill>
                  <a:srgbClr val="333333"/>
                </a:solidFill>
                <a:ea typeface="Apple SD Gothic Neo"/>
                <a:latin typeface="Apple SD Gothic Neo"/>
              </a:rPr>
              <a:t>시점 정합은 6개 시설군에 적용했고, 5개 시설군은 원자료 한계로 2026년 스냅샷을 적용하며 한계로 명시했습니다.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100" b="0">
                <a:solidFill>
                  <a:srgbClr val="333333"/>
                </a:solidFill>
                <a:ea typeface="Apple SD Gothic Neo"/>
                <a:latin typeface="Apple SD Gothic Neo"/>
              </a:rPr>
              <a:t>모형은 OLS·Random Forest·XGBoost 3종을 무작위·단지·시간순 3분할에서 비교했고, Ablation은 4 시나리오로 공간 정합·시간 정합·결합 효과를 분리했습니다.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100" b="0">
                <a:solidFill>
                  <a:srgbClr val="333333"/>
                </a:solidFill>
                <a:ea typeface="Apple SD Gothic Neo"/>
                <a:latin typeface="Apple SD Gothic Neo"/>
              </a:rPr>
              <a:t>[RESULTS Ablation]</a:t>
            </a:r>
          </a:p>
          <a:p>
            <a:r>
              <a:rPr sz="1100" b="0">
                <a:solidFill>
                  <a:srgbClr val="333333"/>
                </a:solidFill>
                <a:ea typeface="Apple SD Gothic Neo"/>
                <a:latin typeface="Apple SD Gothic Neo"/>
              </a:rPr>
              <a:t>Ablation 결과 거리 전환만으로 시간순 R²가 5.6%p 개선되었고, 시점 정합 단독 효과는 R²로는 작지만 미래 시설 정보 누수를 제거하는 방법론적 가치가 있습니다.</a:t>
            </a:r>
          </a:p>
          <a:p>
            <a:r>
              <a:rPr sz="1100" b="0">
                <a:solidFill>
                  <a:srgbClr val="333333"/>
                </a:solidFill>
                <a:ea typeface="Apple SD Gothic Neo"/>
                <a:latin typeface="Apple SD Gothic Neo"/>
              </a:rPr>
              <a:t>통합 모형 D는 무작위 0.959, 시간순 0.871, 단지 그룹 0.804로 모든 분할에서 최고 성능을 보였습니다.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100" b="0">
                <a:solidFill>
                  <a:srgbClr val="333333"/>
                </a:solidFill>
                <a:ea typeface="Apple SD Gothic Neo"/>
                <a:latin typeface="Apple SD Gothic Neo"/>
              </a:rPr>
              <a:t>시각적으로도 D 시나리오가 무작위·시간순·단지 세 분할 모두에서 가장 높은 막대를 보입니다.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100" b="0">
                <a:solidFill>
                  <a:srgbClr val="333333"/>
                </a:solidFill>
                <a:ea typeface="Apple SD Gothic Neo"/>
                <a:latin typeface="Apple SD Gothic Neo"/>
              </a:rPr>
              <a:t>전체 SHAP Top 5는 강남구분·건물연령·M2·전용면적·어린이집 1km입니다. 거리 기반 변수가 상위 8개 차지합니다.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100" b="0">
                <a:solidFill>
                  <a:srgbClr val="333333"/>
                </a:solidFill>
                <a:ea typeface="Apple SD Gothic Neo"/>
                <a:latin typeface="Apple SD Gothic Neo"/>
              </a:rPr>
              <a:t>건물연령은 25~30년 구간에서 반등하는 U자형이고, 지하철 최근접거리는 500m 이내 강한 양에서 평탄화되는 임계반응형입니다. OLS는 못 잡는 패턴입니다.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100" b="0">
                <a:solidFill>
                  <a:srgbClr val="333333"/>
                </a:solidFill>
                <a:ea typeface="Apple SD Gothic Neo"/>
                <a:latin typeface="Apple SD Gothic Neo"/>
              </a:rPr>
              <a:t>강남은 백화점·CCTV 등 상업·안전 신호, 비강남은 학원·어린이집 등 사교육·보육 신호가 상위에 있습니다.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100" b="0">
                <a:solidFill>
                  <a:srgbClr val="333333"/>
                </a:solidFill>
                <a:ea typeface="Apple SD Gothic Neo"/>
                <a:latin typeface="Apple SD Gothic Neo"/>
              </a:rPr>
              <a:t>2022년에 두 권역 모두 R² 0.857로 dip을 보입니다. 거래량 -70%와 금리 급등이 동반된 조정기에서 예측 안정성이 약화된 것으로 해석합니다.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100" b="0">
                <a:solidFill>
                  <a:srgbClr val="333333"/>
                </a:solidFill>
                <a:ea typeface="Apple SD Gothic Neo"/>
                <a:latin typeface="Apple SD Gothic Neo"/>
              </a:rPr>
              <a:t>강남 Top1은 7년간 6회 바뀌고, 비강남은 거의 매년 건물연령이 1위입니다. 두 권역의 가격 설명 구조가 서로 다른 시간 안정성을 가집니다.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100" b="0">
                <a:solidFill>
                  <a:srgbClr val="333333"/>
                </a:solidFill>
                <a:ea typeface="Apple SD Gothic Neo"/>
                <a:latin typeface="Apple SD Gothic Neo"/>
              </a:rPr>
              <a:t>학술 기여 4가지와 실무 기여 4가지를 정리했습니다.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100" b="0">
                <a:solidFill>
                  <a:srgbClr val="333333"/>
                </a:solidFill>
                <a:ea typeface="Apple SD Gothic Neo"/>
                <a:latin typeface="Apple SD Gothic Neo"/>
              </a:rPr>
              <a:t>한계와 후속 연구 방향을 정리하며 마무리합니다. 감사합니다. 질문 받겠습니다.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4.png"/><Relationship Id="rId4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Relationship Id="rId3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Relationship Id="rId3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9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0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320040"/>
            <a:ext cx="2103120" cy="411480"/>
          </a:xfrm>
          <a:prstGeom prst="rect">
            <a:avLst/>
          </a:prstGeom>
          <a:solidFill>
            <a:srgbClr val="2D3E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320040"/>
            <a:ext cx="2103120" cy="411480"/>
          </a:xfrm>
          <a:prstGeom prst="rect">
            <a:avLst/>
          </a:prstGeom>
          <a:noFill/>
        </p:spPr>
        <p:txBody>
          <a:bodyPr wrap="square" anchor="ctr" lIns="25400" rIns="25400" tIns="0" bIns="0">
            <a:spAutoFit/>
          </a:bodyPr>
          <a:lstStyle/>
          <a:p>
            <a:pPr algn="ctr">
              <a:lnSpc>
                <a:spcPct val="120000"/>
              </a:lnSpc>
            </a:pPr>
            <a:r>
              <a:rPr sz="1200" b="1">
                <a:solidFill>
                  <a:srgbClr val="FFFFFF"/>
                </a:solidFill>
                <a:ea typeface="Apple SD Gothic Neo"/>
                <a:latin typeface="Apple SD Gothic Neo"/>
              </a:rPr>
              <a:t>석사학위논문 중간발표</a:t>
            </a:r>
          </a:p>
        </p:txBody>
      </p:sp>
      <p:sp>
        <p:nvSpPr>
          <p:cNvPr id="4" name="Rectangle 3"/>
          <p:cNvSpPr/>
          <p:nvPr/>
        </p:nvSpPr>
        <p:spPr>
          <a:xfrm>
            <a:off x="365760" y="1554480"/>
            <a:ext cx="11430000" cy="2194560"/>
          </a:xfrm>
          <a:prstGeom prst="rect">
            <a:avLst/>
          </a:prstGeom>
          <a:solidFill>
            <a:srgbClr val="2D3E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1691640"/>
            <a:ext cx="11064240" cy="822960"/>
          </a:xfrm>
          <a:prstGeom prst="rect">
            <a:avLst/>
          </a:prstGeom>
          <a:noFill/>
        </p:spPr>
        <p:txBody>
          <a:bodyPr wrap="square" anchor="ctr" lIns="25400" rIns="25400" tIns="0" bIns="0">
            <a:spAutoFit/>
          </a:bodyPr>
          <a:lstStyle/>
          <a:p>
            <a:pPr algn="ctr">
              <a:lnSpc>
                <a:spcPct val="120000"/>
              </a:lnSpc>
            </a:pPr>
            <a:r>
              <a:rPr sz="3000" b="1">
                <a:solidFill>
                  <a:srgbClr val="FFFFFF"/>
                </a:solidFill>
                <a:ea typeface="Apple SD Gothic Neo"/>
                <a:latin typeface="Apple SD Gothic Neo"/>
              </a:rPr>
              <a:t>XGBoost와 SHAP을 활용한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2423160"/>
            <a:ext cx="11064240" cy="822960"/>
          </a:xfrm>
          <a:prstGeom prst="rect">
            <a:avLst/>
          </a:prstGeom>
          <a:noFill/>
        </p:spPr>
        <p:txBody>
          <a:bodyPr wrap="square" anchor="ctr" lIns="25400" rIns="25400" tIns="0" bIns="0">
            <a:spAutoFit/>
          </a:bodyPr>
          <a:lstStyle/>
          <a:p>
            <a:pPr algn="ctr">
              <a:lnSpc>
                <a:spcPct val="120000"/>
              </a:lnSpc>
            </a:pPr>
            <a:r>
              <a:rPr sz="3000" b="1">
                <a:solidFill>
                  <a:srgbClr val="FFFFFF"/>
                </a:solidFill>
                <a:ea typeface="Apple SD Gothic Neo"/>
                <a:latin typeface="Apple SD Gothic Neo"/>
              </a:rPr>
              <a:t>서울시 아파트 단위면적당 매매가격의 설명 패턴 분석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3246120"/>
            <a:ext cx="11064240" cy="457200"/>
          </a:xfrm>
          <a:prstGeom prst="rect">
            <a:avLst/>
          </a:prstGeom>
          <a:noFill/>
        </p:spPr>
        <p:txBody>
          <a:bodyPr wrap="square" anchor="ctr" lIns="25400" rIns="25400" tIns="0" bIns="0">
            <a:spAutoFit/>
          </a:bodyPr>
          <a:lstStyle/>
          <a:p>
            <a:pPr algn="ctr">
              <a:lnSpc>
                <a:spcPct val="120000"/>
              </a:lnSpc>
            </a:pPr>
            <a:r>
              <a:rPr sz="1300" b="0">
                <a:solidFill>
                  <a:srgbClr val="FFFFFF"/>
                </a:solidFill>
                <a:ea typeface="Apple SD Gothic Neo"/>
                <a:latin typeface="Apple SD Gothic Neo"/>
              </a:rPr>
              <a:t>Explanatory Patterns of Apartment Unit-Area Sale Prices in Seoul Using XGBoost and SHAP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65760" y="4114800"/>
            <a:ext cx="11430000" cy="457200"/>
          </a:xfrm>
          <a:prstGeom prst="rect">
            <a:avLst/>
          </a:prstGeom>
          <a:noFill/>
        </p:spPr>
        <p:txBody>
          <a:bodyPr wrap="square" anchor="t" lIns="25400" rIns="25400" tIns="0" bIns="0">
            <a:spAutoFit/>
          </a:bodyPr>
          <a:lstStyle/>
          <a:p>
            <a:pPr algn="ctr">
              <a:lnSpc>
                <a:spcPct val="120000"/>
              </a:lnSpc>
            </a:pPr>
            <a:r>
              <a:rPr sz="1500" b="1">
                <a:solidFill>
                  <a:srgbClr val="333333"/>
                </a:solidFill>
                <a:ea typeface="Apple SD Gothic Neo"/>
                <a:latin typeface="Apple SD Gothic Neo"/>
              </a:rPr>
              <a:t>지도교수 : 고 준 호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65760" y="5669280"/>
            <a:ext cx="11430000" cy="411480"/>
          </a:xfrm>
          <a:prstGeom prst="rect">
            <a:avLst/>
          </a:prstGeom>
          <a:noFill/>
        </p:spPr>
        <p:txBody>
          <a:bodyPr wrap="square" anchor="t" lIns="25400" rIns="25400" tIns="0" bIns="0">
            <a:spAutoFit/>
          </a:bodyPr>
          <a:lstStyle/>
          <a:p>
            <a:pPr algn="ctr">
              <a:lnSpc>
                <a:spcPct val="120000"/>
              </a:lnSpc>
            </a:pPr>
            <a:r>
              <a:rPr sz="1400" b="0">
                <a:solidFill>
                  <a:srgbClr val="333333"/>
                </a:solidFill>
                <a:ea typeface="Apple SD Gothic Neo"/>
                <a:latin typeface="Apple SD Gothic Neo"/>
              </a:rPr>
              <a:t>2026. 04.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65760" y="6035040"/>
            <a:ext cx="11430000" cy="411480"/>
          </a:xfrm>
          <a:prstGeom prst="rect">
            <a:avLst/>
          </a:prstGeom>
          <a:noFill/>
        </p:spPr>
        <p:txBody>
          <a:bodyPr wrap="square" anchor="t" lIns="25400" rIns="25400" tIns="0" bIns="0">
            <a:spAutoFit/>
          </a:bodyPr>
          <a:lstStyle/>
          <a:p>
            <a:pPr algn="ctr">
              <a:lnSpc>
                <a:spcPct val="120000"/>
              </a:lnSpc>
            </a:pPr>
            <a:r>
              <a:rPr sz="1400" b="1">
                <a:solidFill>
                  <a:srgbClr val="333333"/>
                </a:solidFill>
                <a:ea typeface="Apple SD Gothic Neo"/>
                <a:latin typeface="Apple SD Gothic Neo"/>
              </a:rPr>
              <a:t>한양대학교 부동산융합대학원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65760" y="6355080"/>
            <a:ext cx="11430000" cy="411480"/>
          </a:xfrm>
          <a:prstGeom prst="rect">
            <a:avLst/>
          </a:prstGeom>
          <a:noFill/>
        </p:spPr>
        <p:txBody>
          <a:bodyPr wrap="square" anchor="t" lIns="25400" rIns="25400" tIns="0" bIns="0">
            <a:spAutoFit/>
          </a:bodyPr>
          <a:lstStyle/>
          <a:p>
            <a:pPr algn="ctr">
              <a:lnSpc>
                <a:spcPct val="120000"/>
              </a:lnSpc>
            </a:pPr>
            <a:r>
              <a:rPr sz="1500" b="1">
                <a:solidFill>
                  <a:srgbClr val="333333"/>
                </a:solidFill>
                <a:ea typeface="Apple SD Gothic Neo"/>
                <a:latin typeface="Apple SD Gothic Neo"/>
              </a:rPr>
              <a:t>도시부동산정책전공  박  현  근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4114800" cy="6858000"/>
          </a:xfrm>
          <a:prstGeom prst="rect">
            <a:avLst/>
          </a:prstGeom>
          <a:solidFill>
            <a:srgbClr val="2D3E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0"/>
            <a:ext cx="3657600" cy="914400"/>
          </a:xfrm>
          <a:prstGeom prst="rect">
            <a:avLst/>
          </a:prstGeom>
          <a:noFill/>
        </p:spPr>
        <p:txBody>
          <a:bodyPr wrap="square" anchor="t" lIns="25400" rIns="2540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4400" b="1">
                <a:solidFill>
                  <a:srgbClr val="FFFFFF"/>
                </a:solidFill>
                <a:ea typeface="Apple SD Gothic Neo"/>
                <a:latin typeface="Apple SD Gothic Neo"/>
              </a:rPr>
              <a:t>CONTENTS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0" y="1371600"/>
            <a:ext cx="685800" cy="548640"/>
          </a:xfrm>
          <a:prstGeom prst="rect">
            <a:avLst/>
          </a:prstGeom>
          <a:solidFill>
            <a:srgbClr val="4B5D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0" y="1371600"/>
            <a:ext cx="685800" cy="548640"/>
          </a:xfrm>
          <a:prstGeom prst="rect">
            <a:avLst/>
          </a:prstGeom>
          <a:noFill/>
        </p:spPr>
        <p:txBody>
          <a:bodyPr wrap="square" anchor="ctr" lIns="25400" rIns="25400" tIns="0" bIns="0">
            <a:spAutoFit/>
          </a:bodyPr>
          <a:lstStyle/>
          <a:p>
            <a:pPr algn="ctr">
              <a:lnSpc>
                <a:spcPct val="120000"/>
              </a:lnSpc>
            </a:pPr>
            <a:r>
              <a:rPr sz="1800" b="1">
                <a:solidFill>
                  <a:srgbClr val="FFFFFF"/>
                </a:solidFill>
                <a:ea typeface="Apple SD Gothic Neo"/>
                <a:latin typeface="Apple SD Gothic Neo"/>
              </a:rPr>
              <a:t>01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0" y="1371600"/>
            <a:ext cx="6400800" cy="320040"/>
          </a:xfrm>
          <a:prstGeom prst="rect">
            <a:avLst/>
          </a:prstGeom>
          <a:noFill/>
        </p:spPr>
        <p:txBody>
          <a:bodyPr wrap="square" anchor="t" lIns="25400" rIns="2540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800" b="1">
                <a:solidFill>
                  <a:srgbClr val="2D3E5C"/>
                </a:solidFill>
                <a:ea typeface="Apple SD Gothic Neo"/>
                <a:latin typeface="Apple SD Gothic Neo"/>
              </a:rPr>
              <a:t>INTRODUCTION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0" y="1691640"/>
            <a:ext cx="6400800" cy="274320"/>
          </a:xfrm>
          <a:prstGeom prst="rect">
            <a:avLst/>
          </a:prstGeom>
          <a:noFill/>
        </p:spPr>
        <p:txBody>
          <a:bodyPr wrap="square" anchor="t" lIns="25400" rIns="2540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>
                <a:solidFill>
                  <a:srgbClr val="777777"/>
                </a:solidFill>
                <a:ea typeface="Apple SD Gothic Neo"/>
                <a:latin typeface="Apple SD Gothic Neo"/>
              </a:rPr>
              <a:t>연구 배경 및 연구 질문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0" y="2240280"/>
            <a:ext cx="685800" cy="548640"/>
          </a:xfrm>
          <a:prstGeom prst="rect">
            <a:avLst/>
          </a:prstGeom>
          <a:solidFill>
            <a:srgbClr val="4B5D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572000" y="2240280"/>
            <a:ext cx="685800" cy="548640"/>
          </a:xfrm>
          <a:prstGeom prst="rect">
            <a:avLst/>
          </a:prstGeom>
          <a:noFill/>
        </p:spPr>
        <p:txBody>
          <a:bodyPr wrap="square" anchor="ctr" lIns="25400" rIns="25400" tIns="0" bIns="0">
            <a:spAutoFit/>
          </a:bodyPr>
          <a:lstStyle/>
          <a:p>
            <a:pPr algn="ctr">
              <a:lnSpc>
                <a:spcPct val="120000"/>
              </a:lnSpc>
            </a:pPr>
            <a:r>
              <a:rPr sz="1800" b="1">
                <a:solidFill>
                  <a:srgbClr val="FFFFFF"/>
                </a:solidFill>
                <a:ea typeface="Apple SD Gothic Neo"/>
                <a:latin typeface="Apple SD Gothic Neo"/>
              </a:rPr>
              <a:t>02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0" y="2240280"/>
            <a:ext cx="6400800" cy="320040"/>
          </a:xfrm>
          <a:prstGeom prst="rect">
            <a:avLst/>
          </a:prstGeom>
          <a:noFill/>
        </p:spPr>
        <p:txBody>
          <a:bodyPr wrap="square" anchor="t" lIns="25400" rIns="2540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800" b="1">
                <a:solidFill>
                  <a:srgbClr val="2D3E5C"/>
                </a:solidFill>
                <a:ea typeface="Apple SD Gothic Neo"/>
                <a:latin typeface="Apple SD Gothic Neo"/>
              </a:rPr>
              <a:t>LITERATURE REVIEW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0" y="2560320"/>
            <a:ext cx="6400800" cy="274320"/>
          </a:xfrm>
          <a:prstGeom prst="rect">
            <a:avLst/>
          </a:prstGeom>
          <a:noFill/>
        </p:spPr>
        <p:txBody>
          <a:bodyPr wrap="square" anchor="t" lIns="25400" rIns="2540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>
                <a:solidFill>
                  <a:srgbClr val="777777"/>
                </a:solidFill>
                <a:ea typeface="Apple SD Gothic Neo"/>
                <a:latin typeface="Apple SD Gothic Neo"/>
              </a:rPr>
              <a:t>선행연구 검토와 본 연구의 차별성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572000" y="3108960"/>
            <a:ext cx="685800" cy="548640"/>
          </a:xfrm>
          <a:prstGeom prst="rect">
            <a:avLst/>
          </a:prstGeom>
          <a:solidFill>
            <a:srgbClr val="4B5D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572000" y="3108960"/>
            <a:ext cx="685800" cy="548640"/>
          </a:xfrm>
          <a:prstGeom prst="rect">
            <a:avLst/>
          </a:prstGeom>
          <a:noFill/>
        </p:spPr>
        <p:txBody>
          <a:bodyPr wrap="square" anchor="ctr" lIns="25400" rIns="25400" tIns="0" bIns="0">
            <a:spAutoFit/>
          </a:bodyPr>
          <a:lstStyle/>
          <a:p>
            <a:pPr algn="ctr">
              <a:lnSpc>
                <a:spcPct val="120000"/>
              </a:lnSpc>
            </a:pPr>
            <a:r>
              <a:rPr sz="1800" b="1">
                <a:solidFill>
                  <a:srgbClr val="FFFFFF"/>
                </a:solidFill>
                <a:ea typeface="Apple SD Gothic Neo"/>
                <a:latin typeface="Apple SD Gothic Neo"/>
              </a:rPr>
              <a:t>03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486400" y="3108960"/>
            <a:ext cx="6400800" cy="320040"/>
          </a:xfrm>
          <a:prstGeom prst="rect">
            <a:avLst/>
          </a:prstGeom>
          <a:noFill/>
        </p:spPr>
        <p:txBody>
          <a:bodyPr wrap="square" anchor="t" lIns="25400" rIns="2540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800" b="1">
                <a:solidFill>
                  <a:srgbClr val="2D3E5C"/>
                </a:solidFill>
                <a:ea typeface="Apple SD Gothic Neo"/>
                <a:latin typeface="Apple SD Gothic Neo"/>
              </a:rPr>
              <a:t>METHODS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486400" y="3429000"/>
            <a:ext cx="6400800" cy="274320"/>
          </a:xfrm>
          <a:prstGeom prst="rect">
            <a:avLst/>
          </a:prstGeom>
          <a:noFill/>
        </p:spPr>
        <p:txBody>
          <a:bodyPr wrap="square" anchor="t" lIns="25400" rIns="2540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>
                <a:solidFill>
                  <a:srgbClr val="777777"/>
                </a:solidFill>
                <a:ea typeface="Apple SD Gothic Neo"/>
                <a:latin typeface="Apple SD Gothic Neo"/>
              </a:rPr>
              <a:t>데이터·변수 설계·모형 구축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572000" y="3977639"/>
            <a:ext cx="685800" cy="548640"/>
          </a:xfrm>
          <a:prstGeom prst="rect">
            <a:avLst/>
          </a:prstGeom>
          <a:solidFill>
            <a:srgbClr val="4B5D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572000" y="3977639"/>
            <a:ext cx="685800" cy="548640"/>
          </a:xfrm>
          <a:prstGeom prst="rect">
            <a:avLst/>
          </a:prstGeom>
          <a:noFill/>
        </p:spPr>
        <p:txBody>
          <a:bodyPr wrap="square" anchor="ctr" lIns="25400" rIns="25400" tIns="0" bIns="0">
            <a:spAutoFit/>
          </a:bodyPr>
          <a:lstStyle/>
          <a:p>
            <a:pPr algn="ctr">
              <a:lnSpc>
                <a:spcPct val="120000"/>
              </a:lnSpc>
            </a:pPr>
            <a:r>
              <a:rPr sz="1800" b="1">
                <a:solidFill>
                  <a:srgbClr val="FFFFFF"/>
                </a:solidFill>
                <a:ea typeface="Apple SD Gothic Neo"/>
                <a:latin typeface="Apple SD Gothic Neo"/>
              </a:rPr>
              <a:t>04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486400" y="3977639"/>
            <a:ext cx="6400800" cy="320040"/>
          </a:xfrm>
          <a:prstGeom prst="rect">
            <a:avLst/>
          </a:prstGeom>
          <a:noFill/>
        </p:spPr>
        <p:txBody>
          <a:bodyPr wrap="square" anchor="t" lIns="25400" rIns="2540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800" b="1">
                <a:solidFill>
                  <a:srgbClr val="2D3E5C"/>
                </a:solidFill>
                <a:ea typeface="Apple SD Gothic Neo"/>
                <a:latin typeface="Apple SD Gothic Neo"/>
              </a:rPr>
              <a:t>RESULTS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486400" y="4297679"/>
            <a:ext cx="6400800" cy="274320"/>
          </a:xfrm>
          <a:prstGeom prst="rect">
            <a:avLst/>
          </a:prstGeom>
          <a:noFill/>
        </p:spPr>
        <p:txBody>
          <a:bodyPr wrap="square" anchor="t" lIns="25400" rIns="2540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>
                <a:solidFill>
                  <a:srgbClr val="777777"/>
                </a:solidFill>
                <a:ea typeface="Apple SD Gothic Neo"/>
                <a:latin typeface="Apple SD Gothic Neo"/>
              </a:rPr>
              <a:t>Ablation·SHAP·시공간 이질성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572000" y="4846320"/>
            <a:ext cx="685800" cy="548640"/>
          </a:xfrm>
          <a:prstGeom prst="rect">
            <a:avLst/>
          </a:prstGeom>
          <a:solidFill>
            <a:srgbClr val="4B5D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572000" y="4846320"/>
            <a:ext cx="685800" cy="548640"/>
          </a:xfrm>
          <a:prstGeom prst="rect">
            <a:avLst/>
          </a:prstGeom>
          <a:noFill/>
        </p:spPr>
        <p:txBody>
          <a:bodyPr wrap="square" anchor="ctr" lIns="25400" rIns="25400" tIns="0" bIns="0">
            <a:spAutoFit/>
          </a:bodyPr>
          <a:lstStyle/>
          <a:p>
            <a:pPr algn="ctr">
              <a:lnSpc>
                <a:spcPct val="120000"/>
              </a:lnSpc>
            </a:pPr>
            <a:r>
              <a:rPr sz="1800" b="1">
                <a:solidFill>
                  <a:srgbClr val="FFFFFF"/>
                </a:solidFill>
                <a:ea typeface="Apple SD Gothic Neo"/>
                <a:latin typeface="Apple SD Gothic Neo"/>
              </a:rPr>
              <a:t>05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486400" y="4846320"/>
            <a:ext cx="6400800" cy="320040"/>
          </a:xfrm>
          <a:prstGeom prst="rect">
            <a:avLst/>
          </a:prstGeom>
          <a:noFill/>
        </p:spPr>
        <p:txBody>
          <a:bodyPr wrap="square" anchor="t" lIns="25400" rIns="2540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800" b="1">
                <a:solidFill>
                  <a:srgbClr val="2D3E5C"/>
                </a:solidFill>
                <a:ea typeface="Apple SD Gothic Neo"/>
                <a:latin typeface="Apple SD Gothic Neo"/>
              </a:rPr>
              <a:t>CONCLUSION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486400" y="5166359"/>
            <a:ext cx="6400800" cy="274320"/>
          </a:xfrm>
          <a:prstGeom prst="rect">
            <a:avLst/>
          </a:prstGeom>
          <a:noFill/>
        </p:spPr>
        <p:txBody>
          <a:bodyPr wrap="square" anchor="t" lIns="25400" rIns="2540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>
                <a:solidFill>
                  <a:srgbClr val="777777"/>
                </a:solidFill>
                <a:ea typeface="Apple SD Gothic Neo"/>
                <a:latin typeface="Apple SD Gothic Neo"/>
              </a:rPr>
              <a:t>결과 요약·기여·한계</a:t>
            </a:r>
          </a:p>
        </p:txBody>
      </p:sp>
      <p:sp>
        <p:nvSpPr>
          <p:cNvPr id="24" name="Rectangle 23"/>
          <p:cNvSpPr/>
          <p:nvPr/>
        </p:nvSpPr>
        <p:spPr>
          <a:xfrm>
            <a:off x="11731752" y="6446520"/>
            <a:ext cx="457200" cy="411480"/>
          </a:xfrm>
          <a:prstGeom prst="rect">
            <a:avLst/>
          </a:prstGeom>
          <a:solidFill>
            <a:srgbClr val="2D3E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1731752" y="6446520"/>
            <a:ext cx="457200" cy="411480"/>
          </a:xfrm>
          <a:prstGeom prst="rect">
            <a:avLst/>
          </a:prstGeom>
          <a:noFill/>
        </p:spPr>
        <p:txBody>
          <a:bodyPr wrap="square" anchor="ctr" lIns="25400" rIns="25400" tIns="0" bIns="0">
            <a:spAutoFit/>
          </a:bodyPr>
          <a:lstStyle/>
          <a:p>
            <a:pPr algn="ctr">
              <a:lnSpc>
                <a:spcPct val="120000"/>
              </a:lnSpc>
            </a:pPr>
            <a:r>
              <a:rPr sz="1000" b="1">
                <a:solidFill>
                  <a:srgbClr val="FFFFFF"/>
                </a:solidFill>
                <a:ea typeface="Apple SD Gothic Neo"/>
                <a:latin typeface="Apple SD Gothic Neo"/>
              </a:rPr>
              <a:t>02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103120" cy="502920"/>
          </a:xfrm>
          <a:prstGeom prst="rect">
            <a:avLst/>
          </a:prstGeom>
          <a:solidFill>
            <a:srgbClr val="2D3E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37160" y="0"/>
            <a:ext cx="1920240" cy="502920"/>
          </a:xfrm>
          <a:prstGeom prst="rect">
            <a:avLst/>
          </a:prstGeom>
          <a:noFill/>
        </p:spPr>
        <p:txBody>
          <a:bodyPr wrap="square" anchor="ctr" lIns="25400" rIns="2540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500" b="1">
                <a:solidFill>
                  <a:srgbClr val="FFFFFF"/>
                </a:solidFill>
                <a:ea typeface="Apple SD Gothic Neo"/>
                <a:latin typeface="Apple SD Gothic Neo"/>
              </a:rPr>
              <a:t>01. INTRODUCTION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28600" y="548640"/>
            <a:ext cx="4572000" cy="365760"/>
          </a:xfrm>
          <a:prstGeom prst="rect">
            <a:avLst/>
          </a:prstGeom>
          <a:noFill/>
        </p:spPr>
        <p:txBody>
          <a:bodyPr wrap="square" anchor="ctr" lIns="25400" rIns="2540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1">
                <a:solidFill>
                  <a:srgbClr val="2D3E5C"/>
                </a:solidFill>
                <a:ea typeface="Apple SD Gothic Neo"/>
                <a:latin typeface="Apple SD Gothic Neo"/>
              </a:rPr>
              <a:t>연구 배경 : 세 가지 동기 층위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0" y="91440"/>
            <a:ext cx="7040880" cy="365760"/>
          </a:xfrm>
          <a:prstGeom prst="rect">
            <a:avLst/>
          </a:prstGeom>
          <a:noFill/>
        </p:spPr>
        <p:txBody>
          <a:bodyPr wrap="square" anchor="ctr" lIns="25400" rIns="25400" tIns="0" bIns="0">
            <a:spAutoFit/>
          </a:bodyPr>
          <a:lstStyle/>
          <a:p>
            <a:pPr algn="r">
              <a:lnSpc>
                <a:spcPct val="120000"/>
              </a:lnSpc>
            </a:pPr>
            <a:r>
              <a:rPr sz="1000" b="0">
                <a:solidFill>
                  <a:srgbClr val="777777"/>
                </a:solidFill>
                <a:ea typeface="Apple SD Gothic Neo"/>
                <a:latin typeface="Apple SD Gothic Neo"/>
              </a:rPr>
              <a:t>Explanatory Patterns of Apartment Unit-Area Sale Prices in Seoul Using XGBoost and SHAP</a:t>
            </a:r>
          </a:p>
        </p:txBody>
      </p:sp>
      <p:sp>
        <p:nvSpPr>
          <p:cNvPr id="6" name="Rectangle 5"/>
          <p:cNvSpPr/>
          <p:nvPr/>
        </p:nvSpPr>
        <p:spPr>
          <a:xfrm>
            <a:off x="228600" y="960120"/>
            <a:ext cx="11750040" cy="18288"/>
          </a:xfrm>
          <a:prstGeom prst="rect">
            <a:avLst/>
          </a:prstGeom>
          <a:solidFill>
            <a:srgbClr val="CCCC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1731752" y="6446520"/>
            <a:ext cx="457200" cy="411480"/>
          </a:xfrm>
          <a:prstGeom prst="rect">
            <a:avLst/>
          </a:prstGeom>
          <a:solidFill>
            <a:srgbClr val="2D3E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731752" y="6446520"/>
            <a:ext cx="457200" cy="411480"/>
          </a:xfrm>
          <a:prstGeom prst="rect">
            <a:avLst/>
          </a:prstGeom>
          <a:noFill/>
        </p:spPr>
        <p:txBody>
          <a:bodyPr wrap="square" anchor="ctr" lIns="25400" rIns="25400" tIns="0" bIns="0">
            <a:spAutoFit/>
          </a:bodyPr>
          <a:lstStyle/>
          <a:p>
            <a:pPr algn="ctr">
              <a:lnSpc>
                <a:spcPct val="120000"/>
              </a:lnSpc>
            </a:pPr>
            <a:r>
              <a:rPr sz="1000" b="1">
                <a:solidFill>
                  <a:srgbClr val="FFFFFF"/>
                </a:solidFill>
                <a:ea typeface="Apple SD Gothic Neo"/>
                <a:latin typeface="Apple SD Gothic Neo"/>
              </a:rPr>
              <a:t>03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1280160"/>
            <a:ext cx="3657600" cy="548640"/>
          </a:xfrm>
          <a:prstGeom prst="rect">
            <a:avLst/>
          </a:prstGeom>
          <a:solidFill>
            <a:srgbClr val="4B5D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57200" y="1280160"/>
            <a:ext cx="3657600" cy="548640"/>
          </a:xfrm>
          <a:prstGeom prst="rect">
            <a:avLst/>
          </a:prstGeom>
          <a:noFill/>
        </p:spPr>
        <p:txBody>
          <a:bodyPr wrap="square" anchor="ctr" lIns="25400" rIns="25400" tIns="0" bIns="0">
            <a:spAutoFit/>
          </a:bodyPr>
          <a:lstStyle/>
          <a:p>
            <a:pPr algn="ctr">
              <a:lnSpc>
                <a:spcPct val="120000"/>
              </a:lnSpc>
            </a:pPr>
            <a:r>
              <a:rPr sz="1400" b="1">
                <a:solidFill>
                  <a:srgbClr val="FFFFFF"/>
                </a:solidFill>
                <a:ea typeface="Apple SD Gothic Neo"/>
                <a:latin typeface="Apple SD Gothic Neo"/>
              </a:rPr>
              <a:t>실무·제도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57200" y="1828800"/>
            <a:ext cx="3657600" cy="4114800"/>
          </a:xfrm>
          <a:prstGeom prst="rect">
            <a:avLst/>
          </a:prstGeom>
          <a:solidFill>
            <a:srgbClr val="F1F3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0080" y="1965960"/>
            <a:ext cx="3291840" cy="914400"/>
          </a:xfrm>
          <a:prstGeom prst="rect">
            <a:avLst/>
          </a:prstGeom>
          <a:noFill/>
        </p:spPr>
        <p:txBody>
          <a:bodyPr wrap="square" anchor="t" lIns="25400" rIns="2540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500" b="1">
                <a:solidFill>
                  <a:srgbClr val="2D3E5C"/>
                </a:solidFill>
                <a:ea typeface="Apple SD Gothic Neo"/>
                <a:latin typeface="Apple SD Gothic Neo"/>
              </a:rPr>
              <a:t>AVM·감정평가의</a:t>
            </a:r>
          </a:p>
          <a:p>
            <a:pPr algn="l">
              <a:lnSpc>
                <a:spcPct val="120000"/>
              </a:lnSpc>
            </a:pPr>
            <a:r>
              <a:rPr sz="1500" b="1">
                <a:solidFill>
                  <a:srgbClr val="2D3E5C"/>
                </a:solidFill>
                <a:ea typeface="Apple SD Gothic Neo"/>
                <a:latin typeface="Apple SD Gothic Neo"/>
              </a:rPr>
              <a:t>설명 가능성 요구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" y="3108960"/>
            <a:ext cx="3291840" cy="2743200"/>
          </a:xfrm>
          <a:prstGeom prst="rect">
            <a:avLst/>
          </a:prstGeom>
          <a:noFill/>
        </p:spPr>
        <p:txBody>
          <a:bodyPr wrap="square" lIns="25400" rIns="25400">
            <a:spAutoFit/>
          </a:bodyPr>
          <a:lstStyle/>
          <a:p>
            <a:pPr algn="l">
              <a:lnSpc>
                <a:spcPct val="135000"/>
              </a:lnSpc>
              <a:spcAft>
                <a:spcPts val="400"/>
              </a:spcAft>
            </a:pPr>
            <a:r>
              <a:rPr sz="1100" b="0">
                <a:solidFill>
                  <a:srgbClr val="333333"/>
                </a:solidFill>
                <a:ea typeface="Apple SD Gothic Neo"/>
                <a:latin typeface="Apple SD Gothic Neo"/>
              </a:rPr>
              <a:t>· 자동감정평가(AVM) 실무 확산</a:t>
            </a:r>
          </a:p>
          <a:p>
            <a:pPr algn="l">
              <a:lnSpc>
                <a:spcPct val="135000"/>
              </a:lnSpc>
              <a:spcAft>
                <a:spcPts val="400"/>
              </a:spcAft>
            </a:pPr>
            <a:r>
              <a:rPr sz="1100" b="0">
                <a:solidFill>
                  <a:srgbClr val="333333"/>
                </a:solidFill>
                <a:ea typeface="Apple SD Gothic Neo"/>
                <a:latin typeface="Apple SD Gothic Neo"/>
              </a:rPr>
              <a:t>· 감정평가·은행·세무에서 "왜 이 가격인가" 설명 필요</a:t>
            </a:r>
          </a:p>
          <a:p>
            <a:pPr algn="l">
              <a:lnSpc>
                <a:spcPct val="135000"/>
              </a:lnSpc>
              <a:spcAft>
                <a:spcPts val="400"/>
              </a:spcAft>
            </a:pPr>
            <a:r>
              <a:rPr sz="1100" b="0">
                <a:solidFill>
                  <a:srgbClr val="333333"/>
                </a:solidFill>
                <a:ea typeface="Apple SD Gothic Neo"/>
                <a:latin typeface="Apple SD Gothic Neo"/>
              </a:rPr>
              <a:t>· 2022년 금리 급등 국면 모형 안정성 시험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343400" y="1280160"/>
            <a:ext cx="3657600" cy="548640"/>
          </a:xfrm>
          <a:prstGeom prst="rect">
            <a:avLst/>
          </a:prstGeom>
          <a:solidFill>
            <a:srgbClr val="4B5D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343400" y="1280160"/>
            <a:ext cx="3657600" cy="548640"/>
          </a:xfrm>
          <a:prstGeom prst="rect">
            <a:avLst/>
          </a:prstGeom>
          <a:noFill/>
        </p:spPr>
        <p:txBody>
          <a:bodyPr wrap="square" anchor="ctr" lIns="25400" rIns="25400" tIns="0" bIns="0">
            <a:spAutoFit/>
          </a:bodyPr>
          <a:lstStyle/>
          <a:p>
            <a:pPr algn="ctr">
              <a:lnSpc>
                <a:spcPct val="120000"/>
              </a:lnSpc>
            </a:pPr>
            <a:r>
              <a:rPr sz="1400" b="1">
                <a:solidFill>
                  <a:srgbClr val="FFFFFF"/>
                </a:solidFill>
                <a:ea typeface="Apple SD Gothic Neo"/>
                <a:latin typeface="Apple SD Gothic Neo"/>
              </a:rPr>
              <a:t>학술 공백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343400" y="1828800"/>
            <a:ext cx="3657600" cy="4114800"/>
          </a:xfrm>
          <a:prstGeom prst="rect">
            <a:avLst/>
          </a:prstGeom>
          <a:solidFill>
            <a:srgbClr val="F1F3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526280" y="1965960"/>
            <a:ext cx="3291840" cy="914400"/>
          </a:xfrm>
          <a:prstGeom prst="rect">
            <a:avLst/>
          </a:prstGeom>
          <a:noFill/>
        </p:spPr>
        <p:txBody>
          <a:bodyPr wrap="square" anchor="t" lIns="25400" rIns="2540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500" b="1">
                <a:solidFill>
                  <a:srgbClr val="2D3E5C"/>
                </a:solidFill>
                <a:ea typeface="Apple SD Gothic Neo"/>
                <a:latin typeface="Apple SD Gothic Neo"/>
              </a:rPr>
              <a:t>ML 부동산 연구의</a:t>
            </a:r>
          </a:p>
          <a:p>
            <a:pPr algn="l">
              <a:lnSpc>
                <a:spcPct val="120000"/>
              </a:lnSpc>
            </a:pPr>
            <a:r>
              <a:rPr sz="1500" b="1">
                <a:solidFill>
                  <a:srgbClr val="2D3E5C"/>
                </a:solidFill>
                <a:ea typeface="Apple SD Gothic Neo"/>
                <a:latin typeface="Apple SD Gothic Neo"/>
              </a:rPr>
              <a:t>세 공백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526280" y="3108960"/>
            <a:ext cx="3291840" cy="2743200"/>
          </a:xfrm>
          <a:prstGeom prst="rect">
            <a:avLst/>
          </a:prstGeom>
          <a:noFill/>
        </p:spPr>
        <p:txBody>
          <a:bodyPr wrap="square" lIns="25400" rIns="25400">
            <a:spAutoFit/>
          </a:bodyPr>
          <a:lstStyle/>
          <a:p>
            <a:pPr algn="l">
              <a:lnSpc>
                <a:spcPct val="135000"/>
              </a:lnSpc>
              <a:spcAft>
                <a:spcPts val="400"/>
              </a:spcAft>
            </a:pPr>
            <a:r>
              <a:rPr sz="1100" b="0">
                <a:solidFill>
                  <a:srgbClr val="333333"/>
                </a:solidFill>
                <a:ea typeface="Apple SD Gothic Neo"/>
                <a:latin typeface="Apple SD Gothic Neo"/>
              </a:rPr>
              <a:t>· 공간 단위 거침(자치구·MAUP)</a:t>
            </a:r>
          </a:p>
          <a:p>
            <a:pPr algn="l">
              <a:lnSpc>
                <a:spcPct val="135000"/>
              </a:lnSpc>
              <a:spcAft>
                <a:spcPts val="400"/>
              </a:spcAft>
            </a:pPr>
            <a:r>
              <a:rPr sz="1100" b="0">
                <a:solidFill>
                  <a:srgbClr val="333333"/>
                </a:solidFill>
                <a:ea typeface="Apple SD Gothic Neo"/>
                <a:latin typeface="Apple SD Gothic Neo"/>
              </a:rPr>
              <a:t>· 시점 정합 부재(temporal leakage)</a:t>
            </a:r>
          </a:p>
          <a:p>
            <a:pPr algn="l">
              <a:lnSpc>
                <a:spcPct val="135000"/>
              </a:lnSpc>
              <a:spcAft>
                <a:spcPts val="400"/>
              </a:spcAft>
            </a:pPr>
            <a:r>
              <a:rPr sz="1100" b="0">
                <a:solidFill>
                  <a:srgbClr val="333333"/>
                </a:solidFill>
                <a:ea typeface="Apple SD Gothic Neo"/>
                <a:latin typeface="Apple SD Gothic Neo"/>
              </a:rPr>
              <a:t>· 단일 SHAP에 머무는 해석</a:t>
            </a:r>
          </a:p>
        </p:txBody>
      </p:sp>
      <p:sp>
        <p:nvSpPr>
          <p:cNvPr id="19" name="Rectangle 18"/>
          <p:cNvSpPr/>
          <p:nvPr/>
        </p:nvSpPr>
        <p:spPr>
          <a:xfrm>
            <a:off x="8229600" y="1280160"/>
            <a:ext cx="3657600" cy="548640"/>
          </a:xfrm>
          <a:prstGeom prst="rect">
            <a:avLst/>
          </a:prstGeom>
          <a:solidFill>
            <a:srgbClr val="4B5D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229600" y="1280160"/>
            <a:ext cx="3657600" cy="548640"/>
          </a:xfrm>
          <a:prstGeom prst="rect">
            <a:avLst/>
          </a:prstGeom>
          <a:noFill/>
        </p:spPr>
        <p:txBody>
          <a:bodyPr wrap="square" anchor="ctr" lIns="25400" rIns="25400" tIns="0" bIns="0">
            <a:spAutoFit/>
          </a:bodyPr>
          <a:lstStyle/>
          <a:p>
            <a:pPr algn="ctr">
              <a:lnSpc>
                <a:spcPct val="120000"/>
              </a:lnSpc>
            </a:pPr>
            <a:r>
              <a:rPr sz="1400" b="1">
                <a:solidFill>
                  <a:srgbClr val="FFFFFF"/>
                </a:solidFill>
                <a:ea typeface="Apple SD Gothic Neo"/>
                <a:latin typeface="Apple SD Gothic Neo"/>
              </a:rPr>
              <a:t>시장 국면</a:t>
            </a:r>
          </a:p>
        </p:txBody>
      </p:sp>
      <p:sp>
        <p:nvSpPr>
          <p:cNvPr id="21" name="Rectangle 20"/>
          <p:cNvSpPr/>
          <p:nvPr/>
        </p:nvSpPr>
        <p:spPr>
          <a:xfrm>
            <a:off x="8229600" y="1828800"/>
            <a:ext cx="3657600" cy="4114800"/>
          </a:xfrm>
          <a:prstGeom prst="rect">
            <a:avLst/>
          </a:prstGeom>
          <a:solidFill>
            <a:srgbClr val="F1F3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412480" y="1965960"/>
            <a:ext cx="3291840" cy="914400"/>
          </a:xfrm>
          <a:prstGeom prst="rect">
            <a:avLst/>
          </a:prstGeom>
          <a:noFill/>
        </p:spPr>
        <p:txBody>
          <a:bodyPr wrap="square" anchor="t" lIns="25400" rIns="2540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500" b="1">
                <a:solidFill>
                  <a:srgbClr val="2D3E5C"/>
                </a:solidFill>
                <a:ea typeface="Apple SD Gothic Neo"/>
                <a:latin typeface="Apple SD Gothic Neo"/>
              </a:rPr>
              <a:t>2019~2025</a:t>
            </a:r>
          </a:p>
          <a:p>
            <a:pPr algn="l">
              <a:lnSpc>
                <a:spcPct val="120000"/>
              </a:lnSpc>
            </a:pPr>
            <a:r>
              <a:rPr sz="1500" b="1">
                <a:solidFill>
                  <a:srgbClr val="2D3E5C"/>
                </a:solidFill>
                <a:ea typeface="Apple SD Gothic Neo"/>
                <a:latin typeface="Apple SD Gothic Neo"/>
              </a:rPr>
              <a:t>급등→조정→회복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412480" y="3108960"/>
            <a:ext cx="3291840" cy="2743200"/>
          </a:xfrm>
          <a:prstGeom prst="rect">
            <a:avLst/>
          </a:prstGeom>
          <a:noFill/>
        </p:spPr>
        <p:txBody>
          <a:bodyPr wrap="square" lIns="25400" rIns="25400">
            <a:spAutoFit/>
          </a:bodyPr>
          <a:lstStyle/>
          <a:p>
            <a:pPr algn="l">
              <a:lnSpc>
                <a:spcPct val="135000"/>
              </a:lnSpc>
              <a:spcAft>
                <a:spcPts val="400"/>
              </a:spcAft>
            </a:pPr>
            <a:r>
              <a:rPr sz="1100" b="0">
                <a:solidFill>
                  <a:srgbClr val="333333"/>
                </a:solidFill>
                <a:ea typeface="Apple SD Gothic Neo"/>
                <a:latin typeface="Apple SD Gothic Neo"/>
              </a:rPr>
              <a:t>· 기준금리 0.5% → 3.5% → 2.5%</a:t>
            </a:r>
          </a:p>
          <a:p>
            <a:pPr algn="l">
              <a:lnSpc>
                <a:spcPct val="135000"/>
              </a:lnSpc>
              <a:spcAft>
                <a:spcPts val="400"/>
              </a:spcAft>
            </a:pPr>
            <a:r>
              <a:rPr sz="1100" b="0">
                <a:solidFill>
                  <a:srgbClr val="333333"/>
                </a:solidFill>
                <a:ea typeface="Apple SD Gothic Neo"/>
                <a:latin typeface="Apple SD Gothic Neo"/>
              </a:rPr>
              <a:t>· 2022 거래량 −70% (조정기)</a:t>
            </a:r>
          </a:p>
          <a:p>
            <a:pPr algn="l">
              <a:lnSpc>
                <a:spcPct val="135000"/>
              </a:lnSpc>
              <a:spcAft>
                <a:spcPts val="400"/>
              </a:spcAft>
            </a:pPr>
            <a:r>
              <a:rPr sz="1100" b="0">
                <a:solidFill>
                  <a:srgbClr val="333333"/>
                </a:solidFill>
                <a:ea typeface="Apple SD Gothic Neo"/>
                <a:latin typeface="Apple SD Gothic Neo"/>
              </a:rPr>
              <a:t>· 국면 전환기 가격 신호 재구성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57200" y="6080760"/>
            <a:ext cx="11247120" cy="411480"/>
          </a:xfrm>
          <a:prstGeom prst="rect">
            <a:avLst/>
          </a:prstGeom>
          <a:noFill/>
        </p:spPr>
        <p:txBody>
          <a:bodyPr wrap="square" anchor="t" lIns="25400" rIns="25400" tIns="0" bIns="0">
            <a:spAutoFit/>
          </a:bodyPr>
          <a:lstStyle/>
          <a:p>
            <a:pPr algn="ctr">
              <a:lnSpc>
                <a:spcPct val="120000"/>
              </a:lnSpc>
            </a:pPr>
            <a:r>
              <a:rPr sz="1300" b="1">
                <a:solidFill>
                  <a:srgbClr val="C8443D"/>
                </a:solidFill>
                <a:ea typeface="Apple SD Gothic Neo"/>
                <a:latin typeface="Apple SD Gothic Neo"/>
              </a:rPr>
              <a:t>→ 네 가지 연구 질문 (Q1 공간 정합 · Q2 시간 정합 · Q3 시공간 이질성 · Q4 해석 프레임워크)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103120" cy="502920"/>
          </a:xfrm>
          <a:prstGeom prst="rect">
            <a:avLst/>
          </a:prstGeom>
          <a:solidFill>
            <a:srgbClr val="2D3E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37160" y="0"/>
            <a:ext cx="1920240" cy="502920"/>
          </a:xfrm>
          <a:prstGeom prst="rect">
            <a:avLst/>
          </a:prstGeom>
          <a:noFill/>
        </p:spPr>
        <p:txBody>
          <a:bodyPr wrap="square" anchor="ctr" lIns="25400" rIns="2540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500" b="1">
                <a:solidFill>
                  <a:srgbClr val="FFFFFF"/>
                </a:solidFill>
                <a:ea typeface="Apple SD Gothic Neo"/>
                <a:latin typeface="Apple SD Gothic Neo"/>
              </a:rPr>
              <a:t>01. INTRODUCTION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28600" y="548640"/>
            <a:ext cx="4572000" cy="365760"/>
          </a:xfrm>
          <a:prstGeom prst="rect">
            <a:avLst/>
          </a:prstGeom>
          <a:noFill/>
        </p:spPr>
        <p:txBody>
          <a:bodyPr wrap="square" anchor="ctr" lIns="25400" rIns="2540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1">
                <a:solidFill>
                  <a:srgbClr val="2D3E5C"/>
                </a:solidFill>
                <a:ea typeface="Apple SD Gothic Neo"/>
                <a:latin typeface="Apple SD Gothic Neo"/>
              </a:rPr>
              <a:t>연구 질문과 기여 3축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0" y="91440"/>
            <a:ext cx="7040880" cy="365760"/>
          </a:xfrm>
          <a:prstGeom prst="rect">
            <a:avLst/>
          </a:prstGeom>
          <a:noFill/>
        </p:spPr>
        <p:txBody>
          <a:bodyPr wrap="square" anchor="ctr" lIns="25400" rIns="25400" tIns="0" bIns="0">
            <a:spAutoFit/>
          </a:bodyPr>
          <a:lstStyle/>
          <a:p>
            <a:pPr algn="r">
              <a:lnSpc>
                <a:spcPct val="120000"/>
              </a:lnSpc>
            </a:pPr>
            <a:r>
              <a:rPr sz="1000" b="0">
                <a:solidFill>
                  <a:srgbClr val="777777"/>
                </a:solidFill>
                <a:ea typeface="Apple SD Gothic Neo"/>
                <a:latin typeface="Apple SD Gothic Neo"/>
              </a:rPr>
              <a:t>Explanatory Patterns of Apartment Unit-Area Sale Prices in Seoul Using XGBoost and SHAP</a:t>
            </a:r>
          </a:p>
        </p:txBody>
      </p:sp>
      <p:sp>
        <p:nvSpPr>
          <p:cNvPr id="6" name="Rectangle 5"/>
          <p:cNvSpPr/>
          <p:nvPr/>
        </p:nvSpPr>
        <p:spPr>
          <a:xfrm>
            <a:off x="228600" y="960120"/>
            <a:ext cx="11750040" cy="18288"/>
          </a:xfrm>
          <a:prstGeom prst="rect">
            <a:avLst/>
          </a:prstGeom>
          <a:solidFill>
            <a:srgbClr val="CCCC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1731752" y="6446520"/>
            <a:ext cx="457200" cy="411480"/>
          </a:xfrm>
          <a:prstGeom prst="rect">
            <a:avLst/>
          </a:prstGeom>
          <a:solidFill>
            <a:srgbClr val="2D3E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731752" y="6446520"/>
            <a:ext cx="457200" cy="411480"/>
          </a:xfrm>
          <a:prstGeom prst="rect">
            <a:avLst/>
          </a:prstGeom>
          <a:noFill/>
        </p:spPr>
        <p:txBody>
          <a:bodyPr wrap="square" anchor="ctr" lIns="25400" rIns="25400" tIns="0" bIns="0">
            <a:spAutoFit/>
          </a:bodyPr>
          <a:lstStyle/>
          <a:p>
            <a:pPr algn="ctr">
              <a:lnSpc>
                <a:spcPct val="120000"/>
              </a:lnSpc>
            </a:pPr>
            <a:r>
              <a:rPr sz="1000" b="1">
                <a:solidFill>
                  <a:srgbClr val="FFFFFF"/>
                </a:solidFill>
                <a:ea typeface="Apple SD Gothic Neo"/>
                <a:latin typeface="Apple SD Gothic Neo"/>
              </a:rPr>
              <a:t>04</a:t>
            </a:r>
          </a:p>
        </p:txBody>
      </p:sp>
      <p:sp>
        <p:nvSpPr>
          <p:cNvPr id="9" name="Rectangle 8"/>
          <p:cNvSpPr/>
          <p:nvPr/>
        </p:nvSpPr>
        <p:spPr>
          <a:xfrm>
            <a:off x="365760" y="1188720"/>
            <a:ext cx="5669280" cy="457200"/>
          </a:xfrm>
          <a:prstGeom prst="rect">
            <a:avLst/>
          </a:prstGeom>
          <a:solidFill>
            <a:srgbClr val="2D3E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65760" y="1188720"/>
            <a:ext cx="5669280" cy="457200"/>
          </a:xfrm>
          <a:prstGeom prst="rect">
            <a:avLst/>
          </a:prstGeom>
          <a:noFill/>
        </p:spPr>
        <p:txBody>
          <a:bodyPr wrap="square" anchor="ctr" lIns="25400" rIns="25400" tIns="0" bIns="0">
            <a:spAutoFit/>
          </a:bodyPr>
          <a:lstStyle/>
          <a:p>
            <a:pPr algn="ctr">
              <a:lnSpc>
                <a:spcPct val="120000"/>
              </a:lnSpc>
            </a:pPr>
            <a:r>
              <a:rPr sz="1400" b="1">
                <a:solidFill>
                  <a:srgbClr val="FFFFFF"/>
                </a:solidFill>
                <a:ea typeface="Apple SD Gothic Neo"/>
                <a:latin typeface="Apple SD Gothic Neo"/>
              </a:rPr>
              <a:t>연구 질문 (Research Questions)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65760" y="1783080"/>
            <a:ext cx="502920" cy="868680"/>
          </a:xfrm>
          <a:prstGeom prst="rect">
            <a:avLst/>
          </a:prstGeom>
          <a:solidFill>
            <a:srgbClr val="4B5D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65760" y="1783080"/>
            <a:ext cx="502920" cy="868680"/>
          </a:xfrm>
          <a:prstGeom prst="rect">
            <a:avLst/>
          </a:prstGeom>
          <a:noFill/>
        </p:spPr>
        <p:txBody>
          <a:bodyPr wrap="square" anchor="ctr" lIns="25400" rIns="25400" tIns="0" bIns="0">
            <a:spAutoFit/>
          </a:bodyPr>
          <a:lstStyle/>
          <a:p>
            <a:pPr algn="ctr">
              <a:lnSpc>
                <a:spcPct val="120000"/>
              </a:lnSpc>
            </a:pPr>
            <a:r>
              <a:rPr sz="1400" b="1">
                <a:solidFill>
                  <a:srgbClr val="FFFFFF"/>
                </a:solidFill>
                <a:ea typeface="Apple SD Gothic Neo"/>
                <a:latin typeface="Apple SD Gothic Neo"/>
              </a:rPr>
              <a:t>Q1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60120" y="1828800"/>
            <a:ext cx="5074920" cy="777240"/>
          </a:xfrm>
          <a:prstGeom prst="rect">
            <a:avLst/>
          </a:prstGeom>
          <a:noFill/>
        </p:spPr>
        <p:txBody>
          <a:bodyPr wrap="square" anchor="ctr" lIns="25400" rIns="2540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0">
                <a:solidFill>
                  <a:srgbClr val="333333"/>
                </a:solidFill>
                <a:ea typeface="Apple SD Gothic Neo"/>
                <a:latin typeface="Apple SD Gothic Neo"/>
              </a:rPr>
              <a:t>거리 기반 접근성 변수가 행정동 집계 대비</a:t>
            </a:r>
          </a:p>
          <a:p>
            <a:pPr algn="l">
              <a:lnSpc>
                <a:spcPct val="120000"/>
              </a:lnSpc>
            </a:pPr>
            <a:r>
              <a:rPr sz="1100" b="0">
                <a:solidFill>
                  <a:srgbClr val="333333"/>
                </a:solidFill>
                <a:ea typeface="Apple SD Gothic Neo"/>
                <a:latin typeface="Apple SD Gothic Neo"/>
              </a:rPr>
              <a:t>예측 성능과 해석 안정성을 개선하는가?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65760" y="2743200"/>
            <a:ext cx="502920" cy="868680"/>
          </a:xfrm>
          <a:prstGeom prst="rect">
            <a:avLst/>
          </a:prstGeom>
          <a:solidFill>
            <a:srgbClr val="4B5D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65760" y="2743200"/>
            <a:ext cx="502920" cy="868680"/>
          </a:xfrm>
          <a:prstGeom prst="rect">
            <a:avLst/>
          </a:prstGeom>
          <a:noFill/>
        </p:spPr>
        <p:txBody>
          <a:bodyPr wrap="square" anchor="ctr" lIns="25400" rIns="25400" tIns="0" bIns="0">
            <a:spAutoFit/>
          </a:bodyPr>
          <a:lstStyle/>
          <a:p>
            <a:pPr algn="ctr">
              <a:lnSpc>
                <a:spcPct val="120000"/>
              </a:lnSpc>
            </a:pPr>
            <a:r>
              <a:rPr sz="1400" b="1">
                <a:solidFill>
                  <a:srgbClr val="FFFFFF"/>
                </a:solidFill>
                <a:ea typeface="Apple SD Gothic Neo"/>
                <a:latin typeface="Apple SD Gothic Neo"/>
              </a:rPr>
              <a:t>Q2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60120" y="2788920"/>
            <a:ext cx="5074920" cy="777240"/>
          </a:xfrm>
          <a:prstGeom prst="rect">
            <a:avLst/>
          </a:prstGeom>
          <a:noFill/>
        </p:spPr>
        <p:txBody>
          <a:bodyPr wrap="square" anchor="ctr" lIns="25400" rIns="2540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0">
                <a:solidFill>
                  <a:srgbClr val="333333"/>
                </a:solidFill>
                <a:ea typeface="Apple SD Gothic Neo"/>
                <a:latin typeface="Apple SD Gothic Neo"/>
              </a:rPr>
              <a:t>연도별 시점 정합 변수가 시간역전 누수를 제거하면서</a:t>
            </a:r>
          </a:p>
          <a:p>
            <a:pPr algn="l">
              <a:lnSpc>
                <a:spcPct val="120000"/>
              </a:lnSpc>
            </a:pPr>
            <a:r>
              <a:rPr sz="1100" b="0">
                <a:solidFill>
                  <a:srgbClr val="333333"/>
                </a:solidFill>
                <a:ea typeface="Apple SD Gothic Neo"/>
                <a:latin typeface="Apple SD Gothic Neo"/>
              </a:rPr>
              <a:t>시간순 분할에서의 일반화 성능을 유지하는가?</a:t>
            </a:r>
          </a:p>
        </p:txBody>
      </p:sp>
      <p:sp>
        <p:nvSpPr>
          <p:cNvPr id="17" name="Rectangle 16"/>
          <p:cNvSpPr/>
          <p:nvPr/>
        </p:nvSpPr>
        <p:spPr>
          <a:xfrm>
            <a:off x="365760" y="3703320"/>
            <a:ext cx="502920" cy="868680"/>
          </a:xfrm>
          <a:prstGeom prst="rect">
            <a:avLst/>
          </a:prstGeom>
          <a:solidFill>
            <a:srgbClr val="4B5D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65760" y="3703320"/>
            <a:ext cx="502920" cy="868680"/>
          </a:xfrm>
          <a:prstGeom prst="rect">
            <a:avLst/>
          </a:prstGeom>
          <a:noFill/>
        </p:spPr>
        <p:txBody>
          <a:bodyPr wrap="square" anchor="ctr" lIns="25400" rIns="25400" tIns="0" bIns="0">
            <a:spAutoFit/>
          </a:bodyPr>
          <a:lstStyle/>
          <a:p>
            <a:pPr algn="ctr">
              <a:lnSpc>
                <a:spcPct val="120000"/>
              </a:lnSpc>
            </a:pPr>
            <a:r>
              <a:rPr sz="1400" b="1">
                <a:solidFill>
                  <a:srgbClr val="FFFFFF"/>
                </a:solidFill>
                <a:ea typeface="Apple SD Gothic Neo"/>
                <a:latin typeface="Apple SD Gothic Neo"/>
              </a:rPr>
              <a:t>Q3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60120" y="3749039"/>
            <a:ext cx="5074920" cy="777240"/>
          </a:xfrm>
          <a:prstGeom prst="rect">
            <a:avLst/>
          </a:prstGeom>
          <a:noFill/>
        </p:spPr>
        <p:txBody>
          <a:bodyPr wrap="square" anchor="ctr" lIns="25400" rIns="2540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0">
                <a:solidFill>
                  <a:srgbClr val="333333"/>
                </a:solidFill>
                <a:ea typeface="Apple SD Gothic Neo"/>
                <a:latin typeface="Apple SD Gothic Neo"/>
              </a:rPr>
              <a:t>강남3구와 비강남의 가격 예측 신호는</a:t>
            </a:r>
          </a:p>
          <a:p>
            <a:pPr algn="l">
              <a:lnSpc>
                <a:spcPct val="120000"/>
              </a:lnSpc>
            </a:pPr>
            <a:r>
              <a:rPr sz="1100" b="0">
                <a:solidFill>
                  <a:srgbClr val="333333"/>
                </a:solidFill>
                <a:ea typeface="Apple SD Gothic Neo"/>
                <a:latin typeface="Apple SD Gothic Neo"/>
              </a:rPr>
              <a:t>구성과 연도별 변화 양상이 어떻게 다른가?</a:t>
            </a:r>
          </a:p>
        </p:txBody>
      </p:sp>
      <p:sp>
        <p:nvSpPr>
          <p:cNvPr id="20" name="Rectangle 19"/>
          <p:cNvSpPr/>
          <p:nvPr/>
        </p:nvSpPr>
        <p:spPr>
          <a:xfrm>
            <a:off x="365760" y="4663440"/>
            <a:ext cx="502920" cy="868680"/>
          </a:xfrm>
          <a:prstGeom prst="rect">
            <a:avLst/>
          </a:prstGeom>
          <a:solidFill>
            <a:srgbClr val="4B5D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365760" y="4663440"/>
            <a:ext cx="502920" cy="868680"/>
          </a:xfrm>
          <a:prstGeom prst="rect">
            <a:avLst/>
          </a:prstGeom>
          <a:noFill/>
        </p:spPr>
        <p:txBody>
          <a:bodyPr wrap="square" anchor="ctr" lIns="25400" rIns="25400" tIns="0" bIns="0">
            <a:spAutoFit/>
          </a:bodyPr>
          <a:lstStyle/>
          <a:p>
            <a:pPr algn="ctr">
              <a:lnSpc>
                <a:spcPct val="120000"/>
              </a:lnSpc>
            </a:pPr>
            <a:r>
              <a:rPr sz="1400" b="1">
                <a:solidFill>
                  <a:srgbClr val="FFFFFF"/>
                </a:solidFill>
                <a:ea typeface="Apple SD Gothic Neo"/>
                <a:latin typeface="Apple SD Gothic Neo"/>
              </a:rPr>
              <a:t>Q4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60120" y="4709160"/>
            <a:ext cx="5074920" cy="777240"/>
          </a:xfrm>
          <a:prstGeom prst="rect">
            <a:avLst/>
          </a:prstGeom>
          <a:noFill/>
        </p:spPr>
        <p:txBody>
          <a:bodyPr wrap="square" anchor="ctr" lIns="25400" rIns="2540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0">
                <a:solidFill>
                  <a:srgbClr val="333333"/>
                </a:solidFill>
                <a:ea typeface="Apple SD Gothic Neo"/>
                <a:latin typeface="Apple SD Gothic Neo"/>
              </a:rPr>
              <a:t>SHAP 권역별·연도별·면적대별 분해로 도출되는</a:t>
            </a:r>
          </a:p>
          <a:p>
            <a:pPr algn="l">
              <a:lnSpc>
                <a:spcPct val="120000"/>
              </a:lnSpc>
            </a:pPr>
            <a:r>
              <a:rPr sz="1100" b="0">
                <a:solidFill>
                  <a:srgbClr val="333333"/>
                </a:solidFill>
                <a:ea typeface="Apple SD Gothic Neo"/>
                <a:latin typeface="Apple SD Gothic Neo"/>
              </a:rPr>
              <a:t>해석 구조가 AVM 실무에 활용 가능한가?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309360" y="1188720"/>
            <a:ext cx="5486400" cy="457200"/>
          </a:xfrm>
          <a:prstGeom prst="rect">
            <a:avLst/>
          </a:prstGeom>
          <a:solidFill>
            <a:srgbClr val="2D3E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309360" y="1188720"/>
            <a:ext cx="5486400" cy="457200"/>
          </a:xfrm>
          <a:prstGeom prst="rect">
            <a:avLst/>
          </a:prstGeom>
          <a:noFill/>
        </p:spPr>
        <p:txBody>
          <a:bodyPr wrap="square" anchor="ctr" lIns="25400" rIns="25400" tIns="0" bIns="0">
            <a:spAutoFit/>
          </a:bodyPr>
          <a:lstStyle/>
          <a:p>
            <a:pPr algn="ctr">
              <a:lnSpc>
                <a:spcPct val="120000"/>
              </a:lnSpc>
            </a:pPr>
            <a:r>
              <a:rPr sz="1400" b="1">
                <a:solidFill>
                  <a:srgbClr val="FFFFFF"/>
                </a:solidFill>
                <a:ea typeface="Apple SD Gothic Neo"/>
                <a:latin typeface="Apple SD Gothic Neo"/>
              </a:rPr>
              <a:t>기여 (Contributions)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309360" y="1783080"/>
            <a:ext cx="5486400" cy="411480"/>
          </a:xfrm>
          <a:prstGeom prst="rect">
            <a:avLst/>
          </a:prstGeom>
          <a:solidFill>
            <a:srgbClr val="4B5D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446520" y="1783080"/>
            <a:ext cx="5349240" cy="411480"/>
          </a:xfrm>
          <a:prstGeom prst="rect">
            <a:avLst/>
          </a:prstGeom>
          <a:noFill/>
        </p:spPr>
        <p:txBody>
          <a:bodyPr wrap="square" anchor="ctr" lIns="25400" rIns="2540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>
                <a:solidFill>
                  <a:srgbClr val="FFFFFF"/>
                </a:solidFill>
                <a:ea typeface="Apple SD Gothic Neo"/>
                <a:latin typeface="Apple SD Gothic Neo"/>
              </a:rPr>
              <a:t>방법론적 타당성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309360" y="2286000"/>
            <a:ext cx="5486400" cy="640080"/>
          </a:xfrm>
          <a:prstGeom prst="rect">
            <a:avLst/>
          </a:prstGeom>
          <a:noFill/>
        </p:spPr>
        <p:txBody>
          <a:bodyPr wrap="square" anchor="t" lIns="25400" rIns="2540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0">
                <a:solidFill>
                  <a:srgbClr val="333333"/>
                </a:solidFill>
                <a:ea typeface="Apple SD Gothic Neo"/>
                <a:latin typeface="Apple SD Gothic Neo"/>
              </a:rPr>
              <a:t>행정동 집계·거리 기반·시점 정합·통합 4 시나리오 Ablation</a:t>
            </a:r>
          </a:p>
        </p:txBody>
      </p:sp>
      <p:sp>
        <p:nvSpPr>
          <p:cNvPr id="28" name="Rectangle 27"/>
          <p:cNvSpPr/>
          <p:nvPr/>
        </p:nvSpPr>
        <p:spPr>
          <a:xfrm>
            <a:off x="6309360" y="3063239"/>
            <a:ext cx="5486400" cy="411480"/>
          </a:xfrm>
          <a:prstGeom prst="rect">
            <a:avLst/>
          </a:prstGeom>
          <a:solidFill>
            <a:srgbClr val="4B5D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446520" y="3063239"/>
            <a:ext cx="5349240" cy="411480"/>
          </a:xfrm>
          <a:prstGeom prst="rect">
            <a:avLst/>
          </a:prstGeom>
          <a:noFill/>
        </p:spPr>
        <p:txBody>
          <a:bodyPr wrap="square" anchor="ctr" lIns="25400" rIns="2540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>
                <a:solidFill>
                  <a:srgbClr val="FFFFFF"/>
                </a:solidFill>
                <a:ea typeface="Apple SD Gothic Neo"/>
                <a:latin typeface="Apple SD Gothic Neo"/>
              </a:rPr>
              <a:t>예측 성능 개선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309360" y="3566159"/>
            <a:ext cx="5486400" cy="640080"/>
          </a:xfrm>
          <a:prstGeom prst="rect">
            <a:avLst/>
          </a:prstGeom>
          <a:noFill/>
        </p:spPr>
        <p:txBody>
          <a:bodyPr wrap="square" anchor="t" lIns="25400" rIns="2540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0">
                <a:solidFill>
                  <a:srgbClr val="333333"/>
                </a:solidFill>
                <a:ea typeface="Apple SD Gothic Neo"/>
                <a:latin typeface="Apple SD Gothic Neo"/>
              </a:rPr>
              <a:t>시간순 분할 R² +7.1%p (행정동 집계 대비) · 통합 모형 D 최고</a:t>
            </a:r>
          </a:p>
        </p:txBody>
      </p:sp>
      <p:sp>
        <p:nvSpPr>
          <p:cNvPr id="31" name="Rectangle 30"/>
          <p:cNvSpPr/>
          <p:nvPr/>
        </p:nvSpPr>
        <p:spPr>
          <a:xfrm>
            <a:off x="6309360" y="4343400"/>
            <a:ext cx="5486400" cy="411480"/>
          </a:xfrm>
          <a:prstGeom prst="rect">
            <a:avLst/>
          </a:prstGeom>
          <a:solidFill>
            <a:srgbClr val="4B5D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446520" y="4343400"/>
            <a:ext cx="5349240" cy="411480"/>
          </a:xfrm>
          <a:prstGeom prst="rect">
            <a:avLst/>
          </a:prstGeom>
          <a:noFill/>
        </p:spPr>
        <p:txBody>
          <a:bodyPr wrap="square" anchor="ctr" lIns="25400" rIns="2540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>
                <a:solidFill>
                  <a:srgbClr val="FFFFFF"/>
                </a:solidFill>
                <a:ea typeface="Apple SD Gothic Neo"/>
                <a:latin typeface="Apple SD Gothic Neo"/>
              </a:rPr>
              <a:t>시공간 이질성 해석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309360" y="4846320"/>
            <a:ext cx="5486400" cy="640080"/>
          </a:xfrm>
          <a:prstGeom prst="rect">
            <a:avLst/>
          </a:prstGeom>
          <a:noFill/>
        </p:spPr>
        <p:txBody>
          <a:bodyPr wrap="square" anchor="t" lIns="25400" rIns="2540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0">
                <a:solidFill>
                  <a:srgbClr val="333333"/>
                </a:solidFill>
                <a:ea typeface="Apple SD Gothic Neo"/>
                <a:latin typeface="Apple SD Gothic Neo"/>
              </a:rPr>
              <a:t>권역×연도 21 SHAP — 강남 6회 Top1 교체 vs 비강남 7년 안정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103120" cy="502920"/>
          </a:xfrm>
          <a:prstGeom prst="rect">
            <a:avLst/>
          </a:prstGeom>
          <a:solidFill>
            <a:srgbClr val="2D3E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37160" y="0"/>
            <a:ext cx="1920240" cy="502920"/>
          </a:xfrm>
          <a:prstGeom prst="rect">
            <a:avLst/>
          </a:prstGeom>
          <a:noFill/>
        </p:spPr>
        <p:txBody>
          <a:bodyPr wrap="square" anchor="ctr" lIns="25400" rIns="2540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500" b="1">
                <a:solidFill>
                  <a:srgbClr val="FFFFFF"/>
                </a:solidFill>
                <a:ea typeface="Apple SD Gothic Neo"/>
                <a:latin typeface="Apple SD Gothic Neo"/>
              </a:rPr>
              <a:t>02. LITERATURE REVIEW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28600" y="548640"/>
            <a:ext cx="4572000" cy="365760"/>
          </a:xfrm>
          <a:prstGeom prst="rect">
            <a:avLst/>
          </a:prstGeom>
          <a:noFill/>
        </p:spPr>
        <p:txBody>
          <a:bodyPr wrap="square" anchor="ctr" lIns="25400" rIns="2540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1">
                <a:solidFill>
                  <a:srgbClr val="2D3E5C"/>
                </a:solidFill>
                <a:ea typeface="Apple SD Gothic Neo"/>
                <a:latin typeface="Apple SD Gothic Neo"/>
              </a:rPr>
              <a:t>국내외 ML 부동산 연구의 세 공백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0" y="91440"/>
            <a:ext cx="7040880" cy="365760"/>
          </a:xfrm>
          <a:prstGeom prst="rect">
            <a:avLst/>
          </a:prstGeom>
          <a:noFill/>
        </p:spPr>
        <p:txBody>
          <a:bodyPr wrap="square" anchor="ctr" lIns="25400" rIns="25400" tIns="0" bIns="0">
            <a:spAutoFit/>
          </a:bodyPr>
          <a:lstStyle/>
          <a:p>
            <a:pPr algn="r">
              <a:lnSpc>
                <a:spcPct val="120000"/>
              </a:lnSpc>
            </a:pPr>
            <a:r>
              <a:rPr sz="1000" b="0">
                <a:solidFill>
                  <a:srgbClr val="777777"/>
                </a:solidFill>
                <a:ea typeface="Apple SD Gothic Neo"/>
                <a:latin typeface="Apple SD Gothic Neo"/>
              </a:rPr>
              <a:t>Explanatory Patterns of Apartment Unit-Area Sale Prices in Seoul Using XGBoost and SHAP</a:t>
            </a:r>
          </a:p>
        </p:txBody>
      </p:sp>
      <p:sp>
        <p:nvSpPr>
          <p:cNvPr id="6" name="Rectangle 5"/>
          <p:cNvSpPr/>
          <p:nvPr/>
        </p:nvSpPr>
        <p:spPr>
          <a:xfrm>
            <a:off x="228600" y="960120"/>
            <a:ext cx="11750040" cy="18288"/>
          </a:xfrm>
          <a:prstGeom prst="rect">
            <a:avLst/>
          </a:prstGeom>
          <a:solidFill>
            <a:srgbClr val="CCCC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1731752" y="6446520"/>
            <a:ext cx="457200" cy="411480"/>
          </a:xfrm>
          <a:prstGeom prst="rect">
            <a:avLst/>
          </a:prstGeom>
          <a:solidFill>
            <a:srgbClr val="2D3E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731752" y="6446520"/>
            <a:ext cx="457200" cy="411480"/>
          </a:xfrm>
          <a:prstGeom prst="rect">
            <a:avLst/>
          </a:prstGeom>
          <a:noFill/>
        </p:spPr>
        <p:txBody>
          <a:bodyPr wrap="square" anchor="ctr" lIns="25400" rIns="25400" tIns="0" bIns="0">
            <a:spAutoFit/>
          </a:bodyPr>
          <a:lstStyle/>
          <a:p>
            <a:pPr algn="ctr">
              <a:lnSpc>
                <a:spcPct val="120000"/>
              </a:lnSpc>
            </a:pPr>
            <a:r>
              <a:rPr sz="1000" b="1">
                <a:solidFill>
                  <a:srgbClr val="FFFFFF"/>
                </a:solidFill>
                <a:ea typeface="Apple SD Gothic Neo"/>
                <a:latin typeface="Apple SD Gothic Neo"/>
              </a:rPr>
              <a:t>05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65760" y="1143000"/>
            <a:ext cx="11430000" cy="365760"/>
          </a:xfrm>
          <a:prstGeom prst="rect">
            <a:avLst/>
          </a:prstGeom>
          <a:noFill/>
        </p:spPr>
        <p:txBody>
          <a:bodyPr wrap="square" anchor="t" lIns="25400" rIns="2540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>
                <a:solidFill>
                  <a:srgbClr val="333333"/>
                </a:solidFill>
                <a:ea typeface="Apple SD Gothic Neo"/>
                <a:latin typeface="Apple SD Gothic Neo"/>
              </a:rPr>
              <a:t>서울 부동산 ML 예측 연구는 다수 존재(김이환 2022, 김학현 2023, 조보근 2020, Chun 2025, Kim 2025) — 그러나 다음 세 공백 공유</a:t>
            </a:r>
          </a:p>
        </p:txBody>
      </p:sp>
      <p:sp>
        <p:nvSpPr>
          <p:cNvPr id="10" name="Rectangle 9"/>
          <p:cNvSpPr/>
          <p:nvPr/>
        </p:nvSpPr>
        <p:spPr>
          <a:xfrm>
            <a:off x="365760" y="1691640"/>
            <a:ext cx="1280160" cy="1280160"/>
          </a:xfrm>
          <a:prstGeom prst="rect">
            <a:avLst/>
          </a:prstGeom>
          <a:solidFill>
            <a:srgbClr val="C844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65760" y="1691640"/>
            <a:ext cx="1280160" cy="457200"/>
          </a:xfrm>
          <a:prstGeom prst="rect">
            <a:avLst/>
          </a:prstGeom>
          <a:noFill/>
        </p:spPr>
        <p:txBody>
          <a:bodyPr wrap="square" anchor="ctr" lIns="25400" rIns="25400" tIns="0" bIns="0">
            <a:spAutoFit/>
          </a:bodyPr>
          <a:lstStyle/>
          <a:p>
            <a:pPr algn="ctr">
              <a:lnSpc>
                <a:spcPct val="120000"/>
              </a:lnSpc>
            </a:pPr>
            <a:r>
              <a:rPr sz="1400" b="1">
                <a:solidFill>
                  <a:srgbClr val="FFFFFF"/>
                </a:solidFill>
                <a:ea typeface="Apple SD Gothic Neo"/>
                <a:latin typeface="Apple SD Gothic Neo"/>
              </a:rPr>
              <a:t>GAP 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65760" y="2148840"/>
            <a:ext cx="1280160" cy="822960"/>
          </a:xfrm>
          <a:prstGeom prst="rect">
            <a:avLst/>
          </a:prstGeom>
          <a:noFill/>
        </p:spPr>
        <p:txBody>
          <a:bodyPr wrap="square" anchor="ctr" lIns="25400" rIns="25400" tIns="0" bIns="0">
            <a:spAutoFit/>
          </a:bodyPr>
          <a:lstStyle/>
          <a:p>
            <a:pPr algn="ctr">
              <a:lnSpc>
                <a:spcPct val="120000"/>
              </a:lnSpc>
            </a:pPr>
            <a:r>
              <a:rPr sz="1100" b="1">
                <a:solidFill>
                  <a:srgbClr val="FFFFFF"/>
                </a:solidFill>
                <a:ea typeface="Apple SD Gothic Neo"/>
                <a:latin typeface="Apple SD Gothic Neo"/>
              </a:rPr>
              <a:t>공간 단위가 거침</a:t>
            </a:r>
          </a:p>
        </p:txBody>
      </p:sp>
      <p:sp>
        <p:nvSpPr>
          <p:cNvPr id="13" name="Rectangle 12"/>
          <p:cNvSpPr/>
          <p:nvPr/>
        </p:nvSpPr>
        <p:spPr>
          <a:xfrm>
            <a:off x="1783080" y="1691640"/>
            <a:ext cx="10012680" cy="1280160"/>
          </a:xfrm>
          <a:prstGeom prst="rect">
            <a:avLst/>
          </a:prstGeom>
          <a:solidFill>
            <a:srgbClr val="F1F3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965960" y="1828800"/>
            <a:ext cx="9692640" cy="411480"/>
          </a:xfrm>
          <a:prstGeom prst="rect">
            <a:avLst/>
          </a:prstGeom>
          <a:noFill/>
        </p:spPr>
        <p:txBody>
          <a:bodyPr wrap="square" anchor="ctr" lIns="25400" rIns="2540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>
                <a:solidFill>
                  <a:srgbClr val="2D3E5C"/>
                </a:solidFill>
                <a:ea typeface="Apple SD Gothic Neo"/>
                <a:latin typeface="Apple SD Gothic Neo"/>
              </a:rPr>
              <a:t>MAUP
(Modifiable Areal Unit Problem)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965960" y="2331720"/>
            <a:ext cx="9692640" cy="594360"/>
          </a:xfrm>
          <a:prstGeom prst="rect">
            <a:avLst/>
          </a:prstGeom>
          <a:noFill/>
        </p:spPr>
        <p:txBody>
          <a:bodyPr wrap="square" anchor="ctr" lIns="25400" rIns="2540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>
                <a:solidFill>
                  <a:srgbClr val="333333"/>
                </a:solidFill>
                <a:ea typeface="Apple SD Gothic Neo"/>
                <a:latin typeface="Apple SD Gothic Neo"/>
              </a:rPr>
              <a:t>자치구(25개) 또는 법정동 단위 집계 변수 사용 → 미시 입지 신호 가려짐</a:t>
            </a:r>
          </a:p>
        </p:txBody>
      </p:sp>
      <p:sp>
        <p:nvSpPr>
          <p:cNvPr id="16" name="Rectangle 15"/>
          <p:cNvSpPr/>
          <p:nvPr/>
        </p:nvSpPr>
        <p:spPr>
          <a:xfrm>
            <a:off x="365760" y="3154680"/>
            <a:ext cx="1280160" cy="1280160"/>
          </a:xfrm>
          <a:prstGeom prst="rect">
            <a:avLst/>
          </a:prstGeom>
          <a:solidFill>
            <a:srgbClr val="C844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65760" y="3154680"/>
            <a:ext cx="1280160" cy="457200"/>
          </a:xfrm>
          <a:prstGeom prst="rect">
            <a:avLst/>
          </a:prstGeom>
          <a:noFill/>
        </p:spPr>
        <p:txBody>
          <a:bodyPr wrap="square" anchor="ctr" lIns="25400" rIns="25400" tIns="0" bIns="0">
            <a:spAutoFit/>
          </a:bodyPr>
          <a:lstStyle/>
          <a:p>
            <a:pPr algn="ctr">
              <a:lnSpc>
                <a:spcPct val="120000"/>
              </a:lnSpc>
            </a:pPr>
            <a:r>
              <a:rPr sz="1400" b="1">
                <a:solidFill>
                  <a:srgbClr val="FFFFFF"/>
                </a:solidFill>
                <a:ea typeface="Apple SD Gothic Neo"/>
                <a:latin typeface="Apple SD Gothic Neo"/>
              </a:rPr>
              <a:t>GAP 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65760" y="3611880"/>
            <a:ext cx="1280160" cy="822960"/>
          </a:xfrm>
          <a:prstGeom prst="rect">
            <a:avLst/>
          </a:prstGeom>
          <a:noFill/>
        </p:spPr>
        <p:txBody>
          <a:bodyPr wrap="square" anchor="ctr" lIns="25400" rIns="25400" tIns="0" bIns="0">
            <a:spAutoFit/>
          </a:bodyPr>
          <a:lstStyle/>
          <a:p>
            <a:pPr algn="ctr">
              <a:lnSpc>
                <a:spcPct val="120000"/>
              </a:lnSpc>
            </a:pPr>
            <a:r>
              <a:rPr sz="1100" b="1">
                <a:solidFill>
                  <a:srgbClr val="FFFFFF"/>
                </a:solidFill>
                <a:ea typeface="Apple SD Gothic Neo"/>
                <a:latin typeface="Apple SD Gothic Neo"/>
              </a:rPr>
              <a:t>시간 정합성 불완전</a:t>
            </a:r>
          </a:p>
        </p:txBody>
      </p:sp>
      <p:sp>
        <p:nvSpPr>
          <p:cNvPr id="19" name="Rectangle 18"/>
          <p:cNvSpPr/>
          <p:nvPr/>
        </p:nvSpPr>
        <p:spPr>
          <a:xfrm>
            <a:off x="1783080" y="3154680"/>
            <a:ext cx="10012680" cy="1280160"/>
          </a:xfrm>
          <a:prstGeom prst="rect">
            <a:avLst/>
          </a:prstGeom>
          <a:solidFill>
            <a:srgbClr val="F1F3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965960" y="3291840"/>
            <a:ext cx="9692640" cy="411480"/>
          </a:xfrm>
          <a:prstGeom prst="rect">
            <a:avLst/>
          </a:prstGeom>
          <a:noFill/>
        </p:spPr>
        <p:txBody>
          <a:bodyPr wrap="square" anchor="ctr" lIns="25400" rIns="2540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>
                <a:solidFill>
                  <a:srgbClr val="2D3E5C"/>
                </a:solidFill>
                <a:ea typeface="Apple SD Gothic Neo"/>
                <a:latin typeface="Apple SD Gothic Neo"/>
              </a:rPr>
              <a:t>Temporal Leakage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965960" y="3794760"/>
            <a:ext cx="9692640" cy="594360"/>
          </a:xfrm>
          <a:prstGeom prst="rect">
            <a:avLst/>
          </a:prstGeom>
          <a:noFill/>
        </p:spPr>
        <p:txBody>
          <a:bodyPr wrap="square" anchor="ctr" lIns="25400" rIns="2540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>
                <a:solidFill>
                  <a:srgbClr val="333333"/>
                </a:solidFill>
                <a:ea typeface="Apple SD Gothic Neo"/>
                <a:latin typeface="Apple SD Gothic Neo"/>
              </a:rPr>
              <a:t>환경 변수를 수집 시점 stock으로 분석 기간 전체 병합 → 미래 시설 정보가 과거 거래에 소급 적용</a:t>
            </a:r>
          </a:p>
        </p:txBody>
      </p:sp>
      <p:sp>
        <p:nvSpPr>
          <p:cNvPr id="22" name="Rectangle 21"/>
          <p:cNvSpPr/>
          <p:nvPr/>
        </p:nvSpPr>
        <p:spPr>
          <a:xfrm>
            <a:off x="365760" y="4617720"/>
            <a:ext cx="1280160" cy="1280160"/>
          </a:xfrm>
          <a:prstGeom prst="rect">
            <a:avLst/>
          </a:prstGeom>
          <a:solidFill>
            <a:srgbClr val="C844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365760" y="4617720"/>
            <a:ext cx="1280160" cy="457200"/>
          </a:xfrm>
          <a:prstGeom prst="rect">
            <a:avLst/>
          </a:prstGeom>
          <a:noFill/>
        </p:spPr>
        <p:txBody>
          <a:bodyPr wrap="square" anchor="ctr" lIns="25400" rIns="25400" tIns="0" bIns="0">
            <a:spAutoFit/>
          </a:bodyPr>
          <a:lstStyle/>
          <a:p>
            <a:pPr algn="ctr">
              <a:lnSpc>
                <a:spcPct val="120000"/>
              </a:lnSpc>
            </a:pPr>
            <a:r>
              <a:rPr sz="1400" b="1">
                <a:solidFill>
                  <a:srgbClr val="FFFFFF"/>
                </a:solidFill>
                <a:ea typeface="Apple SD Gothic Neo"/>
                <a:latin typeface="Apple SD Gothic Neo"/>
              </a:rPr>
              <a:t>GAP 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65760" y="5074920"/>
            <a:ext cx="1280160" cy="822960"/>
          </a:xfrm>
          <a:prstGeom prst="rect">
            <a:avLst/>
          </a:prstGeom>
          <a:noFill/>
        </p:spPr>
        <p:txBody>
          <a:bodyPr wrap="square" anchor="ctr" lIns="25400" rIns="25400" tIns="0" bIns="0">
            <a:spAutoFit/>
          </a:bodyPr>
          <a:lstStyle/>
          <a:p>
            <a:pPr algn="ctr">
              <a:lnSpc>
                <a:spcPct val="120000"/>
              </a:lnSpc>
            </a:pPr>
            <a:r>
              <a:rPr sz="1100" b="1">
                <a:solidFill>
                  <a:srgbClr val="FFFFFF"/>
                </a:solidFill>
                <a:ea typeface="Apple SD Gothic Neo"/>
                <a:latin typeface="Apple SD Gothic Neo"/>
              </a:rPr>
              <a:t>해석이 단일 SHAP에 머묾</a:t>
            </a:r>
          </a:p>
        </p:txBody>
      </p:sp>
      <p:sp>
        <p:nvSpPr>
          <p:cNvPr id="25" name="Rectangle 24"/>
          <p:cNvSpPr/>
          <p:nvPr/>
        </p:nvSpPr>
        <p:spPr>
          <a:xfrm>
            <a:off x="1783080" y="4617720"/>
            <a:ext cx="10012680" cy="1280160"/>
          </a:xfrm>
          <a:prstGeom prst="rect">
            <a:avLst/>
          </a:prstGeom>
          <a:solidFill>
            <a:srgbClr val="F1F3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965960" y="4754880"/>
            <a:ext cx="9692640" cy="411480"/>
          </a:xfrm>
          <a:prstGeom prst="rect">
            <a:avLst/>
          </a:prstGeom>
          <a:noFill/>
        </p:spPr>
        <p:txBody>
          <a:bodyPr wrap="square" anchor="ctr" lIns="25400" rIns="2540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>
                <a:solidFill>
                  <a:srgbClr val="2D3E5C"/>
                </a:solidFill>
                <a:ea typeface="Apple SD Gothic Neo"/>
                <a:latin typeface="Apple SD Gothic Neo"/>
              </a:rPr>
              <a:t>Aggregate-only SHAP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965960" y="5257800"/>
            <a:ext cx="9692640" cy="594360"/>
          </a:xfrm>
          <a:prstGeom prst="rect">
            <a:avLst/>
          </a:prstGeom>
          <a:noFill/>
        </p:spPr>
        <p:txBody>
          <a:bodyPr wrap="square" anchor="ctr" lIns="25400" rIns="2540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>
                <a:solidFill>
                  <a:srgbClr val="333333"/>
                </a:solidFill>
                <a:ea typeface="Apple SD Gothic Neo"/>
                <a:latin typeface="Apple SD Gothic Neo"/>
              </a:rPr>
              <a:t>권역(강남/비강남)·연도(국면)·면적대(생애주기) 간 설명 신호의 이질성 미포착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103120" cy="502920"/>
          </a:xfrm>
          <a:prstGeom prst="rect">
            <a:avLst/>
          </a:prstGeom>
          <a:solidFill>
            <a:srgbClr val="2D3E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37160" y="0"/>
            <a:ext cx="1920240" cy="502920"/>
          </a:xfrm>
          <a:prstGeom prst="rect">
            <a:avLst/>
          </a:prstGeom>
          <a:noFill/>
        </p:spPr>
        <p:txBody>
          <a:bodyPr wrap="square" anchor="ctr" lIns="25400" rIns="2540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500" b="1">
                <a:solidFill>
                  <a:srgbClr val="FFFFFF"/>
                </a:solidFill>
                <a:ea typeface="Apple SD Gothic Neo"/>
                <a:latin typeface="Apple SD Gothic Neo"/>
              </a:rPr>
              <a:t>02. LITERATURE REVIEW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28600" y="548640"/>
            <a:ext cx="4572000" cy="365760"/>
          </a:xfrm>
          <a:prstGeom prst="rect">
            <a:avLst/>
          </a:prstGeom>
          <a:noFill/>
        </p:spPr>
        <p:txBody>
          <a:bodyPr wrap="square" anchor="ctr" lIns="25400" rIns="2540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1">
                <a:solidFill>
                  <a:srgbClr val="2D3E5C"/>
                </a:solidFill>
                <a:ea typeface="Apple SD Gothic Neo"/>
                <a:latin typeface="Apple SD Gothic Neo"/>
              </a:rPr>
              <a:t>본 연구의 차별성 — 세 공백을 메우는 네 축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0" y="91440"/>
            <a:ext cx="7040880" cy="365760"/>
          </a:xfrm>
          <a:prstGeom prst="rect">
            <a:avLst/>
          </a:prstGeom>
          <a:noFill/>
        </p:spPr>
        <p:txBody>
          <a:bodyPr wrap="square" anchor="ctr" lIns="25400" rIns="25400" tIns="0" bIns="0">
            <a:spAutoFit/>
          </a:bodyPr>
          <a:lstStyle/>
          <a:p>
            <a:pPr algn="r">
              <a:lnSpc>
                <a:spcPct val="120000"/>
              </a:lnSpc>
            </a:pPr>
            <a:r>
              <a:rPr sz="1000" b="0">
                <a:solidFill>
                  <a:srgbClr val="777777"/>
                </a:solidFill>
                <a:ea typeface="Apple SD Gothic Neo"/>
                <a:latin typeface="Apple SD Gothic Neo"/>
              </a:rPr>
              <a:t>Explanatory Patterns of Apartment Unit-Area Sale Prices in Seoul Using XGBoost and SHAP</a:t>
            </a:r>
          </a:p>
        </p:txBody>
      </p:sp>
      <p:sp>
        <p:nvSpPr>
          <p:cNvPr id="6" name="Rectangle 5"/>
          <p:cNvSpPr/>
          <p:nvPr/>
        </p:nvSpPr>
        <p:spPr>
          <a:xfrm>
            <a:off x="228600" y="960120"/>
            <a:ext cx="11750040" cy="18288"/>
          </a:xfrm>
          <a:prstGeom prst="rect">
            <a:avLst/>
          </a:prstGeom>
          <a:solidFill>
            <a:srgbClr val="CCCC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1731752" y="6446520"/>
            <a:ext cx="457200" cy="411480"/>
          </a:xfrm>
          <a:prstGeom prst="rect">
            <a:avLst/>
          </a:prstGeom>
          <a:solidFill>
            <a:srgbClr val="2D3E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731752" y="6446520"/>
            <a:ext cx="457200" cy="411480"/>
          </a:xfrm>
          <a:prstGeom prst="rect">
            <a:avLst/>
          </a:prstGeom>
          <a:noFill/>
        </p:spPr>
        <p:txBody>
          <a:bodyPr wrap="square" anchor="ctr" lIns="25400" rIns="25400" tIns="0" bIns="0">
            <a:spAutoFit/>
          </a:bodyPr>
          <a:lstStyle/>
          <a:p>
            <a:pPr algn="ctr">
              <a:lnSpc>
                <a:spcPct val="120000"/>
              </a:lnSpc>
            </a:pPr>
            <a:r>
              <a:rPr sz="1000" b="1">
                <a:solidFill>
                  <a:srgbClr val="FFFFFF"/>
                </a:solidFill>
                <a:ea typeface="Apple SD Gothic Neo"/>
                <a:latin typeface="Apple SD Gothic Neo"/>
              </a:rPr>
              <a:t>06</a:t>
            </a:r>
          </a:p>
        </p:txBody>
      </p:sp>
      <p:sp>
        <p:nvSpPr>
          <p:cNvPr id="9" name="Rectangle 8"/>
          <p:cNvSpPr/>
          <p:nvPr/>
        </p:nvSpPr>
        <p:spPr>
          <a:xfrm>
            <a:off x="365760" y="1371600"/>
            <a:ext cx="3200400" cy="1051560"/>
          </a:xfrm>
          <a:prstGeom prst="rect">
            <a:avLst/>
          </a:prstGeom>
          <a:solidFill>
            <a:srgbClr val="2D3E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57200" y="1508760"/>
            <a:ext cx="3017520" cy="411480"/>
          </a:xfrm>
          <a:prstGeom prst="rect">
            <a:avLst/>
          </a:prstGeom>
          <a:noFill/>
        </p:spPr>
        <p:txBody>
          <a:bodyPr wrap="square" anchor="t" lIns="25400" rIns="2540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>
                <a:solidFill>
                  <a:srgbClr val="FFFFFF"/>
                </a:solidFill>
                <a:ea typeface="Apple SD Gothic Neo"/>
                <a:latin typeface="Apple SD Gothic Neo"/>
              </a:rPr>
              <a:t>1. 종속변수 정규화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1920240"/>
            <a:ext cx="3017520" cy="457200"/>
          </a:xfrm>
          <a:prstGeom prst="rect">
            <a:avLst/>
          </a:prstGeom>
          <a:noFill/>
        </p:spPr>
        <p:txBody>
          <a:bodyPr wrap="square" anchor="t" lIns="25400" rIns="2540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>
                <a:solidFill>
                  <a:srgbClr val="FFFFFF"/>
                </a:solidFill>
                <a:ea typeface="Apple SD Gothic Neo"/>
                <a:latin typeface="Apple SD Gothic Neo"/>
              </a:rPr>
              <a:t>log(㎡당 가격)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657600" y="1371600"/>
            <a:ext cx="8138160" cy="1051560"/>
          </a:xfrm>
          <a:prstGeom prst="rect">
            <a:avLst/>
          </a:prstGeom>
          <a:solidFill>
            <a:srgbClr val="F1F3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840480" y="1508760"/>
            <a:ext cx="7863840" cy="777240"/>
          </a:xfrm>
          <a:prstGeom prst="rect">
            <a:avLst/>
          </a:prstGeom>
          <a:noFill/>
        </p:spPr>
        <p:txBody>
          <a:bodyPr wrap="square" anchor="ctr" lIns="25400" rIns="2540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>
                <a:solidFill>
                  <a:srgbClr val="333333"/>
                </a:solidFill>
                <a:ea typeface="Apple SD Gothic Neo"/>
                <a:latin typeface="Apple SD Gothic Neo"/>
              </a:rPr>
              <a:t>규모효과 분리 → 질적·입지 신호 부각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65760" y="2606040"/>
            <a:ext cx="3200400" cy="1051560"/>
          </a:xfrm>
          <a:prstGeom prst="rect">
            <a:avLst/>
          </a:prstGeom>
          <a:solidFill>
            <a:srgbClr val="2D3E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57200" y="2743200"/>
            <a:ext cx="3017520" cy="411480"/>
          </a:xfrm>
          <a:prstGeom prst="rect">
            <a:avLst/>
          </a:prstGeom>
          <a:noFill/>
        </p:spPr>
        <p:txBody>
          <a:bodyPr wrap="square" anchor="t" lIns="25400" rIns="2540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>
                <a:solidFill>
                  <a:srgbClr val="FFFFFF"/>
                </a:solidFill>
                <a:ea typeface="Apple SD Gothic Neo"/>
                <a:latin typeface="Apple SD Gothic Neo"/>
              </a:rPr>
              <a:t>2. 공간 정합 개선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7200" y="3154680"/>
            <a:ext cx="3017520" cy="457200"/>
          </a:xfrm>
          <a:prstGeom prst="rect">
            <a:avLst/>
          </a:prstGeom>
          <a:noFill/>
        </p:spPr>
        <p:txBody>
          <a:bodyPr wrap="square" anchor="t" lIns="25400" rIns="2540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>
                <a:solidFill>
                  <a:srgbClr val="FFFFFF"/>
                </a:solidFill>
                <a:ea typeface="Apple SD Gothic Neo"/>
                <a:latin typeface="Apple SD Gothic Neo"/>
              </a:rPr>
              <a:t>거리 기반 접근성</a:t>
            </a:r>
          </a:p>
        </p:txBody>
      </p:sp>
      <p:sp>
        <p:nvSpPr>
          <p:cNvPr id="17" name="Rectangle 16"/>
          <p:cNvSpPr/>
          <p:nvPr/>
        </p:nvSpPr>
        <p:spPr>
          <a:xfrm>
            <a:off x="3657600" y="2606040"/>
            <a:ext cx="8138160" cy="1051560"/>
          </a:xfrm>
          <a:prstGeom prst="rect">
            <a:avLst/>
          </a:prstGeom>
          <a:solidFill>
            <a:srgbClr val="F1F3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840480" y="2743200"/>
            <a:ext cx="7863840" cy="777240"/>
          </a:xfrm>
          <a:prstGeom prst="rect">
            <a:avLst/>
          </a:prstGeom>
          <a:noFill/>
        </p:spPr>
        <p:txBody>
          <a:bodyPr wrap="square" anchor="ctr" lIns="25400" rIns="2540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>
                <a:solidFill>
                  <a:srgbClr val="333333"/>
                </a:solidFill>
                <a:ea typeface="Apple SD Gothic Neo"/>
                <a:latin typeface="Apple SD Gothic Neo"/>
              </a:rPr>
              <a:t>13 시설군 × 최근접 + 반경 + 도보 분 — MAUP 완화</a:t>
            </a:r>
          </a:p>
        </p:txBody>
      </p:sp>
      <p:sp>
        <p:nvSpPr>
          <p:cNvPr id="19" name="Rectangle 18"/>
          <p:cNvSpPr/>
          <p:nvPr/>
        </p:nvSpPr>
        <p:spPr>
          <a:xfrm>
            <a:off x="365760" y="3840480"/>
            <a:ext cx="3200400" cy="1051560"/>
          </a:xfrm>
          <a:prstGeom prst="rect">
            <a:avLst/>
          </a:prstGeom>
          <a:solidFill>
            <a:srgbClr val="2D3E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57200" y="3977640"/>
            <a:ext cx="3017520" cy="411480"/>
          </a:xfrm>
          <a:prstGeom prst="rect">
            <a:avLst/>
          </a:prstGeom>
          <a:noFill/>
        </p:spPr>
        <p:txBody>
          <a:bodyPr wrap="square" anchor="t" lIns="25400" rIns="2540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>
                <a:solidFill>
                  <a:srgbClr val="FFFFFF"/>
                </a:solidFill>
                <a:ea typeface="Apple SD Gothic Neo"/>
                <a:latin typeface="Apple SD Gothic Neo"/>
              </a:rPr>
              <a:t>3. 시간 정합 개선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7200" y="4389120"/>
            <a:ext cx="3017520" cy="457200"/>
          </a:xfrm>
          <a:prstGeom prst="rect">
            <a:avLst/>
          </a:prstGeom>
          <a:noFill/>
        </p:spPr>
        <p:txBody>
          <a:bodyPr wrap="square" anchor="t" lIns="25400" rIns="2540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>
                <a:solidFill>
                  <a:srgbClr val="FFFFFF"/>
                </a:solidFill>
                <a:ea typeface="Apple SD Gothic Neo"/>
                <a:latin typeface="Apple SD Gothic Neo"/>
              </a:rPr>
              <a:t>연도별 활동 스냅샷</a:t>
            </a:r>
          </a:p>
        </p:txBody>
      </p:sp>
      <p:sp>
        <p:nvSpPr>
          <p:cNvPr id="22" name="Rectangle 21"/>
          <p:cNvSpPr/>
          <p:nvPr/>
        </p:nvSpPr>
        <p:spPr>
          <a:xfrm>
            <a:off x="3657600" y="3840480"/>
            <a:ext cx="8138160" cy="1051560"/>
          </a:xfrm>
          <a:prstGeom prst="rect">
            <a:avLst/>
          </a:prstGeom>
          <a:solidFill>
            <a:srgbClr val="F1F3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3840480" y="3977640"/>
            <a:ext cx="7863840" cy="777240"/>
          </a:xfrm>
          <a:prstGeom prst="rect">
            <a:avLst/>
          </a:prstGeom>
          <a:noFill/>
        </p:spPr>
        <p:txBody>
          <a:bodyPr wrap="square" anchor="ctr" lIns="25400" rIns="2540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>
                <a:solidFill>
                  <a:srgbClr val="333333"/>
                </a:solidFill>
                <a:ea typeface="Apple SD Gothic Neo"/>
                <a:latin typeface="Apple SD Gothic Neo"/>
              </a:rPr>
              <a:t>학교·학원·어린이집·공원·근린·지하철 6군 시점 정합</a:t>
            </a:r>
          </a:p>
        </p:txBody>
      </p:sp>
      <p:sp>
        <p:nvSpPr>
          <p:cNvPr id="24" name="Rectangle 23"/>
          <p:cNvSpPr/>
          <p:nvPr/>
        </p:nvSpPr>
        <p:spPr>
          <a:xfrm>
            <a:off x="365760" y="5074920"/>
            <a:ext cx="3200400" cy="1051560"/>
          </a:xfrm>
          <a:prstGeom prst="rect">
            <a:avLst/>
          </a:prstGeom>
          <a:solidFill>
            <a:srgbClr val="2D3E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457200" y="5212080"/>
            <a:ext cx="3017520" cy="411480"/>
          </a:xfrm>
          <a:prstGeom prst="rect">
            <a:avLst/>
          </a:prstGeom>
          <a:noFill/>
        </p:spPr>
        <p:txBody>
          <a:bodyPr wrap="square" anchor="t" lIns="25400" rIns="2540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>
                <a:solidFill>
                  <a:srgbClr val="FFFFFF"/>
                </a:solidFill>
                <a:ea typeface="Apple SD Gothic Neo"/>
                <a:latin typeface="Apple SD Gothic Neo"/>
              </a:rPr>
              <a:t>4. 시공간 이질성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57200" y="5623560"/>
            <a:ext cx="3017520" cy="457200"/>
          </a:xfrm>
          <a:prstGeom prst="rect">
            <a:avLst/>
          </a:prstGeom>
          <a:noFill/>
        </p:spPr>
        <p:txBody>
          <a:bodyPr wrap="square" anchor="t" lIns="25400" rIns="2540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>
                <a:solidFill>
                  <a:srgbClr val="FFFFFF"/>
                </a:solidFill>
                <a:ea typeface="Apple SD Gothic Neo"/>
                <a:latin typeface="Apple SD Gothic Neo"/>
              </a:rPr>
              <a:t>권역×연도 SHAP</a:t>
            </a:r>
          </a:p>
        </p:txBody>
      </p:sp>
      <p:sp>
        <p:nvSpPr>
          <p:cNvPr id="27" name="Rectangle 26"/>
          <p:cNvSpPr/>
          <p:nvPr/>
        </p:nvSpPr>
        <p:spPr>
          <a:xfrm>
            <a:off x="3657600" y="5074920"/>
            <a:ext cx="8138160" cy="1051560"/>
          </a:xfrm>
          <a:prstGeom prst="rect">
            <a:avLst/>
          </a:prstGeom>
          <a:solidFill>
            <a:srgbClr val="F1F3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3840480" y="5212080"/>
            <a:ext cx="7863840" cy="777240"/>
          </a:xfrm>
          <a:prstGeom prst="rect">
            <a:avLst/>
          </a:prstGeom>
          <a:noFill/>
        </p:spPr>
        <p:txBody>
          <a:bodyPr wrap="square" anchor="ctr" lIns="25400" rIns="2540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>
                <a:solidFill>
                  <a:srgbClr val="333333"/>
                </a:solidFill>
                <a:ea typeface="Apple SD Gothic Neo"/>
                <a:latin typeface="Apple SD Gothic Neo"/>
              </a:rPr>
              <a:t>21 서브모델 Top1 변화 추적 — 단일 SHAP 한계 극복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103120" cy="502920"/>
          </a:xfrm>
          <a:prstGeom prst="rect">
            <a:avLst/>
          </a:prstGeom>
          <a:solidFill>
            <a:srgbClr val="2D3E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37160" y="0"/>
            <a:ext cx="1920240" cy="502920"/>
          </a:xfrm>
          <a:prstGeom prst="rect">
            <a:avLst/>
          </a:prstGeom>
          <a:noFill/>
        </p:spPr>
        <p:txBody>
          <a:bodyPr wrap="square" anchor="ctr" lIns="25400" rIns="2540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500" b="1">
                <a:solidFill>
                  <a:srgbClr val="FFFFFF"/>
                </a:solidFill>
                <a:ea typeface="Apple SD Gothic Neo"/>
                <a:latin typeface="Apple SD Gothic Neo"/>
              </a:rPr>
              <a:t>03. METHODS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28600" y="548640"/>
            <a:ext cx="4572000" cy="365760"/>
          </a:xfrm>
          <a:prstGeom prst="rect">
            <a:avLst/>
          </a:prstGeom>
          <a:noFill/>
        </p:spPr>
        <p:txBody>
          <a:bodyPr wrap="square" anchor="ctr" lIns="25400" rIns="2540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1">
                <a:solidFill>
                  <a:srgbClr val="2D3E5C"/>
                </a:solidFill>
                <a:ea typeface="Apple SD Gothic Neo"/>
                <a:latin typeface="Apple SD Gothic Neo"/>
              </a:rPr>
              <a:t>분석 데이터 — 서울 391,826 거래 (2019.01~2025.12)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0" y="91440"/>
            <a:ext cx="7040880" cy="365760"/>
          </a:xfrm>
          <a:prstGeom prst="rect">
            <a:avLst/>
          </a:prstGeom>
          <a:noFill/>
        </p:spPr>
        <p:txBody>
          <a:bodyPr wrap="square" anchor="ctr" lIns="25400" rIns="25400" tIns="0" bIns="0">
            <a:spAutoFit/>
          </a:bodyPr>
          <a:lstStyle/>
          <a:p>
            <a:pPr algn="r">
              <a:lnSpc>
                <a:spcPct val="120000"/>
              </a:lnSpc>
            </a:pPr>
            <a:r>
              <a:rPr sz="1000" b="0">
                <a:solidFill>
                  <a:srgbClr val="777777"/>
                </a:solidFill>
                <a:ea typeface="Apple SD Gothic Neo"/>
                <a:latin typeface="Apple SD Gothic Neo"/>
              </a:rPr>
              <a:t>Explanatory Patterns of Apartment Unit-Area Sale Prices in Seoul Using XGBoost and SHAP</a:t>
            </a:r>
          </a:p>
        </p:txBody>
      </p:sp>
      <p:sp>
        <p:nvSpPr>
          <p:cNvPr id="6" name="Rectangle 5"/>
          <p:cNvSpPr/>
          <p:nvPr/>
        </p:nvSpPr>
        <p:spPr>
          <a:xfrm>
            <a:off x="228600" y="960120"/>
            <a:ext cx="11750040" cy="18288"/>
          </a:xfrm>
          <a:prstGeom prst="rect">
            <a:avLst/>
          </a:prstGeom>
          <a:solidFill>
            <a:srgbClr val="CCCC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1731752" y="6446520"/>
            <a:ext cx="457200" cy="411480"/>
          </a:xfrm>
          <a:prstGeom prst="rect">
            <a:avLst/>
          </a:prstGeom>
          <a:solidFill>
            <a:srgbClr val="2D3E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731752" y="6446520"/>
            <a:ext cx="457200" cy="411480"/>
          </a:xfrm>
          <a:prstGeom prst="rect">
            <a:avLst/>
          </a:prstGeom>
          <a:noFill/>
        </p:spPr>
        <p:txBody>
          <a:bodyPr wrap="square" anchor="ctr" lIns="25400" rIns="25400" tIns="0" bIns="0">
            <a:spAutoFit/>
          </a:bodyPr>
          <a:lstStyle/>
          <a:p>
            <a:pPr algn="ctr">
              <a:lnSpc>
                <a:spcPct val="120000"/>
              </a:lnSpc>
            </a:pPr>
            <a:r>
              <a:rPr sz="1000" b="1">
                <a:solidFill>
                  <a:srgbClr val="FFFFFF"/>
                </a:solidFill>
                <a:ea typeface="Apple SD Gothic Neo"/>
                <a:latin typeface="Apple SD Gothic Neo"/>
              </a:rPr>
              <a:t>07</a:t>
            </a:r>
          </a:p>
        </p:txBody>
      </p:sp>
      <p:sp>
        <p:nvSpPr>
          <p:cNvPr id="9" name="Rectangle 8"/>
          <p:cNvSpPr/>
          <p:nvPr/>
        </p:nvSpPr>
        <p:spPr>
          <a:xfrm>
            <a:off x="365760" y="1188720"/>
            <a:ext cx="4114800" cy="5029200"/>
          </a:xfrm>
          <a:prstGeom prst="rect">
            <a:avLst/>
          </a:prstGeom>
          <a:solidFill>
            <a:srgbClr val="2D3E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65760" y="1463040"/>
            <a:ext cx="4114800" cy="457200"/>
          </a:xfrm>
          <a:prstGeom prst="rect">
            <a:avLst/>
          </a:prstGeom>
          <a:noFill/>
        </p:spPr>
        <p:txBody>
          <a:bodyPr wrap="square" anchor="t" lIns="25400" rIns="25400" tIns="0" bIns="0">
            <a:spAutoFit/>
          </a:bodyPr>
          <a:lstStyle/>
          <a:p>
            <a:pPr algn="ctr">
              <a:lnSpc>
                <a:spcPct val="120000"/>
              </a:lnSpc>
            </a:pPr>
            <a:r>
              <a:rPr sz="1400" b="0">
                <a:solidFill>
                  <a:srgbClr val="FFFFFF"/>
                </a:solidFill>
                <a:ea typeface="Apple SD Gothic Neo"/>
                <a:latin typeface="Apple SD Gothic Neo"/>
              </a:rPr>
              <a:t>서울 215개 행정동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65760" y="2011680"/>
            <a:ext cx="4114800" cy="1280160"/>
          </a:xfrm>
          <a:prstGeom prst="rect">
            <a:avLst/>
          </a:prstGeom>
          <a:noFill/>
        </p:spPr>
        <p:txBody>
          <a:bodyPr wrap="square" anchor="ctr" lIns="25400" rIns="25400" tIns="0" bIns="0">
            <a:spAutoFit/>
          </a:bodyPr>
          <a:lstStyle/>
          <a:p>
            <a:pPr algn="ctr">
              <a:lnSpc>
                <a:spcPct val="120000"/>
              </a:lnSpc>
            </a:pPr>
            <a:r>
              <a:rPr sz="6800" b="1">
                <a:solidFill>
                  <a:srgbClr val="FFFFFF"/>
                </a:solidFill>
                <a:ea typeface="Apple SD Gothic Neo"/>
                <a:latin typeface="Apple SD Gothic Neo"/>
              </a:rPr>
              <a:t>391,826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65760" y="3383280"/>
            <a:ext cx="4114800" cy="365760"/>
          </a:xfrm>
          <a:prstGeom prst="rect">
            <a:avLst/>
          </a:prstGeom>
          <a:noFill/>
        </p:spPr>
        <p:txBody>
          <a:bodyPr wrap="square" anchor="t" lIns="25400" rIns="25400" tIns="0" bIns="0">
            <a:spAutoFit/>
          </a:bodyPr>
          <a:lstStyle/>
          <a:p>
            <a:pPr algn="ctr">
              <a:lnSpc>
                <a:spcPct val="120000"/>
              </a:lnSpc>
            </a:pPr>
            <a:r>
              <a:rPr sz="1300" b="0">
                <a:solidFill>
                  <a:srgbClr val="FFFFFF"/>
                </a:solidFill>
                <a:ea typeface="Apple SD Gothic Neo"/>
                <a:latin typeface="Apple SD Gothic Neo"/>
              </a:rPr>
              <a:t>아파트 매매 실거래 (건)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65760" y="4114800"/>
            <a:ext cx="4114800" cy="365760"/>
          </a:xfrm>
          <a:prstGeom prst="rect">
            <a:avLst/>
          </a:prstGeom>
          <a:noFill/>
        </p:spPr>
        <p:txBody>
          <a:bodyPr wrap="square" anchor="t" lIns="25400" rIns="25400" tIns="0" bIns="0">
            <a:spAutoFit/>
          </a:bodyPr>
          <a:lstStyle/>
          <a:p>
            <a:pPr algn="ctr">
              <a:lnSpc>
                <a:spcPct val="120000"/>
              </a:lnSpc>
            </a:pPr>
            <a:r>
              <a:rPr sz="1300" b="0">
                <a:solidFill>
                  <a:srgbClr val="FFFFFF"/>
                </a:solidFill>
                <a:ea typeface="Apple SD Gothic Neo"/>
                <a:latin typeface="Apple SD Gothic Neo"/>
              </a:rPr>
              <a:t>8,601 유니크 단지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65760" y="4572000"/>
            <a:ext cx="4114800" cy="365760"/>
          </a:xfrm>
          <a:prstGeom prst="rect">
            <a:avLst/>
          </a:prstGeom>
          <a:noFill/>
        </p:spPr>
        <p:txBody>
          <a:bodyPr wrap="square" anchor="t" lIns="25400" rIns="25400" tIns="0" bIns="0">
            <a:spAutoFit/>
          </a:bodyPr>
          <a:lstStyle/>
          <a:p>
            <a:pPr algn="ctr">
              <a:lnSpc>
                <a:spcPct val="120000"/>
              </a:lnSpc>
            </a:pPr>
            <a:r>
              <a:rPr sz="1200" b="0">
                <a:solidFill>
                  <a:srgbClr val="FFFFFF"/>
                </a:solidFill>
                <a:ea typeface="Apple SD Gothic Neo"/>
                <a:latin typeface="Apple SD Gothic Neo"/>
              </a:rPr>
              <a:t>거래 100% 좌표 커버 (Kakao API)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754880" y="1188720"/>
            <a:ext cx="7040880" cy="457200"/>
          </a:xfrm>
          <a:prstGeom prst="rect">
            <a:avLst/>
          </a:prstGeom>
          <a:solidFill>
            <a:srgbClr val="4B5D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754880" y="1188720"/>
            <a:ext cx="7040880" cy="457200"/>
          </a:xfrm>
          <a:prstGeom prst="rect">
            <a:avLst/>
          </a:prstGeom>
          <a:noFill/>
        </p:spPr>
        <p:txBody>
          <a:bodyPr wrap="square" anchor="ctr" lIns="25400" rIns="25400" tIns="0" bIns="0">
            <a:spAutoFit/>
          </a:bodyPr>
          <a:lstStyle/>
          <a:p>
            <a:pPr algn="ctr">
              <a:lnSpc>
                <a:spcPct val="120000"/>
              </a:lnSpc>
            </a:pPr>
            <a:r>
              <a:rPr sz="1300" b="1">
                <a:solidFill>
                  <a:srgbClr val="FFFFFF"/>
                </a:solidFill>
                <a:ea typeface="Apple SD Gothic Neo"/>
                <a:latin typeface="Apple SD Gothic Neo"/>
              </a:rPr>
              <a:t>연도별 거래 분포 — 시장 국면을 모두 포함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754880" y="1691640"/>
            <a:ext cx="914400" cy="502920"/>
          </a:xfrm>
          <a:prstGeom prst="rect">
            <a:avLst/>
          </a:prstGeom>
          <a:solidFill>
            <a:srgbClr val="4B5D82"/>
          </a:solidFill>
          <a:ln w="6350">
            <a:solidFill>
              <a:srgbClr val="CCC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800600" y="1691640"/>
            <a:ext cx="822960" cy="502920"/>
          </a:xfrm>
          <a:prstGeom prst="rect">
            <a:avLst/>
          </a:prstGeom>
          <a:noFill/>
        </p:spPr>
        <p:txBody>
          <a:bodyPr wrap="square" anchor="ctr" lIns="25400" rIns="25400" tIns="0" bIns="0">
            <a:spAutoFit/>
          </a:bodyPr>
          <a:lstStyle/>
          <a:p>
            <a:pPr algn="ctr">
              <a:lnSpc>
                <a:spcPct val="120000"/>
              </a:lnSpc>
            </a:pPr>
            <a:r>
              <a:rPr sz="1100" b="1">
                <a:solidFill>
                  <a:srgbClr val="FFFFFF"/>
                </a:solidFill>
                <a:ea typeface="Apple SD Gothic Neo"/>
                <a:latin typeface="Apple SD Gothic Neo"/>
              </a:rPr>
              <a:t>연도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669280" y="1691640"/>
            <a:ext cx="1371600" cy="502920"/>
          </a:xfrm>
          <a:prstGeom prst="rect">
            <a:avLst/>
          </a:prstGeom>
          <a:solidFill>
            <a:srgbClr val="4B5D82"/>
          </a:solidFill>
          <a:ln w="6350">
            <a:solidFill>
              <a:srgbClr val="CCC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715000" y="1691640"/>
            <a:ext cx="1280160" cy="502920"/>
          </a:xfrm>
          <a:prstGeom prst="rect">
            <a:avLst/>
          </a:prstGeom>
          <a:noFill/>
        </p:spPr>
        <p:txBody>
          <a:bodyPr wrap="square" anchor="ctr" lIns="25400" rIns="25400" tIns="0" bIns="0">
            <a:spAutoFit/>
          </a:bodyPr>
          <a:lstStyle/>
          <a:p>
            <a:pPr algn="ctr">
              <a:lnSpc>
                <a:spcPct val="120000"/>
              </a:lnSpc>
            </a:pPr>
            <a:r>
              <a:rPr sz="1100" b="1">
                <a:solidFill>
                  <a:srgbClr val="FFFFFF"/>
                </a:solidFill>
                <a:ea typeface="Apple SD Gothic Neo"/>
                <a:latin typeface="Apple SD Gothic Neo"/>
              </a:rPr>
              <a:t>건수</a:t>
            </a:r>
          </a:p>
        </p:txBody>
      </p:sp>
      <p:sp>
        <p:nvSpPr>
          <p:cNvPr id="21" name="Rectangle 20"/>
          <p:cNvSpPr/>
          <p:nvPr/>
        </p:nvSpPr>
        <p:spPr>
          <a:xfrm>
            <a:off x="7040880" y="1691640"/>
            <a:ext cx="2286000" cy="502920"/>
          </a:xfrm>
          <a:prstGeom prst="rect">
            <a:avLst/>
          </a:prstGeom>
          <a:solidFill>
            <a:srgbClr val="4B5D82"/>
          </a:solidFill>
          <a:ln w="6350">
            <a:solidFill>
              <a:srgbClr val="CCC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086600" y="1691640"/>
            <a:ext cx="2194560" cy="502920"/>
          </a:xfrm>
          <a:prstGeom prst="rect">
            <a:avLst/>
          </a:prstGeom>
          <a:noFill/>
        </p:spPr>
        <p:txBody>
          <a:bodyPr wrap="square" anchor="ctr" lIns="25400" rIns="25400" tIns="0" bIns="0">
            <a:spAutoFit/>
          </a:bodyPr>
          <a:lstStyle/>
          <a:p>
            <a:pPr algn="ctr">
              <a:lnSpc>
                <a:spcPct val="120000"/>
              </a:lnSpc>
            </a:pPr>
            <a:r>
              <a:rPr sz="1100" b="1">
                <a:solidFill>
                  <a:srgbClr val="FFFFFF"/>
                </a:solidFill>
                <a:ea typeface="Apple SD Gothic Neo"/>
                <a:latin typeface="Apple SD Gothic Neo"/>
              </a:rPr>
              <a:t>국면</a:t>
            </a:r>
          </a:p>
        </p:txBody>
      </p:sp>
      <p:sp>
        <p:nvSpPr>
          <p:cNvPr id="23" name="Rectangle 22"/>
          <p:cNvSpPr/>
          <p:nvPr/>
        </p:nvSpPr>
        <p:spPr>
          <a:xfrm>
            <a:off x="9326880" y="1691640"/>
            <a:ext cx="2468880" cy="502920"/>
          </a:xfrm>
          <a:prstGeom prst="rect">
            <a:avLst/>
          </a:prstGeom>
          <a:solidFill>
            <a:srgbClr val="4B5D82"/>
          </a:solidFill>
          <a:ln w="6350">
            <a:solidFill>
              <a:srgbClr val="CCC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9372600" y="1691640"/>
            <a:ext cx="2377440" cy="502920"/>
          </a:xfrm>
          <a:prstGeom prst="rect">
            <a:avLst/>
          </a:prstGeom>
          <a:noFill/>
        </p:spPr>
        <p:txBody>
          <a:bodyPr wrap="square" anchor="ctr" lIns="25400" rIns="25400" tIns="0" bIns="0">
            <a:spAutoFit/>
          </a:bodyPr>
          <a:lstStyle/>
          <a:p>
            <a:pPr algn="ctr">
              <a:lnSpc>
                <a:spcPct val="120000"/>
              </a:lnSpc>
            </a:pPr>
            <a:r>
              <a:rPr sz="1100" b="1">
                <a:solidFill>
                  <a:srgbClr val="FFFFFF"/>
                </a:solidFill>
                <a:ea typeface="Apple SD Gothic Neo"/>
                <a:latin typeface="Apple SD Gothic Neo"/>
              </a:rPr>
              <a:t>기준금리 변동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754880" y="2194560"/>
            <a:ext cx="914400" cy="502920"/>
          </a:xfrm>
          <a:prstGeom prst="rect">
            <a:avLst/>
          </a:prstGeom>
          <a:solidFill>
            <a:srgbClr val="F1F3F6"/>
          </a:solidFill>
          <a:ln w="6350">
            <a:solidFill>
              <a:srgbClr val="CCC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4800600" y="2194560"/>
            <a:ext cx="822960" cy="502920"/>
          </a:xfrm>
          <a:prstGeom prst="rect">
            <a:avLst/>
          </a:prstGeom>
          <a:noFill/>
        </p:spPr>
        <p:txBody>
          <a:bodyPr wrap="square" anchor="ctr" lIns="25400" rIns="25400" tIns="0" bIns="0">
            <a:spAutoFit/>
          </a:bodyPr>
          <a:lstStyle/>
          <a:p>
            <a:pPr algn="ctr">
              <a:lnSpc>
                <a:spcPct val="120000"/>
              </a:lnSpc>
            </a:pPr>
            <a:r>
              <a:rPr sz="1100" b="0">
                <a:solidFill>
                  <a:srgbClr val="333333"/>
                </a:solidFill>
                <a:ea typeface="Apple SD Gothic Neo"/>
                <a:latin typeface="Apple SD Gothic Neo"/>
              </a:rPr>
              <a:t>2019</a:t>
            </a:r>
          </a:p>
        </p:txBody>
      </p:sp>
      <p:sp>
        <p:nvSpPr>
          <p:cNvPr id="27" name="Rectangle 26"/>
          <p:cNvSpPr/>
          <p:nvPr/>
        </p:nvSpPr>
        <p:spPr>
          <a:xfrm>
            <a:off x="5669280" y="2194560"/>
            <a:ext cx="1371600" cy="502920"/>
          </a:xfrm>
          <a:prstGeom prst="rect">
            <a:avLst/>
          </a:prstGeom>
          <a:solidFill>
            <a:srgbClr val="F1F3F6"/>
          </a:solidFill>
          <a:ln w="6350">
            <a:solidFill>
              <a:srgbClr val="CCC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5715000" y="2194560"/>
            <a:ext cx="1280160" cy="502920"/>
          </a:xfrm>
          <a:prstGeom prst="rect">
            <a:avLst/>
          </a:prstGeom>
          <a:noFill/>
        </p:spPr>
        <p:txBody>
          <a:bodyPr wrap="square" anchor="ctr" lIns="25400" rIns="25400" tIns="0" bIns="0">
            <a:spAutoFit/>
          </a:bodyPr>
          <a:lstStyle/>
          <a:p>
            <a:pPr algn="ctr">
              <a:lnSpc>
                <a:spcPct val="120000"/>
              </a:lnSpc>
            </a:pPr>
            <a:r>
              <a:rPr sz="1100" b="1">
                <a:solidFill>
                  <a:srgbClr val="333333"/>
                </a:solidFill>
                <a:ea typeface="Apple SD Gothic Neo"/>
                <a:latin typeface="Apple SD Gothic Neo"/>
              </a:rPr>
              <a:t>74,896</a:t>
            </a:r>
          </a:p>
        </p:txBody>
      </p:sp>
      <p:sp>
        <p:nvSpPr>
          <p:cNvPr id="29" name="Rectangle 28"/>
          <p:cNvSpPr/>
          <p:nvPr/>
        </p:nvSpPr>
        <p:spPr>
          <a:xfrm>
            <a:off x="7040880" y="2194560"/>
            <a:ext cx="2286000" cy="502920"/>
          </a:xfrm>
          <a:prstGeom prst="rect">
            <a:avLst/>
          </a:prstGeom>
          <a:solidFill>
            <a:srgbClr val="F1F3F6"/>
          </a:solidFill>
          <a:ln w="6350">
            <a:solidFill>
              <a:srgbClr val="CCC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7086600" y="2194560"/>
            <a:ext cx="2194560" cy="502920"/>
          </a:xfrm>
          <a:prstGeom prst="rect">
            <a:avLst/>
          </a:prstGeom>
          <a:noFill/>
        </p:spPr>
        <p:txBody>
          <a:bodyPr wrap="square" anchor="ctr" lIns="25400" rIns="25400" tIns="0" bIns="0">
            <a:spAutoFit/>
          </a:bodyPr>
          <a:lstStyle/>
          <a:p>
            <a:pPr algn="ctr">
              <a:lnSpc>
                <a:spcPct val="120000"/>
              </a:lnSpc>
            </a:pPr>
            <a:r>
              <a:rPr sz="1100" b="0">
                <a:solidFill>
                  <a:srgbClr val="333333"/>
                </a:solidFill>
                <a:ea typeface="Apple SD Gothic Neo"/>
                <a:latin typeface="Apple SD Gothic Neo"/>
              </a:rPr>
              <a:t>안정기</a:t>
            </a:r>
          </a:p>
        </p:txBody>
      </p:sp>
      <p:sp>
        <p:nvSpPr>
          <p:cNvPr id="31" name="Rectangle 30"/>
          <p:cNvSpPr/>
          <p:nvPr/>
        </p:nvSpPr>
        <p:spPr>
          <a:xfrm>
            <a:off x="9326880" y="2194560"/>
            <a:ext cx="2468880" cy="502920"/>
          </a:xfrm>
          <a:prstGeom prst="rect">
            <a:avLst/>
          </a:prstGeom>
          <a:solidFill>
            <a:srgbClr val="F1F3F6"/>
          </a:solidFill>
          <a:ln w="6350">
            <a:solidFill>
              <a:srgbClr val="CCC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9372600" y="2194560"/>
            <a:ext cx="2377440" cy="502920"/>
          </a:xfrm>
          <a:prstGeom prst="rect">
            <a:avLst/>
          </a:prstGeom>
          <a:noFill/>
        </p:spPr>
        <p:txBody>
          <a:bodyPr wrap="square" anchor="ctr" lIns="25400" rIns="25400" tIns="0" bIns="0">
            <a:spAutoFit/>
          </a:bodyPr>
          <a:lstStyle/>
          <a:p>
            <a:pPr algn="ctr">
              <a:lnSpc>
                <a:spcPct val="120000"/>
              </a:lnSpc>
            </a:pPr>
            <a:r>
              <a:rPr sz="1100" b="0">
                <a:solidFill>
                  <a:srgbClr val="333333"/>
                </a:solidFill>
                <a:ea typeface="Apple SD Gothic Neo"/>
                <a:latin typeface="Apple SD Gothic Neo"/>
              </a:rPr>
              <a:t>1.75%</a:t>
            </a:r>
          </a:p>
        </p:txBody>
      </p:sp>
      <p:sp>
        <p:nvSpPr>
          <p:cNvPr id="33" name="Rectangle 32"/>
          <p:cNvSpPr/>
          <p:nvPr/>
        </p:nvSpPr>
        <p:spPr>
          <a:xfrm>
            <a:off x="4754880" y="2697480"/>
            <a:ext cx="914400" cy="502920"/>
          </a:xfrm>
          <a:prstGeom prst="rect">
            <a:avLst/>
          </a:prstGeom>
          <a:solidFill>
            <a:srgbClr val="FFFFFF"/>
          </a:solidFill>
          <a:ln w="6350">
            <a:solidFill>
              <a:srgbClr val="CCC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4800600" y="2697480"/>
            <a:ext cx="822960" cy="502920"/>
          </a:xfrm>
          <a:prstGeom prst="rect">
            <a:avLst/>
          </a:prstGeom>
          <a:noFill/>
        </p:spPr>
        <p:txBody>
          <a:bodyPr wrap="square" anchor="ctr" lIns="25400" rIns="25400" tIns="0" bIns="0">
            <a:spAutoFit/>
          </a:bodyPr>
          <a:lstStyle/>
          <a:p>
            <a:pPr algn="ctr">
              <a:lnSpc>
                <a:spcPct val="120000"/>
              </a:lnSpc>
            </a:pPr>
            <a:r>
              <a:rPr sz="1100" b="0">
                <a:solidFill>
                  <a:srgbClr val="333333"/>
                </a:solidFill>
                <a:ea typeface="Apple SD Gothic Neo"/>
                <a:latin typeface="Apple SD Gothic Neo"/>
              </a:rPr>
              <a:t>2020</a:t>
            </a:r>
          </a:p>
        </p:txBody>
      </p:sp>
      <p:sp>
        <p:nvSpPr>
          <p:cNvPr id="35" name="Rectangle 34"/>
          <p:cNvSpPr/>
          <p:nvPr/>
        </p:nvSpPr>
        <p:spPr>
          <a:xfrm>
            <a:off x="5669280" y="2697480"/>
            <a:ext cx="1371600" cy="502920"/>
          </a:xfrm>
          <a:prstGeom prst="rect">
            <a:avLst/>
          </a:prstGeom>
          <a:solidFill>
            <a:srgbClr val="FFFFFF"/>
          </a:solidFill>
          <a:ln w="6350">
            <a:solidFill>
              <a:srgbClr val="CCC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5715000" y="2697480"/>
            <a:ext cx="1280160" cy="502920"/>
          </a:xfrm>
          <a:prstGeom prst="rect">
            <a:avLst/>
          </a:prstGeom>
          <a:noFill/>
        </p:spPr>
        <p:txBody>
          <a:bodyPr wrap="square" anchor="ctr" lIns="25400" rIns="25400" tIns="0" bIns="0">
            <a:spAutoFit/>
          </a:bodyPr>
          <a:lstStyle/>
          <a:p>
            <a:pPr algn="ctr">
              <a:lnSpc>
                <a:spcPct val="120000"/>
              </a:lnSpc>
            </a:pPr>
            <a:r>
              <a:rPr sz="1100" b="1">
                <a:solidFill>
                  <a:srgbClr val="333333"/>
                </a:solidFill>
                <a:ea typeface="Apple SD Gothic Neo"/>
                <a:latin typeface="Apple SD Gothic Neo"/>
              </a:rPr>
              <a:t>83,916</a:t>
            </a:r>
          </a:p>
        </p:txBody>
      </p:sp>
      <p:sp>
        <p:nvSpPr>
          <p:cNvPr id="37" name="Rectangle 36"/>
          <p:cNvSpPr/>
          <p:nvPr/>
        </p:nvSpPr>
        <p:spPr>
          <a:xfrm>
            <a:off x="7040880" y="2697480"/>
            <a:ext cx="2286000" cy="502920"/>
          </a:xfrm>
          <a:prstGeom prst="rect">
            <a:avLst/>
          </a:prstGeom>
          <a:solidFill>
            <a:srgbClr val="FFFFFF"/>
          </a:solidFill>
          <a:ln w="6350">
            <a:solidFill>
              <a:srgbClr val="CCC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7086600" y="2697480"/>
            <a:ext cx="2194560" cy="502920"/>
          </a:xfrm>
          <a:prstGeom prst="rect">
            <a:avLst/>
          </a:prstGeom>
          <a:noFill/>
        </p:spPr>
        <p:txBody>
          <a:bodyPr wrap="square" anchor="ctr" lIns="25400" rIns="25400" tIns="0" bIns="0">
            <a:spAutoFit/>
          </a:bodyPr>
          <a:lstStyle/>
          <a:p>
            <a:pPr algn="ctr">
              <a:lnSpc>
                <a:spcPct val="120000"/>
              </a:lnSpc>
            </a:pPr>
            <a:r>
              <a:rPr sz="1100" b="0">
                <a:solidFill>
                  <a:srgbClr val="333333"/>
                </a:solidFill>
                <a:ea typeface="Apple SD Gothic Neo"/>
                <a:latin typeface="Apple SD Gothic Neo"/>
              </a:rPr>
              <a:t>유동성 급등 초</a:t>
            </a:r>
          </a:p>
        </p:txBody>
      </p:sp>
      <p:sp>
        <p:nvSpPr>
          <p:cNvPr id="39" name="Rectangle 38"/>
          <p:cNvSpPr/>
          <p:nvPr/>
        </p:nvSpPr>
        <p:spPr>
          <a:xfrm>
            <a:off x="9326880" y="2697480"/>
            <a:ext cx="2468880" cy="502920"/>
          </a:xfrm>
          <a:prstGeom prst="rect">
            <a:avLst/>
          </a:prstGeom>
          <a:solidFill>
            <a:srgbClr val="FFFFFF"/>
          </a:solidFill>
          <a:ln w="6350">
            <a:solidFill>
              <a:srgbClr val="CCC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9372600" y="2697480"/>
            <a:ext cx="2377440" cy="502920"/>
          </a:xfrm>
          <a:prstGeom prst="rect">
            <a:avLst/>
          </a:prstGeom>
          <a:noFill/>
        </p:spPr>
        <p:txBody>
          <a:bodyPr wrap="square" anchor="ctr" lIns="25400" rIns="25400" tIns="0" bIns="0">
            <a:spAutoFit/>
          </a:bodyPr>
          <a:lstStyle/>
          <a:p>
            <a:pPr algn="ctr">
              <a:lnSpc>
                <a:spcPct val="120000"/>
              </a:lnSpc>
            </a:pPr>
            <a:r>
              <a:rPr sz="1100" b="0">
                <a:solidFill>
                  <a:srgbClr val="333333"/>
                </a:solidFill>
                <a:ea typeface="Apple SD Gothic Neo"/>
                <a:latin typeface="Apple SD Gothic Neo"/>
              </a:rPr>
              <a:t>0.50% (저점)</a:t>
            </a:r>
          </a:p>
        </p:txBody>
      </p:sp>
      <p:sp>
        <p:nvSpPr>
          <p:cNvPr id="41" name="Rectangle 40"/>
          <p:cNvSpPr/>
          <p:nvPr/>
        </p:nvSpPr>
        <p:spPr>
          <a:xfrm>
            <a:off x="4754880" y="3200400"/>
            <a:ext cx="914400" cy="502920"/>
          </a:xfrm>
          <a:prstGeom prst="rect">
            <a:avLst/>
          </a:prstGeom>
          <a:solidFill>
            <a:srgbClr val="F1F3F6"/>
          </a:solidFill>
          <a:ln w="6350">
            <a:solidFill>
              <a:srgbClr val="CCC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4800600" y="3200400"/>
            <a:ext cx="822960" cy="502920"/>
          </a:xfrm>
          <a:prstGeom prst="rect">
            <a:avLst/>
          </a:prstGeom>
          <a:noFill/>
        </p:spPr>
        <p:txBody>
          <a:bodyPr wrap="square" anchor="ctr" lIns="25400" rIns="25400" tIns="0" bIns="0">
            <a:spAutoFit/>
          </a:bodyPr>
          <a:lstStyle/>
          <a:p>
            <a:pPr algn="ctr">
              <a:lnSpc>
                <a:spcPct val="120000"/>
              </a:lnSpc>
            </a:pPr>
            <a:r>
              <a:rPr sz="1100" b="0">
                <a:solidFill>
                  <a:srgbClr val="333333"/>
                </a:solidFill>
                <a:ea typeface="Apple SD Gothic Neo"/>
                <a:latin typeface="Apple SD Gothic Neo"/>
              </a:rPr>
              <a:t>2021</a:t>
            </a:r>
          </a:p>
        </p:txBody>
      </p:sp>
      <p:sp>
        <p:nvSpPr>
          <p:cNvPr id="43" name="Rectangle 42"/>
          <p:cNvSpPr/>
          <p:nvPr/>
        </p:nvSpPr>
        <p:spPr>
          <a:xfrm>
            <a:off x="5669280" y="3200400"/>
            <a:ext cx="1371600" cy="502920"/>
          </a:xfrm>
          <a:prstGeom prst="rect">
            <a:avLst/>
          </a:prstGeom>
          <a:solidFill>
            <a:srgbClr val="F1F3F6"/>
          </a:solidFill>
          <a:ln w="6350">
            <a:solidFill>
              <a:srgbClr val="CCC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5715000" y="3200400"/>
            <a:ext cx="1280160" cy="502920"/>
          </a:xfrm>
          <a:prstGeom prst="rect">
            <a:avLst/>
          </a:prstGeom>
          <a:noFill/>
        </p:spPr>
        <p:txBody>
          <a:bodyPr wrap="square" anchor="ctr" lIns="25400" rIns="25400" tIns="0" bIns="0">
            <a:spAutoFit/>
          </a:bodyPr>
          <a:lstStyle/>
          <a:p>
            <a:pPr algn="ctr">
              <a:lnSpc>
                <a:spcPct val="120000"/>
              </a:lnSpc>
            </a:pPr>
            <a:r>
              <a:rPr sz="1100" b="1">
                <a:solidFill>
                  <a:srgbClr val="333333"/>
                </a:solidFill>
                <a:ea typeface="Apple SD Gothic Neo"/>
                <a:latin typeface="Apple SD Gothic Neo"/>
              </a:rPr>
              <a:t>43,379</a:t>
            </a:r>
          </a:p>
        </p:txBody>
      </p:sp>
      <p:sp>
        <p:nvSpPr>
          <p:cNvPr id="45" name="Rectangle 44"/>
          <p:cNvSpPr/>
          <p:nvPr/>
        </p:nvSpPr>
        <p:spPr>
          <a:xfrm>
            <a:off x="7040880" y="3200400"/>
            <a:ext cx="2286000" cy="502920"/>
          </a:xfrm>
          <a:prstGeom prst="rect">
            <a:avLst/>
          </a:prstGeom>
          <a:solidFill>
            <a:srgbClr val="F1F3F6"/>
          </a:solidFill>
          <a:ln w="6350">
            <a:solidFill>
              <a:srgbClr val="CCC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7086600" y="3200400"/>
            <a:ext cx="2194560" cy="502920"/>
          </a:xfrm>
          <a:prstGeom prst="rect">
            <a:avLst/>
          </a:prstGeom>
          <a:noFill/>
        </p:spPr>
        <p:txBody>
          <a:bodyPr wrap="square" anchor="ctr" lIns="25400" rIns="25400" tIns="0" bIns="0">
            <a:spAutoFit/>
          </a:bodyPr>
          <a:lstStyle/>
          <a:p>
            <a:pPr algn="ctr">
              <a:lnSpc>
                <a:spcPct val="120000"/>
              </a:lnSpc>
            </a:pPr>
            <a:r>
              <a:rPr sz="1100" b="0">
                <a:solidFill>
                  <a:srgbClr val="333333"/>
                </a:solidFill>
                <a:ea typeface="Apple SD Gothic Neo"/>
                <a:latin typeface="Apple SD Gothic Neo"/>
              </a:rPr>
              <a:t>급등 말기</a:t>
            </a:r>
          </a:p>
        </p:txBody>
      </p:sp>
      <p:sp>
        <p:nvSpPr>
          <p:cNvPr id="47" name="Rectangle 46"/>
          <p:cNvSpPr/>
          <p:nvPr/>
        </p:nvSpPr>
        <p:spPr>
          <a:xfrm>
            <a:off x="9326880" y="3200400"/>
            <a:ext cx="2468880" cy="502920"/>
          </a:xfrm>
          <a:prstGeom prst="rect">
            <a:avLst/>
          </a:prstGeom>
          <a:solidFill>
            <a:srgbClr val="F1F3F6"/>
          </a:solidFill>
          <a:ln w="6350">
            <a:solidFill>
              <a:srgbClr val="CCC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9372600" y="3200400"/>
            <a:ext cx="2377440" cy="502920"/>
          </a:xfrm>
          <a:prstGeom prst="rect">
            <a:avLst/>
          </a:prstGeom>
          <a:noFill/>
        </p:spPr>
        <p:txBody>
          <a:bodyPr wrap="square" anchor="ctr" lIns="25400" rIns="25400" tIns="0" bIns="0">
            <a:spAutoFit/>
          </a:bodyPr>
          <a:lstStyle/>
          <a:p>
            <a:pPr algn="ctr">
              <a:lnSpc>
                <a:spcPct val="120000"/>
              </a:lnSpc>
            </a:pPr>
            <a:r>
              <a:rPr sz="1100" b="0">
                <a:solidFill>
                  <a:srgbClr val="333333"/>
                </a:solidFill>
                <a:ea typeface="Apple SD Gothic Neo"/>
                <a:latin typeface="Apple SD Gothic Neo"/>
              </a:rPr>
              <a:t>0.50→1.00%</a:t>
            </a:r>
          </a:p>
        </p:txBody>
      </p:sp>
      <p:sp>
        <p:nvSpPr>
          <p:cNvPr id="49" name="Rectangle 48"/>
          <p:cNvSpPr/>
          <p:nvPr/>
        </p:nvSpPr>
        <p:spPr>
          <a:xfrm>
            <a:off x="4754880" y="3703320"/>
            <a:ext cx="914400" cy="502920"/>
          </a:xfrm>
          <a:prstGeom prst="rect">
            <a:avLst/>
          </a:prstGeom>
          <a:solidFill>
            <a:srgbClr val="FFFFFF"/>
          </a:solidFill>
          <a:ln w="6350">
            <a:solidFill>
              <a:srgbClr val="CCC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4800600" y="3703320"/>
            <a:ext cx="822960" cy="502920"/>
          </a:xfrm>
          <a:prstGeom prst="rect">
            <a:avLst/>
          </a:prstGeom>
          <a:noFill/>
        </p:spPr>
        <p:txBody>
          <a:bodyPr wrap="square" anchor="ctr" lIns="25400" rIns="25400" tIns="0" bIns="0">
            <a:spAutoFit/>
          </a:bodyPr>
          <a:lstStyle/>
          <a:p>
            <a:pPr algn="ctr">
              <a:lnSpc>
                <a:spcPct val="120000"/>
              </a:lnSpc>
            </a:pPr>
            <a:r>
              <a:rPr sz="1100" b="0">
                <a:solidFill>
                  <a:srgbClr val="333333"/>
                </a:solidFill>
                <a:ea typeface="Apple SD Gothic Neo"/>
                <a:latin typeface="Apple SD Gothic Neo"/>
              </a:rPr>
              <a:t>2022</a:t>
            </a:r>
          </a:p>
        </p:txBody>
      </p:sp>
      <p:sp>
        <p:nvSpPr>
          <p:cNvPr id="51" name="Rectangle 50"/>
          <p:cNvSpPr/>
          <p:nvPr/>
        </p:nvSpPr>
        <p:spPr>
          <a:xfrm>
            <a:off x="5669280" y="3703320"/>
            <a:ext cx="1371600" cy="502920"/>
          </a:xfrm>
          <a:prstGeom prst="rect">
            <a:avLst/>
          </a:prstGeom>
          <a:solidFill>
            <a:srgbClr val="FFFFFF"/>
          </a:solidFill>
          <a:ln w="6350">
            <a:solidFill>
              <a:srgbClr val="CCC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5715000" y="3703320"/>
            <a:ext cx="1280160" cy="502920"/>
          </a:xfrm>
          <a:prstGeom prst="rect">
            <a:avLst/>
          </a:prstGeom>
          <a:noFill/>
        </p:spPr>
        <p:txBody>
          <a:bodyPr wrap="square" anchor="ctr" lIns="25400" rIns="25400" tIns="0" bIns="0">
            <a:spAutoFit/>
          </a:bodyPr>
          <a:lstStyle/>
          <a:p>
            <a:pPr algn="ctr">
              <a:lnSpc>
                <a:spcPct val="120000"/>
              </a:lnSpc>
            </a:pPr>
            <a:r>
              <a:rPr sz="1100" b="1">
                <a:solidFill>
                  <a:srgbClr val="333333"/>
                </a:solidFill>
                <a:ea typeface="Apple SD Gothic Neo"/>
                <a:latin typeface="Apple SD Gothic Neo"/>
              </a:rPr>
              <a:t>12,788</a:t>
            </a:r>
          </a:p>
        </p:txBody>
      </p:sp>
      <p:sp>
        <p:nvSpPr>
          <p:cNvPr id="53" name="Rectangle 52"/>
          <p:cNvSpPr/>
          <p:nvPr/>
        </p:nvSpPr>
        <p:spPr>
          <a:xfrm>
            <a:off x="7040880" y="3703320"/>
            <a:ext cx="2286000" cy="502920"/>
          </a:xfrm>
          <a:prstGeom prst="rect">
            <a:avLst/>
          </a:prstGeom>
          <a:solidFill>
            <a:srgbClr val="FFFFFF"/>
          </a:solidFill>
          <a:ln w="6350">
            <a:solidFill>
              <a:srgbClr val="CCC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7086600" y="3703320"/>
            <a:ext cx="2194560" cy="502920"/>
          </a:xfrm>
          <a:prstGeom prst="rect">
            <a:avLst/>
          </a:prstGeom>
          <a:noFill/>
        </p:spPr>
        <p:txBody>
          <a:bodyPr wrap="square" anchor="ctr" lIns="25400" rIns="25400" tIns="0" bIns="0">
            <a:spAutoFit/>
          </a:bodyPr>
          <a:lstStyle/>
          <a:p>
            <a:pPr algn="ctr">
              <a:lnSpc>
                <a:spcPct val="120000"/>
              </a:lnSpc>
            </a:pPr>
            <a:r>
              <a:rPr sz="1100" b="0">
                <a:solidFill>
                  <a:srgbClr val="333333"/>
                </a:solidFill>
                <a:ea typeface="Apple SD Gothic Neo"/>
                <a:latin typeface="Apple SD Gothic Neo"/>
              </a:rPr>
              <a:t>금리 충격 조정</a:t>
            </a:r>
          </a:p>
        </p:txBody>
      </p:sp>
      <p:sp>
        <p:nvSpPr>
          <p:cNvPr id="55" name="Rectangle 54"/>
          <p:cNvSpPr/>
          <p:nvPr/>
        </p:nvSpPr>
        <p:spPr>
          <a:xfrm>
            <a:off x="9326880" y="3703320"/>
            <a:ext cx="2468880" cy="502920"/>
          </a:xfrm>
          <a:prstGeom prst="rect">
            <a:avLst/>
          </a:prstGeom>
          <a:solidFill>
            <a:srgbClr val="FFFFFF"/>
          </a:solidFill>
          <a:ln w="6350">
            <a:solidFill>
              <a:srgbClr val="CCC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9372600" y="3703320"/>
            <a:ext cx="2377440" cy="502920"/>
          </a:xfrm>
          <a:prstGeom prst="rect">
            <a:avLst/>
          </a:prstGeom>
          <a:noFill/>
        </p:spPr>
        <p:txBody>
          <a:bodyPr wrap="square" anchor="ctr" lIns="25400" rIns="25400" tIns="0" bIns="0">
            <a:spAutoFit/>
          </a:bodyPr>
          <a:lstStyle/>
          <a:p>
            <a:pPr algn="ctr">
              <a:lnSpc>
                <a:spcPct val="120000"/>
              </a:lnSpc>
            </a:pPr>
            <a:r>
              <a:rPr sz="1100" b="0">
                <a:solidFill>
                  <a:srgbClr val="333333"/>
                </a:solidFill>
                <a:ea typeface="Apple SD Gothic Neo"/>
                <a:latin typeface="Apple SD Gothic Neo"/>
              </a:rPr>
              <a:t>1.00→3.25% (-70% 거래)</a:t>
            </a:r>
          </a:p>
        </p:txBody>
      </p:sp>
      <p:sp>
        <p:nvSpPr>
          <p:cNvPr id="57" name="Rectangle 56"/>
          <p:cNvSpPr/>
          <p:nvPr/>
        </p:nvSpPr>
        <p:spPr>
          <a:xfrm>
            <a:off x="4754880" y="4206240"/>
            <a:ext cx="914400" cy="502920"/>
          </a:xfrm>
          <a:prstGeom prst="rect">
            <a:avLst/>
          </a:prstGeom>
          <a:solidFill>
            <a:srgbClr val="F1F3F6"/>
          </a:solidFill>
          <a:ln w="6350">
            <a:solidFill>
              <a:srgbClr val="CCC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4800600" y="4206240"/>
            <a:ext cx="822960" cy="502920"/>
          </a:xfrm>
          <a:prstGeom prst="rect">
            <a:avLst/>
          </a:prstGeom>
          <a:noFill/>
        </p:spPr>
        <p:txBody>
          <a:bodyPr wrap="square" anchor="ctr" lIns="25400" rIns="25400" tIns="0" bIns="0">
            <a:spAutoFit/>
          </a:bodyPr>
          <a:lstStyle/>
          <a:p>
            <a:pPr algn="ctr">
              <a:lnSpc>
                <a:spcPct val="120000"/>
              </a:lnSpc>
            </a:pPr>
            <a:r>
              <a:rPr sz="1100" b="0">
                <a:solidFill>
                  <a:srgbClr val="333333"/>
                </a:solidFill>
                <a:ea typeface="Apple SD Gothic Neo"/>
                <a:latin typeface="Apple SD Gothic Neo"/>
              </a:rPr>
              <a:t>2023</a:t>
            </a:r>
          </a:p>
        </p:txBody>
      </p:sp>
      <p:sp>
        <p:nvSpPr>
          <p:cNvPr id="59" name="Rectangle 58"/>
          <p:cNvSpPr/>
          <p:nvPr/>
        </p:nvSpPr>
        <p:spPr>
          <a:xfrm>
            <a:off x="5669280" y="4206240"/>
            <a:ext cx="1371600" cy="502920"/>
          </a:xfrm>
          <a:prstGeom prst="rect">
            <a:avLst/>
          </a:prstGeom>
          <a:solidFill>
            <a:srgbClr val="F1F3F6"/>
          </a:solidFill>
          <a:ln w="6350">
            <a:solidFill>
              <a:srgbClr val="CCC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5715000" y="4206240"/>
            <a:ext cx="1280160" cy="502920"/>
          </a:xfrm>
          <a:prstGeom prst="rect">
            <a:avLst/>
          </a:prstGeom>
          <a:noFill/>
        </p:spPr>
        <p:txBody>
          <a:bodyPr wrap="square" anchor="ctr" lIns="25400" rIns="25400" tIns="0" bIns="0">
            <a:spAutoFit/>
          </a:bodyPr>
          <a:lstStyle/>
          <a:p>
            <a:pPr algn="ctr">
              <a:lnSpc>
                <a:spcPct val="120000"/>
              </a:lnSpc>
            </a:pPr>
            <a:r>
              <a:rPr sz="1100" b="1">
                <a:solidFill>
                  <a:srgbClr val="333333"/>
                </a:solidFill>
                <a:ea typeface="Apple SD Gothic Neo"/>
                <a:latin typeface="Apple SD Gothic Neo"/>
              </a:rPr>
              <a:t>35,565</a:t>
            </a:r>
          </a:p>
        </p:txBody>
      </p:sp>
      <p:sp>
        <p:nvSpPr>
          <p:cNvPr id="61" name="Rectangle 60"/>
          <p:cNvSpPr/>
          <p:nvPr/>
        </p:nvSpPr>
        <p:spPr>
          <a:xfrm>
            <a:off x="7040880" y="4206240"/>
            <a:ext cx="2286000" cy="502920"/>
          </a:xfrm>
          <a:prstGeom prst="rect">
            <a:avLst/>
          </a:prstGeom>
          <a:solidFill>
            <a:srgbClr val="F1F3F6"/>
          </a:solidFill>
          <a:ln w="6350">
            <a:solidFill>
              <a:srgbClr val="CCC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7086600" y="4206240"/>
            <a:ext cx="2194560" cy="502920"/>
          </a:xfrm>
          <a:prstGeom prst="rect">
            <a:avLst/>
          </a:prstGeom>
          <a:noFill/>
        </p:spPr>
        <p:txBody>
          <a:bodyPr wrap="square" anchor="ctr" lIns="25400" rIns="25400" tIns="0" bIns="0">
            <a:spAutoFit/>
          </a:bodyPr>
          <a:lstStyle/>
          <a:p>
            <a:pPr algn="ctr">
              <a:lnSpc>
                <a:spcPct val="120000"/>
              </a:lnSpc>
            </a:pPr>
            <a:r>
              <a:rPr sz="1100" b="0">
                <a:solidFill>
                  <a:srgbClr val="333333"/>
                </a:solidFill>
                <a:ea typeface="Apple SD Gothic Neo"/>
                <a:latin typeface="Apple SD Gothic Neo"/>
              </a:rPr>
              <a:t>회복 초기</a:t>
            </a:r>
          </a:p>
        </p:txBody>
      </p:sp>
      <p:sp>
        <p:nvSpPr>
          <p:cNvPr id="63" name="Rectangle 62"/>
          <p:cNvSpPr/>
          <p:nvPr/>
        </p:nvSpPr>
        <p:spPr>
          <a:xfrm>
            <a:off x="9326880" y="4206240"/>
            <a:ext cx="2468880" cy="502920"/>
          </a:xfrm>
          <a:prstGeom prst="rect">
            <a:avLst/>
          </a:prstGeom>
          <a:solidFill>
            <a:srgbClr val="F1F3F6"/>
          </a:solidFill>
          <a:ln w="6350">
            <a:solidFill>
              <a:srgbClr val="CCC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TextBox 63"/>
          <p:cNvSpPr txBox="1"/>
          <p:nvPr/>
        </p:nvSpPr>
        <p:spPr>
          <a:xfrm>
            <a:off x="9372600" y="4206240"/>
            <a:ext cx="2377440" cy="502920"/>
          </a:xfrm>
          <a:prstGeom prst="rect">
            <a:avLst/>
          </a:prstGeom>
          <a:noFill/>
        </p:spPr>
        <p:txBody>
          <a:bodyPr wrap="square" anchor="ctr" lIns="25400" rIns="25400" tIns="0" bIns="0">
            <a:spAutoFit/>
          </a:bodyPr>
          <a:lstStyle/>
          <a:p>
            <a:pPr algn="ctr">
              <a:lnSpc>
                <a:spcPct val="120000"/>
              </a:lnSpc>
            </a:pPr>
            <a:r>
              <a:rPr sz="1100" b="0">
                <a:solidFill>
                  <a:srgbClr val="333333"/>
                </a:solidFill>
                <a:ea typeface="Apple SD Gothic Neo"/>
                <a:latin typeface="Apple SD Gothic Neo"/>
              </a:rPr>
              <a:t>3.25→3.50% (고점)</a:t>
            </a:r>
          </a:p>
        </p:txBody>
      </p:sp>
      <p:sp>
        <p:nvSpPr>
          <p:cNvPr id="65" name="Rectangle 64"/>
          <p:cNvSpPr/>
          <p:nvPr/>
        </p:nvSpPr>
        <p:spPr>
          <a:xfrm>
            <a:off x="4754880" y="4709160"/>
            <a:ext cx="914400" cy="502920"/>
          </a:xfrm>
          <a:prstGeom prst="rect">
            <a:avLst/>
          </a:prstGeom>
          <a:solidFill>
            <a:srgbClr val="FFFFFF"/>
          </a:solidFill>
          <a:ln w="6350">
            <a:solidFill>
              <a:srgbClr val="CCC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4800600" y="4709160"/>
            <a:ext cx="822960" cy="502920"/>
          </a:xfrm>
          <a:prstGeom prst="rect">
            <a:avLst/>
          </a:prstGeom>
          <a:noFill/>
        </p:spPr>
        <p:txBody>
          <a:bodyPr wrap="square" anchor="ctr" lIns="25400" rIns="25400" tIns="0" bIns="0">
            <a:spAutoFit/>
          </a:bodyPr>
          <a:lstStyle/>
          <a:p>
            <a:pPr algn="ctr">
              <a:lnSpc>
                <a:spcPct val="120000"/>
              </a:lnSpc>
            </a:pPr>
            <a:r>
              <a:rPr sz="1100" b="0">
                <a:solidFill>
                  <a:srgbClr val="333333"/>
                </a:solidFill>
                <a:ea typeface="Apple SD Gothic Neo"/>
                <a:latin typeface="Apple SD Gothic Neo"/>
              </a:rPr>
              <a:t>2024</a:t>
            </a:r>
          </a:p>
        </p:txBody>
      </p:sp>
      <p:sp>
        <p:nvSpPr>
          <p:cNvPr id="67" name="Rectangle 66"/>
          <p:cNvSpPr/>
          <p:nvPr/>
        </p:nvSpPr>
        <p:spPr>
          <a:xfrm>
            <a:off x="5669280" y="4709160"/>
            <a:ext cx="1371600" cy="502920"/>
          </a:xfrm>
          <a:prstGeom prst="rect">
            <a:avLst/>
          </a:prstGeom>
          <a:solidFill>
            <a:srgbClr val="FFFFFF"/>
          </a:solidFill>
          <a:ln w="6350">
            <a:solidFill>
              <a:srgbClr val="CCC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TextBox 67"/>
          <p:cNvSpPr txBox="1"/>
          <p:nvPr/>
        </p:nvSpPr>
        <p:spPr>
          <a:xfrm>
            <a:off x="5715000" y="4709160"/>
            <a:ext cx="1280160" cy="502920"/>
          </a:xfrm>
          <a:prstGeom prst="rect">
            <a:avLst/>
          </a:prstGeom>
          <a:noFill/>
        </p:spPr>
        <p:txBody>
          <a:bodyPr wrap="square" anchor="ctr" lIns="25400" rIns="25400" tIns="0" bIns="0">
            <a:spAutoFit/>
          </a:bodyPr>
          <a:lstStyle/>
          <a:p>
            <a:pPr algn="ctr">
              <a:lnSpc>
                <a:spcPct val="120000"/>
              </a:lnSpc>
            </a:pPr>
            <a:r>
              <a:rPr sz="1100" b="1">
                <a:solidFill>
                  <a:srgbClr val="333333"/>
                </a:solidFill>
                <a:ea typeface="Apple SD Gothic Neo"/>
                <a:latin typeface="Apple SD Gothic Neo"/>
              </a:rPr>
              <a:t>57,710</a:t>
            </a:r>
          </a:p>
        </p:txBody>
      </p:sp>
      <p:sp>
        <p:nvSpPr>
          <p:cNvPr id="69" name="Rectangle 68"/>
          <p:cNvSpPr/>
          <p:nvPr/>
        </p:nvSpPr>
        <p:spPr>
          <a:xfrm>
            <a:off x="7040880" y="4709160"/>
            <a:ext cx="2286000" cy="502920"/>
          </a:xfrm>
          <a:prstGeom prst="rect">
            <a:avLst/>
          </a:prstGeom>
          <a:solidFill>
            <a:srgbClr val="FFFFFF"/>
          </a:solidFill>
          <a:ln w="6350">
            <a:solidFill>
              <a:srgbClr val="CCC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TextBox 69"/>
          <p:cNvSpPr txBox="1"/>
          <p:nvPr/>
        </p:nvSpPr>
        <p:spPr>
          <a:xfrm>
            <a:off x="7086600" y="4709160"/>
            <a:ext cx="2194560" cy="502920"/>
          </a:xfrm>
          <a:prstGeom prst="rect">
            <a:avLst/>
          </a:prstGeom>
          <a:noFill/>
        </p:spPr>
        <p:txBody>
          <a:bodyPr wrap="square" anchor="ctr" lIns="25400" rIns="25400" tIns="0" bIns="0">
            <a:spAutoFit/>
          </a:bodyPr>
          <a:lstStyle/>
          <a:p>
            <a:pPr algn="ctr">
              <a:lnSpc>
                <a:spcPct val="120000"/>
              </a:lnSpc>
            </a:pPr>
            <a:r>
              <a:rPr sz="1100" b="0">
                <a:solidFill>
                  <a:srgbClr val="333333"/>
                </a:solidFill>
                <a:ea typeface="Apple SD Gothic Neo"/>
                <a:latin typeface="Apple SD Gothic Neo"/>
              </a:rPr>
              <a:t>회복 확산</a:t>
            </a:r>
          </a:p>
        </p:txBody>
      </p:sp>
      <p:sp>
        <p:nvSpPr>
          <p:cNvPr id="71" name="Rectangle 70"/>
          <p:cNvSpPr/>
          <p:nvPr/>
        </p:nvSpPr>
        <p:spPr>
          <a:xfrm>
            <a:off x="9326880" y="4709160"/>
            <a:ext cx="2468880" cy="502920"/>
          </a:xfrm>
          <a:prstGeom prst="rect">
            <a:avLst/>
          </a:prstGeom>
          <a:solidFill>
            <a:srgbClr val="FFFFFF"/>
          </a:solidFill>
          <a:ln w="6350">
            <a:solidFill>
              <a:srgbClr val="CCC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TextBox 71"/>
          <p:cNvSpPr txBox="1"/>
          <p:nvPr/>
        </p:nvSpPr>
        <p:spPr>
          <a:xfrm>
            <a:off x="9372600" y="4709160"/>
            <a:ext cx="2377440" cy="502920"/>
          </a:xfrm>
          <a:prstGeom prst="rect">
            <a:avLst/>
          </a:prstGeom>
          <a:noFill/>
        </p:spPr>
        <p:txBody>
          <a:bodyPr wrap="square" anchor="ctr" lIns="25400" rIns="25400" tIns="0" bIns="0">
            <a:spAutoFit/>
          </a:bodyPr>
          <a:lstStyle/>
          <a:p>
            <a:pPr algn="ctr">
              <a:lnSpc>
                <a:spcPct val="120000"/>
              </a:lnSpc>
            </a:pPr>
            <a:r>
              <a:rPr sz="1100" b="0">
                <a:solidFill>
                  <a:srgbClr val="333333"/>
                </a:solidFill>
                <a:ea typeface="Apple SD Gothic Neo"/>
                <a:latin typeface="Apple SD Gothic Neo"/>
              </a:rPr>
              <a:t>3.50→3.00%</a:t>
            </a:r>
          </a:p>
        </p:txBody>
      </p:sp>
      <p:sp>
        <p:nvSpPr>
          <p:cNvPr id="73" name="Rectangle 72"/>
          <p:cNvSpPr/>
          <p:nvPr/>
        </p:nvSpPr>
        <p:spPr>
          <a:xfrm>
            <a:off x="4754880" y="5212080"/>
            <a:ext cx="914400" cy="502920"/>
          </a:xfrm>
          <a:prstGeom prst="rect">
            <a:avLst/>
          </a:prstGeom>
          <a:solidFill>
            <a:srgbClr val="F1F3F6"/>
          </a:solidFill>
          <a:ln w="6350">
            <a:solidFill>
              <a:srgbClr val="CCC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TextBox 73"/>
          <p:cNvSpPr txBox="1"/>
          <p:nvPr/>
        </p:nvSpPr>
        <p:spPr>
          <a:xfrm>
            <a:off x="4800600" y="5212080"/>
            <a:ext cx="822960" cy="502920"/>
          </a:xfrm>
          <a:prstGeom prst="rect">
            <a:avLst/>
          </a:prstGeom>
          <a:noFill/>
        </p:spPr>
        <p:txBody>
          <a:bodyPr wrap="square" anchor="ctr" lIns="25400" rIns="25400" tIns="0" bIns="0">
            <a:spAutoFit/>
          </a:bodyPr>
          <a:lstStyle/>
          <a:p>
            <a:pPr algn="ctr">
              <a:lnSpc>
                <a:spcPct val="120000"/>
              </a:lnSpc>
            </a:pPr>
            <a:r>
              <a:rPr sz="1100" b="0">
                <a:solidFill>
                  <a:srgbClr val="333333"/>
                </a:solidFill>
                <a:ea typeface="Apple SD Gothic Neo"/>
                <a:latin typeface="Apple SD Gothic Neo"/>
              </a:rPr>
              <a:t>2025</a:t>
            </a:r>
          </a:p>
        </p:txBody>
      </p:sp>
      <p:sp>
        <p:nvSpPr>
          <p:cNvPr id="75" name="Rectangle 74"/>
          <p:cNvSpPr/>
          <p:nvPr/>
        </p:nvSpPr>
        <p:spPr>
          <a:xfrm>
            <a:off x="5669280" y="5212080"/>
            <a:ext cx="1371600" cy="502920"/>
          </a:xfrm>
          <a:prstGeom prst="rect">
            <a:avLst/>
          </a:prstGeom>
          <a:solidFill>
            <a:srgbClr val="F1F3F6"/>
          </a:solidFill>
          <a:ln w="6350">
            <a:solidFill>
              <a:srgbClr val="CCC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TextBox 75"/>
          <p:cNvSpPr txBox="1"/>
          <p:nvPr/>
        </p:nvSpPr>
        <p:spPr>
          <a:xfrm>
            <a:off x="5715000" y="5212080"/>
            <a:ext cx="1280160" cy="502920"/>
          </a:xfrm>
          <a:prstGeom prst="rect">
            <a:avLst/>
          </a:prstGeom>
          <a:noFill/>
        </p:spPr>
        <p:txBody>
          <a:bodyPr wrap="square" anchor="ctr" lIns="25400" rIns="25400" tIns="0" bIns="0">
            <a:spAutoFit/>
          </a:bodyPr>
          <a:lstStyle/>
          <a:p>
            <a:pPr algn="ctr">
              <a:lnSpc>
                <a:spcPct val="120000"/>
              </a:lnSpc>
            </a:pPr>
            <a:r>
              <a:rPr sz="1100" b="1">
                <a:solidFill>
                  <a:srgbClr val="333333"/>
                </a:solidFill>
                <a:ea typeface="Apple SD Gothic Neo"/>
                <a:latin typeface="Apple SD Gothic Neo"/>
              </a:rPr>
              <a:t>83,572</a:t>
            </a:r>
          </a:p>
        </p:txBody>
      </p:sp>
      <p:sp>
        <p:nvSpPr>
          <p:cNvPr id="77" name="Rectangle 76"/>
          <p:cNvSpPr/>
          <p:nvPr/>
        </p:nvSpPr>
        <p:spPr>
          <a:xfrm>
            <a:off x="7040880" y="5212080"/>
            <a:ext cx="2286000" cy="502920"/>
          </a:xfrm>
          <a:prstGeom prst="rect">
            <a:avLst/>
          </a:prstGeom>
          <a:solidFill>
            <a:srgbClr val="F1F3F6"/>
          </a:solidFill>
          <a:ln w="6350">
            <a:solidFill>
              <a:srgbClr val="CCC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TextBox 77"/>
          <p:cNvSpPr txBox="1"/>
          <p:nvPr/>
        </p:nvSpPr>
        <p:spPr>
          <a:xfrm>
            <a:off x="7086600" y="5212080"/>
            <a:ext cx="2194560" cy="502920"/>
          </a:xfrm>
          <a:prstGeom prst="rect">
            <a:avLst/>
          </a:prstGeom>
          <a:noFill/>
        </p:spPr>
        <p:txBody>
          <a:bodyPr wrap="square" anchor="ctr" lIns="25400" rIns="25400" tIns="0" bIns="0">
            <a:spAutoFit/>
          </a:bodyPr>
          <a:lstStyle/>
          <a:p>
            <a:pPr algn="ctr">
              <a:lnSpc>
                <a:spcPct val="120000"/>
              </a:lnSpc>
            </a:pPr>
            <a:r>
              <a:rPr sz="1100" b="0">
                <a:solidFill>
                  <a:srgbClr val="333333"/>
                </a:solidFill>
                <a:ea typeface="Apple SD Gothic Neo"/>
                <a:latin typeface="Apple SD Gothic Neo"/>
              </a:rPr>
              <a:t>안정화</a:t>
            </a:r>
          </a:p>
        </p:txBody>
      </p:sp>
      <p:sp>
        <p:nvSpPr>
          <p:cNvPr id="79" name="Rectangle 78"/>
          <p:cNvSpPr/>
          <p:nvPr/>
        </p:nvSpPr>
        <p:spPr>
          <a:xfrm>
            <a:off x="9326880" y="5212080"/>
            <a:ext cx="2468880" cy="502920"/>
          </a:xfrm>
          <a:prstGeom prst="rect">
            <a:avLst/>
          </a:prstGeom>
          <a:solidFill>
            <a:srgbClr val="F1F3F6"/>
          </a:solidFill>
          <a:ln w="6350">
            <a:solidFill>
              <a:srgbClr val="CCC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TextBox 79"/>
          <p:cNvSpPr txBox="1"/>
          <p:nvPr/>
        </p:nvSpPr>
        <p:spPr>
          <a:xfrm>
            <a:off x="9372600" y="5212080"/>
            <a:ext cx="2377440" cy="502920"/>
          </a:xfrm>
          <a:prstGeom prst="rect">
            <a:avLst/>
          </a:prstGeom>
          <a:noFill/>
        </p:spPr>
        <p:txBody>
          <a:bodyPr wrap="square" anchor="ctr" lIns="25400" rIns="25400" tIns="0" bIns="0">
            <a:spAutoFit/>
          </a:bodyPr>
          <a:lstStyle/>
          <a:p>
            <a:pPr algn="ctr">
              <a:lnSpc>
                <a:spcPct val="120000"/>
              </a:lnSpc>
            </a:pPr>
            <a:r>
              <a:rPr sz="1100" b="0">
                <a:solidFill>
                  <a:srgbClr val="333333"/>
                </a:solidFill>
                <a:ea typeface="Apple SD Gothic Neo"/>
                <a:latin typeface="Apple SD Gothic Neo"/>
              </a:rPr>
              <a:t>~2.50%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103120" cy="502920"/>
          </a:xfrm>
          <a:prstGeom prst="rect">
            <a:avLst/>
          </a:prstGeom>
          <a:solidFill>
            <a:srgbClr val="2D3E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37160" y="0"/>
            <a:ext cx="1920240" cy="502920"/>
          </a:xfrm>
          <a:prstGeom prst="rect">
            <a:avLst/>
          </a:prstGeom>
          <a:noFill/>
        </p:spPr>
        <p:txBody>
          <a:bodyPr wrap="square" anchor="ctr" lIns="25400" rIns="2540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500" b="1">
                <a:solidFill>
                  <a:srgbClr val="FFFFFF"/>
                </a:solidFill>
                <a:ea typeface="Apple SD Gothic Neo"/>
                <a:latin typeface="Apple SD Gothic Neo"/>
              </a:rPr>
              <a:t>03. METHODS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28600" y="548640"/>
            <a:ext cx="4572000" cy="365760"/>
          </a:xfrm>
          <a:prstGeom prst="rect">
            <a:avLst/>
          </a:prstGeom>
          <a:noFill/>
        </p:spPr>
        <p:txBody>
          <a:bodyPr wrap="square" anchor="ctr" lIns="25400" rIns="2540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1">
                <a:solidFill>
                  <a:srgbClr val="2D3E5C"/>
                </a:solidFill>
                <a:ea typeface="Apple SD Gothic Neo"/>
                <a:latin typeface="Apple SD Gothic Neo"/>
              </a:rPr>
              <a:t>아파트 단지 지오코딩 — Kakao Local API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0" y="91440"/>
            <a:ext cx="7040880" cy="365760"/>
          </a:xfrm>
          <a:prstGeom prst="rect">
            <a:avLst/>
          </a:prstGeom>
          <a:noFill/>
        </p:spPr>
        <p:txBody>
          <a:bodyPr wrap="square" anchor="ctr" lIns="25400" rIns="25400" tIns="0" bIns="0">
            <a:spAutoFit/>
          </a:bodyPr>
          <a:lstStyle/>
          <a:p>
            <a:pPr algn="r">
              <a:lnSpc>
                <a:spcPct val="120000"/>
              </a:lnSpc>
            </a:pPr>
            <a:r>
              <a:rPr sz="1000" b="0">
                <a:solidFill>
                  <a:srgbClr val="777777"/>
                </a:solidFill>
                <a:ea typeface="Apple SD Gothic Neo"/>
                <a:latin typeface="Apple SD Gothic Neo"/>
              </a:rPr>
              <a:t>Explanatory Patterns of Apartment Unit-Area Sale Prices in Seoul Using XGBoost and SHAP</a:t>
            </a:r>
          </a:p>
        </p:txBody>
      </p:sp>
      <p:sp>
        <p:nvSpPr>
          <p:cNvPr id="6" name="Rectangle 5"/>
          <p:cNvSpPr/>
          <p:nvPr/>
        </p:nvSpPr>
        <p:spPr>
          <a:xfrm>
            <a:off x="228600" y="960120"/>
            <a:ext cx="11750040" cy="18288"/>
          </a:xfrm>
          <a:prstGeom prst="rect">
            <a:avLst/>
          </a:prstGeom>
          <a:solidFill>
            <a:srgbClr val="CCCC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1731752" y="6446520"/>
            <a:ext cx="457200" cy="411480"/>
          </a:xfrm>
          <a:prstGeom prst="rect">
            <a:avLst/>
          </a:prstGeom>
          <a:solidFill>
            <a:srgbClr val="2D3E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731752" y="6446520"/>
            <a:ext cx="457200" cy="411480"/>
          </a:xfrm>
          <a:prstGeom prst="rect">
            <a:avLst/>
          </a:prstGeom>
          <a:noFill/>
        </p:spPr>
        <p:txBody>
          <a:bodyPr wrap="square" anchor="ctr" lIns="25400" rIns="25400" tIns="0" bIns="0">
            <a:spAutoFit/>
          </a:bodyPr>
          <a:lstStyle/>
          <a:p>
            <a:pPr algn="ctr">
              <a:lnSpc>
                <a:spcPct val="120000"/>
              </a:lnSpc>
            </a:pPr>
            <a:r>
              <a:rPr sz="1000" b="1">
                <a:solidFill>
                  <a:srgbClr val="FFFFFF"/>
                </a:solidFill>
                <a:ea typeface="Apple SD Gothic Neo"/>
                <a:latin typeface="Apple SD Gothic Neo"/>
              </a:rPr>
              <a:t>08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65760" y="1280160"/>
            <a:ext cx="11430000" cy="365760"/>
          </a:xfrm>
          <a:prstGeom prst="rect">
            <a:avLst/>
          </a:prstGeom>
          <a:noFill/>
        </p:spPr>
        <p:txBody>
          <a:bodyPr wrap="square" anchor="t" lIns="25400" rIns="2540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>
                <a:solidFill>
                  <a:srgbClr val="333333"/>
                </a:solidFill>
                <a:ea typeface="Apple SD Gothic Neo"/>
                <a:latin typeface="Apple SD Gothic Neo"/>
              </a:rPr>
              <a:t>국토교통부 실거래 자료에 위경도 정보 부재 → (구·법정동·아파트명) 키로 8,601개 유니크 단지 식별 후 Kakao로 좌표 확보</a:t>
            </a:r>
          </a:p>
        </p:txBody>
      </p:sp>
      <p:sp>
        <p:nvSpPr>
          <p:cNvPr id="10" name="Rectangle 9"/>
          <p:cNvSpPr/>
          <p:nvPr/>
        </p:nvSpPr>
        <p:spPr>
          <a:xfrm>
            <a:off x="365760" y="1783080"/>
            <a:ext cx="3657600" cy="502920"/>
          </a:xfrm>
          <a:prstGeom prst="rect">
            <a:avLst/>
          </a:prstGeom>
          <a:solidFill>
            <a:srgbClr val="C844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65760" y="1783080"/>
            <a:ext cx="3657600" cy="502920"/>
          </a:xfrm>
          <a:prstGeom prst="rect">
            <a:avLst/>
          </a:prstGeom>
          <a:noFill/>
        </p:spPr>
        <p:txBody>
          <a:bodyPr wrap="square" anchor="ctr" lIns="25400" rIns="25400" tIns="0" bIns="0">
            <a:spAutoFit/>
          </a:bodyPr>
          <a:lstStyle/>
          <a:p>
            <a:pPr algn="ctr">
              <a:lnSpc>
                <a:spcPct val="120000"/>
              </a:lnSpc>
            </a:pPr>
            <a:r>
              <a:rPr sz="1400" b="1">
                <a:solidFill>
                  <a:srgbClr val="FFFFFF"/>
                </a:solidFill>
                <a:ea typeface="Apple SD Gothic Neo"/>
                <a:latin typeface="Apple SD Gothic Neo"/>
              </a:rPr>
              <a:t>STEP 1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65760" y="2286000"/>
            <a:ext cx="3657600" cy="548640"/>
          </a:xfrm>
          <a:prstGeom prst="rect">
            <a:avLst/>
          </a:prstGeom>
          <a:solidFill>
            <a:srgbClr val="2D3E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65760" y="2286000"/>
            <a:ext cx="3657600" cy="548640"/>
          </a:xfrm>
          <a:prstGeom prst="rect">
            <a:avLst/>
          </a:prstGeom>
          <a:noFill/>
        </p:spPr>
        <p:txBody>
          <a:bodyPr wrap="square" anchor="ctr" lIns="25400" rIns="25400" tIns="0" bIns="0">
            <a:spAutoFit/>
          </a:bodyPr>
          <a:lstStyle/>
          <a:p>
            <a:pPr algn="ctr">
              <a:lnSpc>
                <a:spcPct val="120000"/>
              </a:lnSpc>
            </a:pPr>
            <a:r>
              <a:rPr sz="1400" b="1">
                <a:solidFill>
                  <a:srgbClr val="FFFFFF"/>
                </a:solidFill>
                <a:ea typeface="Apple SD Gothic Neo"/>
                <a:latin typeface="Apple SD Gothic Neo"/>
              </a:rPr>
              <a:t>키워드 검색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65760" y="2834640"/>
            <a:ext cx="3657600" cy="1463040"/>
          </a:xfrm>
          <a:prstGeom prst="rect">
            <a:avLst/>
          </a:prstGeom>
          <a:solidFill>
            <a:srgbClr val="F1F3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02920" y="2926080"/>
            <a:ext cx="3383280" cy="1325880"/>
          </a:xfrm>
          <a:prstGeom prst="rect">
            <a:avLst/>
          </a:prstGeom>
          <a:noFill/>
        </p:spPr>
        <p:txBody>
          <a:bodyPr wrap="square" anchor="t" lIns="25400" rIns="2540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0">
                <a:solidFill>
                  <a:srgbClr val="333333"/>
                </a:solidFill>
                <a:ea typeface="Apple SD Gothic Neo"/>
                <a:latin typeface="Apple SD Gothic Neo"/>
              </a:rPr>
              <a:t>Kakao Local API</a:t>
            </a:r>
          </a:p>
          <a:p>
            <a:pPr algn="l">
              <a:lnSpc>
                <a:spcPct val="120000"/>
              </a:lnSpc>
            </a:pPr>
            <a:r>
              <a:rPr sz="1100" b="0">
                <a:solidFill>
                  <a:srgbClr val="333333"/>
                </a:solidFill>
                <a:ea typeface="Apple SD Gothic Neo"/>
                <a:latin typeface="Apple SD Gothic Neo"/>
              </a:rPr>
              <a:t>키워드 + 구·법정동</a:t>
            </a:r>
          </a:p>
        </p:txBody>
      </p:sp>
      <p:sp>
        <p:nvSpPr>
          <p:cNvPr id="16" name="Rectangle 15"/>
          <p:cNvSpPr/>
          <p:nvPr/>
        </p:nvSpPr>
        <p:spPr>
          <a:xfrm>
            <a:off x="365760" y="4297680"/>
            <a:ext cx="3657600" cy="1554480"/>
          </a:xfrm>
          <a:prstGeom prst="rect">
            <a:avLst/>
          </a:prstGeom>
          <a:solidFill>
            <a:srgbClr val="FFFFFF"/>
          </a:solidFill>
          <a:ln w="6350">
            <a:solidFill>
              <a:srgbClr val="2D3E5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02920" y="4434840"/>
            <a:ext cx="3383280" cy="1371600"/>
          </a:xfrm>
          <a:prstGeom prst="rect">
            <a:avLst/>
          </a:prstGeom>
          <a:noFill/>
        </p:spPr>
        <p:txBody>
          <a:bodyPr wrap="square" anchor="t" lIns="25400" rIns="2540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>
                <a:solidFill>
                  <a:srgbClr val="2D3E5C"/>
                </a:solidFill>
                <a:ea typeface="Apple SD Gothic Neo"/>
                <a:latin typeface="Apple SD Gothic Neo"/>
              </a:rPr>
              <a:t>7,999 단지 (93.0%)</a:t>
            </a:r>
          </a:p>
          <a:p>
            <a:pPr algn="l">
              <a:lnSpc>
                <a:spcPct val="120000"/>
              </a:lnSpc>
            </a:pPr>
            <a:r>
              <a:rPr sz="1100" b="1">
                <a:solidFill>
                  <a:srgbClr val="2D3E5C"/>
                </a:solidFill>
                <a:ea typeface="Apple SD Gothic Neo"/>
                <a:latin typeface="Apple SD Gothic Neo"/>
              </a:rPr>
              <a:t>구·법정동 완전 일치(score=3)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206240" y="1783080"/>
            <a:ext cx="3657600" cy="502920"/>
          </a:xfrm>
          <a:prstGeom prst="rect">
            <a:avLst/>
          </a:prstGeom>
          <a:solidFill>
            <a:srgbClr val="C844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206240" y="1783080"/>
            <a:ext cx="3657600" cy="502920"/>
          </a:xfrm>
          <a:prstGeom prst="rect">
            <a:avLst/>
          </a:prstGeom>
          <a:noFill/>
        </p:spPr>
        <p:txBody>
          <a:bodyPr wrap="square" anchor="ctr" lIns="25400" rIns="25400" tIns="0" bIns="0">
            <a:spAutoFit/>
          </a:bodyPr>
          <a:lstStyle/>
          <a:p>
            <a:pPr algn="ctr">
              <a:lnSpc>
                <a:spcPct val="120000"/>
              </a:lnSpc>
            </a:pPr>
            <a:r>
              <a:rPr sz="1400" b="1">
                <a:solidFill>
                  <a:srgbClr val="FFFFFF"/>
                </a:solidFill>
                <a:ea typeface="Apple SD Gothic Neo"/>
                <a:latin typeface="Apple SD Gothic Neo"/>
              </a:rPr>
              <a:t>STEP 2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206240" y="2286000"/>
            <a:ext cx="3657600" cy="548640"/>
          </a:xfrm>
          <a:prstGeom prst="rect">
            <a:avLst/>
          </a:prstGeom>
          <a:solidFill>
            <a:srgbClr val="2D3E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206240" y="2286000"/>
            <a:ext cx="3657600" cy="548640"/>
          </a:xfrm>
          <a:prstGeom prst="rect">
            <a:avLst/>
          </a:prstGeom>
          <a:noFill/>
        </p:spPr>
        <p:txBody>
          <a:bodyPr wrap="square" anchor="ctr" lIns="25400" rIns="25400" tIns="0" bIns="0">
            <a:spAutoFit/>
          </a:bodyPr>
          <a:lstStyle/>
          <a:p>
            <a:pPr algn="ctr">
              <a:lnSpc>
                <a:spcPct val="120000"/>
              </a:lnSpc>
            </a:pPr>
            <a:r>
              <a:rPr sz="1400" b="1">
                <a:solidFill>
                  <a:srgbClr val="FFFFFF"/>
                </a:solidFill>
                <a:ea typeface="Apple SD Gothic Neo"/>
                <a:latin typeface="Apple SD Gothic Neo"/>
              </a:rPr>
              <a:t>쿼리 변형 재시도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206240" y="2834640"/>
            <a:ext cx="3657600" cy="1463040"/>
          </a:xfrm>
          <a:prstGeom prst="rect">
            <a:avLst/>
          </a:prstGeom>
          <a:solidFill>
            <a:srgbClr val="F1F3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343400" y="2926080"/>
            <a:ext cx="3383280" cy="1325880"/>
          </a:xfrm>
          <a:prstGeom prst="rect">
            <a:avLst/>
          </a:prstGeom>
          <a:noFill/>
        </p:spPr>
        <p:txBody>
          <a:bodyPr wrap="square" anchor="t" lIns="25400" rIns="2540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0">
                <a:solidFill>
                  <a:srgbClr val="333333"/>
                </a:solidFill>
                <a:ea typeface="Apple SD Gothic Neo"/>
                <a:latin typeface="Apple SD Gothic Neo"/>
              </a:rPr>
              <a:t>특수문자·로마숫자·접미어 제거</a:t>
            </a:r>
          </a:p>
          <a:p>
            <a:pPr algn="l">
              <a:lnSpc>
                <a:spcPct val="120000"/>
              </a:lnSpc>
            </a:pPr>
            <a:r>
              <a:rPr sz="1100" b="0">
                <a:solidFill>
                  <a:srgbClr val="333333"/>
                </a:solidFill>
                <a:ea typeface="Apple SD Gothic Neo"/>
                <a:latin typeface="Apple SD Gothic Neo"/>
              </a:rPr>
              <a:t>→ 변형 쿼리 재호출</a:t>
            </a:r>
          </a:p>
        </p:txBody>
      </p:sp>
      <p:sp>
        <p:nvSpPr>
          <p:cNvPr id="24" name="Rectangle 23"/>
          <p:cNvSpPr/>
          <p:nvPr/>
        </p:nvSpPr>
        <p:spPr>
          <a:xfrm>
            <a:off x="4206240" y="4297680"/>
            <a:ext cx="3657600" cy="1554480"/>
          </a:xfrm>
          <a:prstGeom prst="rect">
            <a:avLst/>
          </a:prstGeom>
          <a:solidFill>
            <a:srgbClr val="FFFFFF"/>
          </a:solidFill>
          <a:ln w="6350">
            <a:solidFill>
              <a:srgbClr val="2D3E5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4343400" y="4434840"/>
            <a:ext cx="3383280" cy="1371600"/>
          </a:xfrm>
          <a:prstGeom prst="rect">
            <a:avLst/>
          </a:prstGeom>
          <a:noFill/>
        </p:spPr>
        <p:txBody>
          <a:bodyPr wrap="square" anchor="t" lIns="25400" rIns="2540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>
                <a:solidFill>
                  <a:srgbClr val="2D3E5C"/>
                </a:solidFill>
                <a:ea typeface="Apple SD Gothic Neo"/>
                <a:latin typeface="Apple SD Gothic Neo"/>
              </a:rPr>
              <a:t>+602 단지 회복</a:t>
            </a:r>
          </a:p>
          <a:p>
            <a:pPr algn="l">
              <a:lnSpc>
                <a:spcPct val="120000"/>
              </a:lnSpc>
            </a:pPr>
            <a:r>
              <a:rPr sz="1100" b="1">
                <a:solidFill>
                  <a:srgbClr val="2D3E5C"/>
                </a:solidFill>
                <a:ea typeface="Apple SD Gothic Neo"/>
                <a:latin typeface="Apple SD Gothic Neo"/>
              </a:rPr>
              <a:t>→ 누적 100% 커버</a:t>
            </a:r>
          </a:p>
        </p:txBody>
      </p:sp>
      <p:sp>
        <p:nvSpPr>
          <p:cNvPr id="26" name="Rectangle 25"/>
          <p:cNvSpPr/>
          <p:nvPr/>
        </p:nvSpPr>
        <p:spPr>
          <a:xfrm>
            <a:off x="8046720" y="1783080"/>
            <a:ext cx="3657600" cy="502920"/>
          </a:xfrm>
          <a:prstGeom prst="rect">
            <a:avLst/>
          </a:prstGeom>
          <a:solidFill>
            <a:srgbClr val="C844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046720" y="1783080"/>
            <a:ext cx="3657600" cy="502920"/>
          </a:xfrm>
          <a:prstGeom prst="rect">
            <a:avLst/>
          </a:prstGeom>
          <a:noFill/>
        </p:spPr>
        <p:txBody>
          <a:bodyPr wrap="square" anchor="ctr" lIns="25400" rIns="25400" tIns="0" bIns="0">
            <a:spAutoFit/>
          </a:bodyPr>
          <a:lstStyle/>
          <a:p>
            <a:pPr algn="ctr">
              <a:lnSpc>
                <a:spcPct val="120000"/>
              </a:lnSpc>
            </a:pPr>
            <a:r>
              <a:rPr sz="1400" b="1">
                <a:solidFill>
                  <a:srgbClr val="FFFFFF"/>
                </a:solidFill>
                <a:ea typeface="Apple SD Gothic Neo"/>
                <a:latin typeface="Apple SD Gothic Neo"/>
              </a:rPr>
              <a:t>STEP 3</a:t>
            </a:r>
          </a:p>
        </p:txBody>
      </p:sp>
      <p:sp>
        <p:nvSpPr>
          <p:cNvPr id="28" name="Rectangle 27"/>
          <p:cNvSpPr/>
          <p:nvPr/>
        </p:nvSpPr>
        <p:spPr>
          <a:xfrm>
            <a:off x="8046720" y="2286000"/>
            <a:ext cx="3657600" cy="548640"/>
          </a:xfrm>
          <a:prstGeom prst="rect">
            <a:avLst/>
          </a:prstGeom>
          <a:solidFill>
            <a:srgbClr val="2D3E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8046720" y="2286000"/>
            <a:ext cx="3657600" cy="548640"/>
          </a:xfrm>
          <a:prstGeom prst="rect">
            <a:avLst/>
          </a:prstGeom>
          <a:noFill/>
        </p:spPr>
        <p:txBody>
          <a:bodyPr wrap="square" anchor="ctr" lIns="25400" rIns="25400" tIns="0" bIns="0">
            <a:spAutoFit/>
          </a:bodyPr>
          <a:lstStyle/>
          <a:p>
            <a:pPr algn="ctr">
              <a:lnSpc>
                <a:spcPct val="120000"/>
              </a:lnSpc>
            </a:pPr>
            <a:r>
              <a:rPr sz="1400" b="1">
                <a:solidFill>
                  <a:srgbClr val="FFFFFF"/>
                </a:solidFill>
                <a:ea typeface="Apple SD Gothic Neo"/>
                <a:latin typeface="Apple SD Gothic Neo"/>
              </a:rPr>
              <a:t>좌표체계 통일</a:t>
            </a:r>
          </a:p>
        </p:txBody>
      </p:sp>
      <p:sp>
        <p:nvSpPr>
          <p:cNvPr id="30" name="Rectangle 29"/>
          <p:cNvSpPr/>
          <p:nvPr/>
        </p:nvSpPr>
        <p:spPr>
          <a:xfrm>
            <a:off x="8046720" y="2834640"/>
            <a:ext cx="3657600" cy="1463040"/>
          </a:xfrm>
          <a:prstGeom prst="rect">
            <a:avLst/>
          </a:prstGeom>
          <a:solidFill>
            <a:srgbClr val="F1F3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8183880" y="2926080"/>
            <a:ext cx="3383280" cy="1325880"/>
          </a:xfrm>
          <a:prstGeom prst="rect">
            <a:avLst/>
          </a:prstGeom>
          <a:noFill/>
        </p:spPr>
        <p:txBody>
          <a:bodyPr wrap="square" anchor="t" lIns="25400" rIns="2540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0">
                <a:solidFill>
                  <a:srgbClr val="333333"/>
                </a:solidFill>
                <a:ea typeface="Apple SD Gothic Neo"/>
                <a:latin typeface="Apple SD Gothic Neo"/>
              </a:rPr>
              <a:t>시설별 WGS84 / TM(EPSG:2097) 혼재</a:t>
            </a:r>
          </a:p>
          <a:p>
            <a:pPr algn="l">
              <a:lnSpc>
                <a:spcPct val="120000"/>
              </a:lnSpc>
            </a:pPr>
            <a:r>
              <a:rPr sz="1100" b="0">
                <a:solidFill>
                  <a:srgbClr val="333333"/>
                </a:solidFill>
                <a:ea typeface="Apple SD Gothic Neo"/>
                <a:latin typeface="Apple SD Gothic Neo"/>
              </a:rPr>
              <a:t>→ pyproj로 EPSG:4326 통일</a:t>
            </a:r>
          </a:p>
        </p:txBody>
      </p:sp>
      <p:sp>
        <p:nvSpPr>
          <p:cNvPr id="32" name="Rectangle 31"/>
          <p:cNvSpPr/>
          <p:nvPr/>
        </p:nvSpPr>
        <p:spPr>
          <a:xfrm>
            <a:off x="8046720" y="4297680"/>
            <a:ext cx="3657600" cy="1554480"/>
          </a:xfrm>
          <a:prstGeom prst="rect">
            <a:avLst/>
          </a:prstGeom>
          <a:solidFill>
            <a:srgbClr val="FFFFFF"/>
          </a:solidFill>
          <a:ln w="6350">
            <a:solidFill>
              <a:srgbClr val="2D3E5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8183880" y="4434840"/>
            <a:ext cx="3383280" cy="1371600"/>
          </a:xfrm>
          <a:prstGeom prst="rect">
            <a:avLst/>
          </a:prstGeom>
          <a:noFill/>
        </p:spPr>
        <p:txBody>
          <a:bodyPr wrap="square" anchor="t" lIns="25400" rIns="2540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>
                <a:solidFill>
                  <a:srgbClr val="2D3E5C"/>
                </a:solidFill>
                <a:ea typeface="Apple SD Gothic Neo"/>
                <a:latin typeface="Apple SD Gothic Neo"/>
              </a:rPr>
              <a:t>13 시설군 × 통일 좌표</a:t>
            </a:r>
          </a:p>
          <a:p>
            <a:pPr algn="l">
              <a:lnSpc>
                <a:spcPct val="120000"/>
              </a:lnSpc>
            </a:pPr>
            <a:r>
              <a:rPr sz="1100" b="1">
                <a:solidFill>
                  <a:srgbClr val="2D3E5C"/>
                </a:solidFill>
                <a:ea typeface="Apple SD Gothic Neo"/>
                <a:latin typeface="Apple SD Gothic Neo"/>
              </a:rPr>
              <a:t>BallTree haversine 거리 계산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365760" y="6126480"/>
            <a:ext cx="11430000" cy="365760"/>
          </a:xfrm>
          <a:prstGeom prst="rect">
            <a:avLst/>
          </a:prstGeom>
          <a:noFill/>
        </p:spPr>
        <p:txBody>
          <a:bodyPr wrap="square" anchor="t" lIns="25400" rIns="2540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>
                <a:solidFill>
                  <a:srgbClr val="C8443D"/>
                </a:solidFill>
                <a:ea typeface="Apple SD Gothic Neo"/>
                <a:latin typeface="Apple SD Gothic Neo"/>
              </a:rPr>
              <a:t>→ 거래 391,826건 100% 매핑 (단지 단위 평균 좌표 또는 법정동 중심좌표 fallback)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103120" cy="502920"/>
          </a:xfrm>
          <a:prstGeom prst="rect">
            <a:avLst/>
          </a:prstGeom>
          <a:solidFill>
            <a:srgbClr val="2D3E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37160" y="0"/>
            <a:ext cx="1920240" cy="502920"/>
          </a:xfrm>
          <a:prstGeom prst="rect">
            <a:avLst/>
          </a:prstGeom>
          <a:noFill/>
        </p:spPr>
        <p:txBody>
          <a:bodyPr wrap="square" anchor="ctr" lIns="25400" rIns="2540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500" b="1">
                <a:solidFill>
                  <a:srgbClr val="FFFFFF"/>
                </a:solidFill>
                <a:ea typeface="Apple SD Gothic Neo"/>
                <a:latin typeface="Apple SD Gothic Neo"/>
              </a:rPr>
              <a:t>03. METHODS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28600" y="548640"/>
            <a:ext cx="4572000" cy="365760"/>
          </a:xfrm>
          <a:prstGeom prst="rect">
            <a:avLst/>
          </a:prstGeom>
          <a:noFill/>
        </p:spPr>
        <p:txBody>
          <a:bodyPr wrap="square" anchor="ctr" lIns="25400" rIns="2540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1">
                <a:solidFill>
                  <a:srgbClr val="2D3E5C"/>
                </a:solidFill>
                <a:ea typeface="Apple SD Gothic Neo"/>
                <a:latin typeface="Apple SD Gothic Neo"/>
              </a:rPr>
              <a:t>거리 기반 입지 변수 — 13 시설군 × 4 축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0" y="91440"/>
            <a:ext cx="7040880" cy="365760"/>
          </a:xfrm>
          <a:prstGeom prst="rect">
            <a:avLst/>
          </a:prstGeom>
          <a:noFill/>
        </p:spPr>
        <p:txBody>
          <a:bodyPr wrap="square" anchor="ctr" lIns="25400" rIns="25400" tIns="0" bIns="0">
            <a:spAutoFit/>
          </a:bodyPr>
          <a:lstStyle/>
          <a:p>
            <a:pPr algn="r">
              <a:lnSpc>
                <a:spcPct val="120000"/>
              </a:lnSpc>
            </a:pPr>
            <a:r>
              <a:rPr sz="1000" b="0">
                <a:solidFill>
                  <a:srgbClr val="777777"/>
                </a:solidFill>
                <a:ea typeface="Apple SD Gothic Neo"/>
                <a:latin typeface="Apple SD Gothic Neo"/>
              </a:rPr>
              <a:t>Explanatory Patterns of Apartment Unit-Area Sale Prices in Seoul Using XGBoost and SHAP</a:t>
            </a:r>
          </a:p>
        </p:txBody>
      </p:sp>
      <p:sp>
        <p:nvSpPr>
          <p:cNvPr id="6" name="Rectangle 5"/>
          <p:cNvSpPr/>
          <p:nvPr/>
        </p:nvSpPr>
        <p:spPr>
          <a:xfrm>
            <a:off x="228600" y="960120"/>
            <a:ext cx="11750040" cy="18288"/>
          </a:xfrm>
          <a:prstGeom prst="rect">
            <a:avLst/>
          </a:prstGeom>
          <a:solidFill>
            <a:srgbClr val="CCCC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1731752" y="6446520"/>
            <a:ext cx="457200" cy="411480"/>
          </a:xfrm>
          <a:prstGeom prst="rect">
            <a:avLst/>
          </a:prstGeom>
          <a:solidFill>
            <a:srgbClr val="2D3E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731752" y="6446520"/>
            <a:ext cx="457200" cy="411480"/>
          </a:xfrm>
          <a:prstGeom prst="rect">
            <a:avLst/>
          </a:prstGeom>
          <a:noFill/>
        </p:spPr>
        <p:txBody>
          <a:bodyPr wrap="square" anchor="ctr" lIns="25400" rIns="25400" tIns="0" bIns="0">
            <a:spAutoFit/>
          </a:bodyPr>
          <a:lstStyle/>
          <a:p>
            <a:pPr algn="ctr">
              <a:lnSpc>
                <a:spcPct val="120000"/>
              </a:lnSpc>
            </a:pPr>
            <a:r>
              <a:rPr sz="1000" b="1">
                <a:solidFill>
                  <a:srgbClr val="FFFFFF"/>
                </a:solidFill>
                <a:ea typeface="Apple SD Gothic Neo"/>
                <a:latin typeface="Apple SD Gothic Neo"/>
              </a:rPr>
              <a:t>09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65760" y="1280160"/>
            <a:ext cx="11430000" cy="365760"/>
          </a:xfrm>
          <a:prstGeom prst="rect">
            <a:avLst/>
          </a:prstGeom>
          <a:noFill/>
        </p:spPr>
        <p:txBody>
          <a:bodyPr wrap="square" anchor="t" lIns="25400" rIns="2540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>
                <a:solidFill>
                  <a:srgbClr val="333333"/>
                </a:solidFill>
                <a:ea typeface="Apple SD Gothic Neo"/>
                <a:latin typeface="Apple SD Gothic Neo"/>
              </a:rPr>
              <a:t>단지 좌표 기준 — 최근접 직선거리(m) + 반경 500m/1km/2km 개수 + 도보 추정 시간(분, 직선×1.35/4 km·h)</a:t>
            </a:r>
          </a:p>
        </p:txBody>
      </p:sp>
      <p:sp>
        <p:nvSpPr>
          <p:cNvPr id="10" name="Rectangle 9"/>
          <p:cNvSpPr/>
          <p:nvPr/>
        </p:nvSpPr>
        <p:spPr>
          <a:xfrm>
            <a:off x="365760" y="1783080"/>
            <a:ext cx="11430000" cy="457200"/>
          </a:xfrm>
          <a:prstGeom prst="rect">
            <a:avLst/>
          </a:prstGeom>
          <a:solidFill>
            <a:srgbClr val="4B5D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57200" y="1783080"/>
            <a:ext cx="3657600" cy="457200"/>
          </a:xfrm>
          <a:prstGeom prst="rect">
            <a:avLst/>
          </a:prstGeom>
          <a:noFill/>
        </p:spPr>
        <p:txBody>
          <a:bodyPr wrap="square" anchor="ctr" lIns="25400" rIns="2540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>
                <a:solidFill>
                  <a:srgbClr val="FFFFFF"/>
                </a:solidFill>
                <a:ea typeface="Apple SD Gothic Neo"/>
                <a:latin typeface="Apple SD Gothic Neo"/>
              </a:rPr>
              <a:t>범주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114800" y="1783080"/>
            <a:ext cx="4572000" cy="457200"/>
          </a:xfrm>
          <a:prstGeom prst="rect">
            <a:avLst/>
          </a:prstGeom>
          <a:noFill/>
        </p:spPr>
        <p:txBody>
          <a:bodyPr wrap="square" anchor="ctr" lIns="25400" rIns="2540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>
                <a:solidFill>
                  <a:srgbClr val="FFFFFF"/>
                </a:solidFill>
                <a:ea typeface="Apple SD Gothic Neo"/>
                <a:latin typeface="Apple SD Gothic Neo"/>
              </a:rPr>
              <a:t>시설군 (개수)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686800" y="1783080"/>
            <a:ext cx="3108960" cy="457200"/>
          </a:xfrm>
          <a:prstGeom prst="rect">
            <a:avLst/>
          </a:prstGeom>
          <a:noFill/>
        </p:spPr>
        <p:txBody>
          <a:bodyPr wrap="square" anchor="ctr" lIns="25400" rIns="2540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>
                <a:solidFill>
                  <a:srgbClr val="FFFFFF"/>
                </a:solidFill>
                <a:ea typeface="Apple SD Gothic Neo"/>
                <a:latin typeface="Apple SD Gothic Neo"/>
              </a:rPr>
              <a:t>대표 도보 분(중앙값)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65760" y="2240280"/>
            <a:ext cx="11430000" cy="457200"/>
          </a:xfrm>
          <a:prstGeom prst="rect">
            <a:avLst/>
          </a:prstGeom>
          <a:solidFill>
            <a:srgbClr val="F1F3F6"/>
          </a:solidFill>
          <a:ln w="6350">
            <a:solidFill>
              <a:srgbClr val="CCC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57200" y="2240280"/>
            <a:ext cx="3657600" cy="457200"/>
          </a:xfrm>
          <a:prstGeom prst="rect">
            <a:avLst/>
          </a:prstGeom>
          <a:noFill/>
        </p:spPr>
        <p:txBody>
          <a:bodyPr wrap="square" anchor="ctr" lIns="25400" rIns="2540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>
                <a:solidFill>
                  <a:srgbClr val="2D3E5C"/>
                </a:solidFill>
                <a:ea typeface="Apple SD Gothic Neo"/>
                <a:latin typeface="Apple SD Gothic Neo"/>
              </a:rPr>
              <a:t>교통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114800" y="2240280"/>
            <a:ext cx="4572000" cy="457200"/>
          </a:xfrm>
          <a:prstGeom prst="rect">
            <a:avLst/>
          </a:prstGeom>
          <a:noFill/>
        </p:spPr>
        <p:txBody>
          <a:bodyPr wrap="square" anchor="ctr" lIns="25400" rIns="2540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0">
                <a:solidFill>
                  <a:srgbClr val="333333"/>
                </a:solidFill>
                <a:ea typeface="Apple SD Gothic Neo"/>
                <a:latin typeface="Apple SD Gothic Neo"/>
              </a:rPr>
              <a:t>지하철역 (799)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686800" y="2240280"/>
            <a:ext cx="3108960" cy="457200"/>
          </a:xfrm>
          <a:prstGeom prst="rect">
            <a:avLst/>
          </a:prstGeom>
          <a:noFill/>
        </p:spPr>
        <p:txBody>
          <a:bodyPr wrap="square" anchor="ctr" lIns="25400" rIns="2540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>
                <a:solidFill>
                  <a:srgbClr val="C8443D"/>
                </a:solidFill>
                <a:ea typeface="Apple SD Gothic Neo"/>
                <a:latin typeface="Apple SD Gothic Neo"/>
              </a:rPr>
              <a:t>도보 9.4분 (중앙값)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697480"/>
            <a:ext cx="11430000" cy="457200"/>
          </a:xfrm>
          <a:prstGeom prst="rect">
            <a:avLst/>
          </a:prstGeom>
          <a:solidFill>
            <a:srgbClr val="FFFFFF"/>
          </a:solidFill>
          <a:ln w="6350">
            <a:solidFill>
              <a:srgbClr val="CCC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697480"/>
            <a:ext cx="3657600" cy="457200"/>
          </a:xfrm>
          <a:prstGeom prst="rect">
            <a:avLst/>
          </a:prstGeom>
          <a:noFill/>
        </p:spPr>
        <p:txBody>
          <a:bodyPr wrap="square" anchor="ctr" lIns="25400" rIns="2540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>
                <a:solidFill>
                  <a:srgbClr val="2D3E5C"/>
                </a:solidFill>
                <a:ea typeface="Apple SD Gothic Neo"/>
                <a:latin typeface="Apple SD Gothic Neo"/>
              </a:rPr>
              <a:t>교육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114800" y="2697480"/>
            <a:ext cx="4572000" cy="457200"/>
          </a:xfrm>
          <a:prstGeom prst="rect">
            <a:avLst/>
          </a:prstGeom>
          <a:noFill/>
        </p:spPr>
        <p:txBody>
          <a:bodyPr wrap="square" anchor="ctr" lIns="25400" rIns="2540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0">
                <a:solidFill>
                  <a:srgbClr val="333333"/>
                </a:solidFill>
                <a:ea typeface="Apple SD Gothic Neo"/>
                <a:latin typeface="Apple SD Gothic Neo"/>
              </a:rPr>
              <a:t>초·중·고 (1,415) · 학원 (25,437)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686800" y="2697480"/>
            <a:ext cx="3108960" cy="457200"/>
          </a:xfrm>
          <a:prstGeom prst="rect">
            <a:avLst/>
          </a:prstGeom>
          <a:noFill/>
        </p:spPr>
        <p:txBody>
          <a:bodyPr wrap="square" anchor="ctr" lIns="25400" rIns="2540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>
                <a:solidFill>
                  <a:srgbClr val="C8443D"/>
                </a:solidFill>
                <a:ea typeface="Apple SD Gothic Neo"/>
                <a:latin typeface="Apple SD Gothic Neo"/>
              </a:rPr>
              <a:t>도보 7.3분 (초등)</a:t>
            </a:r>
          </a:p>
        </p:txBody>
      </p:sp>
      <p:sp>
        <p:nvSpPr>
          <p:cNvPr id="22" name="Rectangle 21"/>
          <p:cNvSpPr/>
          <p:nvPr/>
        </p:nvSpPr>
        <p:spPr>
          <a:xfrm>
            <a:off x="365760" y="3154680"/>
            <a:ext cx="11430000" cy="457200"/>
          </a:xfrm>
          <a:prstGeom prst="rect">
            <a:avLst/>
          </a:prstGeom>
          <a:solidFill>
            <a:srgbClr val="F1F3F6"/>
          </a:solidFill>
          <a:ln w="6350">
            <a:solidFill>
              <a:srgbClr val="CCC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57200" y="3154680"/>
            <a:ext cx="3657600" cy="457200"/>
          </a:xfrm>
          <a:prstGeom prst="rect">
            <a:avLst/>
          </a:prstGeom>
          <a:noFill/>
        </p:spPr>
        <p:txBody>
          <a:bodyPr wrap="square" anchor="ctr" lIns="25400" rIns="2540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>
                <a:solidFill>
                  <a:srgbClr val="2D3E5C"/>
                </a:solidFill>
                <a:ea typeface="Apple SD Gothic Neo"/>
                <a:latin typeface="Apple SD Gothic Neo"/>
              </a:rPr>
              <a:t>보육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114800" y="3154680"/>
            <a:ext cx="4572000" cy="457200"/>
          </a:xfrm>
          <a:prstGeom prst="rect">
            <a:avLst/>
          </a:prstGeom>
          <a:noFill/>
        </p:spPr>
        <p:txBody>
          <a:bodyPr wrap="square" anchor="ctr" lIns="25400" rIns="2540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0">
                <a:solidFill>
                  <a:srgbClr val="333333"/>
                </a:solidFill>
                <a:ea typeface="Apple SD Gothic Neo"/>
                <a:latin typeface="Apple SD Gothic Neo"/>
              </a:rPr>
              <a:t>어린이집 (8,787)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686800" y="3154680"/>
            <a:ext cx="3108960" cy="457200"/>
          </a:xfrm>
          <a:prstGeom prst="rect">
            <a:avLst/>
          </a:prstGeom>
          <a:noFill/>
        </p:spPr>
        <p:txBody>
          <a:bodyPr wrap="square" anchor="ctr" lIns="25400" rIns="2540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>
                <a:solidFill>
                  <a:srgbClr val="C8443D"/>
                </a:solidFill>
                <a:ea typeface="Apple SD Gothic Neo"/>
                <a:latin typeface="Apple SD Gothic Neo"/>
              </a:rPr>
              <a:t>도보 1.4분 (밀도)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3611880"/>
            <a:ext cx="11430000" cy="457200"/>
          </a:xfrm>
          <a:prstGeom prst="rect">
            <a:avLst/>
          </a:prstGeom>
          <a:solidFill>
            <a:srgbClr val="FFFFFF"/>
          </a:solidFill>
          <a:ln w="6350">
            <a:solidFill>
              <a:srgbClr val="CCC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57200" y="3611880"/>
            <a:ext cx="3657600" cy="457200"/>
          </a:xfrm>
          <a:prstGeom prst="rect">
            <a:avLst/>
          </a:prstGeom>
          <a:noFill/>
        </p:spPr>
        <p:txBody>
          <a:bodyPr wrap="square" anchor="ctr" lIns="25400" rIns="2540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>
                <a:solidFill>
                  <a:srgbClr val="2D3E5C"/>
                </a:solidFill>
                <a:ea typeface="Apple SD Gothic Neo"/>
                <a:latin typeface="Apple SD Gothic Neo"/>
              </a:rPr>
              <a:t>근린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114800" y="3611880"/>
            <a:ext cx="4572000" cy="457200"/>
          </a:xfrm>
          <a:prstGeom prst="rect">
            <a:avLst/>
          </a:prstGeom>
          <a:noFill/>
        </p:spPr>
        <p:txBody>
          <a:bodyPr wrap="square" anchor="ctr" lIns="25400" rIns="2540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0">
                <a:solidFill>
                  <a:srgbClr val="333333"/>
                </a:solidFill>
                <a:ea typeface="Apple SD Gothic Neo"/>
                <a:latin typeface="Apple SD Gothic Neo"/>
              </a:rPr>
              <a:t>대규모점포 영업중 (37k)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686800" y="3611880"/>
            <a:ext cx="3108960" cy="457200"/>
          </a:xfrm>
          <a:prstGeom prst="rect">
            <a:avLst/>
          </a:prstGeom>
          <a:noFill/>
        </p:spPr>
        <p:txBody>
          <a:bodyPr wrap="square" anchor="ctr" lIns="25400" rIns="2540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>
                <a:solidFill>
                  <a:srgbClr val="C8443D"/>
                </a:solidFill>
                <a:ea typeface="Apple SD Gothic Neo"/>
                <a:latin typeface="Apple SD Gothic Neo"/>
              </a:rPr>
              <a:t>도보 7.9분 (대형마트)</a:t>
            </a:r>
          </a:p>
        </p:txBody>
      </p:sp>
      <p:sp>
        <p:nvSpPr>
          <p:cNvPr id="30" name="Rectangle 29"/>
          <p:cNvSpPr/>
          <p:nvPr/>
        </p:nvSpPr>
        <p:spPr>
          <a:xfrm>
            <a:off x="365760" y="4069080"/>
            <a:ext cx="11430000" cy="457200"/>
          </a:xfrm>
          <a:prstGeom prst="rect">
            <a:avLst/>
          </a:prstGeom>
          <a:solidFill>
            <a:srgbClr val="F1F3F6"/>
          </a:solidFill>
          <a:ln w="6350">
            <a:solidFill>
              <a:srgbClr val="CCC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457200" y="4069080"/>
            <a:ext cx="3657600" cy="457200"/>
          </a:xfrm>
          <a:prstGeom prst="rect">
            <a:avLst/>
          </a:prstGeom>
          <a:noFill/>
        </p:spPr>
        <p:txBody>
          <a:bodyPr wrap="square" anchor="ctr" lIns="25400" rIns="2540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>
                <a:solidFill>
                  <a:srgbClr val="2D3E5C"/>
                </a:solidFill>
                <a:ea typeface="Apple SD Gothic Neo"/>
                <a:latin typeface="Apple SD Gothic Neo"/>
              </a:rPr>
              <a:t>상업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114800" y="4069080"/>
            <a:ext cx="4572000" cy="457200"/>
          </a:xfrm>
          <a:prstGeom prst="rect">
            <a:avLst/>
          </a:prstGeom>
          <a:noFill/>
        </p:spPr>
        <p:txBody>
          <a:bodyPr wrap="square" anchor="ctr" lIns="25400" rIns="2540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0">
                <a:solidFill>
                  <a:srgbClr val="333333"/>
                </a:solidFill>
                <a:ea typeface="Apple SD Gothic Neo"/>
                <a:latin typeface="Apple SD Gothic Neo"/>
              </a:rPr>
              <a:t>백화점 (36) · 대형마트 (473)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686800" y="4069080"/>
            <a:ext cx="3108960" cy="457200"/>
          </a:xfrm>
          <a:prstGeom prst="rect">
            <a:avLst/>
          </a:prstGeom>
          <a:noFill/>
        </p:spPr>
        <p:txBody>
          <a:bodyPr wrap="square" anchor="ctr" lIns="25400" rIns="2540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>
                <a:solidFill>
                  <a:srgbClr val="C8443D"/>
                </a:solidFill>
                <a:ea typeface="Apple SD Gothic Neo"/>
                <a:latin typeface="Apple SD Gothic Neo"/>
              </a:rPr>
              <a:t>도보 38.5분 (백화점)</a:t>
            </a:r>
          </a:p>
        </p:txBody>
      </p:sp>
      <p:sp>
        <p:nvSpPr>
          <p:cNvPr id="34" name="Rectangle 33"/>
          <p:cNvSpPr/>
          <p:nvPr/>
        </p:nvSpPr>
        <p:spPr>
          <a:xfrm>
            <a:off x="365760" y="4526280"/>
            <a:ext cx="11430000" cy="457200"/>
          </a:xfrm>
          <a:prstGeom prst="rect">
            <a:avLst/>
          </a:prstGeom>
          <a:solidFill>
            <a:srgbClr val="FFFFFF"/>
          </a:solidFill>
          <a:ln w="6350">
            <a:solidFill>
              <a:srgbClr val="CCC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457200" y="4526280"/>
            <a:ext cx="3657600" cy="457200"/>
          </a:xfrm>
          <a:prstGeom prst="rect">
            <a:avLst/>
          </a:prstGeom>
          <a:noFill/>
        </p:spPr>
        <p:txBody>
          <a:bodyPr wrap="square" anchor="ctr" lIns="25400" rIns="2540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>
                <a:solidFill>
                  <a:srgbClr val="2D3E5C"/>
                </a:solidFill>
                <a:ea typeface="Apple SD Gothic Neo"/>
                <a:latin typeface="Apple SD Gothic Neo"/>
              </a:rPr>
              <a:t>의료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4114800" y="4526280"/>
            <a:ext cx="4572000" cy="457200"/>
          </a:xfrm>
          <a:prstGeom prst="rect">
            <a:avLst/>
          </a:prstGeom>
          <a:noFill/>
        </p:spPr>
        <p:txBody>
          <a:bodyPr wrap="square" anchor="ctr" lIns="25400" rIns="2540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0">
                <a:solidFill>
                  <a:srgbClr val="333333"/>
                </a:solidFill>
                <a:ea typeface="Apple SD Gothic Neo"/>
                <a:latin typeface="Apple SD Gothic Neo"/>
              </a:rPr>
              <a:t>병원 (1,117) — 종합병원 25 별도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8686800" y="4526280"/>
            <a:ext cx="3108960" cy="457200"/>
          </a:xfrm>
          <a:prstGeom prst="rect">
            <a:avLst/>
          </a:prstGeom>
          <a:noFill/>
        </p:spPr>
        <p:txBody>
          <a:bodyPr wrap="square" anchor="ctr" lIns="25400" rIns="2540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>
                <a:solidFill>
                  <a:srgbClr val="C8443D"/>
                </a:solidFill>
                <a:ea typeface="Apple SD Gothic Neo"/>
                <a:latin typeface="Apple SD Gothic Neo"/>
              </a:rPr>
              <a:t>도보 40.9분 (종합병원)</a:t>
            </a:r>
          </a:p>
        </p:txBody>
      </p:sp>
      <p:sp>
        <p:nvSpPr>
          <p:cNvPr id="38" name="Rectangle 37"/>
          <p:cNvSpPr/>
          <p:nvPr/>
        </p:nvSpPr>
        <p:spPr>
          <a:xfrm>
            <a:off x="365760" y="4983480"/>
            <a:ext cx="11430000" cy="457200"/>
          </a:xfrm>
          <a:prstGeom prst="rect">
            <a:avLst/>
          </a:prstGeom>
          <a:solidFill>
            <a:srgbClr val="F1F3F6"/>
          </a:solidFill>
          <a:ln w="6350">
            <a:solidFill>
              <a:srgbClr val="CCC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457200" y="4983480"/>
            <a:ext cx="3657600" cy="457200"/>
          </a:xfrm>
          <a:prstGeom prst="rect">
            <a:avLst/>
          </a:prstGeom>
          <a:noFill/>
        </p:spPr>
        <p:txBody>
          <a:bodyPr wrap="square" anchor="ctr" lIns="25400" rIns="2540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>
                <a:solidFill>
                  <a:srgbClr val="2D3E5C"/>
                </a:solidFill>
                <a:ea typeface="Apple SD Gothic Neo"/>
                <a:latin typeface="Apple SD Gothic Neo"/>
              </a:rPr>
              <a:t>문화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4114800" y="4983480"/>
            <a:ext cx="4572000" cy="457200"/>
          </a:xfrm>
          <a:prstGeom prst="rect">
            <a:avLst/>
          </a:prstGeom>
          <a:noFill/>
        </p:spPr>
        <p:txBody>
          <a:bodyPr wrap="square" anchor="ctr" lIns="25400" rIns="2540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0">
                <a:solidFill>
                  <a:srgbClr val="333333"/>
                </a:solidFill>
                <a:ea typeface="Apple SD Gothic Neo"/>
                <a:latin typeface="Apple SD Gothic Neo"/>
              </a:rPr>
              <a:t>도서관 (215) · 공원 (130)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8686800" y="4983480"/>
            <a:ext cx="3108960" cy="457200"/>
          </a:xfrm>
          <a:prstGeom prst="rect">
            <a:avLst/>
          </a:prstGeom>
          <a:noFill/>
        </p:spPr>
        <p:txBody>
          <a:bodyPr wrap="square" anchor="ctr" lIns="25400" rIns="2540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>
                <a:solidFill>
                  <a:srgbClr val="C8443D"/>
                </a:solidFill>
                <a:ea typeface="Apple SD Gothic Neo"/>
                <a:latin typeface="Apple SD Gothic Neo"/>
              </a:rPr>
              <a:t>도보 12.0분 (도서관)</a:t>
            </a:r>
          </a:p>
        </p:txBody>
      </p:sp>
      <p:sp>
        <p:nvSpPr>
          <p:cNvPr id="42" name="Rectangle 41"/>
          <p:cNvSpPr/>
          <p:nvPr/>
        </p:nvSpPr>
        <p:spPr>
          <a:xfrm>
            <a:off x="365760" y="5440680"/>
            <a:ext cx="11430000" cy="457200"/>
          </a:xfrm>
          <a:prstGeom prst="rect">
            <a:avLst/>
          </a:prstGeom>
          <a:solidFill>
            <a:srgbClr val="FFFFFF"/>
          </a:solidFill>
          <a:ln w="6350">
            <a:solidFill>
              <a:srgbClr val="CCC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457200" y="5440680"/>
            <a:ext cx="3657600" cy="457200"/>
          </a:xfrm>
          <a:prstGeom prst="rect">
            <a:avLst/>
          </a:prstGeom>
          <a:noFill/>
        </p:spPr>
        <p:txBody>
          <a:bodyPr wrap="square" anchor="ctr" lIns="25400" rIns="2540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>
                <a:solidFill>
                  <a:srgbClr val="2D3E5C"/>
                </a:solidFill>
                <a:ea typeface="Apple SD Gothic Neo"/>
                <a:latin typeface="Apple SD Gothic Neo"/>
              </a:rPr>
              <a:t>안전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4114800" y="5440680"/>
            <a:ext cx="4572000" cy="457200"/>
          </a:xfrm>
          <a:prstGeom prst="rect">
            <a:avLst/>
          </a:prstGeom>
          <a:noFill/>
        </p:spPr>
        <p:txBody>
          <a:bodyPr wrap="square" anchor="ctr" lIns="25400" rIns="2540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0">
                <a:solidFill>
                  <a:srgbClr val="333333"/>
                </a:solidFill>
                <a:ea typeface="Apple SD Gothic Neo"/>
                <a:latin typeface="Apple SD Gothic Neo"/>
              </a:rPr>
              <a:t>CCTV (129,123) — 500m 밀도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8686800" y="5440680"/>
            <a:ext cx="3108960" cy="457200"/>
          </a:xfrm>
          <a:prstGeom prst="rect">
            <a:avLst/>
          </a:prstGeom>
          <a:noFill/>
        </p:spPr>
        <p:txBody>
          <a:bodyPr wrap="square" anchor="ctr" lIns="25400" rIns="2540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>
                <a:solidFill>
                  <a:srgbClr val="C8443D"/>
                </a:solidFill>
                <a:ea typeface="Apple SD Gothic Neo"/>
                <a:latin typeface="Apple SD Gothic Neo"/>
              </a:rPr>
              <a:t>500m 251개 (밀도)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365760" y="6035040"/>
            <a:ext cx="11430000" cy="457200"/>
          </a:xfrm>
          <a:prstGeom prst="rect">
            <a:avLst/>
          </a:prstGeom>
          <a:noFill/>
        </p:spPr>
        <p:txBody>
          <a:bodyPr wrap="square" anchor="t" lIns="25400" rIns="25400" tIns="0" bIns="0">
            <a:spAutoFit/>
          </a:bodyPr>
          <a:lstStyle/>
          <a:p>
            <a:pPr algn="ctr">
              <a:lnSpc>
                <a:spcPct val="120000"/>
              </a:lnSpc>
            </a:pPr>
            <a:r>
              <a:rPr sz="1200" b="1">
                <a:solidFill>
                  <a:srgbClr val="C8443D"/>
                </a:solidFill>
                <a:ea typeface="Apple SD Gothic Neo"/>
                <a:latin typeface="Apple SD Gothic Neo"/>
              </a:rPr>
              <a:t>도서관 12.0분(생활SOC 도보권), 백화점 38.5분(차량권 프리미엄)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103120" cy="502920"/>
          </a:xfrm>
          <a:prstGeom prst="rect">
            <a:avLst/>
          </a:prstGeom>
          <a:solidFill>
            <a:srgbClr val="2D3E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37160" y="0"/>
            <a:ext cx="1920240" cy="502920"/>
          </a:xfrm>
          <a:prstGeom prst="rect">
            <a:avLst/>
          </a:prstGeom>
          <a:noFill/>
        </p:spPr>
        <p:txBody>
          <a:bodyPr wrap="square" anchor="ctr" lIns="25400" rIns="2540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500" b="1">
                <a:solidFill>
                  <a:srgbClr val="FFFFFF"/>
                </a:solidFill>
                <a:ea typeface="Apple SD Gothic Neo"/>
                <a:latin typeface="Apple SD Gothic Neo"/>
              </a:rPr>
              <a:t>03. METHODS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28600" y="548640"/>
            <a:ext cx="4572000" cy="365760"/>
          </a:xfrm>
          <a:prstGeom prst="rect">
            <a:avLst/>
          </a:prstGeom>
          <a:noFill/>
        </p:spPr>
        <p:txBody>
          <a:bodyPr wrap="square" anchor="ctr" lIns="25400" rIns="2540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1">
                <a:solidFill>
                  <a:srgbClr val="2D3E5C"/>
                </a:solidFill>
                <a:ea typeface="Apple SD Gothic Neo"/>
                <a:latin typeface="Apple SD Gothic Neo"/>
              </a:rPr>
              <a:t>시점 정합 — 연도별 활동 시설 스냅샷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0" y="91440"/>
            <a:ext cx="7040880" cy="365760"/>
          </a:xfrm>
          <a:prstGeom prst="rect">
            <a:avLst/>
          </a:prstGeom>
          <a:noFill/>
        </p:spPr>
        <p:txBody>
          <a:bodyPr wrap="square" anchor="ctr" lIns="25400" rIns="25400" tIns="0" bIns="0">
            <a:spAutoFit/>
          </a:bodyPr>
          <a:lstStyle/>
          <a:p>
            <a:pPr algn="r">
              <a:lnSpc>
                <a:spcPct val="120000"/>
              </a:lnSpc>
            </a:pPr>
            <a:r>
              <a:rPr sz="1000" b="0">
                <a:solidFill>
                  <a:srgbClr val="777777"/>
                </a:solidFill>
                <a:ea typeface="Apple SD Gothic Neo"/>
                <a:latin typeface="Apple SD Gothic Neo"/>
              </a:rPr>
              <a:t>Explanatory Patterns of Apartment Unit-Area Sale Prices in Seoul Using XGBoost and SHAP</a:t>
            </a:r>
          </a:p>
        </p:txBody>
      </p:sp>
      <p:sp>
        <p:nvSpPr>
          <p:cNvPr id="6" name="Rectangle 5"/>
          <p:cNvSpPr/>
          <p:nvPr/>
        </p:nvSpPr>
        <p:spPr>
          <a:xfrm>
            <a:off x="228600" y="960120"/>
            <a:ext cx="11750040" cy="18288"/>
          </a:xfrm>
          <a:prstGeom prst="rect">
            <a:avLst/>
          </a:prstGeom>
          <a:solidFill>
            <a:srgbClr val="CCCC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1731752" y="6446520"/>
            <a:ext cx="457200" cy="411480"/>
          </a:xfrm>
          <a:prstGeom prst="rect">
            <a:avLst/>
          </a:prstGeom>
          <a:solidFill>
            <a:srgbClr val="2D3E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731752" y="6446520"/>
            <a:ext cx="457200" cy="411480"/>
          </a:xfrm>
          <a:prstGeom prst="rect">
            <a:avLst/>
          </a:prstGeom>
          <a:noFill/>
        </p:spPr>
        <p:txBody>
          <a:bodyPr wrap="square" anchor="ctr" lIns="25400" rIns="25400" tIns="0" bIns="0">
            <a:spAutoFit/>
          </a:bodyPr>
          <a:lstStyle/>
          <a:p>
            <a:pPr algn="ctr">
              <a:lnSpc>
                <a:spcPct val="120000"/>
              </a:lnSpc>
            </a:pPr>
            <a:r>
              <a:rPr sz="1000" b="1">
                <a:solidFill>
                  <a:srgbClr val="FFFFFF"/>
                </a:solidFill>
                <a:ea typeface="Apple SD Gothic Neo"/>
                <a:latin typeface="Apple SD Gothic Neo"/>
              </a:rPr>
              <a:t>10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65760" y="1280160"/>
            <a:ext cx="11430000" cy="365760"/>
          </a:xfrm>
          <a:prstGeom prst="rect">
            <a:avLst/>
          </a:prstGeom>
          <a:noFill/>
        </p:spPr>
        <p:txBody>
          <a:bodyPr wrap="square" anchor="t" lIns="25400" rIns="2540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>
                <a:solidFill>
                  <a:srgbClr val="333333"/>
                </a:solidFill>
                <a:ea typeface="Apple SD Gothic Neo"/>
                <a:latin typeface="Apple SD Gothic Neo"/>
              </a:rPr>
              <a:t>거래 연도(Y) 말일(Y-12-31) 기준 활동 중인 시설만 포함 — temporal leakage 제거</a:t>
            </a:r>
          </a:p>
        </p:txBody>
      </p:sp>
      <p:sp>
        <p:nvSpPr>
          <p:cNvPr id="10" name="Rectangle 9"/>
          <p:cNvSpPr/>
          <p:nvPr/>
        </p:nvSpPr>
        <p:spPr>
          <a:xfrm>
            <a:off x="365760" y="1783080"/>
            <a:ext cx="5669280" cy="457200"/>
          </a:xfrm>
          <a:prstGeom prst="rect">
            <a:avLst/>
          </a:prstGeom>
          <a:solidFill>
            <a:srgbClr val="2D3E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65760" y="1783080"/>
            <a:ext cx="5669280" cy="457200"/>
          </a:xfrm>
          <a:prstGeom prst="rect">
            <a:avLst/>
          </a:prstGeom>
          <a:noFill/>
        </p:spPr>
        <p:txBody>
          <a:bodyPr wrap="square" anchor="ctr" lIns="25400" rIns="25400" tIns="0" bIns="0">
            <a:spAutoFit/>
          </a:bodyPr>
          <a:lstStyle/>
          <a:p>
            <a:pPr algn="ctr">
              <a:lnSpc>
                <a:spcPct val="120000"/>
              </a:lnSpc>
            </a:pPr>
            <a:r>
              <a:rPr sz="1300" b="1">
                <a:solidFill>
                  <a:srgbClr val="FFFFFF"/>
                </a:solidFill>
                <a:ea typeface="Apple SD Gothic Neo"/>
                <a:latin typeface="Apple SD Gothic Neo"/>
              </a:rPr>
              <a:t>✓ 시점 정합 적용 시설군 (6)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2331720"/>
            <a:ext cx="5486400" cy="3657600"/>
          </a:xfrm>
          <a:prstGeom prst="rect">
            <a:avLst/>
          </a:prstGeom>
          <a:noFill/>
        </p:spPr>
        <p:txBody>
          <a:bodyPr wrap="square" lIns="25400" rIns="25400">
            <a:spAutoFit/>
          </a:bodyPr>
          <a:lstStyle/>
          <a:p>
            <a:pPr algn="l">
              <a:lnSpc>
                <a:spcPct val="135000"/>
              </a:lnSpc>
              <a:spcAft>
                <a:spcPts val="400"/>
              </a:spcAft>
            </a:pPr>
            <a:r>
              <a:rPr sz="1200" b="0">
                <a:solidFill>
                  <a:srgbClr val="333333"/>
                </a:solidFill>
                <a:ea typeface="Apple SD Gothic Neo"/>
                <a:latin typeface="Apple SD Gothic Neo"/>
              </a:rPr>
              <a:t>· 학교 (FOND_YMD 개교일)</a:t>
            </a:r>
          </a:p>
          <a:p>
            <a:pPr algn="l">
              <a:lnSpc>
                <a:spcPct val="135000"/>
              </a:lnSpc>
              <a:spcAft>
                <a:spcPts val="400"/>
              </a:spcAft>
            </a:pPr>
            <a:r>
              <a:rPr sz="1200" b="0">
                <a:solidFill>
                  <a:srgbClr val="333333"/>
                </a:solidFill>
                <a:ea typeface="Apple SD Gothic Neo"/>
                <a:latin typeface="Apple SD Gothic Neo"/>
              </a:rPr>
              <a:t>· 학원 (ESTBL_YMD + REG_STTUS_NM)</a:t>
            </a:r>
          </a:p>
          <a:p>
            <a:pPr algn="l">
              <a:lnSpc>
                <a:spcPct val="135000"/>
              </a:lnSpc>
              <a:spcAft>
                <a:spcPts val="400"/>
              </a:spcAft>
            </a:pPr>
            <a:r>
              <a:rPr sz="1200" b="0">
                <a:solidFill>
                  <a:srgbClr val="333333"/>
                </a:solidFill>
                <a:ea typeface="Apple SD Gothic Neo"/>
                <a:latin typeface="Apple SD Gothic Neo"/>
              </a:rPr>
              <a:t>· 어린이집 (CRCNFMDT 인가일 + CRABLDT)</a:t>
            </a:r>
          </a:p>
          <a:p>
            <a:pPr algn="l">
              <a:lnSpc>
                <a:spcPct val="135000"/>
              </a:lnSpc>
              <a:spcAft>
                <a:spcPts val="400"/>
              </a:spcAft>
            </a:pPr>
            <a:r>
              <a:rPr sz="1200" b="0">
                <a:solidFill>
                  <a:srgbClr val="333333"/>
                </a:solidFill>
                <a:ea typeface="Apple SD Gothic Neo"/>
                <a:latin typeface="Apple SD Gothic Neo"/>
              </a:rPr>
              <a:t>· 공원 (OPEN_YMD 개원일)</a:t>
            </a:r>
          </a:p>
          <a:p>
            <a:pPr algn="l">
              <a:lnSpc>
                <a:spcPct val="135000"/>
              </a:lnSpc>
              <a:spcAft>
                <a:spcPts val="400"/>
              </a:spcAft>
            </a:pPr>
            <a:r>
              <a:rPr sz="1200" b="0">
                <a:solidFill>
                  <a:srgbClr val="333333"/>
                </a:solidFill>
                <a:ea typeface="Apple SD Gothic Neo"/>
                <a:latin typeface="Apple SD Gothic Neo"/>
              </a:rPr>
              <a:t>· 근린시설 (APVPERMYMD + DCBYMD)</a:t>
            </a:r>
          </a:p>
          <a:p>
            <a:pPr algn="l">
              <a:lnSpc>
                <a:spcPct val="135000"/>
              </a:lnSpc>
              <a:spcAft>
                <a:spcPts val="400"/>
              </a:spcAft>
            </a:pPr>
            <a:r>
              <a:rPr sz="1200" b="0">
                <a:solidFill>
                  <a:srgbClr val="333333"/>
                </a:solidFill>
                <a:ea typeface="Apple SD Gothic Neo"/>
                <a:latin typeface="Apple SD Gothic Neo"/>
              </a:rPr>
              <a:t>· 지하철 (2019~2025 신규 15역 보강)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126480" y="1783080"/>
            <a:ext cx="5669280" cy="457200"/>
          </a:xfrm>
          <a:prstGeom prst="rect">
            <a:avLst/>
          </a:prstGeom>
          <a:solidFill>
            <a:srgbClr val="C844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126480" y="1783080"/>
            <a:ext cx="5669280" cy="457200"/>
          </a:xfrm>
          <a:prstGeom prst="rect">
            <a:avLst/>
          </a:prstGeom>
          <a:noFill/>
        </p:spPr>
        <p:txBody>
          <a:bodyPr wrap="square" anchor="ctr" lIns="25400" rIns="25400" tIns="0" bIns="0">
            <a:spAutoFit/>
          </a:bodyPr>
          <a:lstStyle/>
          <a:p>
            <a:pPr algn="ctr">
              <a:lnSpc>
                <a:spcPct val="120000"/>
              </a:lnSpc>
            </a:pPr>
            <a:r>
              <a:rPr sz="1300" b="1">
                <a:solidFill>
                  <a:srgbClr val="FFFFFF"/>
                </a:solidFill>
                <a:ea typeface="Apple SD Gothic Neo"/>
                <a:latin typeface="Apple SD Gothic Neo"/>
              </a:rPr>
              <a:t>✗ 스냅샷 잔존 (5) — 한계 명시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217920" y="2331720"/>
            <a:ext cx="5486400" cy="3657600"/>
          </a:xfrm>
          <a:prstGeom prst="rect">
            <a:avLst/>
          </a:prstGeom>
          <a:noFill/>
        </p:spPr>
        <p:txBody>
          <a:bodyPr wrap="square" lIns="25400" rIns="25400">
            <a:spAutoFit/>
          </a:bodyPr>
          <a:lstStyle/>
          <a:p>
            <a:pPr algn="l">
              <a:lnSpc>
                <a:spcPct val="135000"/>
              </a:lnSpc>
              <a:spcAft>
                <a:spcPts val="400"/>
              </a:spcAft>
            </a:pPr>
            <a:r>
              <a:rPr sz="1200" b="0">
                <a:solidFill>
                  <a:srgbClr val="333333"/>
                </a:solidFill>
                <a:ea typeface="Apple SD Gothic Neo"/>
                <a:latin typeface="Apple SD Gothic Neo"/>
              </a:rPr>
              <a:t>· 도서관 (개관일 필드 부재)</a:t>
            </a:r>
          </a:p>
          <a:p>
            <a:pPr algn="l">
              <a:lnSpc>
                <a:spcPct val="135000"/>
              </a:lnSpc>
              <a:spcAft>
                <a:spcPts val="400"/>
              </a:spcAft>
            </a:pPr>
            <a:r>
              <a:rPr sz="1200" b="0">
                <a:solidFill>
                  <a:srgbClr val="333333"/>
                </a:solidFill>
                <a:ea typeface="Apple SD Gothic Neo"/>
                <a:latin typeface="Apple SD Gothic Neo"/>
              </a:rPr>
              <a:t>· 백화점 (Kakao 카테고리 — 개점일 부재)</a:t>
            </a:r>
          </a:p>
          <a:p>
            <a:pPr algn="l">
              <a:lnSpc>
                <a:spcPct val="135000"/>
              </a:lnSpc>
              <a:spcAft>
                <a:spcPts val="400"/>
              </a:spcAft>
            </a:pPr>
            <a:r>
              <a:rPr sz="1200" b="0">
                <a:solidFill>
                  <a:srgbClr val="333333"/>
                </a:solidFill>
                <a:ea typeface="Apple SD Gothic Neo"/>
                <a:latin typeface="Apple SD Gothic Neo"/>
              </a:rPr>
              <a:t>· 대형마트 (Kakao MT1 — 개점일 부재)</a:t>
            </a:r>
          </a:p>
          <a:p>
            <a:pPr algn="l">
              <a:lnSpc>
                <a:spcPct val="135000"/>
              </a:lnSpc>
              <a:spcAft>
                <a:spcPts val="400"/>
              </a:spcAft>
            </a:pPr>
            <a:r>
              <a:rPr sz="1200" b="0">
                <a:solidFill>
                  <a:srgbClr val="333333"/>
                </a:solidFill>
                <a:ea typeface="Apple SD Gothic Neo"/>
                <a:latin typeface="Apple SD Gothic Neo"/>
              </a:rPr>
              <a:t>· CCTV (설치일 부재 — UPDTDATE만)</a:t>
            </a:r>
          </a:p>
          <a:p>
            <a:pPr algn="l">
              <a:lnSpc>
                <a:spcPct val="135000"/>
              </a:lnSpc>
              <a:spcAft>
                <a:spcPts val="400"/>
              </a:spcAft>
            </a:pPr>
            <a:r>
              <a:rPr sz="1200" b="0">
                <a:solidFill>
                  <a:srgbClr val="333333"/>
                </a:solidFill>
                <a:ea typeface="Apple SD Gothic Neo"/>
                <a:latin typeface="Apple SD Gothic Neo"/>
              </a:rPr>
              <a:t>· 병원 (Kakao HP8 — 개원일 부재)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65760" y="5989320"/>
            <a:ext cx="11430000" cy="457200"/>
          </a:xfrm>
          <a:prstGeom prst="rect">
            <a:avLst/>
          </a:prstGeom>
          <a:noFill/>
        </p:spPr>
        <p:txBody>
          <a:bodyPr wrap="square" anchor="t" lIns="25400" rIns="25400" tIns="0" bIns="0">
            <a:spAutoFit/>
          </a:bodyPr>
          <a:lstStyle/>
          <a:p>
            <a:pPr algn="ctr">
              <a:lnSpc>
                <a:spcPct val="120000"/>
              </a:lnSpc>
            </a:pPr>
            <a:r>
              <a:rPr sz="1200" b="1">
                <a:solidFill>
                  <a:srgbClr val="333333"/>
                </a:solidFill>
                <a:ea typeface="Apple SD Gothic Neo"/>
                <a:latin typeface="Apple SD Gothic Neo"/>
              </a:rPr>
              <a:t>연도별 시설 활동 수: 학원 14,876(2019) → 25,034(2025), 어린이집 5,818(2019) → 4,106(2025)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103120" cy="502920"/>
          </a:xfrm>
          <a:prstGeom prst="rect">
            <a:avLst/>
          </a:prstGeom>
          <a:solidFill>
            <a:srgbClr val="2D3E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37160" y="0"/>
            <a:ext cx="1920240" cy="502920"/>
          </a:xfrm>
          <a:prstGeom prst="rect">
            <a:avLst/>
          </a:prstGeom>
          <a:noFill/>
        </p:spPr>
        <p:txBody>
          <a:bodyPr wrap="square" anchor="ctr" lIns="25400" rIns="2540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500" b="1">
                <a:solidFill>
                  <a:srgbClr val="FFFFFF"/>
                </a:solidFill>
                <a:ea typeface="Apple SD Gothic Neo"/>
                <a:latin typeface="Apple SD Gothic Neo"/>
              </a:rPr>
              <a:t>03. METHODS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28600" y="548640"/>
            <a:ext cx="4572000" cy="365760"/>
          </a:xfrm>
          <a:prstGeom prst="rect">
            <a:avLst/>
          </a:prstGeom>
          <a:noFill/>
        </p:spPr>
        <p:txBody>
          <a:bodyPr wrap="square" anchor="ctr" lIns="25400" rIns="2540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1">
                <a:solidFill>
                  <a:srgbClr val="2D3E5C"/>
                </a:solidFill>
                <a:ea typeface="Apple SD Gothic Neo"/>
                <a:latin typeface="Apple SD Gothic Neo"/>
              </a:rPr>
              <a:t>모형·분할 설계 + Ablation 4 시나리오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0" y="91440"/>
            <a:ext cx="7040880" cy="365760"/>
          </a:xfrm>
          <a:prstGeom prst="rect">
            <a:avLst/>
          </a:prstGeom>
          <a:noFill/>
        </p:spPr>
        <p:txBody>
          <a:bodyPr wrap="square" anchor="ctr" lIns="25400" rIns="25400" tIns="0" bIns="0">
            <a:spAutoFit/>
          </a:bodyPr>
          <a:lstStyle/>
          <a:p>
            <a:pPr algn="r">
              <a:lnSpc>
                <a:spcPct val="120000"/>
              </a:lnSpc>
            </a:pPr>
            <a:r>
              <a:rPr sz="1000" b="0">
                <a:solidFill>
                  <a:srgbClr val="777777"/>
                </a:solidFill>
                <a:ea typeface="Apple SD Gothic Neo"/>
                <a:latin typeface="Apple SD Gothic Neo"/>
              </a:rPr>
              <a:t>Explanatory Patterns of Apartment Unit-Area Sale Prices in Seoul Using XGBoost and SHAP</a:t>
            </a:r>
          </a:p>
        </p:txBody>
      </p:sp>
      <p:sp>
        <p:nvSpPr>
          <p:cNvPr id="6" name="Rectangle 5"/>
          <p:cNvSpPr/>
          <p:nvPr/>
        </p:nvSpPr>
        <p:spPr>
          <a:xfrm>
            <a:off x="228600" y="960120"/>
            <a:ext cx="11750040" cy="18288"/>
          </a:xfrm>
          <a:prstGeom prst="rect">
            <a:avLst/>
          </a:prstGeom>
          <a:solidFill>
            <a:srgbClr val="CCCC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1731752" y="6446520"/>
            <a:ext cx="457200" cy="411480"/>
          </a:xfrm>
          <a:prstGeom prst="rect">
            <a:avLst/>
          </a:prstGeom>
          <a:solidFill>
            <a:srgbClr val="2D3E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731752" y="6446520"/>
            <a:ext cx="457200" cy="411480"/>
          </a:xfrm>
          <a:prstGeom prst="rect">
            <a:avLst/>
          </a:prstGeom>
          <a:noFill/>
        </p:spPr>
        <p:txBody>
          <a:bodyPr wrap="square" anchor="ctr" lIns="25400" rIns="25400" tIns="0" bIns="0">
            <a:spAutoFit/>
          </a:bodyPr>
          <a:lstStyle/>
          <a:p>
            <a:pPr algn="ctr">
              <a:lnSpc>
                <a:spcPct val="120000"/>
              </a:lnSpc>
            </a:pPr>
            <a:r>
              <a:rPr sz="1000" b="1">
                <a:solidFill>
                  <a:srgbClr val="FFFFFF"/>
                </a:solidFill>
                <a:ea typeface="Apple SD Gothic Neo"/>
                <a:latin typeface="Apple SD Gothic Neo"/>
              </a:rPr>
              <a:t>11</a:t>
            </a:r>
          </a:p>
        </p:txBody>
      </p:sp>
      <p:sp>
        <p:nvSpPr>
          <p:cNvPr id="9" name="Rectangle 8"/>
          <p:cNvSpPr/>
          <p:nvPr/>
        </p:nvSpPr>
        <p:spPr>
          <a:xfrm>
            <a:off x="365760" y="1280160"/>
            <a:ext cx="5669280" cy="457200"/>
          </a:xfrm>
          <a:prstGeom prst="rect">
            <a:avLst/>
          </a:prstGeom>
          <a:solidFill>
            <a:srgbClr val="2D3E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65760" y="1280160"/>
            <a:ext cx="5669280" cy="457200"/>
          </a:xfrm>
          <a:prstGeom prst="rect">
            <a:avLst/>
          </a:prstGeom>
          <a:noFill/>
        </p:spPr>
        <p:txBody>
          <a:bodyPr wrap="square" anchor="ctr" lIns="25400" rIns="25400" tIns="0" bIns="0">
            <a:spAutoFit/>
          </a:bodyPr>
          <a:lstStyle/>
          <a:p>
            <a:pPr algn="ctr">
              <a:lnSpc>
                <a:spcPct val="120000"/>
              </a:lnSpc>
            </a:pPr>
            <a:r>
              <a:rPr sz="1300" b="1">
                <a:solidFill>
                  <a:srgbClr val="FFFFFF"/>
                </a:solidFill>
                <a:ea typeface="Apple SD Gothic Neo"/>
                <a:latin typeface="Apple SD Gothic Neo"/>
              </a:rPr>
              <a:t>예측 모형 (3) × 분할 (3)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57200" y="1828800"/>
            <a:ext cx="1554480" cy="411480"/>
          </a:xfrm>
          <a:prstGeom prst="rect">
            <a:avLst/>
          </a:prstGeom>
          <a:solidFill>
            <a:srgbClr val="4B5D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57200" y="1828800"/>
            <a:ext cx="1554480" cy="411480"/>
          </a:xfrm>
          <a:prstGeom prst="rect">
            <a:avLst/>
          </a:prstGeom>
          <a:noFill/>
        </p:spPr>
        <p:txBody>
          <a:bodyPr wrap="square" anchor="ctr" lIns="25400" rIns="25400" tIns="0" bIns="0">
            <a:spAutoFit/>
          </a:bodyPr>
          <a:lstStyle/>
          <a:p>
            <a:pPr algn="ctr">
              <a:lnSpc>
                <a:spcPct val="120000"/>
              </a:lnSpc>
            </a:pPr>
            <a:r>
              <a:rPr sz="1200" b="1">
                <a:solidFill>
                  <a:srgbClr val="FFFFFF"/>
                </a:solidFill>
                <a:ea typeface="Apple SD Gothic Neo"/>
                <a:latin typeface="Apple SD Gothic Neo"/>
              </a:rPr>
              <a:t>OLS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103120" y="1828800"/>
            <a:ext cx="3840480" cy="411480"/>
          </a:xfrm>
          <a:prstGeom prst="rect">
            <a:avLst/>
          </a:prstGeom>
          <a:noFill/>
        </p:spPr>
        <p:txBody>
          <a:bodyPr wrap="square" anchor="ctr" lIns="25400" rIns="2540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0">
                <a:solidFill>
                  <a:srgbClr val="333333"/>
                </a:solidFill>
                <a:ea typeface="Apple SD Gothic Neo"/>
                <a:latin typeface="Apple SD Gothic Neo"/>
              </a:rPr>
              <a:t>선형 해석 기준선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57200" y="2286000"/>
            <a:ext cx="1554480" cy="411480"/>
          </a:xfrm>
          <a:prstGeom prst="rect">
            <a:avLst/>
          </a:prstGeom>
          <a:solidFill>
            <a:srgbClr val="4B5D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57200" y="2286000"/>
            <a:ext cx="1554480" cy="411480"/>
          </a:xfrm>
          <a:prstGeom prst="rect">
            <a:avLst/>
          </a:prstGeom>
          <a:noFill/>
        </p:spPr>
        <p:txBody>
          <a:bodyPr wrap="square" anchor="ctr" lIns="25400" rIns="25400" tIns="0" bIns="0">
            <a:spAutoFit/>
          </a:bodyPr>
          <a:lstStyle/>
          <a:p>
            <a:pPr algn="ctr">
              <a:lnSpc>
                <a:spcPct val="120000"/>
              </a:lnSpc>
            </a:pPr>
            <a:r>
              <a:rPr sz="1200" b="1">
                <a:solidFill>
                  <a:srgbClr val="FFFFFF"/>
                </a:solidFill>
                <a:ea typeface="Apple SD Gothic Neo"/>
                <a:latin typeface="Apple SD Gothic Neo"/>
              </a:rPr>
              <a:t>Random Forest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103120" y="2286000"/>
            <a:ext cx="3840480" cy="411480"/>
          </a:xfrm>
          <a:prstGeom prst="rect">
            <a:avLst/>
          </a:prstGeom>
          <a:noFill/>
        </p:spPr>
        <p:txBody>
          <a:bodyPr wrap="square" anchor="ctr" lIns="25400" rIns="2540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0">
                <a:solidFill>
                  <a:srgbClr val="333333"/>
                </a:solidFill>
                <a:ea typeface="Apple SD Gothic Neo"/>
                <a:latin typeface="Apple SD Gothic Neo"/>
              </a:rPr>
              <a:t>배깅 비선형 기준선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57200" y="2743200"/>
            <a:ext cx="1554480" cy="411480"/>
          </a:xfrm>
          <a:prstGeom prst="rect">
            <a:avLst/>
          </a:prstGeom>
          <a:solidFill>
            <a:srgbClr val="4B5D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57200" y="2743200"/>
            <a:ext cx="1554480" cy="411480"/>
          </a:xfrm>
          <a:prstGeom prst="rect">
            <a:avLst/>
          </a:prstGeom>
          <a:noFill/>
        </p:spPr>
        <p:txBody>
          <a:bodyPr wrap="square" anchor="ctr" lIns="25400" rIns="25400" tIns="0" bIns="0">
            <a:spAutoFit/>
          </a:bodyPr>
          <a:lstStyle/>
          <a:p>
            <a:pPr algn="ctr">
              <a:lnSpc>
                <a:spcPct val="120000"/>
              </a:lnSpc>
            </a:pPr>
            <a:r>
              <a:rPr sz="1200" b="1">
                <a:solidFill>
                  <a:srgbClr val="FFFFFF"/>
                </a:solidFill>
                <a:ea typeface="Apple SD Gothic Neo"/>
                <a:latin typeface="Apple SD Gothic Neo"/>
              </a:rPr>
              <a:t>XGBoost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103120" y="2743200"/>
            <a:ext cx="3840480" cy="411480"/>
          </a:xfrm>
          <a:prstGeom prst="rect">
            <a:avLst/>
          </a:prstGeom>
          <a:noFill/>
        </p:spPr>
        <p:txBody>
          <a:bodyPr wrap="square" anchor="ctr" lIns="25400" rIns="2540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0">
                <a:solidFill>
                  <a:srgbClr val="333333"/>
                </a:solidFill>
                <a:ea typeface="Apple SD Gothic Neo"/>
                <a:latin typeface="Apple SD Gothic Neo"/>
              </a:rPr>
              <a:t>그래디언트 부스팅 (대표 해석)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57200" y="3657600"/>
            <a:ext cx="1554480" cy="411480"/>
          </a:xfrm>
          <a:prstGeom prst="rect">
            <a:avLst/>
          </a:prstGeom>
          <a:solidFill>
            <a:srgbClr val="C844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57200" y="3657600"/>
            <a:ext cx="1554480" cy="411480"/>
          </a:xfrm>
          <a:prstGeom prst="rect">
            <a:avLst/>
          </a:prstGeom>
          <a:noFill/>
        </p:spPr>
        <p:txBody>
          <a:bodyPr wrap="square" anchor="ctr" lIns="25400" rIns="25400" tIns="0" bIns="0">
            <a:spAutoFit/>
          </a:bodyPr>
          <a:lstStyle/>
          <a:p>
            <a:pPr algn="ctr">
              <a:lnSpc>
                <a:spcPct val="120000"/>
              </a:lnSpc>
            </a:pPr>
            <a:r>
              <a:rPr sz="1100" b="1">
                <a:solidFill>
                  <a:srgbClr val="FFFFFF"/>
                </a:solidFill>
                <a:ea typeface="Apple SD Gothic Neo"/>
                <a:latin typeface="Apple SD Gothic Neo"/>
              </a:rPr>
              <a:t>무작위 분할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103120" y="3657600"/>
            <a:ext cx="3840480" cy="411480"/>
          </a:xfrm>
          <a:prstGeom prst="rect">
            <a:avLst/>
          </a:prstGeom>
          <a:noFill/>
        </p:spPr>
        <p:txBody>
          <a:bodyPr wrap="square" anchor="ctr" lIns="25400" rIns="2540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0">
                <a:solidFill>
                  <a:srgbClr val="333333"/>
                </a:solidFill>
                <a:ea typeface="Apple SD Gothic Neo"/>
                <a:latin typeface="Apple SD Gothic Neo"/>
              </a:rPr>
              <a:t>같은 단지 중첩 — 가장 쉬움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57200" y="4114800"/>
            <a:ext cx="1554480" cy="411480"/>
          </a:xfrm>
          <a:prstGeom prst="rect">
            <a:avLst/>
          </a:prstGeom>
          <a:solidFill>
            <a:srgbClr val="C844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57200" y="4114800"/>
            <a:ext cx="1554480" cy="411480"/>
          </a:xfrm>
          <a:prstGeom prst="rect">
            <a:avLst/>
          </a:prstGeom>
          <a:noFill/>
        </p:spPr>
        <p:txBody>
          <a:bodyPr wrap="square" anchor="ctr" lIns="25400" rIns="25400" tIns="0" bIns="0">
            <a:spAutoFit/>
          </a:bodyPr>
          <a:lstStyle/>
          <a:p>
            <a:pPr algn="ctr">
              <a:lnSpc>
                <a:spcPct val="120000"/>
              </a:lnSpc>
            </a:pPr>
            <a:r>
              <a:rPr sz="1100" b="1">
                <a:solidFill>
                  <a:srgbClr val="FFFFFF"/>
                </a:solidFill>
                <a:ea typeface="Apple SD Gothic Neo"/>
                <a:latin typeface="Apple SD Gothic Neo"/>
              </a:rPr>
              <a:t>단지 분할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103120" y="4114800"/>
            <a:ext cx="3840480" cy="411480"/>
          </a:xfrm>
          <a:prstGeom prst="rect">
            <a:avLst/>
          </a:prstGeom>
          <a:noFill/>
        </p:spPr>
        <p:txBody>
          <a:bodyPr wrap="square" anchor="ctr" lIns="25400" rIns="2540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0">
                <a:solidFill>
                  <a:srgbClr val="333333"/>
                </a:solidFill>
                <a:ea typeface="Apple SD Gothic Neo"/>
                <a:latin typeface="Apple SD Gothic Neo"/>
              </a:rPr>
              <a:t>미관측 단지 외삽 — 가장 엄격</a:t>
            </a:r>
          </a:p>
        </p:txBody>
      </p:sp>
      <p:sp>
        <p:nvSpPr>
          <p:cNvPr id="26" name="Rectangle 25"/>
          <p:cNvSpPr/>
          <p:nvPr/>
        </p:nvSpPr>
        <p:spPr>
          <a:xfrm>
            <a:off x="457200" y="4572000"/>
            <a:ext cx="1554480" cy="411480"/>
          </a:xfrm>
          <a:prstGeom prst="rect">
            <a:avLst/>
          </a:prstGeom>
          <a:solidFill>
            <a:srgbClr val="C844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57200" y="4572000"/>
            <a:ext cx="1554480" cy="411480"/>
          </a:xfrm>
          <a:prstGeom prst="rect">
            <a:avLst/>
          </a:prstGeom>
          <a:noFill/>
        </p:spPr>
        <p:txBody>
          <a:bodyPr wrap="square" anchor="ctr" lIns="25400" rIns="25400" tIns="0" bIns="0">
            <a:spAutoFit/>
          </a:bodyPr>
          <a:lstStyle/>
          <a:p>
            <a:pPr algn="ctr">
              <a:lnSpc>
                <a:spcPct val="120000"/>
              </a:lnSpc>
            </a:pPr>
            <a:r>
              <a:rPr sz="1100" b="1">
                <a:solidFill>
                  <a:srgbClr val="FFFFFF"/>
                </a:solidFill>
                <a:ea typeface="Apple SD Gothic Neo"/>
                <a:latin typeface="Apple SD Gothic Neo"/>
              </a:rPr>
              <a:t>시간순 분할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2103120" y="4572000"/>
            <a:ext cx="3840480" cy="411480"/>
          </a:xfrm>
          <a:prstGeom prst="rect">
            <a:avLst/>
          </a:prstGeom>
          <a:noFill/>
        </p:spPr>
        <p:txBody>
          <a:bodyPr wrap="square" anchor="ctr" lIns="25400" rIns="2540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0">
                <a:solidFill>
                  <a:srgbClr val="333333"/>
                </a:solidFill>
                <a:ea typeface="Apple SD Gothic Neo"/>
                <a:latin typeface="Apple SD Gothic Neo"/>
              </a:rPr>
              <a:t>≤2023 train / ≥2024 test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309360" y="1280160"/>
            <a:ext cx="5486400" cy="457200"/>
          </a:xfrm>
          <a:prstGeom prst="rect">
            <a:avLst/>
          </a:prstGeom>
          <a:solidFill>
            <a:srgbClr val="2D3E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309360" y="1280160"/>
            <a:ext cx="5486400" cy="457200"/>
          </a:xfrm>
          <a:prstGeom prst="rect">
            <a:avLst/>
          </a:prstGeom>
          <a:noFill/>
        </p:spPr>
        <p:txBody>
          <a:bodyPr wrap="square" anchor="ctr" lIns="25400" rIns="25400" tIns="0" bIns="0">
            <a:spAutoFit/>
          </a:bodyPr>
          <a:lstStyle/>
          <a:p>
            <a:pPr algn="ctr">
              <a:lnSpc>
                <a:spcPct val="120000"/>
              </a:lnSpc>
            </a:pPr>
            <a:r>
              <a:rPr sz="1300" b="1">
                <a:solidFill>
                  <a:srgbClr val="FFFFFF"/>
                </a:solidFill>
                <a:ea typeface="Apple SD Gothic Neo"/>
                <a:latin typeface="Apple SD Gothic Neo"/>
              </a:rPr>
              <a:t>Ablation 4 시나리오</a:t>
            </a:r>
          </a:p>
        </p:txBody>
      </p:sp>
      <p:sp>
        <p:nvSpPr>
          <p:cNvPr id="31" name="Rectangle 30"/>
          <p:cNvSpPr/>
          <p:nvPr/>
        </p:nvSpPr>
        <p:spPr>
          <a:xfrm>
            <a:off x="6309360" y="1828800"/>
            <a:ext cx="640080" cy="868680"/>
          </a:xfrm>
          <a:prstGeom prst="rect">
            <a:avLst/>
          </a:prstGeom>
          <a:solidFill>
            <a:srgbClr val="4B5D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309360" y="1828800"/>
            <a:ext cx="640080" cy="868680"/>
          </a:xfrm>
          <a:prstGeom prst="rect">
            <a:avLst/>
          </a:prstGeom>
          <a:noFill/>
        </p:spPr>
        <p:txBody>
          <a:bodyPr wrap="square" anchor="ctr" lIns="25400" rIns="25400" tIns="0" bIns="0">
            <a:spAutoFit/>
          </a:bodyPr>
          <a:lstStyle/>
          <a:p>
            <a:pPr algn="ctr">
              <a:lnSpc>
                <a:spcPct val="120000"/>
              </a:lnSpc>
            </a:pPr>
            <a:r>
              <a:rPr sz="2200" b="1">
                <a:solidFill>
                  <a:srgbClr val="FFFFFF"/>
                </a:solidFill>
                <a:ea typeface="Apple SD Gothic Neo"/>
                <a:latin typeface="Apple SD Gothic Neo"/>
              </a:rPr>
              <a:t>A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040880" y="1874519"/>
            <a:ext cx="4754880" cy="411480"/>
          </a:xfrm>
          <a:prstGeom prst="rect">
            <a:avLst/>
          </a:prstGeom>
          <a:noFill/>
        </p:spPr>
        <p:txBody>
          <a:bodyPr wrap="square" anchor="t" lIns="25400" rIns="2540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1">
                <a:solidFill>
                  <a:srgbClr val="2D3E5C"/>
                </a:solidFill>
                <a:ea typeface="Apple SD Gothic Neo"/>
                <a:latin typeface="Apple SD Gothic Neo"/>
              </a:rPr>
              <a:t>행정동 집계만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040880" y="2286000"/>
            <a:ext cx="4754880" cy="411480"/>
          </a:xfrm>
          <a:prstGeom prst="rect">
            <a:avLst/>
          </a:prstGeom>
          <a:noFill/>
        </p:spPr>
        <p:txBody>
          <a:bodyPr wrap="square" anchor="t" lIns="25400" rIns="2540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0">
                <a:solidFill>
                  <a:srgbClr val="333333"/>
                </a:solidFill>
                <a:ea typeface="Apple SD Gothic Neo"/>
                <a:latin typeface="Apple SD Gothic Neo"/>
              </a:rPr>
              <a:t>18 변수 (선행연구 재현)</a:t>
            </a:r>
          </a:p>
        </p:txBody>
      </p:sp>
      <p:sp>
        <p:nvSpPr>
          <p:cNvPr id="35" name="Rectangle 34"/>
          <p:cNvSpPr/>
          <p:nvPr/>
        </p:nvSpPr>
        <p:spPr>
          <a:xfrm>
            <a:off x="6309360" y="2788920"/>
            <a:ext cx="640080" cy="868680"/>
          </a:xfrm>
          <a:prstGeom prst="rect">
            <a:avLst/>
          </a:prstGeom>
          <a:solidFill>
            <a:srgbClr val="4B5D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6309360" y="2788920"/>
            <a:ext cx="640080" cy="868680"/>
          </a:xfrm>
          <a:prstGeom prst="rect">
            <a:avLst/>
          </a:prstGeom>
          <a:noFill/>
        </p:spPr>
        <p:txBody>
          <a:bodyPr wrap="square" anchor="ctr" lIns="25400" rIns="25400" tIns="0" bIns="0">
            <a:spAutoFit/>
          </a:bodyPr>
          <a:lstStyle/>
          <a:p>
            <a:pPr algn="ctr">
              <a:lnSpc>
                <a:spcPct val="120000"/>
              </a:lnSpc>
            </a:pPr>
            <a:r>
              <a:rPr sz="2200" b="1">
                <a:solidFill>
                  <a:srgbClr val="FFFFFF"/>
                </a:solidFill>
                <a:ea typeface="Apple SD Gothic Neo"/>
                <a:latin typeface="Apple SD Gothic Neo"/>
              </a:rPr>
              <a:t>B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7040880" y="2834639"/>
            <a:ext cx="4754880" cy="411480"/>
          </a:xfrm>
          <a:prstGeom prst="rect">
            <a:avLst/>
          </a:prstGeom>
          <a:noFill/>
        </p:spPr>
        <p:txBody>
          <a:bodyPr wrap="square" anchor="t" lIns="25400" rIns="2540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1">
                <a:solidFill>
                  <a:srgbClr val="2D3E5C"/>
                </a:solidFill>
                <a:ea typeface="Apple SD Gothic Neo"/>
                <a:latin typeface="Apple SD Gothic Neo"/>
              </a:rPr>
              <a:t>거리 기반 + 시점 무관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7040880" y="3246120"/>
            <a:ext cx="4754880" cy="411480"/>
          </a:xfrm>
          <a:prstGeom prst="rect">
            <a:avLst/>
          </a:prstGeom>
          <a:noFill/>
        </p:spPr>
        <p:txBody>
          <a:bodyPr wrap="square" anchor="t" lIns="25400" rIns="2540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0">
                <a:solidFill>
                  <a:srgbClr val="333333"/>
                </a:solidFill>
                <a:ea typeface="Apple SD Gothic Neo"/>
                <a:latin typeface="Apple SD Gothic Neo"/>
              </a:rPr>
              <a:t>26 변수 (2026 스냅샷)</a:t>
            </a:r>
          </a:p>
        </p:txBody>
      </p:sp>
      <p:sp>
        <p:nvSpPr>
          <p:cNvPr id="39" name="Rectangle 38"/>
          <p:cNvSpPr/>
          <p:nvPr/>
        </p:nvSpPr>
        <p:spPr>
          <a:xfrm>
            <a:off x="6309360" y="3749039"/>
            <a:ext cx="640080" cy="868680"/>
          </a:xfrm>
          <a:prstGeom prst="rect">
            <a:avLst/>
          </a:prstGeom>
          <a:solidFill>
            <a:srgbClr val="4B5D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6309360" y="3749039"/>
            <a:ext cx="640080" cy="868680"/>
          </a:xfrm>
          <a:prstGeom prst="rect">
            <a:avLst/>
          </a:prstGeom>
          <a:noFill/>
        </p:spPr>
        <p:txBody>
          <a:bodyPr wrap="square" anchor="ctr" lIns="25400" rIns="25400" tIns="0" bIns="0">
            <a:spAutoFit/>
          </a:bodyPr>
          <a:lstStyle/>
          <a:p>
            <a:pPr algn="ctr">
              <a:lnSpc>
                <a:spcPct val="120000"/>
              </a:lnSpc>
            </a:pPr>
            <a:r>
              <a:rPr sz="2200" b="1">
                <a:solidFill>
                  <a:srgbClr val="FFFFFF"/>
                </a:solidFill>
                <a:ea typeface="Apple SD Gothic Neo"/>
                <a:latin typeface="Apple SD Gothic Neo"/>
              </a:rPr>
              <a:t>C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7040880" y="3794759"/>
            <a:ext cx="4754880" cy="411480"/>
          </a:xfrm>
          <a:prstGeom prst="rect">
            <a:avLst/>
          </a:prstGeom>
          <a:noFill/>
        </p:spPr>
        <p:txBody>
          <a:bodyPr wrap="square" anchor="t" lIns="25400" rIns="2540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1">
                <a:solidFill>
                  <a:srgbClr val="2D3E5C"/>
                </a:solidFill>
                <a:ea typeface="Apple SD Gothic Neo"/>
                <a:latin typeface="Apple SD Gothic Neo"/>
              </a:rPr>
              <a:t>거리 + 시점 정합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7040880" y="4206240"/>
            <a:ext cx="4754880" cy="411480"/>
          </a:xfrm>
          <a:prstGeom prst="rect">
            <a:avLst/>
          </a:prstGeom>
          <a:noFill/>
        </p:spPr>
        <p:txBody>
          <a:bodyPr wrap="square" anchor="t" lIns="25400" rIns="2540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0">
                <a:solidFill>
                  <a:srgbClr val="333333"/>
                </a:solidFill>
                <a:ea typeface="Apple SD Gothic Neo"/>
                <a:latin typeface="Apple SD Gothic Neo"/>
              </a:rPr>
              <a:t>26 변수 (연도별)</a:t>
            </a:r>
          </a:p>
        </p:txBody>
      </p:sp>
      <p:sp>
        <p:nvSpPr>
          <p:cNvPr id="43" name="Rectangle 42"/>
          <p:cNvSpPr/>
          <p:nvPr/>
        </p:nvSpPr>
        <p:spPr>
          <a:xfrm>
            <a:off x="6309360" y="4709160"/>
            <a:ext cx="640080" cy="868680"/>
          </a:xfrm>
          <a:prstGeom prst="rect">
            <a:avLst/>
          </a:prstGeom>
          <a:solidFill>
            <a:srgbClr val="4B5D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6309360" y="4709160"/>
            <a:ext cx="640080" cy="868680"/>
          </a:xfrm>
          <a:prstGeom prst="rect">
            <a:avLst/>
          </a:prstGeom>
          <a:noFill/>
        </p:spPr>
        <p:txBody>
          <a:bodyPr wrap="square" anchor="ctr" lIns="25400" rIns="25400" tIns="0" bIns="0">
            <a:spAutoFit/>
          </a:bodyPr>
          <a:lstStyle/>
          <a:p>
            <a:pPr algn="ctr">
              <a:lnSpc>
                <a:spcPct val="120000"/>
              </a:lnSpc>
            </a:pPr>
            <a:r>
              <a:rPr sz="2200" b="1">
                <a:solidFill>
                  <a:srgbClr val="FFFFFF"/>
                </a:solidFill>
                <a:ea typeface="Apple SD Gothic Neo"/>
                <a:latin typeface="Apple SD Gothic Neo"/>
              </a:rPr>
              <a:t>D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7040880" y="4754880"/>
            <a:ext cx="4754880" cy="411480"/>
          </a:xfrm>
          <a:prstGeom prst="rect">
            <a:avLst/>
          </a:prstGeom>
          <a:noFill/>
        </p:spPr>
        <p:txBody>
          <a:bodyPr wrap="square" anchor="t" lIns="25400" rIns="2540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1">
                <a:solidFill>
                  <a:srgbClr val="2D3E5C"/>
                </a:solidFill>
                <a:ea typeface="Apple SD Gothic Neo"/>
                <a:latin typeface="Apple SD Gothic Neo"/>
              </a:rPr>
              <a:t>거리 + 시점 + 행정동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7040880" y="5166360"/>
            <a:ext cx="4754880" cy="411480"/>
          </a:xfrm>
          <a:prstGeom prst="rect">
            <a:avLst/>
          </a:prstGeom>
          <a:noFill/>
        </p:spPr>
        <p:txBody>
          <a:bodyPr wrap="square" anchor="t" lIns="25400" rIns="2540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0">
                <a:solidFill>
                  <a:srgbClr val="333333"/>
                </a:solidFill>
                <a:ea typeface="Apple SD Gothic Neo"/>
                <a:latin typeface="Apple SD Gothic Neo"/>
              </a:rPr>
              <a:t>36 변수 (통합 — 본 연구)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103120" cy="502920"/>
          </a:xfrm>
          <a:prstGeom prst="rect">
            <a:avLst/>
          </a:prstGeom>
          <a:solidFill>
            <a:srgbClr val="2D3E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37160" y="0"/>
            <a:ext cx="1920240" cy="502920"/>
          </a:xfrm>
          <a:prstGeom prst="rect">
            <a:avLst/>
          </a:prstGeom>
          <a:noFill/>
        </p:spPr>
        <p:txBody>
          <a:bodyPr wrap="square" anchor="ctr" lIns="25400" rIns="2540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500" b="1">
                <a:solidFill>
                  <a:srgbClr val="FFFFFF"/>
                </a:solidFill>
                <a:ea typeface="Apple SD Gothic Neo"/>
                <a:latin typeface="Apple SD Gothic Neo"/>
              </a:rPr>
              <a:t>04. RESULTS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28600" y="548640"/>
            <a:ext cx="4572000" cy="365760"/>
          </a:xfrm>
          <a:prstGeom prst="rect">
            <a:avLst/>
          </a:prstGeom>
          <a:noFill/>
        </p:spPr>
        <p:txBody>
          <a:bodyPr wrap="square" anchor="ctr" lIns="25400" rIns="2540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1">
                <a:solidFill>
                  <a:srgbClr val="2D3E5C"/>
                </a:solidFill>
                <a:ea typeface="Apple SD Gothic Neo"/>
                <a:latin typeface="Apple SD Gothic Neo"/>
              </a:rPr>
              <a:t>Ablation — 거리 전환이 시간순 R² +7.1%p 견인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0" y="91440"/>
            <a:ext cx="7040880" cy="365760"/>
          </a:xfrm>
          <a:prstGeom prst="rect">
            <a:avLst/>
          </a:prstGeom>
          <a:noFill/>
        </p:spPr>
        <p:txBody>
          <a:bodyPr wrap="square" anchor="ctr" lIns="25400" rIns="25400" tIns="0" bIns="0">
            <a:spAutoFit/>
          </a:bodyPr>
          <a:lstStyle/>
          <a:p>
            <a:pPr algn="r">
              <a:lnSpc>
                <a:spcPct val="120000"/>
              </a:lnSpc>
            </a:pPr>
            <a:r>
              <a:rPr sz="1000" b="0">
                <a:solidFill>
                  <a:srgbClr val="777777"/>
                </a:solidFill>
                <a:ea typeface="Apple SD Gothic Neo"/>
                <a:latin typeface="Apple SD Gothic Neo"/>
              </a:rPr>
              <a:t>Explanatory Patterns of Apartment Unit-Area Sale Prices in Seoul Using XGBoost and SHAP</a:t>
            </a:r>
          </a:p>
        </p:txBody>
      </p:sp>
      <p:sp>
        <p:nvSpPr>
          <p:cNvPr id="6" name="Rectangle 5"/>
          <p:cNvSpPr/>
          <p:nvPr/>
        </p:nvSpPr>
        <p:spPr>
          <a:xfrm>
            <a:off x="228600" y="960120"/>
            <a:ext cx="11750040" cy="18288"/>
          </a:xfrm>
          <a:prstGeom prst="rect">
            <a:avLst/>
          </a:prstGeom>
          <a:solidFill>
            <a:srgbClr val="CCCC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1731752" y="6446520"/>
            <a:ext cx="457200" cy="411480"/>
          </a:xfrm>
          <a:prstGeom prst="rect">
            <a:avLst/>
          </a:prstGeom>
          <a:solidFill>
            <a:srgbClr val="2D3E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731752" y="6446520"/>
            <a:ext cx="457200" cy="411480"/>
          </a:xfrm>
          <a:prstGeom prst="rect">
            <a:avLst/>
          </a:prstGeom>
          <a:noFill/>
        </p:spPr>
        <p:txBody>
          <a:bodyPr wrap="square" anchor="ctr" lIns="25400" rIns="25400" tIns="0" bIns="0">
            <a:spAutoFit/>
          </a:bodyPr>
          <a:lstStyle/>
          <a:p>
            <a:pPr algn="ctr">
              <a:lnSpc>
                <a:spcPct val="120000"/>
              </a:lnSpc>
            </a:pPr>
            <a:r>
              <a:rPr sz="1000" b="1">
                <a:solidFill>
                  <a:srgbClr val="FFFFFF"/>
                </a:solidFill>
                <a:ea typeface="Apple SD Gothic Neo"/>
                <a:latin typeface="Apple SD Gothic Neo"/>
              </a:rPr>
              <a:t>12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65760" y="1188720"/>
            <a:ext cx="11430000" cy="365760"/>
          </a:xfrm>
          <a:prstGeom prst="rect">
            <a:avLst/>
          </a:prstGeom>
          <a:noFill/>
        </p:spPr>
        <p:txBody>
          <a:bodyPr wrap="square" anchor="t" lIns="25400" rIns="2540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>
                <a:solidFill>
                  <a:srgbClr val="2D3E5C"/>
                </a:solidFill>
                <a:ea typeface="Apple SD Gothic Neo"/>
                <a:latin typeface="Apple SD Gothic Neo"/>
              </a:rPr>
              <a:t>&lt; 표 &gt; 시나리오별 XGBoost R² (동일 테스트 조건)</a:t>
            </a:r>
          </a:p>
        </p:txBody>
      </p:sp>
      <p:sp>
        <p:nvSpPr>
          <p:cNvPr id="10" name="Rectangle 9"/>
          <p:cNvSpPr/>
          <p:nvPr/>
        </p:nvSpPr>
        <p:spPr>
          <a:xfrm>
            <a:off x="365760" y="1645920"/>
            <a:ext cx="10287000" cy="457200"/>
          </a:xfrm>
          <a:prstGeom prst="rect">
            <a:avLst/>
          </a:prstGeom>
          <a:solidFill>
            <a:srgbClr val="4B5D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65760" y="1645920"/>
            <a:ext cx="3840480" cy="457200"/>
          </a:xfrm>
          <a:prstGeom prst="rect">
            <a:avLst/>
          </a:prstGeom>
          <a:noFill/>
        </p:spPr>
        <p:txBody>
          <a:bodyPr wrap="square" anchor="ctr" lIns="25400" rIns="25400" tIns="0" bIns="0">
            <a:spAutoFit/>
          </a:bodyPr>
          <a:lstStyle/>
          <a:p>
            <a:pPr algn="ctr">
              <a:lnSpc>
                <a:spcPct val="120000"/>
              </a:lnSpc>
            </a:pPr>
            <a:r>
              <a:rPr sz="1200" b="1">
                <a:solidFill>
                  <a:srgbClr val="FFFFFF"/>
                </a:solidFill>
                <a:ea typeface="Apple SD Gothic Neo"/>
                <a:latin typeface="Apple SD Gothic Neo"/>
              </a:rPr>
              <a:t>시나리오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206240" y="1645920"/>
            <a:ext cx="1691640" cy="457200"/>
          </a:xfrm>
          <a:prstGeom prst="rect">
            <a:avLst/>
          </a:prstGeom>
          <a:noFill/>
        </p:spPr>
        <p:txBody>
          <a:bodyPr wrap="square" anchor="ctr" lIns="25400" rIns="25400" tIns="0" bIns="0">
            <a:spAutoFit/>
          </a:bodyPr>
          <a:lstStyle/>
          <a:p>
            <a:pPr algn="ctr">
              <a:lnSpc>
                <a:spcPct val="120000"/>
              </a:lnSpc>
            </a:pPr>
            <a:r>
              <a:rPr sz="1200" b="1">
                <a:solidFill>
                  <a:srgbClr val="FFFFFF"/>
                </a:solidFill>
                <a:ea typeface="Apple SD Gothic Neo"/>
                <a:latin typeface="Apple SD Gothic Neo"/>
              </a:rPr>
              <a:t>무작위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897880" y="1645920"/>
            <a:ext cx="1691640" cy="457200"/>
          </a:xfrm>
          <a:prstGeom prst="rect">
            <a:avLst/>
          </a:prstGeom>
          <a:noFill/>
        </p:spPr>
        <p:txBody>
          <a:bodyPr wrap="square" anchor="ctr" lIns="25400" rIns="25400" tIns="0" bIns="0">
            <a:spAutoFit/>
          </a:bodyPr>
          <a:lstStyle/>
          <a:p>
            <a:pPr algn="ctr">
              <a:lnSpc>
                <a:spcPct val="120000"/>
              </a:lnSpc>
            </a:pPr>
            <a:r>
              <a:rPr sz="1200" b="1">
                <a:solidFill>
                  <a:srgbClr val="FFFFFF"/>
                </a:solidFill>
                <a:ea typeface="Apple SD Gothic Neo"/>
                <a:latin typeface="Apple SD Gothic Neo"/>
              </a:rPr>
              <a:t>시간순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589520" y="1645920"/>
            <a:ext cx="1691640" cy="457200"/>
          </a:xfrm>
          <a:prstGeom prst="rect">
            <a:avLst/>
          </a:prstGeom>
          <a:noFill/>
        </p:spPr>
        <p:txBody>
          <a:bodyPr wrap="square" anchor="ctr" lIns="25400" rIns="25400" tIns="0" bIns="0">
            <a:spAutoFit/>
          </a:bodyPr>
          <a:lstStyle/>
          <a:p>
            <a:pPr algn="ctr">
              <a:lnSpc>
                <a:spcPct val="120000"/>
              </a:lnSpc>
            </a:pPr>
            <a:r>
              <a:rPr sz="1200" b="1">
                <a:solidFill>
                  <a:srgbClr val="FFFFFF"/>
                </a:solidFill>
                <a:ea typeface="Apple SD Gothic Neo"/>
                <a:latin typeface="Apple SD Gothic Neo"/>
              </a:rPr>
              <a:t>단지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281160" y="1645920"/>
            <a:ext cx="1371600" cy="457200"/>
          </a:xfrm>
          <a:prstGeom prst="rect">
            <a:avLst/>
          </a:prstGeom>
          <a:noFill/>
        </p:spPr>
        <p:txBody>
          <a:bodyPr wrap="square" anchor="ctr" lIns="25400" rIns="25400" tIns="0" bIns="0">
            <a:spAutoFit/>
          </a:bodyPr>
          <a:lstStyle/>
          <a:p>
            <a:pPr algn="ctr">
              <a:lnSpc>
                <a:spcPct val="120000"/>
              </a:lnSpc>
            </a:pPr>
            <a:r>
              <a:rPr sz="1200" b="1">
                <a:solidFill>
                  <a:srgbClr val="FFFFFF"/>
                </a:solidFill>
                <a:ea typeface="Apple SD Gothic Neo"/>
                <a:latin typeface="Apple SD Gothic Neo"/>
              </a:rPr>
              <a:t>변수 수</a:t>
            </a:r>
          </a:p>
        </p:txBody>
      </p:sp>
      <p:sp>
        <p:nvSpPr>
          <p:cNvPr id="16" name="Rectangle 15"/>
          <p:cNvSpPr/>
          <p:nvPr/>
        </p:nvSpPr>
        <p:spPr>
          <a:xfrm>
            <a:off x="365760" y="2103120"/>
            <a:ext cx="3840480" cy="502920"/>
          </a:xfrm>
          <a:prstGeom prst="rect">
            <a:avLst/>
          </a:prstGeom>
          <a:solidFill>
            <a:srgbClr val="FFFFFF"/>
          </a:solidFill>
          <a:ln w="6350">
            <a:solidFill>
              <a:srgbClr val="CCC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11480" y="2103120"/>
            <a:ext cx="3749040" cy="502920"/>
          </a:xfrm>
          <a:prstGeom prst="rect">
            <a:avLst/>
          </a:prstGeom>
          <a:noFill/>
        </p:spPr>
        <p:txBody>
          <a:bodyPr wrap="square" anchor="ctr" lIns="25400" rIns="2540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>
                <a:solidFill>
                  <a:srgbClr val="333333"/>
                </a:solidFill>
                <a:ea typeface="Apple SD Gothic Neo"/>
                <a:latin typeface="Apple SD Gothic Neo"/>
              </a:rPr>
              <a:t>A 행정동 집계만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206240" y="2103120"/>
            <a:ext cx="1691640" cy="502920"/>
          </a:xfrm>
          <a:prstGeom prst="rect">
            <a:avLst/>
          </a:prstGeom>
          <a:solidFill>
            <a:srgbClr val="FFFFFF"/>
          </a:solidFill>
          <a:ln w="6350">
            <a:solidFill>
              <a:srgbClr val="CCC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251960" y="2103120"/>
            <a:ext cx="1600200" cy="502920"/>
          </a:xfrm>
          <a:prstGeom prst="rect">
            <a:avLst/>
          </a:prstGeom>
          <a:noFill/>
        </p:spPr>
        <p:txBody>
          <a:bodyPr wrap="square" anchor="ctr" lIns="25400" rIns="25400" tIns="0" bIns="0">
            <a:spAutoFit/>
          </a:bodyPr>
          <a:lstStyle/>
          <a:p>
            <a:pPr algn="ctr">
              <a:lnSpc>
                <a:spcPct val="120000"/>
              </a:lnSpc>
            </a:pPr>
            <a:r>
              <a:rPr sz="1200" b="0">
                <a:solidFill>
                  <a:srgbClr val="333333"/>
                </a:solidFill>
                <a:ea typeface="Apple SD Gothic Neo"/>
                <a:latin typeface="Apple SD Gothic Neo"/>
              </a:rPr>
              <a:t>0.921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897880" y="2103120"/>
            <a:ext cx="1691640" cy="502920"/>
          </a:xfrm>
          <a:prstGeom prst="rect">
            <a:avLst/>
          </a:prstGeom>
          <a:solidFill>
            <a:srgbClr val="FFFFFF"/>
          </a:solidFill>
          <a:ln w="6350">
            <a:solidFill>
              <a:srgbClr val="CCC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943600" y="2103120"/>
            <a:ext cx="1600200" cy="502920"/>
          </a:xfrm>
          <a:prstGeom prst="rect">
            <a:avLst/>
          </a:prstGeom>
          <a:noFill/>
        </p:spPr>
        <p:txBody>
          <a:bodyPr wrap="square" anchor="ctr" lIns="25400" rIns="25400" tIns="0" bIns="0">
            <a:spAutoFit/>
          </a:bodyPr>
          <a:lstStyle/>
          <a:p>
            <a:pPr algn="ctr">
              <a:lnSpc>
                <a:spcPct val="120000"/>
              </a:lnSpc>
            </a:pPr>
            <a:r>
              <a:rPr sz="1200" b="0">
                <a:solidFill>
                  <a:srgbClr val="333333"/>
                </a:solidFill>
                <a:ea typeface="Apple SD Gothic Neo"/>
                <a:latin typeface="Apple SD Gothic Neo"/>
              </a:rPr>
              <a:t>0.800</a:t>
            </a:r>
          </a:p>
        </p:txBody>
      </p:sp>
      <p:sp>
        <p:nvSpPr>
          <p:cNvPr id="22" name="Rectangle 21"/>
          <p:cNvSpPr/>
          <p:nvPr/>
        </p:nvSpPr>
        <p:spPr>
          <a:xfrm>
            <a:off x="7589520" y="2103120"/>
            <a:ext cx="1691640" cy="502920"/>
          </a:xfrm>
          <a:prstGeom prst="rect">
            <a:avLst/>
          </a:prstGeom>
          <a:solidFill>
            <a:srgbClr val="FFFFFF"/>
          </a:solidFill>
          <a:ln w="6350">
            <a:solidFill>
              <a:srgbClr val="CCC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635240" y="2103120"/>
            <a:ext cx="1600200" cy="502920"/>
          </a:xfrm>
          <a:prstGeom prst="rect">
            <a:avLst/>
          </a:prstGeom>
          <a:noFill/>
        </p:spPr>
        <p:txBody>
          <a:bodyPr wrap="square" anchor="ctr" lIns="25400" rIns="25400" tIns="0" bIns="0">
            <a:spAutoFit/>
          </a:bodyPr>
          <a:lstStyle/>
          <a:p>
            <a:pPr algn="ctr">
              <a:lnSpc>
                <a:spcPct val="120000"/>
              </a:lnSpc>
            </a:pPr>
            <a:r>
              <a:rPr sz="1200" b="0">
                <a:solidFill>
                  <a:srgbClr val="333333"/>
                </a:solidFill>
                <a:ea typeface="Apple SD Gothic Neo"/>
                <a:latin typeface="Apple SD Gothic Neo"/>
              </a:rPr>
              <a:t>0.777</a:t>
            </a:r>
          </a:p>
        </p:txBody>
      </p:sp>
      <p:sp>
        <p:nvSpPr>
          <p:cNvPr id="24" name="Rectangle 23"/>
          <p:cNvSpPr/>
          <p:nvPr/>
        </p:nvSpPr>
        <p:spPr>
          <a:xfrm>
            <a:off x="9281160" y="2103120"/>
            <a:ext cx="1371600" cy="502920"/>
          </a:xfrm>
          <a:prstGeom prst="rect">
            <a:avLst/>
          </a:prstGeom>
          <a:solidFill>
            <a:srgbClr val="FFFFFF"/>
          </a:solidFill>
          <a:ln w="6350">
            <a:solidFill>
              <a:srgbClr val="CCC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9326880" y="2103120"/>
            <a:ext cx="1280160" cy="502920"/>
          </a:xfrm>
          <a:prstGeom prst="rect">
            <a:avLst/>
          </a:prstGeom>
          <a:noFill/>
        </p:spPr>
        <p:txBody>
          <a:bodyPr wrap="square" anchor="ctr" lIns="25400" rIns="25400" tIns="0" bIns="0">
            <a:spAutoFit/>
          </a:bodyPr>
          <a:lstStyle/>
          <a:p>
            <a:pPr algn="ctr">
              <a:lnSpc>
                <a:spcPct val="120000"/>
              </a:lnSpc>
            </a:pPr>
            <a:r>
              <a:rPr sz="1200" b="0">
                <a:solidFill>
                  <a:srgbClr val="333333"/>
                </a:solidFill>
                <a:ea typeface="Apple SD Gothic Neo"/>
                <a:latin typeface="Apple SD Gothic Neo"/>
              </a:rPr>
              <a:t>18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06039"/>
            <a:ext cx="3840480" cy="502920"/>
          </a:xfrm>
          <a:prstGeom prst="rect">
            <a:avLst/>
          </a:prstGeom>
          <a:solidFill>
            <a:srgbClr val="F1F3F6"/>
          </a:solidFill>
          <a:ln w="6350">
            <a:solidFill>
              <a:srgbClr val="CCC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11480" y="2606039"/>
            <a:ext cx="3749040" cy="502920"/>
          </a:xfrm>
          <a:prstGeom prst="rect">
            <a:avLst/>
          </a:prstGeom>
          <a:noFill/>
        </p:spPr>
        <p:txBody>
          <a:bodyPr wrap="square" anchor="ctr" lIns="25400" rIns="2540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>
                <a:solidFill>
                  <a:srgbClr val="333333"/>
                </a:solidFill>
                <a:ea typeface="Apple SD Gothic Neo"/>
                <a:latin typeface="Apple SD Gothic Neo"/>
              </a:rPr>
              <a:t>B 거리 기반 + 시점 무관</a:t>
            </a:r>
          </a:p>
        </p:txBody>
      </p:sp>
      <p:sp>
        <p:nvSpPr>
          <p:cNvPr id="28" name="Rectangle 27"/>
          <p:cNvSpPr/>
          <p:nvPr/>
        </p:nvSpPr>
        <p:spPr>
          <a:xfrm>
            <a:off x="4206240" y="2606039"/>
            <a:ext cx="1691640" cy="502920"/>
          </a:xfrm>
          <a:prstGeom prst="rect">
            <a:avLst/>
          </a:prstGeom>
          <a:solidFill>
            <a:srgbClr val="F1F3F6"/>
          </a:solidFill>
          <a:ln w="6350">
            <a:solidFill>
              <a:srgbClr val="CCC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4251960" y="2606039"/>
            <a:ext cx="1600200" cy="502920"/>
          </a:xfrm>
          <a:prstGeom prst="rect">
            <a:avLst/>
          </a:prstGeom>
          <a:noFill/>
        </p:spPr>
        <p:txBody>
          <a:bodyPr wrap="square" anchor="ctr" lIns="25400" rIns="25400" tIns="0" bIns="0">
            <a:spAutoFit/>
          </a:bodyPr>
          <a:lstStyle/>
          <a:p>
            <a:pPr algn="ctr">
              <a:lnSpc>
                <a:spcPct val="120000"/>
              </a:lnSpc>
            </a:pPr>
            <a:r>
              <a:rPr sz="1200" b="0">
                <a:solidFill>
                  <a:srgbClr val="333333"/>
                </a:solidFill>
                <a:ea typeface="Apple SD Gothic Neo"/>
                <a:latin typeface="Apple SD Gothic Neo"/>
              </a:rPr>
              <a:t>0.952</a:t>
            </a:r>
          </a:p>
        </p:txBody>
      </p:sp>
      <p:sp>
        <p:nvSpPr>
          <p:cNvPr id="30" name="Rectangle 29"/>
          <p:cNvSpPr/>
          <p:nvPr/>
        </p:nvSpPr>
        <p:spPr>
          <a:xfrm>
            <a:off x="5897880" y="2606039"/>
            <a:ext cx="1691640" cy="502920"/>
          </a:xfrm>
          <a:prstGeom prst="rect">
            <a:avLst/>
          </a:prstGeom>
          <a:solidFill>
            <a:srgbClr val="F1F3F6"/>
          </a:solidFill>
          <a:ln w="6350">
            <a:solidFill>
              <a:srgbClr val="CCC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5943600" y="2606039"/>
            <a:ext cx="1600200" cy="502920"/>
          </a:xfrm>
          <a:prstGeom prst="rect">
            <a:avLst/>
          </a:prstGeom>
          <a:noFill/>
        </p:spPr>
        <p:txBody>
          <a:bodyPr wrap="square" anchor="ctr" lIns="25400" rIns="25400" tIns="0" bIns="0">
            <a:spAutoFit/>
          </a:bodyPr>
          <a:lstStyle/>
          <a:p>
            <a:pPr algn="ctr">
              <a:lnSpc>
                <a:spcPct val="120000"/>
              </a:lnSpc>
            </a:pPr>
            <a:r>
              <a:rPr sz="1200" b="0">
                <a:solidFill>
                  <a:srgbClr val="333333"/>
                </a:solidFill>
                <a:ea typeface="Apple SD Gothic Neo"/>
                <a:latin typeface="Apple SD Gothic Neo"/>
              </a:rPr>
              <a:t>0.856</a:t>
            </a:r>
          </a:p>
        </p:txBody>
      </p:sp>
      <p:sp>
        <p:nvSpPr>
          <p:cNvPr id="32" name="Rectangle 31"/>
          <p:cNvSpPr/>
          <p:nvPr/>
        </p:nvSpPr>
        <p:spPr>
          <a:xfrm>
            <a:off x="7589520" y="2606039"/>
            <a:ext cx="1691640" cy="502920"/>
          </a:xfrm>
          <a:prstGeom prst="rect">
            <a:avLst/>
          </a:prstGeom>
          <a:solidFill>
            <a:srgbClr val="F1F3F6"/>
          </a:solidFill>
          <a:ln w="6350">
            <a:solidFill>
              <a:srgbClr val="CCC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7635240" y="2606039"/>
            <a:ext cx="1600200" cy="502920"/>
          </a:xfrm>
          <a:prstGeom prst="rect">
            <a:avLst/>
          </a:prstGeom>
          <a:noFill/>
        </p:spPr>
        <p:txBody>
          <a:bodyPr wrap="square" anchor="ctr" lIns="25400" rIns="25400" tIns="0" bIns="0">
            <a:spAutoFit/>
          </a:bodyPr>
          <a:lstStyle/>
          <a:p>
            <a:pPr algn="ctr">
              <a:lnSpc>
                <a:spcPct val="120000"/>
              </a:lnSpc>
            </a:pPr>
            <a:r>
              <a:rPr sz="1200" b="0">
                <a:solidFill>
                  <a:srgbClr val="333333"/>
                </a:solidFill>
                <a:ea typeface="Apple SD Gothic Neo"/>
                <a:latin typeface="Apple SD Gothic Neo"/>
              </a:rPr>
              <a:t>0.727</a:t>
            </a:r>
          </a:p>
        </p:txBody>
      </p:sp>
      <p:sp>
        <p:nvSpPr>
          <p:cNvPr id="34" name="Rectangle 33"/>
          <p:cNvSpPr/>
          <p:nvPr/>
        </p:nvSpPr>
        <p:spPr>
          <a:xfrm>
            <a:off x="9281160" y="2606039"/>
            <a:ext cx="1371600" cy="502920"/>
          </a:xfrm>
          <a:prstGeom prst="rect">
            <a:avLst/>
          </a:prstGeom>
          <a:solidFill>
            <a:srgbClr val="F1F3F6"/>
          </a:solidFill>
          <a:ln w="6350">
            <a:solidFill>
              <a:srgbClr val="CCC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9326880" y="2606039"/>
            <a:ext cx="1280160" cy="502920"/>
          </a:xfrm>
          <a:prstGeom prst="rect">
            <a:avLst/>
          </a:prstGeom>
          <a:noFill/>
        </p:spPr>
        <p:txBody>
          <a:bodyPr wrap="square" anchor="ctr" lIns="25400" rIns="25400" tIns="0" bIns="0">
            <a:spAutoFit/>
          </a:bodyPr>
          <a:lstStyle/>
          <a:p>
            <a:pPr algn="ctr">
              <a:lnSpc>
                <a:spcPct val="120000"/>
              </a:lnSpc>
            </a:pPr>
            <a:r>
              <a:rPr sz="1200" b="0">
                <a:solidFill>
                  <a:srgbClr val="333333"/>
                </a:solidFill>
                <a:ea typeface="Apple SD Gothic Neo"/>
                <a:latin typeface="Apple SD Gothic Neo"/>
              </a:rPr>
              <a:t>26</a:t>
            </a:r>
          </a:p>
        </p:txBody>
      </p:sp>
      <p:sp>
        <p:nvSpPr>
          <p:cNvPr id="36" name="Rectangle 35"/>
          <p:cNvSpPr/>
          <p:nvPr/>
        </p:nvSpPr>
        <p:spPr>
          <a:xfrm>
            <a:off x="365760" y="3108960"/>
            <a:ext cx="3840480" cy="502920"/>
          </a:xfrm>
          <a:prstGeom prst="rect">
            <a:avLst/>
          </a:prstGeom>
          <a:solidFill>
            <a:srgbClr val="FFFFFF"/>
          </a:solidFill>
          <a:ln w="6350">
            <a:solidFill>
              <a:srgbClr val="CCC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411480" y="3108960"/>
            <a:ext cx="3749040" cy="502920"/>
          </a:xfrm>
          <a:prstGeom prst="rect">
            <a:avLst/>
          </a:prstGeom>
          <a:noFill/>
        </p:spPr>
        <p:txBody>
          <a:bodyPr wrap="square" anchor="ctr" lIns="25400" rIns="2540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>
                <a:solidFill>
                  <a:srgbClr val="333333"/>
                </a:solidFill>
                <a:ea typeface="Apple SD Gothic Neo"/>
                <a:latin typeface="Apple SD Gothic Neo"/>
              </a:rPr>
              <a:t>C 거리 + 시점 정합</a:t>
            </a:r>
          </a:p>
        </p:txBody>
      </p:sp>
      <p:sp>
        <p:nvSpPr>
          <p:cNvPr id="38" name="Rectangle 37"/>
          <p:cNvSpPr/>
          <p:nvPr/>
        </p:nvSpPr>
        <p:spPr>
          <a:xfrm>
            <a:off x="4206240" y="3108960"/>
            <a:ext cx="1691640" cy="502920"/>
          </a:xfrm>
          <a:prstGeom prst="rect">
            <a:avLst/>
          </a:prstGeom>
          <a:solidFill>
            <a:srgbClr val="FFFFFF"/>
          </a:solidFill>
          <a:ln w="6350">
            <a:solidFill>
              <a:srgbClr val="CCC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4251960" y="3108960"/>
            <a:ext cx="1600200" cy="502920"/>
          </a:xfrm>
          <a:prstGeom prst="rect">
            <a:avLst/>
          </a:prstGeom>
          <a:noFill/>
        </p:spPr>
        <p:txBody>
          <a:bodyPr wrap="square" anchor="ctr" lIns="25400" rIns="25400" tIns="0" bIns="0">
            <a:spAutoFit/>
          </a:bodyPr>
          <a:lstStyle/>
          <a:p>
            <a:pPr algn="ctr">
              <a:lnSpc>
                <a:spcPct val="120000"/>
              </a:lnSpc>
            </a:pPr>
            <a:r>
              <a:rPr sz="1200" b="0">
                <a:solidFill>
                  <a:srgbClr val="333333"/>
                </a:solidFill>
                <a:ea typeface="Apple SD Gothic Neo"/>
                <a:latin typeface="Apple SD Gothic Neo"/>
              </a:rPr>
              <a:t>0.949</a:t>
            </a:r>
          </a:p>
        </p:txBody>
      </p:sp>
      <p:sp>
        <p:nvSpPr>
          <p:cNvPr id="40" name="Rectangle 39"/>
          <p:cNvSpPr/>
          <p:nvPr/>
        </p:nvSpPr>
        <p:spPr>
          <a:xfrm>
            <a:off x="5897880" y="3108960"/>
            <a:ext cx="1691640" cy="502920"/>
          </a:xfrm>
          <a:prstGeom prst="rect">
            <a:avLst/>
          </a:prstGeom>
          <a:solidFill>
            <a:srgbClr val="FFFFFF"/>
          </a:solidFill>
          <a:ln w="6350">
            <a:solidFill>
              <a:srgbClr val="CCC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5943600" y="3108960"/>
            <a:ext cx="1600200" cy="502920"/>
          </a:xfrm>
          <a:prstGeom prst="rect">
            <a:avLst/>
          </a:prstGeom>
          <a:noFill/>
        </p:spPr>
        <p:txBody>
          <a:bodyPr wrap="square" anchor="ctr" lIns="25400" rIns="25400" tIns="0" bIns="0">
            <a:spAutoFit/>
          </a:bodyPr>
          <a:lstStyle/>
          <a:p>
            <a:pPr algn="ctr">
              <a:lnSpc>
                <a:spcPct val="120000"/>
              </a:lnSpc>
            </a:pPr>
            <a:r>
              <a:rPr sz="1200" b="0">
                <a:solidFill>
                  <a:srgbClr val="333333"/>
                </a:solidFill>
                <a:ea typeface="Apple SD Gothic Neo"/>
                <a:latin typeface="Apple SD Gothic Neo"/>
              </a:rPr>
              <a:t>0.851</a:t>
            </a:r>
          </a:p>
        </p:txBody>
      </p:sp>
      <p:sp>
        <p:nvSpPr>
          <p:cNvPr id="42" name="Rectangle 41"/>
          <p:cNvSpPr/>
          <p:nvPr/>
        </p:nvSpPr>
        <p:spPr>
          <a:xfrm>
            <a:off x="7589520" y="3108960"/>
            <a:ext cx="1691640" cy="502920"/>
          </a:xfrm>
          <a:prstGeom prst="rect">
            <a:avLst/>
          </a:prstGeom>
          <a:solidFill>
            <a:srgbClr val="FFFFFF"/>
          </a:solidFill>
          <a:ln w="6350">
            <a:solidFill>
              <a:srgbClr val="CCC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7635240" y="3108960"/>
            <a:ext cx="1600200" cy="502920"/>
          </a:xfrm>
          <a:prstGeom prst="rect">
            <a:avLst/>
          </a:prstGeom>
          <a:noFill/>
        </p:spPr>
        <p:txBody>
          <a:bodyPr wrap="square" anchor="ctr" lIns="25400" rIns="25400" tIns="0" bIns="0">
            <a:spAutoFit/>
          </a:bodyPr>
          <a:lstStyle/>
          <a:p>
            <a:pPr algn="ctr">
              <a:lnSpc>
                <a:spcPct val="120000"/>
              </a:lnSpc>
            </a:pPr>
            <a:r>
              <a:rPr sz="1200" b="0">
                <a:solidFill>
                  <a:srgbClr val="333333"/>
                </a:solidFill>
                <a:ea typeface="Apple SD Gothic Neo"/>
                <a:latin typeface="Apple SD Gothic Neo"/>
              </a:rPr>
              <a:t>0.726</a:t>
            </a:r>
          </a:p>
        </p:txBody>
      </p:sp>
      <p:sp>
        <p:nvSpPr>
          <p:cNvPr id="44" name="Rectangle 43"/>
          <p:cNvSpPr/>
          <p:nvPr/>
        </p:nvSpPr>
        <p:spPr>
          <a:xfrm>
            <a:off x="9281160" y="3108960"/>
            <a:ext cx="1371600" cy="502920"/>
          </a:xfrm>
          <a:prstGeom prst="rect">
            <a:avLst/>
          </a:prstGeom>
          <a:solidFill>
            <a:srgbClr val="FFFFFF"/>
          </a:solidFill>
          <a:ln w="6350">
            <a:solidFill>
              <a:srgbClr val="CCC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9326880" y="3108960"/>
            <a:ext cx="1280160" cy="502920"/>
          </a:xfrm>
          <a:prstGeom prst="rect">
            <a:avLst/>
          </a:prstGeom>
          <a:noFill/>
        </p:spPr>
        <p:txBody>
          <a:bodyPr wrap="square" anchor="ctr" lIns="25400" rIns="25400" tIns="0" bIns="0">
            <a:spAutoFit/>
          </a:bodyPr>
          <a:lstStyle/>
          <a:p>
            <a:pPr algn="ctr">
              <a:lnSpc>
                <a:spcPct val="120000"/>
              </a:lnSpc>
            </a:pPr>
            <a:r>
              <a:rPr sz="1200" b="0">
                <a:solidFill>
                  <a:srgbClr val="333333"/>
                </a:solidFill>
                <a:ea typeface="Apple SD Gothic Neo"/>
                <a:latin typeface="Apple SD Gothic Neo"/>
              </a:rPr>
              <a:t>26</a:t>
            </a:r>
          </a:p>
        </p:txBody>
      </p:sp>
      <p:sp>
        <p:nvSpPr>
          <p:cNvPr id="46" name="Rectangle 45"/>
          <p:cNvSpPr/>
          <p:nvPr/>
        </p:nvSpPr>
        <p:spPr>
          <a:xfrm>
            <a:off x="365760" y="3611880"/>
            <a:ext cx="3840480" cy="502920"/>
          </a:xfrm>
          <a:prstGeom prst="rect">
            <a:avLst/>
          </a:prstGeom>
          <a:solidFill>
            <a:srgbClr val="4B5D82"/>
          </a:solidFill>
          <a:ln w="6350">
            <a:solidFill>
              <a:srgbClr val="CCC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411480" y="3611880"/>
            <a:ext cx="3749040" cy="502920"/>
          </a:xfrm>
          <a:prstGeom prst="rect">
            <a:avLst/>
          </a:prstGeom>
          <a:noFill/>
        </p:spPr>
        <p:txBody>
          <a:bodyPr wrap="square" anchor="ctr" lIns="25400" rIns="2540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>
                <a:solidFill>
                  <a:srgbClr val="FFFFFF"/>
                </a:solidFill>
                <a:ea typeface="Apple SD Gothic Neo"/>
                <a:latin typeface="Apple SD Gothic Neo"/>
              </a:rPr>
              <a:t>D 거리 + 시점 + 행정동</a:t>
            </a:r>
          </a:p>
        </p:txBody>
      </p:sp>
      <p:sp>
        <p:nvSpPr>
          <p:cNvPr id="48" name="Rectangle 47"/>
          <p:cNvSpPr/>
          <p:nvPr/>
        </p:nvSpPr>
        <p:spPr>
          <a:xfrm>
            <a:off x="4206240" y="3611880"/>
            <a:ext cx="1691640" cy="502920"/>
          </a:xfrm>
          <a:prstGeom prst="rect">
            <a:avLst/>
          </a:prstGeom>
          <a:solidFill>
            <a:srgbClr val="4B5D82"/>
          </a:solidFill>
          <a:ln w="6350">
            <a:solidFill>
              <a:srgbClr val="CCC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4251960" y="3611880"/>
            <a:ext cx="1600200" cy="502920"/>
          </a:xfrm>
          <a:prstGeom prst="rect">
            <a:avLst/>
          </a:prstGeom>
          <a:noFill/>
        </p:spPr>
        <p:txBody>
          <a:bodyPr wrap="square" anchor="ctr" lIns="25400" rIns="25400" tIns="0" bIns="0">
            <a:spAutoFit/>
          </a:bodyPr>
          <a:lstStyle/>
          <a:p>
            <a:pPr algn="ctr">
              <a:lnSpc>
                <a:spcPct val="120000"/>
              </a:lnSpc>
            </a:pPr>
            <a:r>
              <a:rPr sz="1200" b="1">
                <a:solidFill>
                  <a:srgbClr val="FFFFFF"/>
                </a:solidFill>
                <a:ea typeface="Apple SD Gothic Neo"/>
                <a:latin typeface="Apple SD Gothic Neo"/>
              </a:rPr>
              <a:t>0.959</a:t>
            </a:r>
          </a:p>
        </p:txBody>
      </p:sp>
      <p:sp>
        <p:nvSpPr>
          <p:cNvPr id="50" name="Rectangle 49"/>
          <p:cNvSpPr/>
          <p:nvPr/>
        </p:nvSpPr>
        <p:spPr>
          <a:xfrm>
            <a:off x="5897880" y="3611880"/>
            <a:ext cx="1691640" cy="502920"/>
          </a:xfrm>
          <a:prstGeom prst="rect">
            <a:avLst/>
          </a:prstGeom>
          <a:solidFill>
            <a:srgbClr val="4B5D82"/>
          </a:solidFill>
          <a:ln w="6350">
            <a:solidFill>
              <a:srgbClr val="CCC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5943600" y="3611880"/>
            <a:ext cx="1600200" cy="502920"/>
          </a:xfrm>
          <a:prstGeom prst="rect">
            <a:avLst/>
          </a:prstGeom>
          <a:noFill/>
        </p:spPr>
        <p:txBody>
          <a:bodyPr wrap="square" anchor="ctr" lIns="25400" rIns="25400" tIns="0" bIns="0">
            <a:spAutoFit/>
          </a:bodyPr>
          <a:lstStyle/>
          <a:p>
            <a:pPr algn="ctr">
              <a:lnSpc>
                <a:spcPct val="120000"/>
              </a:lnSpc>
            </a:pPr>
            <a:r>
              <a:rPr sz="1200" b="1">
                <a:solidFill>
                  <a:srgbClr val="FFFFFF"/>
                </a:solidFill>
                <a:ea typeface="Apple SD Gothic Neo"/>
                <a:latin typeface="Apple SD Gothic Neo"/>
              </a:rPr>
              <a:t>0.871</a:t>
            </a:r>
          </a:p>
        </p:txBody>
      </p:sp>
      <p:sp>
        <p:nvSpPr>
          <p:cNvPr id="52" name="Rectangle 51"/>
          <p:cNvSpPr/>
          <p:nvPr/>
        </p:nvSpPr>
        <p:spPr>
          <a:xfrm>
            <a:off x="7589520" y="3611880"/>
            <a:ext cx="1691640" cy="502920"/>
          </a:xfrm>
          <a:prstGeom prst="rect">
            <a:avLst/>
          </a:prstGeom>
          <a:solidFill>
            <a:srgbClr val="4B5D82"/>
          </a:solidFill>
          <a:ln w="6350">
            <a:solidFill>
              <a:srgbClr val="CCC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7635240" y="3611880"/>
            <a:ext cx="1600200" cy="502920"/>
          </a:xfrm>
          <a:prstGeom prst="rect">
            <a:avLst/>
          </a:prstGeom>
          <a:noFill/>
        </p:spPr>
        <p:txBody>
          <a:bodyPr wrap="square" anchor="ctr" lIns="25400" rIns="25400" tIns="0" bIns="0">
            <a:spAutoFit/>
          </a:bodyPr>
          <a:lstStyle/>
          <a:p>
            <a:pPr algn="ctr">
              <a:lnSpc>
                <a:spcPct val="120000"/>
              </a:lnSpc>
            </a:pPr>
            <a:r>
              <a:rPr sz="1200" b="1">
                <a:solidFill>
                  <a:srgbClr val="FFFFFF"/>
                </a:solidFill>
                <a:ea typeface="Apple SD Gothic Neo"/>
                <a:latin typeface="Apple SD Gothic Neo"/>
              </a:rPr>
              <a:t>0.804</a:t>
            </a:r>
          </a:p>
        </p:txBody>
      </p:sp>
      <p:sp>
        <p:nvSpPr>
          <p:cNvPr id="54" name="Rectangle 53"/>
          <p:cNvSpPr/>
          <p:nvPr/>
        </p:nvSpPr>
        <p:spPr>
          <a:xfrm>
            <a:off x="9281160" y="3611880"/>
            <a:ext cx="1371600" cy="502920"/>
          </a:xfrm>
          <a:prstGeom prst="rect">
            <a:avLst/>
          </a:prstGeom>
          <a:solidFill>
            <a:srgbClr val="4B5D82"/>
          </a:solidFill>
          <a:ln w="6350">
            <a:solidFill>
              <a:srgbClr val="CCC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9326880" y="3611880"/>
            <a:ext cx="1280160" cy="502920"/>
          </a:xfrm>
          <a:prstGeom prst="rect">
            <a:avLst/>
          </a:prstGeom>
          <a:noFill/>
        </p:spPr>
        <p:txBody>
          <a:bodyPr wrap="square" anchor="ctr" lIns="25400" rIns="25400" tIns="0" bIns="0">
            <a:spAutoFit/>
          </a:bodyPr>
          <a:lstStyle/>
          <a:p>
            <a:pPr algn="ctr">
              <a:lnSpc>
                <a:spcPct val="120000"/>
              </a:lnSpc>
            </a:pPr>
            <a:r>
              <a:rPr sz="1200" b="1">
                <a:solidFill>
                  <a:srgbClr val="FFFFFF"/>
                </a:solidFill>
                <a:ea typeface="Apple SD Gothic Neo"/>
                <a:latin typeface="Apple SD Gothic Neo"/>
              </a:rPr>
              <a:t>36</a:t>
            </a:r>
          </a:p>
        </p:txBody>
      </p:sp>
      <p:sp>
        <p:nvSpPr>
          <p:cNvPr id="56" name="Rectangle 55"/>
          <p:cNvSpPr/>
          <p:nvPr/>
        </p:nvSpPr>
        <p:spPr>
          <a:xfrm>
            <a:off x="365760" y="4572000"/>
            <a:ext cx="11430000" cy="1463040"/>
          </a:xfrm>
          <a:prstGeom prst="rect">
            <a:avLst/>
          </a:prstGeom>
          <a:solidFill>
            <a:srgbClr val="F1F3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548640" y="4663440"/>
            <a:ext cx="11064240" cy="365760"/>
          </a:xfrm>
          <a:prstGeom prst="rect">
            <a:avLst/>
          </a:prstGeom>
          <a:noFill/>
        </p:spPr>
        <p:txBody>
          <a:bodyPr wrap="square" anchor="t" lIns="25400" rIns="2540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>
                <a:solidFill>
                  <a:srgbClr val="C8443D"/>
                </a:solidFill>
                <a:ea typeface="Apple SD Gothic Neo"/>
                <a:latin typeface="Apple SD Gothic Neo"/>
              </a:rPr>
              <a:t>핵심 발견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548640" y="5029200"/>
            <a:ext cx="11064240" cy="1005840"/>
          </a:xfrm>
          <a:prstGeom prst="rect">
            <a:avLst/>
          </a:prstGeom>
          <a:noFill/>
        </p:spPr>
        <p:txBody>
          <a:bodyPr wrap="square" lIns="25400" rIns="25400">
            <a:spAutoFit/>
          </a:bodyPr>
          <a:lstStyle/>
          <a:p>
            <a:pPr algn="l">
              <a:lnSpc>
                <a:spcPct val="135000"/>
              </a:lnSpc>
              <a:spcAft>
                <a:spcPts val="400"/>
              </a:spcAft>
            </a:pPr>
            <a:r>
              <a:rPr sz="1200" b="0">
                <a:solidFill>
                  <a:srgbClr val="333333"/>
                </a:solidFill>
                <a:ea typeface="Apple SD Gothic Neo"/>
                <a:latin typeface="Apple SD Gothic Neo"/>
              </a:rPr>
              <a:t>· A→B (거리 기반 전환) : 시간순 +5.6%p — MAUP 완화 효과의 정량 증거</a:t>
            </a:r>
          </a:p>
          <a:p>
            <a:pPr algn="l">
              <a:lnSpc>
                <a:spcPct val="135000"/>
              </a:lnSpc>
              <a:spcAft>
                <a:spcPts val="400"/>
              </a:spcAft>
            </a:pPr>
            <a:r>
              <a:rPr sz="1200" b="0">
                <a:solidFill>
                  <a:srgbClr val="333333"/>
                </a:solidFill>
                <a:ea typeface="Apple SD Gothic Neo"/>
                <a:latin typeface="Apple SD Gothic Neo"/>
              </a:rPr>
              <a:t>· B→C (시점 정합 단독) : R² 단독 효과 0.5%p 이내 — 성능 아닌 leakage 제거 가치</a:t>
            </a:r>
          </a:p>
          <a:p>
            <a:pPr algn="l">
              <a:lnSpc>
                <a:spcPct val="135000"/>
              </a:lnSpc>
              <a:spcAft>
                <a:spcPts val="400"/>
              </a:spcAft>
            </a:pPr>
            <a:r>
              <a:rPr sz="1200" b="0">
                <a:solidFill>
                  <a:srgbClr val="333333"/>
                </a:solidFill>
                <a:ea typeface="Apple SD Gothic Neo"/>
                <a:latin typeface="Apple SD Gothic Neo"/>
              </a:rPr>
              <a:t>· D (거리+시점+행정동) : 무작위·시간순·단지 분할 모두 최고 — 보완적 결합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103120" cy="502920"/>
          </a:xfrm>
          <a:prstGeom prst="rect">
            <a:avLst/>
          </a:prstGeom>
          <a:solidFill>
            <a:srgbClr val="2D3E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37160" y="0"/>
            <a:ext cx="1920240" cy="502920"/>
          </a:xfrm>
          <a:prstGeom prst="rect">
            <a:avLst/>
          </a:prstGeom>
          <a:noFill/>
        </p:spPr>
        <p:txBody>
          <a:bodyPr wrap="square" anchor="ctr" lIns="25400" rIns="2540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500" b="1">
                <a:solidFill>
                  <a:srgbClr val="FFFFFF"/>
                </a:solidFill>
                <a:ea typeface="Apple SD Gothic Neo"/>
                <a:latin typeface="Apple SD Gothic Neo"/>
              </a:rPr>
              <a:t>04. RESULTS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28600" y="548640"/>
            <a:ext cx="4572000" cy="365760"/>
          </a:xfrm>
          <a:prstGeom prst="rect">
            <a:avLst/>
          </a:prstGeom>
          <a:noFill/>
        </p:spPr>
        <p:txBody>
          <a:bodyPr wrap="square" anchor="ctr" lIns="25400" rIns="2540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1">
                <a:solidFill>
                  <a:srgbClr val="2D3E5C"/>
                </a:solidFill>
                <a:ea typeface="Apple SD Gothic Neo"/>
                <a:latin typeface="Apple SD Gothic Neo"/>
              </a:rPr>
              <a:t>Ablation 시나리오별 XGB R² 시각화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0" y="91440"/>
            <a:ext cx="7040880" cy="365760"/>
          </a:xfrm>
          <a:prstGeom prst="rect">
            <a:avLst/>
          </a:prstGeom>
          <a:noFill/>
        </p:spPr>
        <p:txBody>
          <a:bodyPr wrap="square" anchor="ctr" lIns="25400" rIns="25400" tIns="0" bIns="0">
            <a:spAutoFit/>
          </a:bodyPr>
          <a:lstStyle/>
          <a:p>
            <a:pPr algn="r">
              <a:lnSpc>
                <a:spcPct val="120000"/>
              </a:lnSpc>
            </a:pPr>
            <a:r>
              <a:rPr sz="1000" b="0">
                <a:solidFill>
                  <a:srgbClr val="777777"/>
                </a:solidFill>
                <a:ea typeface="Apple SD Gothic Neo"/>
                <a:latin typeface="Apple SD Gothic Neo"/>
              </a:rPr>
              <a:t>Explanatory Patterns of Apartment Unit-Area Sale Prices in Seoul Using XGBoost and SHAP</a:t>
            </a:r>
          </a:p>
        </p:txBody>
      </p:sp>
      <p:sp>
        <p:nvSpPr>
          <p:cNvPr id="6" name="Rectangle 5"/>
          <p:cNvSpPr/>
          <p:nvPr/>
        </p:nvSpPr>
        <p:spPr>
          <a:xfrm>
            <a:off x="228600" y="960120"/>
            <a:ext cx="11750040" cy="18288"/>
          </a:xfrm>
          <a:prstGeom prst="rect">
            <a:avLst/>
          </a:prstGeom>
          <a:solidFill>
            <a:srgbClr val="CCCC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1731752" y="6446520"/>
            <a:ext cx="457200" cy="411480"/>
          </a:xfrm>
          <a:prstGeom prst="rect">
            <a:avLst/>
          </a:prstGeom>
          <a:solidFill>
            <a:srgbClr val="2D3E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731752" y="6446520"/>
            <a:ext cx="457200" cy="411480"/>
          </a:xfrm>
          <a:prstGeom prst="rect">
            <a:avLst/>
          </a:prstGeom>
          <a:noFill/>
        </p:spPr>
        <p:txBody>
          <a:bodyPr wrap="square" anchor="ctr" lIns="25400" rIns="25400" tIns="0" bIns="0">
            <a:spAutoFit/>
          </a:bodyPr>
          <a:lstStyle/>
          <a:p>
            <a:pPr algn="ctr">
              <a:lnSpc>
                <a:spcPct val="120000"/>
              </a:lnSpc>
            </a:pPr>
            <a:r>
              <a:rPr sz="1000" b="1">
                <a:solidFill>
                  <a:srgbClr val="FFFFFF"/>
                </a:solidFill>
                <a:ea typeface="Apple SD Gothic Neo"/>
                <a:latin typeface="Apple SD Gothic Neo"/>
              </a:rPr>
              <a:t>13</a:t>
            </a:r>
          </a:p>
        </p:txBody>
      </p:sp>
      <p:pic>
        <p:nvPicPr>
          <p:cNvPr id="9" name="Picture 8" descr="fig10_ablat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71600" y="1280160"/>
            <a:ext cx="9144000" cy="4929212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365760" y="5852160"/>
            <a:ext cx="11430000" cy="457200"/>
          </a:xfrm>
          <a:prstGeom prst="rect">
            <a:avLst/>
          </a:prstGeom>
          <a:noFill/>
        </p:spPr>
        <p:txBody>
          <a:bodyPr wrap="square" anchor="t" lIns="25400" rIns="25400" tIns="0" bIns="0">
            <a:spAutoFit/>
          </a:bodyPr>
          <a:lstStyle/>
          <a:p>
            <a:pPr algn="ctr">
              <a:lnSpc>
                <a:spcPct val="120000"/>
              </a:lnSpc>
            </a:pPr>
            <a:r>
              <a:rPr sz="1300" b="1">
                <a:solidFill>
                  <a:srgbClr val="C8443D"/>
                </a:solidFill>
                <a:ea typeface="Apple SD Gothic Neo"/>
                <a:latin typeface="Apple SD Gothic Neo"/>
              </a:rPr>
              <a:t>→ 모든 분할에서 D(통합)가 최고. A→B 거리 전환의 시간순 분할 개선이 가장 큼.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103120" cy="502920"/>
          </a:xfrm>
          <a:prstGeom prst="rect">
            <a:avLst/>
          </a:prstGeom>
          <a:solidFill>
            <a:srgbClr val="2D3E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37160" y="0"/>
            <a:ext cx="1920240" cy="502920"/>
          </a:xfrm>
          <a:prstGeom prst="rect">
            <a:avLst/>
          </a:prstGeom>
          <a:noFill/>
        </p:spPr>
        <p:txBody>
          <a:bodyPr wrap="square" anchor="ctr" lIns="25400" rIns="2540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500" b="1">
                <a:solidFill>
                  <a:srgbClr val="FFFFFF"/>
                </a:solidFill>
                <a:ea typeface="Apple SD Gothic Neo"/>
                <a:latin typeface="Apple SD Gothic Neo"/>
              </a:rPr>
              <a:t>04. RESULTS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28600" y="548640"/>
            <a:ext cx="4572000" cy="365760"/>
          </a:xfrm>
          <a:prstGeom prst="rect">
            <a:avLst/>
          </a:prstGeom>
          <a:noFill/>
        </p:spPr>
        <p:txBody>
          <a:bodyPr wrap="square" anchor="ctr" lIns="25400" rIns="2540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1">
                <a:solidFill>
                  <a:srgbClr val="2D3E5C"/>
                </a:solidFill>
                <a:ea typeface="Apple SD Gothic Neo"/>
                <a:latin typeface="Apple SD Gothic Neo"/>
              </a:rPr>
              <a:t>전체 SHAP — 거리 기반 변수가 상위 53% (8/15)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0" y="91440"/>
            <a:ext cx="7040880" cy="365760"/>
          </a:xfrm>
          <a:prstGeom prst="rect">
            <a:avLst/>
          </a:prstGeom>
          <a:noFill/>
        </p:spPr>
        <p:txBody>
          <a:bodyPr wrap="square" anchor="ctr" lIns="25400" rIns="25400" tIns="0" bIns="0">
            <a:spAutoFit/>
          </a:bodyPr>
          <a:lstStyle/>
          <a:p>
            <a:pPr algn="r">
              <a:lnSpc>
                <a:spcPct val="120000"/>
              </a:lnSpc>
            </a:pPr>
            <a:r>
              <a:rPr sz="1000" b="0">
                <a:solidFill>
                  <a:srgbClr val="777777"/>
                </a:solidFill>
                <a:ea typeface="Apple SD Gothic Neo"/>
                <a:latin typeface="Apple SD Gothic Neo"/>
              </a:rPr>
              <a:t>Explanatory Patterns of Apartment Unit-Area Sale Prices in Seoul Using XGBoost and SHAP</a:t>
            </a:r>
          </a:p>
        </p:txBody>
      </p:sp>
      <p:sp>
        <p:nvSpPr>
          <p:cNvPr id="6" name="Rectangle 5"/>
          <p:cNvSpPr/>
          <p:nvPr/>
        </p:nvSpPr>
        <p:spPr>
          <a:xfrm>
            <a:off x="228600" y="960120"/>
            <a:ext cx="11750040" cy="18288"/>
          </a:xfrm>
          <a:prstGeom prst="rect">
            <a:avLst/>
          </a:prstGeom>
          <a:solidFill>
            <a:srgbClr val="CCCC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1731752" y="6446520"/>
            <a:ext cx="457200" cy="411480"/>
          </a:xfrm>
          <a:prstGeom prst="rect">
            <a:avLst/>
          </a:prstGeom>
          <a:solidFill>
            <a:srgbClr val="2D3E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731752" y="6446520"/>
            <a:ext cx="457200" cy="411480"/>
          </a:xfrm>
          <a:prstGeom prst="rect">
            <a:avLst/>
          </a:prstGeom>
          <a:noFill/>
        </p:spPr>
        <p:txBody>
          <a:bodyPr wrap="square" anchor="ctr" lIns="25400" rIns="25400" tIns="0" bIns="0">
            <a:spAutoFit/>
          </a:bodyPr>
          <a:lstStyle/>
          <a:p>
            <a:pPr algn="ctr">
              <a:lnSpc>
                <a:spcPct val="120000"/>
              </a:lnSpc>
            </a:pPr>
            <a:r>
              <a:rPr sz="1000" b="1">
                <a:solidFill>
                  <a:srgbClr val="FFFFFF"/>
                </a:solidFill>
                <a:ea typeface="Apple SD Gothic Neo"/>
                <a:latin typeface="Apple SD Gothic Neo"/>
              </a:rPr>
              <a:t>14</a:t>
            </a:r>
          </a:p>
        </p:txBody>
      </p:sp>
      <p:pic>
        <p:nvPicPr>
          <p:cNvPr id="9" name="Picture 8" descr="fig4_shap_ba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1188720"/>
            <a:ext cx="6858000" cy="5294032"/>
          </a:xfrm>
          <a:prstGeom prst="rect">
            <a:avLst/>
          </a:prstGeom>
        </p:spPr>
      </p:pic>
      <p:sp>
        <p:nvSpPr>
          <p:cNvPr id="10" name="Rectangle 9"/>
          <p:cNvSpPr/>
          <p:nvPr/>
        </p:nvSpPr>
        <p:spPr>
          <a:xfrm>
            <a:off x="7589520" y="1188720"/>
            <a:ext cx="4297680" cy="457200"/>
          </a:xfrm>
          <a:prstGeom prst="rect">
            <a:avLst/>
          </a:prstGeom>
          <a:solidFill>
            <a:srgbClr val="4B5D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589520" y="1188720"/>
            <a:ext cx="4297680" cy="457200"/>
          </a:xfrm>
          <a:prstGeom prst="rect">
            <a:avLst/>
          </a:prstGeom>
          <a:noFill/>
        </p:spPr>
        <p:txBody>
          <a:bodyPr wrap="square" anchor="ctr" lIns="25400" rIns="25400" tIns="0" bIns="0">
            <a:spAutoFit/>
          </a:bodyPr>
          <a:lstStyle/>
          <a:p>
            <a:pPr algn="ctr">
              <a:lnSpc>
                <a:spcPct val="120000"/>
              </a:lnSpc>
            </a:pPr>
            <a:r>
              <a:rPr sz="1300" b="1">
                <a:solidFill>
                  <a:srgbClr val="FFFFFF"/>
                </a:solidFill>
                <a:ea typeface="Apple SD Gothic Neo"/>
                <a:latin typeface="Apple SD Gothic Neo"/>
              </a:rPr>
              <a:t>Top 5 변수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589520" y="1691640"/>
            <a:ext cx="457200" cy="502920"/>
          </a:xfrm>
          <a:prstGeom prst="rect">
            <a:avLst/>
          </a:prstGeom>
          <a:solidFill>
            <a:srgbClr val="2D3E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589520" y="1691640"/>
            <a:ext cx="457200" cy="502920"/>
          </a:xfrm>
          <a:prstGeom prst="rect">
            <a:avLst/>
          </a:prstGeom>
          <a:noFill/>
        </p:spPr>
        <p:txBody>
          <a:bodyPr wrap="square" anchor="ctr" lIns="25400" rIns="25400" tIns="0" bIns="0">
            <a:spAutoFit/>
          </a:bodyPr>
          <a:lstStyle/>
          <a:p>
            <a:pPr algn="ctr">
              <a:lnSpc>
                <a:spcPct val="120000"/>
              </a:lnSpc>
            </a:pPr>
            <a:r>
              <a:rPr sz="1400" b="1">
                <a:solidFill>
                  <a:srgbClr val="FFFFFF"/>
                </a:solidFill>
                <a:ea typeface="Apple SD Gothic Neo"/>
                <a:latin typeface="Apple SD Gothic Neo"/>
              </a:rPr>
              <a:t>1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092440" y="1691640"/>
            <a:ext cx="3794760" cy="502920"/>
          </a:xfrm>
          <a:prstGeom prst="rect">
            <a:avLst/>
          </a:prstGeom>
          <a:solidFill>
            <a:srgbClr val="F1F3F6"/>
          </a:solidFill>
          <a:ln w="6350">
            <a:solidFill>
              <a:srgbClr val="CCC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183879" y="1691640"/>
            <a:ext cx="2514600" cy="502920"/>
          </a:xfrm>
          <a:prstGeom prst="rect">
            <a:avLst/>
          </a:prstGeom>
          <a:noFill/>
        </p:spPr>
        <p:txBody>
          <a:bodyPr wrap="square" anchor="ctr" lIns="25400" rIns="2540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>
                <a:solidFill>
                  <a:srgbClr val="333333"/>
                </a:solidFill>
                <a:ea typeface="Apple SD Gothic Neo"/>
                <a:latin typeface="Apple SD Gothic Neo"/>
              </a:rPr>
              <a:t>강남구분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515600" y="1691640"/>
            <a:ext cx="1280160" cy="502920"/>
          </a:xfrm>
          <a:prstGeom prst="rect">
            <a:avLst/>
          </a:prstGeom>
          <a:noFill/>
        </p:spPr>
        <p:txBody>
          <a:bodyPr wrap="square" anchor="ctr" lIns="25400" rIns="25400" tIns="0" bIns="0">
            <a:spAutoFit/>
          </a:bodyPr>
          <a:lstStyle/>
          <a:p>
            <a:pPr algn="r">
              <a:lnSpc>
                <a:spcPct val="120000"/>
              </a:lnSpc>
            </a:pPr>
            <a:r>
              <a:rPr sz="1200" b="1">
                <a:solidFill>
                  <a:srgbClr val="C8443D"/>
                </a:solidFill>
                <a:ea typeface="Apple SD Gothic Neo"/>
                <a:latin typeface="Apple SD Gothic Neo"/>
              </a:rPr>
              <a:t>12.5%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589520" y="2240280"/>
            <a:ext cx="457200" cy="502920"/>
          </a:xfrm>
          <a:prstGeom prst="rect">
            <a:avLst/>
          </a:prstGeom>
          <a:solidFill>
            <a:srgbClr val="2D3E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589520" y="2240280"/>
            <a:ext cx="457200" cy="502920"/>
          </a:xfrm>
          <a:prstGeom prst="rect">
            <a:avLst/>
          </a:prstGeom>
          <a:noFill/>
        </p:spPr>
        <p:txBody>
          <a:bodyPr wrap="square" anchor="ctr" lIns="25400" rIns="25400" tIns="0" bIns="0">
            <a:spAutoFit/>
          </a:bodyPr>
          <a:lstStyle/>
          <a:p>
            <a:pPr algn="ctr">
              <a:lnSpc>
                <a:spcPct val="120000"/>
              </a:lnSpc>
            </a:pPr>
            <a:r>
              <a:rPr sz="1400" b="1">
                <a:solidFill>
                  <a:srgbClr val="FFFFFF"/>
                </a:solidFill>
                <a:ea typeface="Apple SD Gothic Neo"/>
                <a:latin typeface="Apple SD Gothic Neo"/>
              </a:rPr>
              <a:t>2</a:t>
            </a:r>
          </a:p>
        </p:txBody>
      </p:sp>
      <p:sp>
        <p:nvSpPr>
          <p:cNvPr id="19" name="Rectangle 18"/>
          <p:cNvSpPr/>
          <p:nvPr/>
        </p:nvSpPr>
        <p:spPr>
          <a:xfrm>
            <a:off x="8092440" y="2240280"/>
            <a:ext cx="3794760" cy="502920"/>
          </a:xfrm>
          <a:prstGeom prst="rect">
            <a:avLst/>
          </a:prstGeom>
          <a:solidFill>
            <a:srgbClr val="F1F3F6"/>
          </a:solidFill>
          <a:ln w="6350">
            <a:solidFill>
              <a:srgbClr val="CCC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183879" y="2240280"/>
            <a:ext cx="2514600" cy="502920"/>
          </a:xfrm>
          <a:prstGeom prst="rect">
            <a:avLst/>
          </a:prstGeom>
          <a:noFill/>
        </p:spPr>
        <p:txBody>
          <a:bodyPr wrap="square" anchor="ctr" lIns="25400" rIns="2540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>
                <a:solidFill>
                  <a:srgbClr val="333333"/>
                </a:solidFill>
                <a:ea typeface="Apple SD Gothic Neo"/>
                <a:latin typeface="Apple SD Gothic Neo"/>
              </a:rPr>
              <a:t>건물연령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515600" y="2240280"/>
            <a:ext cx="1280160" cy="502920"/>
          </a:xfrm>
          <a:prstGeom prst="rect">
            <a:avLst/>
          </a:prstGeom>
          <a:noFill/>
        </p:spPr>
        <p:txBody>
          <a:bodyPr wrap="square" anchor="ctr" lIns="25400" rIns="25400" tIns="0" bIns="0">
            <a:spAutoFit/>
          </a:bodyPr>
          <a:lstStyle/>
          <a:p>
            <a:pPr algn="r">
              <a:lnSpc>
                <a:spcPct val="120000"/>
              </a:lnSpc>
            </a:pPr>
            <a:r>
              <a:rPr sz="1200" b="1">
                <a:solidFill>
                  <a:srgbClr val="C8443D"/>
                </a:solidFill>
                <a:ea typeface="Apple SD Gothic Neo"/>
                <a:latin typeface="Apple SD Gothic Neo"/>
              </a:rPr>
              <a:t>10.4%</a:t>
            </a:r>
          </a:p>
        </p:txBody>
      </p:sp>
      <p:sp>
        <p:nvSpPr>
          <p:cNvPr id="22" name="Rectangle 21"/>
          <p:cNvSpPr/>
          <p:nvPr/>
        </p:nvSpPr>
        <p:spPr>
          <a:xfrm>
            <a:off x="7589520" y="2788920"/>
            <a:ext cx="457200" cy="502920"/>
          </a:xfrm>
          <a:prstGeom prst="rect">
            <a:avLst/>
          </a:prstGeom>
          <a:solidFill>
            <a:srgbClr val="2D3E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589520" y="2788920"/>
            <a:ext cx="457200" cy="502920"/>
          </a:xfrm>
          <a:prstGeom prst="rect">
            <a:avLst/>
          </a:prstGeom>
          <a:noFill/>
        </p:spPr>
        <p:txBody>
          <a:bodyPr wrap="square" anchor="ctr" lIns="25400" rIns="25400" tIns="0" bIns="0">
            <a:spAutoFit/>
          </a:bodyPr>
          <a:lstStyle/>
          <a:p>
            <a:pPr algn="ctr">
              <a:lnSpc>
                <a:spcPct val="120000"/>
              </a:lnSpc>
            </a:pPr>
            <a:r>
              <a:rPr sz="1400" b="1">
                <a:solidFill>
                  <a:srgbClr val="FFFFFF"/>
                </a:solidFill>
                <a:ea typeface="Apple SD Gothic Neo"/>
                <a:latin typeface="Apple SD Gothic Neo"/>
              </a:rPr>
              <a:t>3</a:t>
            </a:r>
          </a:p>
        </p:txBody>
      </p:sp>
      <p:sp>
        <p:nvSpPr>
          <p:cNvPr id="24" name="Rectangle 23"/>
          <p:cNvSpPr/>
          <p:nvPr/>
        </p:nvSpPr>
        <p:spPr>
          <a:xfrm>
            <a:off x="8092440" y="2788920"/>
            <a:ext cx="3794760" cy="502920"/>
          </a:xfrm>
          <a:prstGeom prst="rect">
            <a:avLst/>
          </a:prstGeom>
          <a:solidFill>
            <a:srgbClr val="F1F3F6"/>
          </a:solidFill>
          <a:ln w="6350">
            <a:solidFill>
              <a:srgbClr val="CCC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183879" y="2788920"/>
            <a:ext cx="2514600" cy="502920"/>
          </a:xfrm>
          <a:prstGeom prst="rect">
            <a:avLst/>
          </a:prstGeom>
          <a:noFill/>
        </p:spPr>
        <p:txBody>
          <a:bodyPr wrap="square" anchor="ctr" lIns="25400" rIns="2540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>
                <a:solidFill>
                  <a:srgbClr val="333333"/>
                </a:solidFill>
                <a:ea typeface="Apple SD Gothic Neo"/>
                <a:latin typeface="Apple SD Gothic Neo"/>
              </a:rPr>
              <a:t>M2 통화량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515600" y="2788920"/>
            <a:ext cx="1280160" cy="502920"/>
          </a:xfrm>
          <a:prstGeom prst="rect">
            <a:avLst/>
          </a:prstGeom>
          <a:noFill/>
        </p:spPr>
        <p:txBody>
          <a:bodyPr wrap="square" anchor="ctr" lIns="25400" rIns="25400" tIns="0" bIns="0">
            <a:spAutoFit/>
          </a:bodyPr>
          <a:lstStyle/>
          <a:p>
            <a:pPr algn="r">
              <a:lnSpc>
                <a:spcPct val="120000"/>
              </a:lnSpc>
            </a:pPr>
            <a:r>
              <a:rPr sz="1200" b="1">
                <a:solidFill>
                  <a:srgbClr val="C8443D"/>
                </a:solidFill>
                <a:ea typeface="Apple SD Gothic Neo"/>
                <a:latin typeface="Apple SD Gothic Neo"/>
              </a:rPr>
              <a:t>9.8%</a:t>
            </a:r>
          </a:p>
        </p:txBody>
      </p:sp>
      <p:sp>
        <p:nvSpPr>
          <p:cNvPr id="27" name="Rectangle 26"/>
          <p:cNvSpPr/>
          <p:nvPr/>
        </p:nvSpPr>
        <p:spPr>
          <a:xfrm>
            <a:off x="7589520" y="3337560"/>
            <a:ext cx="457200" cy="502920"/>
          </a:xfrm>
          <a:prstGeom prst="rect">
            <a:avLst/>
          </a:prstGeom>
          <a:solidFill>
            <a:srgbClr val="2D3E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7589520" y="3337560"/>
            <a:ext cx="457200" cy="502920"/>
          </a:xfrm>
          <a:prstGeom prst="rect">
            <a:avLst/>
          </a:prstGeom>
          <a:noFill/>
        </p:spPr>
        <p:txBody>
          <a:bodyPr wrap="square" anchor="ctr" lIns="25400" rIns="25400" tIns="0" bIns="0">
            <a:spAutoFit/>
          </a:bodyPr>
          <a:lstStyle/>
          <a:p>
            <a:pPr algn="ctr">
              <a:lnSpc>
                <a:spcPct val="120000"/>
              </a:lnSpc>
            </a:pPr>
            <a:r>
              <a:rPr sz="1400" b="1">
                <a:solidFill>
                  <a:srgbClr val="FFFFFF"/>
                </a:solidFill>
                <a:ea typeface="Apple SD Gothic Neo"/>
                <a:latin typeface="Apple SD Gothic Neo"/>
              </a:rPr>
              <a:t>4</a:t>
            </a:r>
          </a:p>
        </p:txBody>
      </p:sp>
      <p:sp>
        <p:nvSpPr>
          <p:cNvPr id="29" name="Rectangle 28"/>
          <p:cNvSpPr/>
          <p:nvPr/>
        </p:nvSpPr>
        <p:spPr>
          <a:xfrm>
            <a:off x="8092440" y="3337560"/>
            <a:ext cx="3794760" cy="502920"/>
          </a:xfrm>
          <a:prstGeom prst="rect">
            <a:avLst/>
          </a:prstGeom>
          <a:solidFill>
            <a:srgbClr val="F1F3F6"/>
          </a:solidFill>
          <a:ln w="6350">
            <a:solidFill>
              <a:srgbClr val="CCC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8183879" y="3337560"/>
            <a:ext cx="2514600" cy="502920"/>
          </a:xfrm>
          <a:prstGeom prst="rect">
            <a:avLst/>
          </a:prstGeom>
          <a:noFill/>
        </p:spPr>
        <p:txBody>
          <a:bodyPr wrap="square" anchor="ctr" lIns="25400" rIns="2540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>
                <a:solidFill>
                  <a:srgbClr val="333333"/>
                </a:solidFill>
                <a:ea typeface="Apple SD Gothic Neo"/>
                <a:latin typeface="Apple SD Gothic Neo"/>
              </a:rPr>
              <a:t>전용면적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0515600" y="3337560"/>
            <a:ext cx="1280160" cy="502920"/>
          </a:xfrm>
          <a:prstGeom prst="rect">
            <a:avLst/>
          </a:prstGeom>
          <a:noFill/>
        </p:spPr>
        <p:txBody>
          <a:bodyPr wrap="square" anchor="ctr" lIns="25400" rIns="25400" tIns="0" bIns="0">
            <a:spAutoFit/>
          </a:bodyPr>
          <a:lstStyle/>
          <a:p>
            <a:pPr algn="r">
              <a:lnSpc>
                <a:spcPct val="120000"/>
              </a:lnSpc>
            </a:pPr>
            <a:r>
              <a:rPr sz="1200" b="1">
                <a:solidFill>
                  <a:srgbClr val="C8443D"/>
                </a:solidFill>
                <a:ea typeface="Apple SD Gothic Neo"/>
                <a:latin typeface="Apple SD Gothic Neo"/>
              </a:rPr>
              <a:t>7.8%</a:t>
            </a:r>
          </a:p>
        </p:txBody>
      </p:sp>
      <p:sp>
        <p:nvSpPr>
          <p:cNvPr id="32" name="Rectangle 31"/>
          <p:cNvSpPr/>
          <p:nvPr/>
        </p:nvSpPr>
        <p:spPr>
          <a:xfrm>
            <a:off x="7589520" y="3886200"/>
            <a:ext cx="457200" cy="502920"/>
          </a:xfrm>
          <a:prstGeom prst="rect">
            <a:avLst/>
          </a:prstGeom>
          <a:solidFill>
            <a:srgbClr val="2D3E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7589520" y="3886200"/>
            <a:ext cx="457200" cy="502920"/>
          </a:xfrm>
          <a:prstGeom prst="rect">
            <a:avLst/>
          </a:prstGeom>
          <a:noFill/>
        </p:spPr>
        <p:txBody>
          <a:bodyPr wrap="square" anchor="ctr" lIns="25400" rIns="25400" tIns="0" bIns="0">
            <a:spAutoFit/>
          </a:bodyPr>
          <a:lstStyle/>
          <a:p>
            <a:pPr algn="ctr">
              <a:lnSpc>
                <a:spcPct val="120000"/>
              </a:lnSpc>
            </a:pPr>
            <a:r>
              <a:rPr sz="1400" b="1">
                <a:solidFill>
                  <a:srgbClr val="FFFFFF"/>
                </a:solidFill>
                <a:ea typeface="Apple SD Gothic Neo"/>
                <a:latin typeface="Apple SD Gothic Neo"/>
              </a:rPr>
              <a:t>5</a:t>
            </a:r>
          </a:p>
        </p:txBody>
      </p:sp>
      <p:sp>
        <p:nvSpPr>
          <p:cNvPr id="34" name="Rectangle 33"/>
          <p:cNvSpPr/>
          <p:nvPr/>
        </p:nvSpPr>
        <p:spPr>
          <a:xfrm>
            <a:off x="8092440" y="3886200"/>
            <a:ext cx="3794760" cy="502920"/>
          </a:xfrm>
          <a:prstGeom prst="rect">
            <a:avLst/>
          </a:prstGeom>
          <a:solidFill>
            <a:srgbClr val="F1F3F6"/>
          </a:solidFill>
          <a:ln w="6350">
            <a:solidFill>
              <a:srgbClr val="CCC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8183879" y="3886200"/>
            <a:ext cx="2514600" cy="502920"/>
          </a:xfrm>
          <a:prstGeom prst="rect">
            <a:avLst/>
          </a:prstGeom>
          <a:noFill/>
        </p:spPr>
        <p:txBody>
          <a:bodyPr wrap="square" anchor="ctr" lIns="25400" rIns="2540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>
                <a:solidFill>
                  <a:srgbClr val="333333"/>
                </a:solidFill>
                <a:ea typeface="Apple SD Gothic Neo"/>
                <a:latin typeface="Apple SD Gothic Neo"/>
              </a:rPr>
              <a:t>어린이집 1km 내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0515600" y="3886200"/>
            <a:ext cx="1280160" cy="502920"/>
          </a:xfrm>
          <a:prstGeom prst="rect">
            <a:avLst/>
          </a:prstGeom>
          <a:noFill/>
        </p:spPr>
        <p:txBody>
          <a:bodyPr wrap="square" anchor="ctr" lIns="25400" rIns="25400" tIns="0" bIns="0">
            <a:spAutoFit/>
          </a:bodyPr>
          <a:lstStyle/>
          <a:p>
            <a:pPr algn="r">
              <a:lnSpc>
                <a:spcPct val="120000"/>
              </a:lnSpc>
            </a:pPr>
            <a:r>
              <a:rPr sz="1200" b="1">
                <a:solidFill>
                  <a:srgbClr val="C8443D"/>
                </a:solidFill>
                <a:ea typeface="Apple SD Gothic Neo"/>
                <a:latin typeface="Apple SD Gothic Neo"/>
              </a:rPr>
              <a:t>6.4%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7589520" y="4663440"/>
            <a:ext cx="4297680" cy="1371600"/>
          </a:xfrm>
          <a:prstGeom prst="rect">
            <a:avLst/>
          </a:prstGeom>
          <a:noFill/>
        </p:spPr>
        <p:txBody>
          <a:bodyPr wrap="square" anchor="t" lIns="25400" rIns="2540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>
                <a:solidFill>
                  <a:srgbClr val="333333"/>
                </a:solidFill>
                <a:ea typeface="Apple SD Gothic Neo"/>
                <a:latin typeface="Apple SD Gothic Neo"/>
              </a:rPr>
              <a:t>거리 기반 변수가 상위 15 중 8개(53%) — 행정동 단순 집계에서 가려져 있던 미시 입지 신호가 전면에 드러남 (MAUP 완화 효과 실증)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103120" cy="502920"/>
          </a:xfrm>
          <a:prstGeom prst="rect">
            <a:avLst/>
          </a:prstGeom>
          <a:solidFill>
            <a:srgbClr val="2D3E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37160" y="0"/>
            <a:ext cx="1920240" cy="502920"/>
          </a:xfrm>
          <a:prstGeom prst="rect">
            <a:avLst/>
          </a:prstGeom>
          <a:noFill/>
        </p:spPr>
        <p:txBody>
          <a:bodyPr wrap="square" anchor="ctr" lIns="25400" rIns="2540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500" b="1">
                <a:solidFill>
                  <a:srgbClr val="FFFFFF"/>
                </a:solidFill>
                <a:ea typeface="Apple SD Gothic Neo"/>
                <a:latin typeface="Apple SD Gothic Neo"/>
              </a:rPr>
              <a:t>04. RESULTS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28600" y="548640"/>
            <a:ext cx="4572000" cy="365760"/>
          </a:xfrm>
          <a:prstGeom prst="rect">
            <a:avLst/>
          </a:prstGeom>
          <a:noFill/>
        </p:spPr>
        <p:txBody>
          <a:bodyPr wrap="square" anchor="ctr" lIns="25400" rIns="2540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1">
                <a:solidFill>
                  <a:srgbClr val="2D3E5C"/>
                </a:solidFill>
                <a:ea typeface="Apple SD Gothic Neo"/>
                <a:latin typeface="Apple SD Gothic Neo"/>
              </a:rPr>
              <a:t>SHAP 비선형 패턴 — 건물연령 U자 / 지하철 임계반응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0" y="91440"/>
            <a:ext cx="7040880" cy="365760"/>
          </a:xfrm>
          <a:prstGeom prst="rect">
            <a:avLst/>
          </a:prstGeom>
          <a:noFill/>
        </p:spPr>
        <p:txBody>
          <a:bodyPr wrap="square" anchor="ctr" lIns="25400" rIns="25400" tIns="0" bIns="0">
            <a:spAutoFit/>
          </a:bodyPr>
          <a:lstStyle/>
          <a:p>
            <a:pPr algn="r">
              <a:lnSpc>
                <a:spcPct val="120000"/>
              </a:lnSpc>
            </a:pPr>
            <a:r>
              <a:rPr sz="1000" b="0">
                <a:solidFill>
                  <a:srgbClr val="777777"/>
                </a:solidFill>
                <a:ea typeface="Apple SD Gothic Neo"/>
                <a:latin typeface="Apple SD Gothic Neo"/>
              </a:rPr>
              <a:t>Explanatory Patterns of Apartment Unit-Area Sale Prices in Seoul Using XGBoost and SHAP</a:t>
            </a:r>
          </a:p>
        </p:txBody>
      </p:sp>
      <p:sp>
        <p:nvSpPr>
          <p:cNvPr id="6" name="Rectangle 5"/>
          <p:cNvSpPr/>
          <p:nvPr/>
        </p:nvSpPr>
        <p:spPr>
          <a:xfrm>
            <a:off x="228600" y="960120"/>
            <a:ext cx="11750040" cy="18288"/>
          </a:xfrm>
          <a:prstGeom prst="rect">
            <a:avLst/>
          </a:prstGeom>
          <a:solidFill>
            <a:srgbClr val="CCCC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1731752" y="6446520"/>
            <a:ext cx="457200" cy="411480"/>
          </a:xfrm>
          <a:prstGeom prst="rect">
            <a:avLst/>
          </a:prstGeom>
          <a:solidFill>
            <a:srgbClr val="2D3E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731752" y="6446520"/>
            <a:ext cx="457200" cy="411480"/>
          </a:xfrm>
          <a:prstGeom prst="rect">
            <a:avLst/>
          </a:prstGeom>
          <a:noFill/>
        </p:spPr>
        <p:txBody>
          <a:bodyPr wrap="square" anchor="ctr" lIns="25400" rIns="25400" tIns="0" bIns="0">
            <a:spAutoFit/>
          </a:bodyPr>
          <a:lstStyle/>
          <a:p>
            <a:pPr algn="ctr">
              <a:lnSpc>
                <a:spcPct val="120000"/>
              </a:lnSpc>
            </a:pPr>
            <a:r>
              <a:rPr sz="1000" b="1">
                <a:solidFill>
                  <a:srgbClr val="FFFFFF"/>
                </a:solidFill>
                <a:ea typeface="Apple SD Gothic Neo"/>
                <a:latin typeface="Apple SD Gothic Neo"/>
              </a:rPr>
              <a:t>15</a:t>
            </a:r>
          </a:p>
        </p:txBody>
      </p:sp>
      <p:pic>
        <p:nvPicPr>
          <p:cNvPr id="9" name="Picture 8" descr="fig6_dep_건물연령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1188720"/>
            <a:ext cx="5760720" cy="4536764"/>
          </a:xfrm>
          <a:prstGeom prst="rect">
            <a:avLst/>
          </a:prstGeom>
        </p:spPr>
      </p:pic>
      <p:pic>
        <p:nvPicPr>
          <p:cNvPr id="10" name="Picture 9" descr="fig8_dep_subway_neares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17920" y="1188720"/>
            <a:ext cx="5760720" cy="4550706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365760" y="5486400"/>
            <a:ext cx="5760720" cy="365760"/>
          </a:xfrm>
          <a:prstGeom prst="rect">
            <a:avLst/>
          </a:prstGeom>
          <a:noFill/>
        </p:spPr>
        <p:txBody>
          <a:bodyPr wrap="square" anchor="t" lIns="25400" rIns="25400" tIns="0" bIns="0">
            <a:spAutoFit/>
          </a:bodyPr>
          <a:lstStyle/>
          <a:p>
            <a:pPr algn="ctr">
              <a:lnSpc>
                <a:spcPct val="120000"/>
              </a:lnSpc>
            </a:pPr>
            <a:r>
              <a:rPr sz="1200" b="1">
                <a:solidFill>
                  <a:srgbClr val="333333"/>
                </a:solidFill>
                <a:ea typeface="Apple SD Gothic Neo"/>
                <a:latin typeface="Apple SD Gothic Neo"/>
              </a:rPr>
              <a:t>건물연령 25~30년 반등 — 재건축 기대 신호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217920" y="5486400"/>
            <a:ext cx="5760720" cy="365760"/>
          </a:xfrm>
          <a:prstGeom prst="rect">
            <a:avLst/>
          </a:prstGeom>
          <a:noFill/>
        </p:spPr>
        <p:txBody>
          <a:bodyPr wrap="square" anchor="t" lIns="25400" rIns="25400" tIns="0" bIns="0">
            <a:spAutoFit/>
          </a:bodyPr>
          <a:lstStyle/>
          <a:p>
            <a:pPr algn="ctr">
              <a:lnSpc>
                <a:spcPct val="120000"/>
              </a:lnSpc>
            </a:pPr>
            <a:r>
              <a:rPr sz="1200" b="1">
                <a:solidFill>
                  <a:srgbClr val="333333"/>
                </a:solidFill>
                <a:ea typeface="Apple SD Gothic Neo"/>
                <a:latin typeface="Apple SD Gothic Neo"/>
              </a:rPr>
              <a:t>지하철 500m 이내 강한 양 → 평탄화 — 도보 역세권 프리미엄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65760" y="5943600"/>
            <a:ext cx="11430000" cy="457200"/>
          </a:xfrm>
          <a:prstGeom prst="rect">
            <a:avLst/>
          </a:prstGeom>
          <a:noFill/>
        </p:spPr>
        <p:txBody>
          <a:bodyPr wrap="square" anchor="t" lIns="25400" rIns="25400" tIns="0" bIns="0">
            <a:spAutoFit/>
          </a:bodyPr>
          <a:lstStyle/>
          <a:p>
            <a:pPr algn="ctr">
              <a:lnSpc>
                <a:spcPct val="120000"/>
              </a:lnSpc>
            </a:pPr>
            <a:r>
              <a:rPr sz="1300" b="1">
                <a:solidFill>
                  <a:srgbClr val="C8443D"/>
                </a:solidFill>
                <a:ea typeface="Apple SD Gothic Neo"/>
                <a:latin typeface="Apple SD Gothic Neo"/>
              </a:rPr>
              <a:t>→ OLS 선형 가정으로 포착되지 않는 비선형 패턴을 SHAP이 정량 시각화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103120" cy="502920"/>
          </a:xfrm>
          <a:prstGeom prst="rect">
            <a:avLst/>
          </a:prstGeom>
          <a:solidFill>
            <a:srgbClr val="2D3E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37160" y="0"/>
            <a:ext cx="1920240" cy="502920"/>
          </a:xfrm>
          <a:prstGeom prst="rect">
            <a:avLst/>
          </a:prstGeom>
          <a:noFill/>
        </p:spPr>
        <p:txBody>
          <a:bodyPr wrap="square" anchor="ctr" lIns="25400" rIns="2540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500" b="1">
                <a:solidFill>
                  <a:srgbClr val="FFFFFF"/>
                </a:solidFill>
                <a:ea typeface="Apple SD Gothic Neo"/>
                <a:latin typeface="Apple SD Gothic Neo"/>
              </a:rPr>
              <a:t>04. RESULTS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28600" y="548640"/>
            <a:ext cx="4572000" cy="365760"/>
          </a:xfrm>
          <a:prstGeom prst="rect">
            <a:avLst/>
          </a:prstGeom>
          <a:noFill/>
        </p:spPr>
        <p:txBody>
          <a:bodyPr wrap="square" anchor="ctr" lIns="25400" rIns="2540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1">
                <a:solidFill>
                  <a:srgbClr val="2D3E5C"/>
                </a:solidFill>
                <a:ea typeface="Apple SD Gothic Neo"/>
                <a:latin typeface="Apple SD Gothic Neo"/>
              </a:rPr>
              <a:t>권역별 SHAP — 강남(상업·안전) vs 비강남(사교육·주거)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0" y="91440"/>
            <a:ext cx="7040880" cy="365760"/>
          </a:xfrm>
          <a:prstGeom prst="rect">
            <a:avLst/>
          </a:prstGeom>
          <a:noFill/>
        </p:spPr>
        <p:txBody>
          <a:bodyPr wrap="square" anchor="ctr" lIns="25400" rIns="25400" tIns="0" bIns="0">
            <a:spAutoFit/>
          </a:bodyPr>
          <a:lstStyle/>
          <a:p>
            <a:pPr algn="r">
              <a:lnSpc>
                <a:spcPct val="120000"/>
              </a:lnSpc>
            </a:pPr>
            <a:r>
              <a:rPr sz="1000" b="0">
                <a:solidFill>
                  <a:srgbClr val="777777"/>
                </a:solidFill>
                <a:ea typeface="Apple SD Gothic Neo"/>
                <a:latin typeface="Apple SD Gothic Neo"/>
              </a:rPr>
              <a:t>Explanatory Patterns of Apartment Unit-Area Sale Prices in Seoul Using XGBoost and SHAP</a:t>
            </a:r>
          </a:p>
        </p:txBody>
      </p:sp>
      <p:sp>
        <p:nvSpPr>
          <p:cNvPr id="6" name="Rectangle 5"/>
          <p:cNvSpPr/>
          <p:nvPr/>
        </p:nvSpPr>
        <p:spPr>
          <a:xfrm>
            <a:off x="228600" y="960120"/>
            <a:ext cx="11750040" cy="18288"/>
          </a:xfrm>
          <a:prstGeom prst="rect">
            <a:avLst/>
          </a:prstGeom>
          <a:solidFill>
            <a:srgbClr val="CCCC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1731752" y="6446520"/>
            <a:ext cx="457200" cy="411480"/>
          </a:xfrm>
          <a:prstGeom prst="rect">
            <a:avLst/>
          </a:prstGeom>
          <a:solidFill>
            <a:srgbClr val="2D3E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731752" y="6446520"/>
            <a:ext cx="457200" cy="411480"/>
          </a:xfrm>
          <a:prstGeom prst="rect">
            <a:avLst/>
          </a:prstGeom>
          <a:noFill/>
        </p:spPr>
        <p:txBody>
          <a:bodyPr wrap="square" anchor="ctr" lIns="25400" rIns="25400" tIns="0" bIns="0">
            <a:spAutoFit/>
          </a:bodyPr>
          <a:lstStyle/>
          <a:p>
            <a:pPr algn="ctr">
              <a:lnSpc>
                <a:spcPct val="120000"/>
              </a:lnSpc>
            </a:pPr>
            <a:r>
              <a:rPr sz="1000" b="1">
                <a:solidFill>
                  <a:srgbClr val="FFFFFF"/>
                </a:solidFill>
                <a:ea typeface="Apple SD Gothic Neo"/>
                <a:latin typeface="Apple SD Gothic Neo"/>
              </a:rPr>
              <a:t>16</a:t>
            </a:r>
          </a:p>
        </p:txBody>
      </p:sp>
      <p:pic>
        <p:nvPicPr>
          <p:cNvPr id="9" name="Picture 8" descr="fig11_region_sha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1188720"/>
            <a:ext cx="7315200" cy="3943369"/>
          </a:xfrm>
          <a:prstGeom prst="rect">
            <a:avLst/>
          </a:prstGeom>
        </p:spPr>
      </p:pic>
      <p:sp>
        <p:nvSpPr>
          <p:cNvPr id="10" name="Rectangle 9"/>
          <p:cNvSpPr/>
          <p:nvPr/>
        </p:nvSpPr>
        <p:spPr>
          <a:xfrm>
            <a:off x="7955279" y="1188720"/>
            <a:ext cx="4023360" cy="457200"/>
          </a:xfrm>
          <a:prstGeom prst="rect">
            <a:avLst/>
          </a:prstGeom>
          <a:solidFill>
            <a:srgbClr val="4B5D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955279" y="1188720"/>
            <a:ext cx="4023360" cy="457200"/>
          </a:xfrm>
          <a:prstGeom prst="rect">
            <a:avLst/>
          </a:prstGeom>
          <a:noFill/>
        </p:spPr>
        <p:txBody>
          <a:bodyPr wrap="square" anchor="ctr" lIns="25400" rIns="25400" tIns="0" bIns="0">
            <a:spAutoFit/>
          </a:bodyPr>
          <a:lstStyle/>
          <a:p>
            <a:pPr algn="ctr">
              <a:lnSpc>
                <a:spcPct val="120000"/>
              </a:lnSpc>
            </a:pPr>
            <a:r>
              <a:rPr sz="1200" b="1">
                <a:solidFill>
                  <a:srgbClr val="FFFFFF"/>
                </a:solidFill>
                <a:ea typeface="Apple SD Gothic Neo"/>
                <a:latin typeface="Apple SD Gothic Neo"/>
              </a:rPr>
              <a:t>권역별 Top 5 변수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955279" y="1691640"/>
            <a:ext cx="2011680" cy="365760"/>
          </a:xfrm>
          <a:prstGeom prst="rect">
            <a:avLst/>
          </a:prstGeom>
          <a:noFill/>
        </p:spPr>
        <p:txBody>
          <a:bodyPr wrap="square" anchor="t" lIns="25400" rIns="25400" tIns="0" bIns="0">
            <a:spAutoFit/>
          </a:bodyPr>
          <a:lstStyle/>
          <a:p>
            <a:pPr algn="ctr">
              <a:lnSpc>
                <a:spcPct val="120000"/>
              </a:lnSpc>
            </a:pPr>
            <a:r>
              <a:rPr sz="1200" b="1">
                <a:solidFill>
                  <a:srgbClr val="C8443D"/>
                </a:solidFill>
                <a:ea typeface="Apple SD Gothic Neo"/>
                <a:latin typeface="Apple SD Gothic Neo"/>
              </a:rPr>
              <a:t>강남3구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966960" y="1691640"/>
            <a:ext cx="2011680" cy="365760"/>
          </a:xfrm>
          <a:prstGeom prst="rect">
            <a:avLst/>
          </a:prstGeom>
          <a:noFill/>
        </p:spPr>
        <p:txBody>
          <a:bodyPr wrap="square" anchor="t" lIns="25400" rIns="25400" tIns="0" bIns="0">
            <a:spAutoFit/>
          </a:bodyPr>
          <a:lstStyle/>
          <a:p>
            <a:pPr algn="ctr">
              <a:lnSpc>
                <a:spcPct val="120000"/>
              </a:lnSpc>
            </a:pPr>
            <a:r>
              <a:rPr sz="1200" b="1">
                <a:solidFill>
                  <a:srgbClr val="2D3E5C"/>
                </a:solidFill>
                <a:ea typeface="Apple SD Gothic Neo"/>
                <a:latin typeface="Apple SD Gothic Neo"/>
              </a:rPr>
              <a:t>비강남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955279" y="2103120"/>
            <a:ext cx="2011680" cy="411480"/>
          </a:xfrm>
          <a:prstGeom prst="rect">
            <a:avLst/>
          </a:prstGeom>
          <a:solidFill>
            <a:srgbClr val="F1F3F6"/>
          </a:solidFill>
          <a:ln w="6350">
            <a:solidFill>
              <a:srgbClr val="CCC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955279" y="2103120"/>
            <a:ext cx="2011680" cy="411480"/>
          </a:xfrm>
          <a:prstGeom prst="rect">
            <a:avLst/>
          </a:prstGeom>
          <a:noFill/>
        </p:spPr>
        <p:txBody>
          <a:bodyPr wrap="square" anchor="ctr" lIns="25400" rIns="25400" tIns="0" bIns="0">
            <a:spAutoFit/>
          </a:bodyPr>
          <a:lstStyle/>
          <a:p>
            <a:pPr algn="ctr">
              <a:lnSpc>
                <a:spcPct val="120000"/>
              </a:lnSpc>
            </a:pPr>
            <a:r>
              <a:rPr sz="1100" b="0">
                <a:solidFill>
                  <a:srgbClr val="333333"/>
                </a:solidFill>
                <a:ea typeface="Apple SD Gothic Neo"/>
                <a:latin typeface="Apple SD Gothic Neo"/>
              </a:rPr>
              <a:t>1. 건물연령</a:t>
            </a:r>
          </a:p>
        </p:txBody>
      </p:sp>
      <p:sp>
        <p:nvSpPr>
          <p:cNvPr id="16" name="Rectangle 15"/>
          <p:cNvSpPr/>
          <p:nvPr/>
        </p:nvSpPr>
        <p:spPr>
          <a:xfrm>
            <a:off x="9966960" y="2103120"/>
            <a:ext cx="2011680" cy="411480"/>
          </a:xfrm>
          <a:prstGeom prst="rect">
            <a:avLst/>
          </a:prstGeom>
          <a:solidFill>
            <a:srgbClr val="F1F3F6"/>
          </a:solidFill>
          <a:ln w="6350">
            <a:solidFill>
              <a:srgbClr val="CCC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966960" y="2103120"/>
            <a:ext cx="2011680" cy="411480"/>
          </a:xfrm>
          <a:prstGeom prst="rect">
            <a:avLst/>
          </a:prstGeom>
          <a:noFill/>
        </p:spPr>
        <p:txBody>
          <a:bodyPr wrap="square" anchor="ctr" lIns="25400" rIns="25400" tIns="0" bIns="0">
            <a:spAutoFit/>
          </a:bodyPr>
          <a:lstStyle/>
          <a:p>
            <a:pPr algn="ctr">
              <a:lnSpc>
                <a:spcPct val="120000"/>
              </a:lnSpc>
            </a:pPr>
            <a:r>
              <a:rPr sz="1100" b="0">
                <a:solidFill>
                  <a:srgbClr val="333333"/>
                </a:solidFill>
                <a:ea typeface="Apple SD Gothic Neo"/>
                <a:latin typeface="Apple SD Gothic Neo"/>
              </a:rPr>
              <a:t>1. 건물연령</a:t>
            </a:r>
          </a:p>
        </p:txBody>
      </p:sp>
      <p:sp>
        <p:nvSpPr>
          <p:cNvPr id="18" name="Rectangle 17"/>
          <p:cNvSpPr/>
          <p:nvPr/>
        </p:nvSpPr>
        <p:spPr>
          <a:xfrm>
            <a:off x="7955279" y="2560320"/>
            <a:ext cx="2011680" cy="411480"/>
          </a:xfrm>
          <a:prstGeom prst="rect">
            <a:avLst/>
          </a:prstGeom>
          <a:solidFill>
            <a:srgbClr val="F1F3F6"/>
          </a:solidFill>
          <a:ln w="6350">
            <a:solidFill>
              <a:srgbClr val="CCC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955279" y="2560320"/>
            <a:ext cx="2011680" cy="411480"/>
          </a:xfrm>
          <a:prstGeom prst="rect">
            <a:avLst/>
          </a:prstGeom>
          <a:noFill/>
        </p:spPr>
        <p:txBody>
          <a:bodyPr wrap="square" anchor="ctr" lIns="25400" rIns="25400" tIns="0" bIns="0">
            <a:spAutoFit/>
          </a:bodyPr>
          <a:lstStyle/>
          <a:p>
            <a:pPr algn="ctr">
              <a:lnSpc>
                <a:spcPct val="120000"/>
              </a:lnSpc>
            </a:pPr>
            <a:r>
              <a:rPr sz="1100" b="0">
                <a:solidFill>
                  <a:srgbClr val="333333"/>
                </a:solidFill>
                <a:ea typeface="Apple SD Gothic Neo"/>
                <a:latin typeface="Apple SD Gothic Neo"/>
              </a:rPr>
              <a:t>2. 백화점 최근접</a:t>
            </a:r>
          </a:p>
        </p:txBody>
      </p:sp>
      <p:sp>
        <p:nvSpPr>
          <p:cNvPr id="20" name="Rectangle 19"/>
          <p:cNvSpPr/>
          <p:nvPr/>
        </p:nvSpPr>
        <p:spPr>
          <a:xfrm>
            <a:off x="9966960" y="2560320"/>
            <a:ext cx="2011680" cy="411480"/>
          </a:xfrm>
          <a:prstGeom prst="rect">
            <a:avLst/>
          </a:prstGeom>
          <a:solidFill>
            <a:srgbClr val="F1F3F6"/>
          </a:solidFill>
          <a:ln w="6350">
            <a:solidFill>
              <a:srgbClr val="CCC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966960" y="2560320"/>
            <a:ext cx="2011680" cy="411480"/>
          </a:xfrm>
          <a:prstGeom prst="rect">
            <a:avLst/>
          </a:prstGeom>
          <a:noFill/>
        </p:spPr>
        <p:txBody>
          <a:bodyPr wrap="square" anchor="ctr" lIns="25400" rIns="25400" tIns="0" bIns="0">
            <a:spAutoFit/>
          </a:bodyPr>
          <a:lstStyle/>
          <a:p>
            <a:pPr algn="ctr">
              <a:lnSpc>
                <a:spcPct val="120000"/>
              </a:lnSpc>
            </a:pPr>
            <a:r>
              <a:rPr sz="1100" b="0">
                <a:solidFill>
                  <a:srgbClr val="333333"/>
                </a:solidFill>
                <a:ea typeface="Apple SD Gothic Neo"/>
                <a:latin typeface="Apple SD Gothic Neo"/>
              </a:rPr>
              <a:t>2. 학원수(행정동)</a:t>
            </a:r>
          </a:p>
        </p:txBody>
      </p:sp>
      <p:sp>
        <p:nvSpPr>
          <p:cNvPr id="22" name="Rectangle 21"/>
          <p:cNvSpPr/>
          <p:nvPr/>
        </p:nvSpPr>
        <p:spPr>
          <a:xfrm>
            <a:off x="7955279" y="3017520"/>
            <a:ext cx="2011680" cy="411480"/>
          </a:xfrm>
          <a:prstGeom prst="rect">
            <a:avLst/>
          </a:prstGeom>
          <a:solidFill>
            <a:srgbClr val="F1F3F6"/>
          </a:solidFill>
          <a:ln w="6350">
            <a:solidFill>
              <a:srgbClr val="CCC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955279" y="3017520"/>
            <a:ext cx="2011680" cy="411480"/>
          </a:xfrm>
          <a:prstGeom prst="rect">
            <a:avLst/>
          </a:prstGeom>
          <a:noFill/>
        </p:spPr>
        <p:txBody>
          <a:bodyPr wrap="square" anchor="ctr" lIns="25400" rIns="25400" tIns="0" bIns="0">
            <a:spAutoFit/>
          </a:bodyPr>
          <a:lstStyle/>
          <a:p>
            <a:pPr algn="ctr">
              <a:lnSpc>
                <a:spcPct val="120000"/>
              </a:lnSpc>
            </a:pPr>
            <a:r>
              <a:rPr sz="1100" b="0">
                <a:solidFill>
                  <a:srgbClr val="333333"/>
                </a:solidFill>
                <a:ea typeface="Apple SD Gothic Neo"/>
                <a:latin typeface="Apple SD Gothic Neo"/>
              </a:rPr>
              <a:t>3. 전용면적</a:t>
            </a:r>
          </a:p>
        </p:txBody>
      </p:sp>
      <p:sp>
        <p:nvSpPr>
          <p:cNvPr id="24" name="Rectangle 23"/>
          <p:cNvSpPr/>
          <p:nvPr/>
        </p:nvSpPr>
        <p:spPr>
          <a:xfrm>
            <a:off x="9966960" y="3017520"/>
            <a:ext cx="2011680" cy="411480"/>
          </a:xfrm>
          <a:prstGeom prst="rect">
            <a:avLst/>
          </a:prstGeom>
          <a:solidFill>
            <a:srgbClr val="F1F3F6"/>
          </a:solidFill>
          <a:ln w="6350">
            <a:solidFill>
              <a:srgbClr val="CCC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9966960" y="3017520"/>
            <a:ext cx="2011680" cy="411480"/>
          </a:xfrm>
          <a:prstGeom prst="rect">
            <a:avLst/>
          </a:prstGeom>
          <a:noFill/>
        </p:spPr>
        <p:txBody>
          <a:bodyPr wrap="square" anchor="ctr" lIns="25400" rIns="25400" tIns="0" bIns="0">
            <a:spAutoFit/>
          </a:bodyPr>
          <a:lstStyle/>
          <a:p>
            <a:pPr algn="ctr">
              <a:lnSpc>
                <a:spcPct val="120000"/>
              </a:lnSpc>
            </a:pPr>
            <a:r>
              <a:rPr sz="1100" b="0">
                <a:solidFill>
                  <a:srgbClr val="333333"/>
                </a:solidFill>
                <a:ea typeface="Apple SD Gothic Neo"/>
                <a:latin typeface="Apple SD Gothic Neo"/>
              </a:rPr>
              <a:t>3. 전용면적</a:t>
            </a:r>
          </a:p>
        </p:txBody>
      </p:sp>
      <p:sp>
        <p:nvSpPr>
          <p:cNvPr id="26" name="Rectangle 25"/>
          <p:cNvSpPr/>
          <p:nvPr/>
        </p:nvSpPr>
        <p:spPr>
          <a:xfrm>
            <a:off x="7955279" y="3474720"/>
            <a:ext cx="2011680" cy="411480"/>
          </a:xfrm>
          <a:prstGeom prst="rect">
            <a:avLst/>
          </a:prstGeom>
          <a:solidFill>
            <a:srgbClr val="F1F3F6"/>
          </a:solidFill>
          <a:ln w="6350">
            <a:solidFill>
              <a:srgbClr val="CCC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7955279" y="3474720"/>
            <a:ext cx="2011680" cy="411480"/>
          </a:xfrm>
          <a:prstGeom prst="rect">
            <a:avLst/>
          </a:prstGeom>
          <a:noFill/>
        </p:spPr>
        <p:txBody>
          <a:bodyPr wrap="square" anchor="ctr" lIns="25400" rIns="25400" tIns="0" bIns="0">
            <a:spAutoFit/>
          </a:bodyPr>
          <a:lstStyle/>
          <a:p>
            <a:pPr algn="ctr">
              <a:lnSpc>
                <a:spcPct val="120000"/>
              </a:lnSpc>
            </a:pPr>
            <a:r>
              <a:rPr sz="1100" b="0">
                <a:solidFill>
                  <a:srgbClr val="333333"/>
                </a:solidFill>
                <a:ea typeface="Apple SD Gothic Neo"/>
                <a:latin typeface="Apple SD Gothic Neo"/>
              </a:rPr>
              <a:t>4. 백화점수(행정동)</a:t>
            </a:r>
          </a:p>
        </p:txBody>
      </p:sp>
      <p:sp>
        <p:nvSpPr>
          <p:cNvPr id="28" name="Rectangle 27"/>
          <p:cNvSpPr/>
          <p:nvPr/>
        </p:nvSpPr>
        <p:spPr>
          <a:xfrm>
            <a:off x="9966960" y="3474720"/>
            <a:ext cx="2011680" cy="411480"/>
          </a:xfrm>
          <a:prstGeom prst="rect">
            <a:avLst/>
          </a:prstGeom>
          <a:solidFill>
            <a:srgbClr val="F1F3F6"/>
          </a:solidFill>
          <a:ln w="6350">
            <a:solidFill>
              <a:srgbClr val="CCC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9966960" y="3474720"/>
            <a:ext cx="2011680" cy="411480"/>
          </a:xfrm>
          <a:prstGeom prst="rect">
            <a:avLst/>
          </a:prstGeom>
          <a:noFill/>
        </p:spPr>
        <p:txBody>
          <a:bodyPr wrap="square" anchor="ctr" lIns="25400" rIns="25400" tIns="0" bIns="0">
            <a:spAutoFit/>
          </a:bodyPr>
          <a:lstStyle/>
          <a:p>
            <a:pPr algn="ctr">
              <a:lnSpc>
                <a:spcPct val="120000"/>
              </a:lnSpc>
            </a:pPr>
            <a:r>
              <a:rPr sz="1100" b="0">
                <a:solidFill>
                  <a:srgbClr val="333333"/>
                </a:solidFill>
                <a:ea typeface="Apple SD Gothic Neo"/>
                <a:latin typeface="Apple SD Gothic Neo"/>
              </a:rPr>
              <a:t>4. 어린이집수(행정동)</a:t>
            </a:r>
          </a:p>
        </p:txBody>
      </p:sp>
      <p:sp>
        <p:nvSpPr>
          <p:cNvPr id="30" name="Rectangle 29"/>
          <p:cNvSpPr/>
          <p:nvPr/>
        </p:nvSpPr>
        <p:spPr>
          <a:xfrm>
            <a:off x="7955279" y="3931920"/>
            <a:ext cx="2011680" cy="411480"/>
          </a:xfrm>
          <a:prstGeom prst="rect">
            <a:avLst/>
          </a:prstGeom>
          <a:solidFill>
            <a:srgbClr val="F1F3F6"/>
          </a:solidFill>
          <a:ln w="6350">
            <a:solidFill>
              <a:srgbClr val="CCC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7955279" y="3931920"/>
            <a:ext cx="2011680" cy="411480"/>
          </a:xfrm>
          <a:prstGeom prst="rect">
            <a:avLst/>
          </a:prstGeom>
          <a:noFill/>
        </p:spPr>
        <p:txBody>
          <a:bodyPr wrap="square" anchor="ctr" lIns="25400" rIns="25400" tIns="0" bIns="0">
            <a:spAutoFit/>
          </a:bodyPr>
          <a:lstStyle/>
          <a:p>
            <a:pPr algn="ctr">
              <a:lnSpc>
                <a:spcPct val="120000"/>
              </a:lnSpc>
            </a:pPr>
            <a:r>
              <a:rPr sz="1100" b="0">
                <a:solidFill>
                  <a:srgbClr val="333333"/>
                </a:solidFill>
                <a:ea typeface="Apple SD Gothic Neo"/>
                <a:latin typeface="Apple SD Gothic Neo"/>
              </a:rPr>
              <a:t>5. CCTV 500m</a:t>
            </a:r>
          </a:p>
        </p:txBody>
      </p:sp>
      <p:sp>
        <p:nvSpPr>
          <p:cNvPr id="32" name="Rectangle 31"/>
          <p:cNvSpPr/>
          <p:nvPr/>
        </p:nvSpPr>
        <p:spPr>
          <a:xfrm>
            <a:off x="9966960" y="3931920"/>
            <a:ext cx="2011680" cy="411480"/>
          </a:xfrm>
          <a:prstGeom prst="rect">
            <a:avLst/>
          </a:prstGeom>
          <a:solidFill>
            <a:srgbClr val="F1F3F6"/>
          </a:solidFill>
          <a:ln w="6350">
            <a:solidFill>
              <a:srgbClr val="CCC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9966960" y="3931920"/>
            <a:ext cx="2011680" cy="411480"/>
          </a:xfrm>
          <a:prstGeom prst="rect">
            <a:avLst/>
          </a:prstGeom>
          <a:noFill/>
        </p:spPr>
        <p:txBody>
          <a:bodyPr wrap="square" anchor="ctr" lIns="25400" rIns="25400" tIns="0" bIns="0">
            <a:spAutoFit/>
          </a:bodyPr>
          <a:lstStyle/>
          <a:p>
            <a:pPr algn="ctr">
              <a:lnSpc>
                <a:spcPct val="120000"/>
              </a:lnSpc>
            </a:pPr>
            <a:r>
              <a:rPr sz="1100" b="0">
                <a:solidFill>
                  <a:srgbClr val="333333"/>
                </a:solidFill>
                <a:ea typeface="Apple SD Gothic Neo"/>
                <a:latin typeface="Apple SD Gothic Neo"/>
              </a:rPr>
              <a:t>5. 층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365760" y="5943600"/>
            <a:ext cx="11430000" cy="457200"/>
          </a:xfrm>
          <a:prstGeom prst="rect">
            <a:avLst/>
          </a:prstGeom>
          <a:noFill/>
        </p:spPr>
        <p:txBody>
          <a:bodyPr wrap="square" anchor="t" lIns="25400" rIns="25400" tIns="0" bIns="0">
            <a:spAutoFit/>
          </a:bodyPr>
          <a:lstStyle/>
          <a:p>
            <a:pPr algn="ctr">
              <a:lnSpc>
                <a:spcPct val="120000"/>
              </a:lnSpc>
            </a:pPr>
            <a:r>
              <a:rPr sz="1300" b="1">
                <a:solidFill>
                  <a:srgbClr val="C8443D"/>
                </a:solidFill>
                <a:ea typeface="Apple SD Gothic Neo"/>
                <a:latin typeface="Apple SD Gothic Neo"/>
              </a:rPr>
              <a:t>→ R² 강남 0.964, 비강남 0.952 — 두 권역의 가격 설명 구조에 질적 차이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103120" cy="502920"/>
          </a:xfrm>
          <a:prstGeom prst="rect">
            <a:avLst/>
          </a:prstGeom>
          <a:solidFill>
            <a:srgbClr val="2D3E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37160" y="0"/>
            <a:ext cx="1920240" cy="502920"/>
          </a:xfrm>
          <a:prstGeom prst="rect">
            <a:avLst/>
          </a:prstGeom>
          <a:noFill/>
        </p:spPr>
        <p:txBody>
          <a:bodyPr wrap="square" anchor="ctr" lIns="25400" rIns="2540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500" b="1">
                <a:solidFill>
                  <a:srgbClr val="FFFFFF"/>
                </a:solidFill>
                <a:ea typeface="Apple SD Gothic Neo"/>
                <a:latin typeface="Apple SD Gothic Neo"/>
              </a:rPr>
              <a:t>04. RESULTS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28600" y="548640"/>
            <a:ext cx="4572000" cy="365760"/>
          </a:xfrm>
          <a:prstGeom prst="rect">
            <a:avLst/>
          </a:prstGeom>
          <a:noFill/>
        </p:spPr>
        <p:txBody>
          <a:bodyPr wrap="square" anchor="ctr" lIns="25400" rIns="2540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1">
                <a:solidFill>
                  <a:srgbClr val="2D3E5C"/>
                </a:solidFill>
                <a:ea typeface="Apple SD Gothic Neo"/>
                <a:latin typeface="Apple SD Gothic Neo"/>
              </a:rPr>
              <a:t>연도×권역 R² — 2022 조정기 동시 dip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0" y="91440"/>
            <a:ext cx="7040880" cy="365760"/>
          </a:xfrm>
          <a:prstGeom prst="rect">
            <a:avLst/>
          </a:prstGeom>
          <a:noFill/>
        </p:spPr>
        <p:txBody>
          <a:bodyPr wrap="square" anchor="ctr" lIns="25400" rIns="25400" tIns="0" bIns="0">
            <a:spAutoFit/>
          </a:bodyPr>
          <a:lstStyle/>
          <a:p>
            <a:pPr algn="r">
              <a:lnSpc>
                <a:spcPct val="120000"/>
              </a:lnSpc>
            </a:pPr>
            <a:r>
              <a:rPr sz="1000" b="0">
                <a:solidFill>
                  <a:srgbClr val="777777"/>
                </a:solidFill>
                <a:ea typeface="Apple SD Gothic Neo"/>
                <a:latin typeface="Apple SD Gothic Neo"/>
              </a:rPr>
              <a:t>Explanatory Patterns of Apartment Unit-Area Sale Prices in Seoul Using XGBoost and SHAP</a:t>
            </a:r>
          </a:p>
        </p:txBody>
      </p:sp>
      <p:sp>
        <p:nvSpPr>
          <p:cNvPr id="6" name="Rectangle 5"/>
          <p:cNvSpPr/>
          <p:nvPr/>
        </p:nvSpPr>
        <p:spPr>
          <a:xfrm>
            <a:off x="228600" y="960120"/>
            <a:ext cx="11750040" cy="18288"/>
          </a:xfrm>
          <a:prstGeom prst="rect">
            <a:avLst/>
          </a:prstGeom>
          <a:solidFill>
            <a:srgbClr val="CCCC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1731752" y="6446520"/>
            <a:ext cx="457200" cy="411480"/>
          </a:xfrm>
          <a:prstGeom prst="rect">
            <a:avLst/>
          </a:prstGeom>
          <a:solidFill>
            <a:srgbClr val="2D3E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731752" y="6446520"/>
            <a:ext cx="457200" cy="411480"/>
          </a:xfrm>
          <a:prstGeom prst="rect">
            <a:avLst/>
          </a:prstGeom>
          <a:noFill/>
        </p:spPr>
        <p:txBody>
          <a:bodyPr wrap="square" anchor="ctr" lIns="25400" rIns="25400" tIns="0" bIns="0">
            <a:spAutoFit/>
          </a:bodyPr>
          <a:lstStyle/>
          <a:p>
            <a:pPr algn="ctr">
              <a:lnSpc>
                <a:spcPct val="120000"/>
              </a:lnSpc>
            </a:pPr>
            <a:r>
              <a:rPr sz="1000" b="1">
                <a:solidFill>
                  <a:srgbClr val="FFFFFF"/>
                </a:solidFill>
                <a:ea typeface="Apple SD Gothic Neo"/>
                <a:latin typeface="Apple SD Gothic Neo"/>
              </a:rPr>
              <a:t>17</a:t>
            </a:r>
          </a:p>
        </p:txBody>
      </p:sp>
      <p:pic>
        <p:nvPicPr>
          <p:cNvPr id="9" name="Picture 8" descr="fig12_year_region_heatma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71600" y="1188720"/>
            <a:ext cx="5486400" cy="3864804"/>
          </a:xfrm>
          <a:prstGeom prst="rect">
            <a:avLst/>
          </a:prstGeom>
        </p:spPr>
      </p:pic>
      <p:sp>
        <p:nvSpPr>
          <p:cNvPr id="10" name="Rectangle 9"/>
          <p:cNvSpPr/>
          <p:nvPr/>
        </p:nvSpPr>
        <p:spPr>
          <a:xfrm>
            <a:off x="7315200" y="1188720"/>
            <a:ext cx="4572000" cy="457200"/>
          </a:xfrm>
          <a:prstGeom prst="rect">
            <a:avLst/>
          </a:prstGeom>
          <a:solidFill>
            <a:srgbClr val="4B5D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315200" y="1188720"/>
            <a:ext cx="4572000" cy="457200"/>
          </a:xfrm>
          <a:prstGeom prst="rect">
            <a:avLst/>
          </a:prstGeom>
          <a:noFill/>
        </p:spPr>
        <p:txBody>
          <a:bodyPr wrap="square" anchor="ctr" lIns="25400" rIns="25400" tIns="0" bIns="0">
            <a:spAutoFit/>
          </a:bodyPr>
          <a:lstStyle/>
          <a:p>
            <a:pPr algn="ctr">
              <a:lnSpc>
                <a:spcPct val="120000"/>
              </a:lnSpc>
            </a:pPr>
            <a:r>
              <a:rPr sz="1400" b="1">
                <a:solidFill>
                  <a:srgbClr val="FFFFFF"/>
                </a:solidFill>
                <a:ea typeface="Apple SD Gothic Neo"/>
                <a:latin typeface="Apple SD Gothic Neo"/>
              </a:rPr>
              <a:t>핵심 패턴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315200" y="1783080"/>
            <a:ext cx="4572000" cy="1280160"/>
          </a:xfrm>
          <a:prstGeom prst="rect">
            <a:avLst/>
          </a:prstGeom>
          <a:solidFill>
            <a:srgbClr val="F1F3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498079" y="1874519"/>
            <a:ext cx="4206240" cy="1143000"/>
          </a:xfrm>
          <a:prstGeom prst="rect">
            <a:avLst/>
          </a:prstGeom>
          <a:noFill/>
        </p:spPr>
        <p:txBody>
          <a:bodyPr wrap="square" anchor="ctr" lIns="25400" rIns="2540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>
                <a:solidFill>
                  <a:srgbClr val="333333"/>
                </a:solidFill>
                <a:ea typeface="Apple SD Gothic Neo"/>
                <a:latin typeface="Apple SD Gothic Neo"/>
              </a:rPr>
              <a:t>두 권역 모두 0.92 이상 안정</a:t>
            </a:r>
          </a:p>
          <a:p>
            <a:pPr algn="l">
              <a:lnSpc>
                <a:spcPct val="120000"/>
              </a:lnSpc>
            </a:pPr>
            <a:r>
              <a:rPr sz="1200" b="0">
                <a:solidFill>
                  <a:srgbClr val="333333"/>
                </a:solidFill>
                <a:ea typeface="Apple SD Gothic Neo"/>
                <a:latin typeface="Apple SD Gothic Neo"/>
              </a:rPr>
              <a:t>(2021 비강남 0.919만 예외)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315200" y="3200400"/>
            <a:ext cx="4572000" cy="1280160"/>
          </a:xfrm>
          <a:prstGeom prst="rect">
            <a:avLst/>
          </a:prstGeom>
          <a:solidFill>
            <a:srgbClr val="F1F3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498079" y="3291840"/>
            <a:ext cx="4206240" cy="1143000"/>
          </a:xfrm>
          <a:prstGeom prst="rect">
            <a:avLst/>
          </a:prstGeom>
          <a:noFill/>
        </p:spPr>
        <p:txBody>
          <a:bodyPr wrap="square" anchor="ctr" lIns="25400" rIns="2540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>
                <a:solidFill>
                  <a:srgbClr val="333333"/>
                </a:solidFill>
                <a:ea typeface="Apple SD Gothic Neo"/>
                <a:latin typeface="Apple SD Gothic Neo"/>
              </a:rPr>
              <a:t>2022 R² 동시 0.857 dip</a:t>
            </a:r>
          </a:p>
          <a:p>
            <a:pPr algn="l">
              <a:lnSpc>
                <a:spcPct val="120000"/>
              </a:lnSpc>
            </a:pPr>
            <a:r>
              <a:rPr sz="1200" b="0">
                <a:solidFill>
                  <a:srgbClr val="333333"/>
                </a:solidFill>
                <a:ea typeface="Apple SD Gothic Neo"/>
                <a:latin typeface="Apple SD Gothic Neo"/>
              </a:rPr>
              <a:t>→ 거래 −70% + 금리 1.25→3.25% 급등</a:t>
            </a:r>
          </a:p>
        </p:txBody>
      </p:sp>
      <p:sp>
        <p:nvSpPr>
          <p:cNvPr id="16" name="Rectangle 15"/>
          <p:cNvSpPr/>
          <p:nvPr/>
        </p:nvSpPr>
        <p:spPr>
          <a:xfrm>
            <a:off x="7315200" y="4617720"/>
            <a:ext cx="4572000" cy="1280160"/>
          </a:xfrm>
          <a:prstGeom prst="rect">
            <a:avLst/>
          </a:prstGeom>
          <a:solidFill>
            <a:srgbClr val="F1F3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498079" y="4709159"/>
            <a:ext cx="4206240" cy="1143000"/>
          </a:xfrm>
          <a:prstGeom prst="rect">
            <a:avLst/>
          </a:prstGeom>
          <a:noFill/>
        </p:spPr>
        <p:txBody>
          <a:bodyPr wrap="square" anchor="ctr" lIns="25400" rIns="2540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>
                <a:solidFill>
                  <a:srgbClr val="333333"/>
                </a:solidFill>
                <a:ea typeface="Apple SD Gothic Neo"/>
                <a:latin typeface="Apple SD Gothic Neo"/>
              </a:rPr>
              <a:t>전체 R² 0.892 &gt; 권역별 0.857</a:t>
            </a:r>
          </a:p>
          <a:p>
            <a:pPr algn="l">
              <a:lnSpc>
                <a:spcPct val="120000"/>
              </a:lnSpc>
            </a:pPr>
            <a:r>
              <a:rPr sz="1200" b="0">
                <a:solidFill>
                  <a:srgbClr val="333333"/>
                </a:solidFill>
                <a:ea typeface="Apple SD Gothic Neo"/>
                <a:latin typeface="Apple SD Gothic Neo"/>
              </a:rPr>
              <a:t>→ 권역 간 가격 수준 차로 pooled variance ↑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103120" cy="502920"/>
          </a:xfrm>
          <a:prstGeom prst="rect">
            <a:avLst/>
          </a:prstGeom>
          <a:solidFill>
            <a:srgbClr val="2D3E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37160" y="0"/>
            <a:ext cx="1920240" cy="502920"/>
          </a:xfrm>
          <a:prstGeom prst="rect">
            <a:avLst/>
          </a:prstGeom>
          <a:noFill/>
        </p:spPr>
        <p:txBody>
          <a:bodyPr wrap="square" anchor="ctr" lIns="25400" rIns="2540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500" b="1">
                <a:solidFill>
                  <a:srgbClr val="FFFFFF"/>
                </a:solidFill>
                <a:ea typeface="Apple SD Gothic Neo"/>
                <a:latin typeface="Apple SD Gothic Neo"/>
              </a:rPr>
              <a:t>04. RESULTS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28600" y="548640"/>
            <a:ext cx="4572000" cy="365760"/>
          </a:xfrm>
          <a:prstGeom prst="rect">
            <a:avLst/>
          </a:prstGeom>
          <a:noFill/>
        </p:spPr>
        <p:txBody>
          <a:bodyPr wrap="square" anchor="ctr" lIns="25400" rIns="2540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1">
                <a:solidFill>
                  <a:srgbClr val="2D3E5C"/>
                </a:solidFill>
                <a:ea typeface="Apple SD Gothic Neo"/>
                <a:latin typeface="Apple SD Gothic Neo"/>
              </a:rPr>
              <a:t>연도별 Top 1 SHAP 변수 — 강남 6회 교체 vs 비강남 안정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0" y="91440"/>
            <a:ext cx="7040880" cy="365760"/>
          </a:xfrm>
          <a:prstGeom prst="rect">
            <a:avLst/>
          </a:prstGeom>
          <a:noFill/>
        </p:spPr>
        <p:txBody>
          <a:bodyPr wrap="square" anchor="ctr" lIns="25400" rIns="25400" tIns="0" bIns="0">
            <a:spAutoFit/>
          </a:bodyPr>
          <a:lstStyle/>
          <a:p>
            <a:pPr algn="r">
              <a:lnSpc>
                <a:spcPct val="120000"/>
              </a:lnSpc>
            </a:pPr>
            <a:r>
              <a:rPr sz="1000" b="0">
                <a:solidFill>
                  <a:srgbClr val="777777"/>
                </a:solidFill>
                <a:ea typeface="Apple SD Gothic Neo"/>
                <a:latin typeface="Apple SD Gothic Neo"/>
              </a:rPr>
              <a:t>Explanatory Patterns of Apartment Unit-Area Sale Prices in Seoul Using XGBoost and SHAP</a:t>
            </a:r>
          </a:p>
        </p:txBody>
      </p:sp>
      <p:sp>
        <p:nvSpPr>
          <p:cNvPr id="6" name="Rectangle 5"/>
          <p:cNvSpPr/>
          <p:nvPr/>
        </p:nvSpPr>
        <p:spPr>
          <a:xfrm>
            <a:off x="228600" y="960120"/>
            <a:ext cx="11750040" cy="18288"/>
          </a:xfrm>
          <a:prstGeom prst="rect">
            <a:avLst/>
          </a:prstGeom>
          <a:solidFill>
            <a:srgbClr val="CCCC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1731752" y="6446520"/>
            <a:ext cx="457200" cy="411480"/>
          </a:xfrm>
          <a:prstGeom prst="rect">
            <a:avLst/>
          </a:prstGeom>
          <a:solidFill>
            <a:srgbClr val="2D3E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731752" y="6446520"/>
            <a:ext cx="457200" cy="411480"/>
          </a:xfrm>
          <a:prstGeom prst="rect">
            <a:avLst/>
          </a:prstGeom>
          <a:noFill/>
        </p:spPr>
        <p:txBody>
          <a:bodyPr wrap="square" anchor="ctr" lIns="25400" rIns="25400" tIns="0" bIns="0">
            <a:spAutoFit/>
          </a:bodyPr>
          <a:lstStyle/>
          <a:p>
            <a:pPr algn="ctr">
              <a:lnSpc>
                <a:spcPct val="120000"/>
              </a:lnSpc>
            </a:pPr>
            <a:r>
              <a:rPr sz="1000" b="1">
                <a:solidFill>
                  <a:srgbClr val="FFFFFF"/>
                </a:solidFill>
                <a:ea typeface="Apple SD Gothic Neo"/>
                <a:latin typeface="Apple SD Gothic Neo"/>
              </a:rPr>
              <a:t>18</a:t>
            </a:r>
          </a:p>
        </p:txBody>
      </p:sp>
      <p:pic>
        <p:nvPicPr>
          <p:cNvPr id="9" name="Picture 8" descr="fig13_top1_timelin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1188720"/>
            <a:ext cx="11430000" cy="4143415"/>
          </a:xfrm>
          <a:prstGeom prst="rect">
            <a:avLst/>
          </a:prstGeom>
        </p:spPr>
      </p:pic>
      <p:sp>
        <p:nvSpPr>
          <p:cNvPr id="10" name="Rectangle 9"/>
          <p:cNvSpPr/>
          <p:nvPr/>
        </p:nvSpPr>
        <p:spPr>
          <a:xfrm>
            <a:off x="365760" y="5029200"/>
            <a:ext cx="11430000" cy="1554480"/>
          </a:xfrm>
          <a:prstGeom prst="rect">
            <a:avLst/>
          </a:prstGeom>
          <a:solidFill>
            <a:srgbClr val="F1F3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48640" y="5120640"/>
            <a:ext cx="11064240" cy="365760"/>
          </a:xfrm>
          <a:prstGeom prst="rect">
            <a:avLst/>
          </a:prstGeom>
          <a:noFill/>
        </p:spPr>
        <p:txBody>
          <a:bodyPr wrap="square" anchor="t" lIns="25400" rIns="2540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>
                <a:solidFill>
                  <a:srgbClr val="C8443D"/>
                </a:solidFill>
                <a:ea typeface="Apple SD Gothic Neo"/>
                <a:latin typeface="Apple SD Gothic Neo"/>
              </a:rPr>
              <a:t>핵심 발견 — 권역별 시간 안정성의 차이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5486400"/>
            <a:ext cx="11064240" cy="1097280"/>
          </a:xfrm>
          <a:prstGeom prst="rect">
            <a:avLst/>
          </a:prstGeom>
          <a:noFill/>
        </p:spPr>
        <p:txBody>
          <a:bodyPr wrap="square" lIns="25400" rIns="25400">
            <a:spAutoFit/>
          </a:bodyPr>
          <a:lstStyle/>
          <a:p>
            <a:pPr algn="l">
              <a:lnSpc>
                <a:spcPct val="135000"/>
              </a:lnSpc>
              <a:spcAft>
                <a:spcPts val="400"/>
              </a:spcAft>
            </a:pPr>
            <a:r>
              <a:rPr sz="1100" b="0">
                <a:solidFill>
                  <a:srgbClr val="333333"/>
                </a:solidFill>
                <a:ea typeface="Apple SD Gothic Neo"/>
                <a:latin typeface="Apple SD Gothic Neo"/>
              </a:rPr>
              <a:t>· 강남3구 : 백화점수→건물연령→CCTV→건물연령→종합병원→건물연령→백화점 최근접 — 7년간 6회 교체</a:t>
            </a:r>
          </a:p>
          <a:p>
            <a:pPr algn="l">
              <a:lnSpc>
                <a:spcPct val="135000"/>
              </a:lnSpc>
              <a:spcAft>
                <a:spcPts val="400"/>
              </a:spcAft>
            </a:pPr>
            <a:r>
              <a:rPr sz="1100" b="0">
                <a:solidFill>
                  <a:srgbClr val="333333"/>
                </a:solidFill>
                <a:ea typeface="Apple SD Gothic Neo"/>
                <a:latin typeface="Apple SD Gothic Neo"/>
              </a:rPr>
              <a:t>· 비강남 : 7년 내내 건물연령이 Top1 (2020 어린이집 1회 예외) — 안정적 구조</a:t>
            </a:r>
          </a:p>
          <a:p>
            <a:pPr algn="l">
              <a:lnSpc>
                <a:spcPct val="135000"/>
              </a:lnSpc>
              <a:spcAft>
                <a:spcPts val="400"/>
              </a:spcAft>
            </a:pPr>
            <a:r>
              <a:rPr sz="1100" b="0">
                <a:solidFill>
                  <a:srgbClr val="333333"/>
                </a:solidFill>
                <a:ea typeface="Apple SD Gothic Neo"/>
                <a:latin typeface="Apple SD Gothic Neo"/>
              </a:rPr>
              <a:t>· 단일 SHAP에서 보이지 않던 "권역별 시간 안정성 차이"가 본 연구의 차별 발견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103120" cy="502920"/>
          </a:xfrm>
          <a:prstGeom prst="rect">
            <a:avLst/>
          </a:prstGeom>
          <a:solidFill>
            <a:srgbClr val="2D3E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37160" y="0"/>
            <a:ext cx="1920240" cy="502920"/>
          </a:xfrm>
          <a:prstGeom prst="rect">
            <a:avLst/>
          </a:prstGeom>
          <a:noFill/>
        </p:spPr>
        <p:txBody>
          <a:bodyPr wrap="square" anchor="ctr" lIns="25400" rIns="2540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500" b="1">
                <a:solidFill>
                  <a:srgbClr val="FFFFFF"/>
                </a:solidFill>
                <a:ea typeface="Apple SD Gothic Neo"/>
                <a:latin typeface="Apple SD Gothic Neo"/>
              </a:rPr>
              <a:t>05. CONCLUSION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28600" y="548640"/>
            <a:ext cx="4572000" cy="365760"/>
          </a:xfrm>
          <a:prstGeom prst="rect">
            <a:avLst/>
          </a:prstGeom>
          <a:noFill/>
        </p:spPr>
        <p:txBody>
          <a:bodyPr wrap="square" anchor="ctr" lIns="25400" rIns="2540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1">
                <a:solidFill>
                  <a:srgbClr val="2D3E5C"/>
                </a:solidFill>
                <a:ea typeface="Apple SD Gothic Neo"/>
                <a:latin typeface="Apple SD Gothic Neo"/>
              </a:rPr>
              <a:t>학술·실무 기여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0" y="91440"/>
            <a:ext cx="7040880" cy="365760"/>
          </a:xfrm>
          <a:prstGeom prst="rect">
            <a:avLst/>
          </a:prstGeom>
          <a:noFill/>
        </p:spPr>
        <p:txBody>
          <a:bodyPr wrap="square" anchor="ctr" lIns="25400" rIns="25400" tIns="0" bIns="0">
            <a:spAutoFit/>
          </a:bodyPr>
          <a:lstStyle/>
          <a:p>
            <a:pPr algn="r">
              <a:lnSpc>
                <a:spcPct val="120000"/>
              </a:lnSpc>
            </a:pPr>
            <a:r>
              <a:rPr sz="1000" b="0">
                <a:solidFill>
                  <a:srgbClr val="777777"/>
                </a:solidFill>
                <a:ea typeface="Apple SD Gothic Neo"/>
                <a:latin typeface="Apple SD Gothic Neo"/>
              </a:rPr>
              <a:t>Explanatory Patterns of Apartment Unit-Area Sale Prices in Seoul Using XGBoost and SHAP</a:t>
            </a:r>
          </a:p>
        </p:txBody>
      </p:sp>
      <p:sp>
        <p:nvSpPr>
          <p:cNvPr id="6" name="Rectangle 5"/>
          <p:cNvSpPr/>
          <p:nvPr/>
        </p:nvSpPr>
        <p:spPr>
          <a:xfrm>
            <a:off x="228600" y="960120"/>
            <a:ext cx="11750040" cy="18288"/>
          </a:xfrm>
          <a:prstGeom prst="rect">
            <a:avLst/>
          </a:prstGeom>
          <a:solidFill>
            <a:srgbClr val="CCCC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1731752" y="6446520"/>
            <a:ext cx="457200" cy="411480"/>
          </a:xfrm>
          <a:prstGeom prst="rect">
            <a:avLst/>
          </a:prstGeom>
          <a:solidFill>
            <a:srgbClr val="2D3E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731752" y="6446520"/>
            <a:ext cx="457200" cy="411480"/>
          </a:xfrm>
          <a:prstGeom prst="rect">
            <a:avLst/>
          </a:prstGeom>
          <a:noFill/>
        </p:spPr>
        <p:txBody>
          <a:bodyPr wrap="square" anchor="ctr" lIns="25400" rIns="25400" tIns="0" bIns="0">
            <a:spAutoFit/>
          </a:bodyPr>
          <a:lstStyle/>
          <a:p>
            <a:pPr algn="ctr">
              <a:lnSpc>
                <a:spcPct val="120000"/>
              </a:lnSpc>
            </a:pPr>
            <a:r>
              <a:rPr sz="1000" b="1">
                <a:solidFill>
                  <a:srgbClr val="FFFFFF"/>
                </a:solidFill>
                <a:ea typeface="Apple SD Gothic Neo"/>
                <a:latin typeface="Apple SD Gothic Neo"/>
              </a:rPr>
              <a:t>19</a:t>
            </a:r>
          </a:p>
        </p:txBody>
      </p:sp>
      <p:sp>
        <p:nvSpPr>
          <p:cNvPr id="9" name="Rectangle 8"/>
          <p:cNvSpPr/>
          <p:nvPr/>
        </p:nvSpPr>
        <p:spPr>
          <a:xfrm>
            <a:off x="365760" y="1188720"/>
            <a:ext cx="11430000" cy="868680"/>
          </a:xfrm>
          <a:prstGeom prst="rect">
            <a:avLst/>
          </a:prstGeom>
          <a:solidFill>
            <a:srgbClr val="2D3E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48640" y="1280160"/>
            <a:ext cx="11064240" cy="411480"/>
          </a:xfrm>
          <a:prstGeom prst="rect">
            <a:avLst/>
          </a:prstGeom>
          <a:noFill/>
        </p:spPr>
        <p:txBody>
          <a:bodyPr wrap="square" anchor="t" lIns="25400" rIns="2540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0">
                <a:solidFill>
                  <a:srgbClr val="FFFFFF"/>
                </a:solidFill>
                <a:ea typeface="Apple SD Gothic Neo"/>
                <a:latin typeface="Apple SD Gothic Neo"/>
              </a:rPr>
              <a:t>본 연구의 한 줄 기여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1554480"/>
            <a:ext cx="11064240" cy="457200"/>
          </a:xfrm>
          <a:prstGeom prst="rect">
            <a:avLst/>
          </a:prstGeom>
          <a:noFill/>
        </p:spPr>
        <p:txBody>
          <a:bodyPr wrap="square" anchor="ctr" lIns="25400" rIns="25400" tIns="0" bIns="0">
            <a:spAutoFit/>
          </a:bodyPr>
          <a:lstStyle/>
          <a:p>
            <a:pPr algn="ctr">
              <a:lnSpc>
                <a:spcPct val="120000"/>
              </a:lnSpc>
            </a:pPr>
            <a:r>
              <a:rPr sz="1500" b="1">
                <a:solidFill>
                  <a:srgbClr val="FFFFFF"/>
                </a:solidFill>
                <a:ea typeface="Apple SD Gothic Neo"/>
                <a:latin typeface="Apple SD Gothic Neo"/>
              </a:rPr>
              <a:t>"공간 단위·시간 정합성을 통제한 뒤 예측 신호의 권역×연도 이질성을 설명 가능한 방식으로 검증"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65760" y="2331720"/>
            <a:ext cx="5669280" cy="457200"/>
          </a:xfrm>
          <a:prstGeom prst="rect">
            <a:avLst/>
          </a:prstGeom>
          <a:solidFill>
            <a:srgbClr val="4B5D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65760" y="2331720"/>
            <a:ext cx="5669280" cy="457200"/>
          </a:xfrm>
          <a:prstGeom prst="rect">
            <a:avLst/>
          </a:prstGeom>
          <a:noFill/>
        </p:spPr>
        <p:txBody>
          <a:bodyPr wrap="square" anchor="ctr" lIns="25400" rIns="25400" tIns="0" bIns="0">
            <a:spAutoFit/>
          </a:bodyPr>
          <a:lstStyle/>
          <a:p>
            <a:pPr algn="ctr">
              <a:lnSpc>
                <a:spcPct val="120000"/>
              </a:lnSpc>
            </a:pPr>
            <a:r>
              <a:rPr sz="1400" b="1">
                <a:solidFill>
                  <a:srgbClr val="FFFFFF"/>
                </a:solidFill>
                <a:ea typeface="Apple SD Gothic Neo"/>
                <a:latin typeface="Apple SD Gothic Neo"/>
              </a:rPr>
              <a:t>학술적 기여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" y="2880360"/>
            <a:ext cx="5486400" cy="3200400"/>
          </a:xfrm>
          <a:prstGeom prst="rect">
            <a:avLst/>
          </a:prstGeom>
          <a:noFill/>
        </p:spPr>
        <p:txBody>
          <a:bodyPr wrap="square" lIns="25400" rIns="25400">
            <a:spAutoFit/>
          </a:bodyPr>
          <a:lstStyle/>
          <a:p>
            <a:pPr algn="l">
              <a:lnSpc>
                <a:spcPct val="135000"/>
              </a:lnSpc>
              <a:spcAft>
                <a:spcPts val="400"/>
              </a:spcAft>
            </a:pPr>
            <a:r>
              <a:rPr sz="1200" b="0">
                <a:solidFill>
                  <a:srgbClr val="333333"/>
                </a:solidFill>
                <a:ea typeface="Apple SD Gothic Neo"/>
                <a:latin typeface="Apple SD Gothic Neo"/>
              </a:rPr>
              <a:t>· MAUP 완화의 실증 — 시간순 R² +7.1%p 개선</a:t>
            </a:r>
          </a:p>
          <a:p>
            <a:pPr algn="l">
              <a:lnSpc>
                <a:spcPct val="135000"/>
              </a:lnSpc>
              <a:spcAft>
                <a:spcPts val="400"/>
              </a:spcAft>
            </a:pPr>
            <a:r>
              <a:rPr sz="1200" b="0">
                <a:solidFill>
                  <a:srgbClr val="333333"/>
                </a:solidFill>
                <a:ea typeface="Apple SD Gothic Neo"/>
                <a:latin typeface="Apple SD Gothic Neo"/>
              </a:rPr>
              <a:t>· 시간 정합성의 방법론적 통제 — leakage 제거</a:t>
            </a:r>
          </a:p>
          <a:p>
            <a:pPr algn="l">
              <a:lnSpc>
                <a:spcPct val="135000"/>
              </a:lnSpc>
              <a:spcAft>
                <a:spcPts val="400"/>
              </a:spcAft>
            </a:pPr>
            <a:r>
              <a:rPr sz="1200" b="0">
                <a:solidFill>
                  <a:srgbClr val="333333"/>
                </a:solidFill>
                <a:ea typeface="Apple SD Gothic Neo"/>
                <a:latin typeface="Apple SD Gothic Neo"/>
              </a:rPr>
              <a:t>· 시공간 이질성의 XAI 해석 — 권역×연도 21 SHAP</a:t>
            </a:r>
          </a:p>
          <a:p>
            <a:pPr algn="l">
              <a:lnSpc>
                <a:spcPct val="135000"/>
              </a:lnSpc>
              <a:spcAft>
                <a:spcPts val="400"/>
              </a:spcAft>
            </a:pPr>
            <a:r>
              <a:rPr sz="1200" b="0">
                <a:solidFill>
                  <a:srgbClr val="333333"/>
                </a:solidFill>
                <a:ea typeface="Apple SD Gothic Neo"/>
                <a:latin typeface="Apple SD Gothic Neo"/>
              </a:rPr>
              <a:t>· 발견(insight)형 기여 (algorithm·module 아님)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126480" y="2331720"/>
            <a:ext cx="5669280" cy="457200"/>
          </a:xfrm>
          <a:prstGeom prst="rect">
            <a:avLst/>
          </a:prstGeom>
          <a:solidFill>
            <a:srgbClr val="C844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126480" y="2331720"/>
            <a:ext cx="5669280" cy="457200"/>
          </a:xfrm>
          <a:prstGeom prst="rect">
            <a:avLst/>
          </a:prstGeom>
          <a:noFill/>
        </p:spPr>
        <p:txBody>
          <a:bodyPr wrap="square" anchor="ctr" lIns="25400" rIns="25400" tIns="0" bIns="0">
            <a:spAutoFit/>
          </a:bodyPr>
          <a:lstStyle/>
          <a:p>
            <a:pPr algn="ctr">
              <a:lnSpc>
                <a:spcPct val="120000"/>
              </a:lnSpc>
            </a:pPr>
            <a:r>
              <a:rPr sz="1400" b="1">
                <a:solidFill>
                  <a:srgbClr val="FFFFFF"/>
                </a:solidFill>
                <a:ea typeface="Apple SD Gothic Neo"/>
                <a:latin typeface="Apple SD Gothic Neo"/>
              </a:rPr>
              <a:t>실무·정책 참고점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217920" y="2880360"/>
            <a:ext cx="5486400" cy="3200400"/>
          </a:xfrm>
          <a:prstGeom prst="rect">
            <a:avLst/>
          </a:prstGeom>
          <a:noFill/>
        </p:spPr>
        <p:txBody>
          <a:bodyPr wrap="square" lIns="25400" rIns="25400">
            <a:spAutoFit/>
          </a:bodyPr>
          <a:lstStyle/>
          <a:p>
            <a:pPr algn="l">
              <a:lnSpc>
                <a:spcPct val="135000"/>
              </a:lnSpc>
              <a:spcAft>
                <a:spcPts val="400"/>
              </a:spcAft>
            </a:pPr>
            <a:r>
              <a:rPr sz="1200" b="0">
                <a:solidFill>
                  <a:srgbClr val="333333"/>
                </a:solidFill>
                <a:ea typeface="Apple SD Gothic Neo"/>
                <a:latin typeface="Apple SD Gothic Neo"/>
              </a:rPr>
              <a:t>· AVM 설명가능성 강화 (SHAP 분해)</a:t>
            </a:r>
          </a:p>
          <a:p>
            <a:pPr algn="l">
              <a:lnSpc>
                <a:spcPct val="135000"/>
              </a:lnSpc>
              <a:spcAft>
                <a:spcPts val="400"/>
              </a:spcAft>
            </a:pPr>
            <a:r>
              <a:rPr sz="1200" b="0">
                <a:solidFill>
                  <a:srgbClr val="333333"/>
                </a:solidFill>
                <a:ea typeface="Apple SD Gothic Neo"/>
                <a:latin typeface="Apple SD Gothic Neo"/>
              </a:rPr>
              <a:t>· 권역 맞춤 모형 — 강남/비강남 분리 운용</a:t>
            </a:r>
          </a:p>
          <a:p>
            <a:pPr algn="l">
              <a:lnSpc>
                <a:spcPct val="135000"/>
              </a:lnSpc>
              <a:spcAft>
                <a:spcPts val="400"/>
              </a:spcAft>
            </a:pPr>
            <a:r>
              <a:rPr sz="1200" b="0">
                <a:solidFill>
                  <a:srgbClr val="333333"/>
                </a:solidFill>
                <a:ea typeface="Apple SD Gothic Neo"/>
                <a:latin typeface="Apple SD Gothic Neo"/>
              </a:rPr>
              <a:t>· 국면 전환기 진단 — 2022 dip 사례</a:t>
            </a:r>
          </a:p>
          <a:p>
            <a:pPr algn="l">
              <a:lnSpc>
                <a:spcPct val="135000"/>
              </a:lnSpc>
              <a:spcAft>
                <a:spcPts val="400"/>
              </a:spcAft>
            </a:pPr>
            <a:r>
              <a:rPr sz="1200" b="0">
                <a:solidFill>
                  <a:srgbClr val="333333"/>
                </a:solidFill>
                <a:ea typeface="Apple SD Gothic Neo"/>
                <a:latin typeface="Apple SD Gothic Neo"/>
              </a:rPr>
              <a:t>· 재건축 기대의 비선형 신호 (건물연령 U자)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103120" cy="502920"/>
          </a:xfrm>
          <a:prstGeom prst="rect">
            <a:avLst/>
          </a:prstGeom>
          <a:solidFill>
            <a:srgbClr val="2D3E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37160" y="0"/>
            <a:ext cx="1920240" cy="502920"/>
          </a:xfrm>
          <a:prstGeom prst="rect">
            <a:avLst/>
          </a:prstGeom>
          <a:noFill/>
        </p:spPr>
        <p:txBody>
          <a:bodyPr wrap="square" anchor="ctr" lIns="25400" rIns="2540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500" b="1">
                <a:solidFill>
                  <a:srgbClr val="FFFFFF"/>
                </a:solidFill>
                <a:ea typeface="Apple SD Gothic Neo"/>
                <a:latin typeface="Apple SD Gothic Neo"/>
              </a:rPr>
              <a:t>05. CONCLUSION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28600" y="548640"/>
            <a:ext cx="4572000" cy="365760"/>
          </a:xfrm>
          <a:prstGeom prst="rect">
            <a:avLst/>
          </a:prstGeom>
          <a:noFill/>
        </p:spPr>
        <p:txBody>
          <a:bodyPr wrap="square" anchor="ctr" lIns="25400" rIns="2540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1">
                <a:solidFill>
                  <a:srgbClr val="2D3E5C"/>
                </a:solidFill>
                <a:ea typeface="Apple SD Gothic Neo"/>
                <a:latin typeface="Apple SD Gothic Neo"/>
              </a:rPr>
              <a:t>연구의 한계 · 후속 연구 · 마무리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0" y="91440"/>
            <a:ext cx="7040880" cy="365760"/>
          </a:xfrm>
          <a:prstGeom prst="rect">
            <a:avLst/>
          </a:prstGeom>
          <a:noFill/>
        </p:spPr>
        <p:txBody>
          <a:bodyPr wrap="square" anchor="ctr" lIns="25400" rIns="25400" tIns="0" bIns="0">
            <a:spAutoFit/>
          </a:bodyPr>
          <a:lstStyle/>
          <a:p>
            <a:pPr algn="r">
              <a:lnSpc>
                <a:spcPct val="120000"/>
              </a:lnSpc>
            </a:pPr>
            <a:r>
              <a:rPr sz="1000" b="0">
                <a:solidFill>
                  <a:srgbClr val="777777"/>
                </a:solidFill>
                <a:ea typeface="Apple SD Gothic Neo"/>
                <a:latin typeface="Apple SD Gothic Neo"/>
              </a:rPr>
              <a:t>Explanatory Patterns of Apartment Unit-Area Sale Prices in Seoul Using XGBoost and SHAP</a:t>
            </a:r>
          </a:p>
        </p:txBody>
      </p:sp>
      <p:sp>
        <p:nvSpPr>
          <p:cNvPr id="6" name="Rectangle 5"/>
          <p:cNvSpPr/>
          <p:nvPr/>
        </p:nvSpPr>
        <p:spPr>
          <a:xfrm>
            <a:off x="228600" y="960120"/>
            <a:ext cx="11750040" cy="18288"/>
          </a:xfrm>
          <a:prstGeom prst="rect">
            <a:avLst/>
          </a:prstGeom>
          <a:solidFill>
            <a:srgbClr val="CCCC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1731752" y="6446520"/>
            <a:ext cx="457200" cy="411480"/>
          </a:xfrm>
          <a:prstGeom prst="rect">
            <a:avLst/>
          </a:prstGeom>
          <a:solidFill>
            <a:srgbClr val="2D3E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731752" y="6446520"/>
            <a:ext cx="457200" cy="411480"/>
          </a:xfrm>
          <a:prstGeom prst="rect">
            <a:avLst/>
          </a:prstGeom>
          <a:noFill/>
        </p:spPr>
        <p:txBody>
          <a:bodyPr wrap="square" anchor="ctr" lIns="25400" rIns="25400" tIns="0" bIns="0">
            <a:spAutoFit/>
          </a:bodyPr>
          <a:lstStyle/>
          <a:p>
            <a:pPr algn="ctr">
              <a:lnSpc>
                <a:spcPct val="120000"/>
              </a:lnSpc>
            </a:pPr>
            <a:r>
              <a:rPr sz="1000" b="1">
                <a:solidFill>
                  <a:srgbClr val="FFFFFF"/>
                </a:solidFill>
                <a:ea typeface="Apple SD Gothic Neo"/>
                <a:latin typeface="Apple SD Gothic Neo"/>
              </a:rPr>
              <a:t>20</a:t>
            </a:r>
          </a:p>
        </p:txBody>
      </p:sp>
      <p:sp>
        <p:nvSpPr>
          <p:cNvPr id="9" name="Rectangle 8"/>
          <p:cNvSpPr/>
          <p:nvPr/>
        </p:nvSpPr>
        <p:spPr>
          <a:xfrm>
            <a:off x="365760" y="1188720"/>
            <a:ext cx="5669280" cy="457200"/>
          </a:xfrm>
          <a:prstGeom prst="rect">
            <a:avLst/>
          </a:prstGeom>
          <a:solidFill>
            <a:srgbClr val="C844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65760" y="1188720"/>
            <a:ext cx="5669280" cy="457200"/>
          </a:xfrm>
          <a:prstGeom prst="rect">
            <a:avLst/>
          </a:prstGeom>
          <a:noFill/>
        </p:spPr>
        <p:txBody>
          <a:bodyPr wrap="square" anchor="ctr" lIns="25400" rIns="25400" tIns="0" bIns="0">
            <a:spAutoFit/>
          </a:bodyPr>
          <a:lstStyle/>
          <a:p>
            <a:pPr algn="ctr">
              <a:lnSpc>
                <a:spcPct val="120000"/>
              </a:lnSpc>
            </a:pPr>
            <a:r>
              <a:rPr sz="1400" b="1">
                <a:solidFill>
                  <a:srgbClr val="FFFFFF"/>
                </a:solidFill>
                <a:ea typeface="Apple SD Gothic Neo"/>
                <a:latin typeface="Apple SD Gothic Neo"/>
              </a:rPr>
              <a:t>한계 (정직한 진단)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1737360"/>
            <a:ext cx="5486400" cy="2743200"/>
          </a:xfrm>
          <a:prstGeom prst="rect">
            <a:avLst/>
          </a:prstGeom>
          <a:noFill/>
        </p:spPr>
        <p:txBody>
          <a:bodyPr wrap="square" lIns="25400" rIns="25400">
            <a:spAutoFit/>
          </a:bodyPr>
          <a:lstStyle/>
          <a:p>
            <a:pPr algn="l">
              <a:lnSpc>
                <a:spcPct val="135000"/>
              </a:lnSpc>
              <a:spcAft>
                <a:spcPts val="400"/>
              </a:spcAft>
            </a:pPr>
            <a:r>
              <a:rPr sz="1100" b="0">
                <a:solidFill>
                  <a:srgbClr val="333333"/>
                </a:solidFill>
                <a:ea typeface="Apple SD Gothic Neo"/>
                <a:latin typeface="Apple SD Gothic Neo"/>
              </a:rPr>
              <a:t>· 5 시설군 스냅샷 잔존 (도서관·백화점·대형마트·CCTV·병원)</a:t>
            </a:r>
          </a:p>
          <a:p>
            <a:pPr algn="l">
              <a:lnSpc>
                <a:spcPct val="135000"/>
              </a:lnSpc>
              <a:spcAft>
                <a:spcPts val="400"/>
              </a:spcAft>
            </a:pPr>
            <a:r>
              <a:rPr sz="1100" b="0">
                <a:solidFill>
                  <a:srgbClr val="333333"/>
                </a:solidFill>
                <a:ea typeface="Apple SD Gothic Neo"/>
                <a:latin typeface="Apple SD Gothic Neo"/>
              </a:rPr>
              <a:t>· 도보 추정은 직선거리 × 1.35 / 4 km·h 근사</a:t>
            </a:r>
          </a:p>
          <a:p>
            <a:pPr algn="l">
              <a:lnSpc>
                <a:spcPct val="135000"/>
              </a:lnSpc>
              <a:spcAft>
                <a:spcPts val="400"/>
              </a:spcAft>
            </a:pPr>
            <a:r>
              <a:rPr sz="1100" b="0">
                <a:solidFill>
                  <a:srgbClr val="333333"/>
                </a:solidFill>
                <a:ea typeface="Apple SD Gothic Neo"/>
                <a:latin typeface="Apple SD Gothic Neo"/>
              </a:rPr>
              <a:t>· 거시·정책 변수 미포함 (LTV·DTI·재건축 인허가)</a:t>
            </a:r>
          </a:p>
          <a:p>
            <a:pPr algn="l">
              <a:lnSpc>
                <a:spcPct val="135000"/>
              </a:lnSpc>
              <a:spcAft>
                <a:spcPts val="400"/>
              </a:spcAft>
            </a:pPr>
            <a:r>
              <a:rPr sz="1100" b="0">
                <a:solidFill>
                  <a:srgbClr val="333333"/>
                </a:solidFill>
                <a:ea typeface="Apple SD Gothic Neo"/>
                <a:latin typeface="Apple SD Gothic Neo"/>
              </a:rPr>
              <a:t>· SHAP은 인과 효과 아닌 예측 기여도</a:t>
            </a:r>
          </a:p>
          <a:p>
            <a:pPr algn="l">
              <a:lnSpc>
                <a:spcPct val="135000"/>
              </a:lnSpc>
              <a:spcAft>
                <a:spcPts val="400"/>
              </a:spcAft>
            </a:pPr>
            <a:r>
              <a:rPr sz="1100" b="0">
                <a:solidFill>
                  <a:srgbClr val="333333"/>
                </a:solidFill>
                <a:ea typeface="Apple SD Gothic Neo"/>
                <a:latin typeface="Apple SD Gothic Neo"/>
              </a:rPr>
              <a:t>· 단지 분할 외삽 한계 + 비교 모형 범위 제한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126480" y="1188720"/>
            <a:ext cx="5669280" cy="457200"/>
          </a:xfrm>
          <a:prstGeom prst="rect">
            <a:avLst/>
          </a:prstGeom>
          <a:solidFill>
            <a:srgbClr val="4B5D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126480" y="1188720"/>
            <a:ext cx="5669280" cy="457200"/>
          </a:xfrm>
          <a:prstGeom prst="rect">
            <a:avLst/>
          </a:prstGeom>
          <a:noFill/>
        </p:spPr>
        <p:txBody>
          <a:bodyPr wrap="square" anchor="ctr" lIns="25400" rIns="25400" tIns="0" bIns="0">
            <a:spAutoFit/>
          </a:bodyPr>
          <a:lstStyle/>
          <a:p>
            <a:pPr algn="ctr">
              <a:lnSpc>
                <a:spcPct val="120000"/>
              </a:lnSpc>
            </a:pPr>
            <a:r>
              <a:rPr sz="1400" b="1">
                <a:solidFill>
                  <a:srgbClr val="FFFFFF"/>
                </a:solidFill>
                <a:ea typeface="Apple SD Gothic Neo"/>
                <a:latin typeface="Apple SD Gothic Neo"/>
              </a:rPr>
              <a:t>후속 연구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217920" y="1737360"/>
            <a:ext cx="5486400" cy="2743200"/>
          </a:xfrm>
          <a:prstGeom prst="rect">
            <a:avLst/>
          </a:prstGeom>
          <a:noFill/>
        </p:spPr>
        <p:txBody>
          <a:bodyPr wrap="square" lIns="25400" rIns="25400">
            <a:spAutoFit/>
          </a:bodyPr>
          <a:lstStyle/>
          <a:p>
            <a:pPr algn="l">
              <a:lnSpc>
                <a:spcPct val="135000"/>
              </a:lnSpc>
              <a:spcAft>
                <a:spcPts val="400"/>
              </a:spcAft>
            </a:pPr>
            <a:r>
              <a:rPr sz="1100" b="0">
                <a:solidFill>
                  <a:srgbClr val="333333"/>
                </a:solidFill>
                <a:ea typeface="Apple SD Gothic Neo"/>
                <a:latin typeface="Apple SD Gothic Neo"/>
              </a:rPr>
              <a:t>· 정밀 보행 네트워크 거리 (OSRM·ORS) 검증</a:t>
            </a:r>
          </a:p>
          <a:p>
            <a:pPr algn="l">
              <a:lnSpc>
                <a:spcPct val="135000"/>
              </a:lnSpc>
              <a:spcAft>
                <a:spcPts val="400"/>
              </a:spcAft>
            </a:pPr>
            <a:r>
              <a:rPr sz="1100" b="0">
                <a:solidFill>
                  <a:srgbClr val="333333"/>
                </a:solidFill>
                <a:ea typeface="Apple SD Gothic Neo"/>
                <a:latin typeface="Apple SD Gothic Neo"/>
              </a:rPr>
              <a:t>· 시설 개폐업 완전 패널 + 정책 이벤트 결합</a:t>
            </a:r>
          </a:p>
          <a:p>
            <a:pPr algn="l">
              <a:lnSpc>
                <a:spcPct val="135000"/>
              </a:lnSpc>
              <a:spcAft>
                <a:spcPts val="400"/>
              </a:spcAft>
            </a:pPr>
            <a:r>
              <a:rPr sz="1100" b="0">
                <a:solidFill>
                  <a:srgbClr val="333333"/>
                </a:solidFill>
                <a:ea typeface="Apple SD Gothic Neo"/>
                <a:latin typeface="Apple SD Gothic Neo"/>
              </a:rPr>
              <a:t>· 반복매매 지수와의 교차검증</a:t>
            </a:r>
          </a:p>
          <a:p>
            <a:pPr algn="l">
              <a:lnSpc>
                <a:spcPct val="135000"/>
              </a:lnSpc>
              <a:spcAft>
                <a:spcPts val="400"/>
              </a:spcAft>
            </a:pPr>
            <a:r>
              <a:rPr sz="1100" b="0">
                <a:solidFill>
                  <a:srgbClr val="333333"/>
                </a:solidFill>
                <a:ea typeface="Apple SD Gothic Neo"/>
                <a:latin typeface="Apple SD Gothic Neo"/>
              </a:rPr>
              <a:t>· LightGBM·CatBoost·TabNet과의 비교</a:t>
            </a:r>
          </a:p>
          <a:p>
            <a:pPr algn="l">
              <a:lnSpc>
                <a:spcPct val="135000"/>
              </a:lnSpc>
              <a:spcAft>
                <a:spcPts val="400"/>
              </a:spcAft>
            </a:pPr>
            <a:r>
              <a:rPr sz="1100" b="0">
                <a:solidFill>
                  <a:srgbClr val="333333"/>
                </a:solidFill>
                <a:ea typeface="Apple SD Gothic Neo"/>
                <a:latin typeface="Apple SD Gothic Neo"/>
              </a:rPr>
              <a:t>· 수도권·지방 대도시 외적 타당성 검증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65760" y="5852160"/>
            <a:ext cx="11430000" cy="457200"/>
          </a:xfrm>
          <a:prstGeom prst="rect">
            <a:avLst/>
          </a:prstGeom>
          <a:noFill/>
        </p:spPr>
        <p:txBody>
          <a:bodyPr wrap="square" anchor="t" lIns="25400" rIns="25400" tIns="0" bIns="0">
            <a:spAutoFit/>
          </a:bodyPr>
          <a:lstStyle/>
          <a:p>
            <a:pPr algn="ctr">
              <a:lnSpc>
                <a:spcPct val="120000"/>
              </a:lnSpc>
            </a:pPr>
            <a:r>
              <a:rPr sz="2200" b="1">
                <a:solidFill>
                  <a:srgbClr val="2D3E5C"/>
                </a:solidFill>
                <a:ea typeface="Apple SD Gothic Neo"/>
                <a:latin typeface="Apple SD Gothic Neo"/>
              </a:rPr>
              <a:t>감사합니다 · Q &amp; A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