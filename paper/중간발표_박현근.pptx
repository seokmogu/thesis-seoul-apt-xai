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[표지 · 약 30초]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안녕하세요. 한양대학교 부동산융합대학원 석사 과정 박현근입니다.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"XGBoost와 SHAP을 활용한 서울시 아파트 단위면적당 매매가격의 설명 패턴 분석"이라는 주제로 중간발표를 진행하겠습니다.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본 연구는 거리 기반 입지 변수, 연도별 시점 정합, 그리고 권역×연도 SHAP 분해 세 축을 결합한 분석입니다. 5분 정도 핵심만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[연구 배경 · 약 50초]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본 연구의 동기는 세 층위입니다.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첫째, 실무·제도 층위입니다. 자동감정평가 AVM의 실무 확산이 가속화되면서, "왜 이 가격인가"를 재현 가능하게 설명할 해석 프레임워크가 요구되고 있습니다.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둘째, 학술 층위입니다. 기존 ML 부동산 연구는 자치구 단위의 거친 공간 단위, 시간역전 정보누수, 단일 SHAP 해석에 머무르는 세 공백을 공유합니다.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셋째, 시장 국면 층위입니다. 2019년부터 2025년까지의 7년은 유동성 주도 급등, 금리 충격 조정, 완만한 회복을 단일 기간 안에 포함합니다.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이로부터 공간 정합·시간 정합·시공간 이질성·해석 프레임워크라는 네 가지 연구 질문을 도출했습니다.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[데이터와 방법 · 약 60초]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분석 대상은 서울 215개 행정동의 39만 1천여 거래입니다.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8천 6백여 개 아파트 단지를 카카오 Local API로 지오코딩해 거래 100% 좌표 커버리지를 확보했습니다.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13개 시설군에 대해 최근접 직선거리, 반경 500m·1km·2km 개수, 그리고 도보 추정 시간 네 축을 산출했습니다.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시점 정합은 학교, 학원, 어린이집, 공원, 근린시설, 지하철 6개 군에 대해 거래 연도별 활동 시설만 필터링한 스냅샷을 만들었습니다.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종속변수는 단위면적당 가격에 자연로그를 취해 규모효과를 정규화했고, 이는 교수님 피드백을 직접 반영한 부분입니다.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모형은 OLS, 랜덤포레스트, XGBoost를 무작위·단지 그룹·시간순 세 분할에서 비교했고, SHAP은 전체·권역·연도·연도×권역의 네 단면으로 분해했습니다.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어블레이션은 행정동만, 거리만 시점무관, 거리+시점, 거리+시점+행정동 통합 네 시나리오로 설계했습니다.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[어블레이션 결과 · 약 50초]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어블레이션 분석에서 시나리오 A는 행정동 집계만, B는 거리 변수에 시점 무관, C는 거리에 시점 정합, D는 셋을 모두 통합한 모형입니다.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첫 번째 핵심 결과는, 거리 변환 단독으로 시간순 R²가 5.6 퍼센트포인트 개선됐다는 것입니다. 즉 MAUP 완화 효과가 가장 큰 동인입니다.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두 번째는, 시점 정합 단독 R² 효과는 0.5 퍼센트포인트 이내로 매우 작습니다. 이는 시점 정합이 R² 개선이 아니라 미래 시설 정보 누수를 제거하는 방법론적 타당성 확보에 기여한다는 의미로 해석합니다.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세 번째는 통합 D 모형이 무작위, 시간순, 단지 그룹 모든 분할에서 최고 성능을 보였다는 점입니다. 시간순 분할 R²는 0.871로 행정동 집계 대비 7.1 퍼센트포인트 개선됐습니다.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[권역×연도 SHAP · 약 60초]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왼쪽은 연도×권역 R² 히트맵입니다. 두 권역 모두 2022년에 0.857로 동시에 dip을 보이고, 다른 해는 대체로 0.92 이상으로 안정적입니다.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2022년의 동시 저하는 거래량 70% 감소와 기준금리 1.25에서 3.25 퍼센트 급등이 동반된 조정기 영향으로 해석됩니다.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오른쪽은 연도별 Top 1 변수 변화입니다.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강남3구의 Top 1 변수는 백화점수, 건물연령, CCTV, 건물연령, 종합병원 최근접, 건물연령, 백화점 최근접 순으로 7년간 6번 바뀝니다.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반면 비강남은 거의 매년 건물연령이 1위를 차지해 7년 안정적인 구조를 보입니다.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이는 두 권역의 가격 설명 신호가 서로 다른 시간 안정성을 가진다는 의미이며, 단일 SHAP 분석에서는 보이지 않던 새로운 발견입니다.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[전체 SHAP과 비선형 · 약 30초]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전체 모형 SHAP Top 5는 강남구분 12.5%, 건물연령 10.4%, M2 통화량 9.8%, 전용면적 7.8%, 어린이집 1km 내 개수 6.4%입니다.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상위 15개 중 8개, 53%가 거리 기반 변수입니다. 행정동 단순 집계 방식에서 가려져 있던 미시 입지 신호가 거리 기반 설계에서 전면에 드러난 것이며, MAUP 완화 효과의 실증입니다.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오른쪽은 건물연령 SHAP Dependence Plot입니다. 25에서 30년 구간에서 반등하는 U자형 비선형 패턴은 재건축 기대 신호로, OLS 선형 가정으로는 포착되지 않는 부분입니다.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[한계와 후속 연구 · 약 30초]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한계는 다섯 가지입니다.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첫째, 도서관·백화점·대형마트·CCTV·병원 5개 군이 2026년 스냅샷이라 시점 정합이 미완성입니다.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둘째, 도보 시간은 직선거리 1.35배 보정 근사이며 실제 보행 네트워크 거리가 아닙니다.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셋째, 거시·정책 변수(LTV·DTI·DSR·재건축 인허가)가 미포함입니다.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넷째, SHAP은 인과 효과가 아닌 예측 기여도입니다.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다섯째, 단지 그룹 분할 R²가 낮아 미관측 신규 단지 외삽 한계가 있습니다.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후속 연구로는 정밀 보행 네트워크 거리 검증, 시설 개폐업 완전 패널, 정책 이벤트 결합, 딥러닝 비교, 외적 타당성 검증을 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[마무리 · 약 30초]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본 연구의 기여를 한 줄로 정리하면, 공간 단위와 시간 정합성을 통제한 뒤 예측 신호의 권역×연도 이질성을 설명 가능한 방식으로 검증한 연구입니다.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교수님 피드백에 대한 정량 답변으로 도서관 도보 중앙값은 12.0분으로 생활SOC 도보권에 해당하고, 백화점은 38.5분으로 도보권 밖, 시간 변동은 6개 시설군에 연도별 활동 스냅샷을 적용해 다뤘습니다.</a:t>
            </a:r>
          </a:p>
          <a:p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이상으로 발표를 마치겠습니다. 감사합니다.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7A7A7A"/>
                </a:solidFill>
                <a:ea typeface="Apple SD Gothic Neo"/>
                <a:latin typeface="Apple SD Gothic Neo"/>
              </a:rPr>
              <a:t>한양대학교 부동산융합대학원 석사학위논문 (중간발표)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93939"/>
                </a:solidFill>
                <a:ea typeface="Apple SD Gothic Neo"/>
                <a:latin typeface="Apple SD Gothic Neo"/>
              </a:rPr>
              <a:t>XGBoost와 SHAP을 활용한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393939"/>
                </a:solidFill>
                <a:ea typeface="Apple SD Gothic Neo"/>
                <a:latin typeface="Apple SD Gothic Neo"/>
              </a:rPr>
              <a:t>서울시 아파트 단위면적당 매매가격의 설명 패턴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93939"/>
                </a:solidFill>
                <a:ea typeface="Apple SD Gothic Neo"/>
                <a:latin typeface="Apple SD Gothic Neo"/>
              </a:rPr>
              <a:t>— 거리 기반 입지 변수 · 연도별 시점 정합 · 권역×연도 SHAP 분해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393939"/>
                </a:solidFill>
                <a:ea typeface="Apple SD Gothic Neo"/>
                <a:latin typeface="Apple SD Gothic Neo"/>
              </a:rPr>
              <a:t>도시부동산정책전공  박현근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93939"/>
                </a:solidFill>
                <a:ea typeface="Apple SD Gothic Neo"/>
                <a:latin typeface="Apple SD Gothic Neo"/>
              </a:rPr>
              <a:t>지도교수  고준호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80760"/>
            <a:ext cx="1097280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2026. 04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0972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393939"/>
                </a:solidFill>
                <a:ea typeface="Apple SD Gothic Neo"/>
                <a:latin typeface="Apple SD Gothic Neo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93939"/>
                </a:solidFill>
                <a:ea typeface="Apple SD Gothic Neo"/>
                <a:latin typeface="Apple SD Gothic Neo"/>
              </a:rPr>
              <a:t>연구 배경 — 왜 이 주제인가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13232"/>
            <a:ext cx="11430000" cy="18288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93939"/>
                </a:solidFill>
                <a:ea typeface="Apple SD Gothic Neo"/>
                <a:latin typeface="Apple SD Gothic Neo"/>
              </a:rPr>
              <a:t>세 가지 층위의 동기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566160" cy="36576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37360"/>
            <a:ext cx="32004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393939"/>
                </a:solidFill>
                <a:ea typeface="Apple SD Gothic Neo"/>
                <a:latin typeface="Apple SD Gothic Neo"/>
              </a:rPr>
              <a:t>실무·제도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68880"/>
            <a:ext cx="320040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AVM 확산 가속, 감정평가·은행·세무에 “왜 이 가격인가”를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설명할 해석 프레임워크 요구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554480"/>
            <a:ext cx="3566160" cy="36576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37360"/>
            <a:ext cx="32004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393939"/>
                </a:solidFill>
                <a:ea typeface="Apple SD Gothic Neo"/>
                <a:latin typeface="Apple SD Gothic Neo"/>
              </a:rPr>
              <a:t>학술 공백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20040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국내 ML 부동산 연구의 세 공백: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공간 단위 거침(MAUP) · 시간역전 누수 · 단일 SHAP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59" y="1554480"/>
            <a:ext cx="3566160" cy="36576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39" y="1737360"/>
            <a:ext cx="32004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393939"/>
                </a:solidFill>
                <a:ea typeface="Apple SD Gothic Neo"/>
                <a:latin typeface="Apple SD Gothic Neo"/>
              </a:rPr>
              <a:t>시장 국면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9" y="2468880"/>
            <a:ext cx="320040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2019~2025: 유동성 급등(2020-21) → 금리 충격 조정(2022)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→ 완만한 회복(2023-25)을 단일 기간에 포함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D62728"/>
                </a:solidFill>
                <a:ea typeface="Apple SD Gothic Neo"/>
                <a:latin typeface="Apple SD Gothic Neo"/>
              </a:rPr>
              <a:t>→ Q1 공간 정합 · Q2 시간 정합 · Q3 시공간 이질성 · Q4 해석 프레임워크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A7A"/>
                </a:solidFill>
                <a:ea typeface="Apple SD Gothic Neo"/>
                <a:latin typeface="Apple SD Gothic Neo"/>
              </a:rPr>
              <a:t>한양대학교 부동산융합대학원 · 박현근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0972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393939"/>
                </a:solidFill>
                <a:ea typeface="Apple SD Gothic Neo"/>
                <a:latin typeface="Apple SD Gothic Neo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93939"/>
                </a:solidFill>
                <a:ea typeface="Apple SD Gothic Neo"/>
                <a:latin typeface="Apple SD Gothic Neo"/>
              </a:rPr>
              <a:t>데이터와 방법 — 거리 기반 + 시점 정합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13232"/>
            <a:ext cx="11430000" cy="18288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393939"/>
                </a:solidFill>
                <a:ea typeface="Apple SD Gothic Neo"/>
                <a:latin typeface="Apple SD Gothic Neo"/>
              </a:rPr>
              <a:t>서울 215개 행정동 · 391,826 거래 (2019.01~2025.12)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• 아파트 단지 8,601개 Kakao Local API 지오코딩 (거래건수 기준 100% 커버)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• 13 시설군 거리 기반 변수: 최근접거리(m) + 반경 500m/1km/2km 개수 + 도보 추정 시간(분)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• 시점 정합: 학교·학원·어린이집·공원·근린시설·지하철 6군에 대해 연도별 활동 스냅샷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• 종속변수: log(㎡당 거래가격) — 규모효과 정규화 (교수 피드백 반영)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• 모형: OLS·Random Forest·XGBoost — 무작위·단지 Group·시간순 세 분할 검증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• SHAP 분해: 전체·권역(강남3구/비강남)·연도·연도×권역(21 서브모델)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0">
                <a:solidFill>
                  <a:srgbClr val="393939"/>
                </a:solidFill>
                <a:ea typeface="Apple SD Gothic Neo"/>
                <a:latin typeface="Apple SD Gothic Neo"/>
              </a:rPr>
              <a:t>• 어블레이션 4 시나리오: A 행정동만 / B 거리·시점무관 / C 거리+시점 / D 통합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A7A"/>
                </a:solidFill>
                <a:ea typeface="Apple SD Gothic Neo"/>
                <a:latin typeface="Apple SD Gothic Neo"/>
              </a:rPr>
              <a:t>한양대학교 부동산융합대학원 · 박현근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0972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393939"/>
                </a:solidFill>
                <a:ea typeface="Apple SD Gothic Neo"/>
                <a:latin typeface="Apple SD Gothic Neo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93939"/>
                </a:solidFill>
                <a:ea typeface="Apple SD Gothic Neo"/>
                <a:latin typeface="Apple SD Gothic Neo"/>
              </a:rPr>
              <a:t>어블레이션 — 거리 전환이 시간순 R² +7.1%p 개선 견인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13232"/>
            <a:ext cx="11430000" cy="18288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10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7132320" cy="38780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097280"/>
            <a:ext cx="4023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393939"/>
                </a:solidFill>
                <a:ea typeface="Apple SD Gothic Neo"/>
                <a:latin typeface="Apple SD Gothic Neo"/>
              </a:rPr>
              <a:t>핵심 발견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A→B 거리 변환만으로 시간순 +5.6%p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B→C 시점 정합 단독 R² 효과는 작음 (~0.5%p)
  → 성능이 아니라 미래 시점 정보의
     누수 제거(방법론적 타당성)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D 통합(거리+시점+행정동)이 무작위·시간순·
Group 세 분할 모두에서 최고 성능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단지 Group: A 0.777 → B 0.727(일시 하락)
→ D 0.804(거리·행정동 보완)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A7A"/>
                </a:solidFill>
                <a:ea typeface="Apple SD Gothic Neo"/>
                <a:latin typeface="Apple SD Gothic Neo"/>
              </a:rPr>
              <a:t>한양대학교 부동산융합대학원 · 박현근 ·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0972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393939"/>
                </a:solidFill>
                <a:ea typeface="Apple SD Gothic Neo"/>
                <a:latin typeface="Apple SD Gothic Neo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93939"/>
                </a:solidFill>
                <a:ea typeface="Apple SD Gothic Neo"/>
                <a:latin typeface="Apple SD Gothic Neo"/>
              </a:rPr>
              <a:t>권역×연도 SHAP — 강남 변동 vs 비강남 안정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13232"/>
            <a:ext cx="11430000" cy="18288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12_year_reg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029200" cy="3566826"/>
          </a:xfrm>
          <a:prstGeom prst="rect">
            <a:avLst/>
          </a:prstGeom>
        </p:spPr>
      </p:pic>
      <p:pic>
        <p:nvPicPr>
          <p:cNvPr id="6" name="Picture 5" descr="fig13_top1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914400"/>
            <a:ext cx="5943600" cy="22017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206240"/>
            <a:ext cx="54864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93939"/>
                </a:solidFill>
                <a:ea typeface="Apple SD Gothic Neo"/>
                <a:latin typeface="Apple SD Gothic Neo"/>
              </a:rPr>
              <a:t>R² 7년×3권역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393939"/>
                </a:solidFill>
                <a:ea typeface="Apple SD Gothic Neo"/>
                <a:latin typeface="Apple SD Gothic Neo"/>
              </a:rPr>
              <a:t>• 두 권역 모두 0.92 이상 안정 (2022 dip 0.857)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393939"/>
                </a:solidFill>
                <a:ea typeface="Apple SD Gothic Neo"/>
                <a:latin typeface="Apple SD Gothic Neo"/>
              </a:rPr>
              <a:t>• 2022 거래 70% 감소 + 금리 1.25→3.25% 급등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206240"/>
            <a:ext cx="59436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93939"/>
                </a:solidFill>
                <a:ea typeface="Apple SD Gothic Neo"/>
                <a:latin typeface="Apple SD Gothic Neo"/>
              </a:rPr>
              <a:t>Top 1 연도별 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4572000"/>
            <a:ext cx="5943600" cy="18288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393939"/>
                </a:solidFill>
                <a:ea typeface="Apple SD Gothic Neo"/>
                <a:latin typeface="Apple SD Gothic Neo"/>
              </a:rPr>
              <a:t>• 강남: 백화점수→건물연령→CCTV→건물연령
→종합병원→건물연령→백화점 최근접 (6회 교체)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393939"/>
                </a:solidFill>
                <a:ea typeface="Apple SD Gothic Neo"/>
                <a:latin typeface="Apple SD Gothic Neo"/>
              </a:rPr>
              <a:t>• 비강남: 건물연령 일관(2020 어린이집 1회)
— 7년 안정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A7A"/>
                </a:solidFill>
                <a:ea typeface="Apple SD Gothic Neo"/>
                <a:latin typeface="Apple SD Gothic Neo"/>
              </a:rPr>
              <a:t>한양대학교 부동산융합대학원 · 박현근 ·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0972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393939"/>
                </a:solidFill>
                <a:ea typeface="Apple SD Gothic Neo"/>
                <a:latin typeface="Apple SD Gothic Neo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93939"/>
                </a:solidFill>
                <a:ea typeface="Apple SD Gothic Neo"/>
                <a:latin typeface="Apple SD Gothic Neo"/>
              </a:rPr>
              <a:t>전체 SHAP과 비선형 패턴 — 거리 변수가 상위 50%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13232"/>
            <a:ext cx="11430000" cy="18288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4_sh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669280" cy="4390976"/>
          </a:xfrm>
          <a:prstGeom prst="rect">
            <a:avLst/>
          </a:prstGeom>
        </p:spPr>
      </p:pic>
      <p:pic>
        <p:nvPicPr>
          <p:cNvPr id="6" name="Picture 5" descr="fig6_dep_건물연령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914400"/>
            <a:ext cx="5486400" cy="37791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212080"/>
            <a:ext cx="56692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Top 5: 강남 12.5 · 건물연령 10.4 · M2 9.8 · 면적 7.8 · 어린이집 1km 6.4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212080"/>
            <a:ext cx="54864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93939"/>
                </a:solidFill>
                <a:ea typeface="Apple SD Gothic Neo"/>
                <a:latin typeface="Apple SD Gothic Neo"/>
              </a:rPr>
              <a:t>건물연령 25~30년 구간 U자형 — 재건축 기대 신호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D62728"/>
                </a:solidFill>
                <a:ea typeface="Apple SD Gothic Neo"/>
                <a:latin typeface="Apple SD Gothic Neo"/>
              </a:rPr>
              <a:t>→ 상위 15 중 8개(53%)가 거리 기반 변수: MAUP 완화 효과 실증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A7A"/>
                </a:solidFill>
                <a:ea typeface="Apple SD Gothic Neo"/>
                <a:latin typeface="Apple SD Gothic Neo"/>
              </a:rPr>
              <a:t>한양대학교 부동산융합대학원 · 박현근 ·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09728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393939"/>
                </a:solidFill>
                <a:ea typeface="Apple SD Gothic Neo"/>
                <a:latin typeface="Apple SD Gothic Neo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"/>
            <a:ext cx="10515600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93939"/>
                </a:solidFill>
                <a:ea typeface="Apple SD Gothic Neo"/>
                <a:latin typeface="Apple SD Gothic Neo"/>
              </a:rPr>
              <a:t>한계와 후속 연구 — 정직한 진단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713232"/>
            <a:ext cx="11430000" cy="18288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4864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62728"/>
                </a:solidFill>
                <a:ea typeface="Apple SD Gothic Neo"/>
                <a:latin typeface="Apple SD Gothic Neo"/>
              </a:rPr>
              <a:t>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486400" cy="45720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도서관·백화점·대형마트·CCTV·병원 5군은 2026 스냅샷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도보 시간은 직선거리 × 1.35 / 4km/h 근사 (네트워크 라우팅 아님)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거시·정책 변수(LTV·DTI·DSR·재건축 인허가) 미포함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SHAP은 인과 효과가 아닌 예측 기여도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Group 분할 R² 하락 — 미관측 신규 단지 외삽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914400"/>
            <a:ext cx="54864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393939"/>
                </a:solidFill>
                <a:ea typeface="Apple SD Gothic Neo"/>
                <a:latin typeface="Apple SD Gothic Neo"/>
              </a:rPr>
              <a:t>후속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정밀 보행 네트워크 거리 (OSRM/ORS/상용 API) 민감도 분석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시설 개폐업 완전 패널 + 정책 이벤트 결합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반복매매 지수와의 교차검증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딥러닝(TabNet, Transformer)·LIME/ALE/PI 비교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수도권·지방 대도시로 확장 (외적 타당성)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A7A"/>
                </a:solidFill>
                <a:ea typeface="Apple SD Gothic Neo"/>
                <a:latin typeface="Apple SD Gothic Neo"/>
              </a:rPr>
              <a:t>한양대학교 부동산융합대학원 · 박현근 ·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1430000" cy="18288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7A7A7A"/>
                </a:solidFill>
                <a:ea typeface="Apple SD Gothic Neo"/>
                <a:latin typeface="Apple SD Gothic Neo"/>
              </a:rPr>
              <a:t>본 연구의 기여 한 줄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393939"/>
                </a:solidFill>
                <a:ea typeface="Apple SD Gothic Neo"/>
                <a:latin typeface="Apple SD Gothic Neo"/>
              </a:rPr>
              <a:t>"공간 단위·시간 정합성을 통제한 뒤,</a:t>
            </a:r>
          </a:p>
          <a:p>
            <a:pPr algn="l">
              <a:lnSpc>
                <a:spcPct val="125000"/>
              </a:lnSpc>
            </a:pPr>
            <a:r>
              <a:rPr sz="3000" b="1">
                <a:solidFill>
                  <a:srgbClr val="393939"/>
                </a:solidFill>
                <a:ea typeface="Apple SD Gothic Neo"/>
                <a:latin typeface="Apple SD Gothic Neo"/>
              </a:rPr>
              <a:t>예측 신호의 권역×연도 이질성을</a:t>
            </a:r>
          </a:p>
          <a:p>
            <a:pPr algn="l">
              <a:lnSpc>
                <a:spcPct val="125000"/>
              </a:lnSpc>
            </a:pPr>
            <a:r>
              <a:rPr sz="3000" b="1">
                <a:solidFill>
                  <a:srgbClr val="393939"/>
                </a:solidFill>
                <a:ea typeface="Apple SD Gothic Neo"/>
                <a:latin typeface="Apple SD Gothic Neo"/>
              </a:rPr>
              <a:t>설명 가능한 방식으로 검증한 연구"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393939"/>
                </a:solidFill>
                <a:ea typeface="Apple SD Gothic Neo"/>
                <a:latin typeface="Apple SD Gothic Neo"/>
              </a:rPr>
              <a:t>교수 피드백 정량 답변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972800" cy="128016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도서관 도보 → 중앙값 12.0분 (생활SOC 도보권)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백화점 조건 → 중앙값 38.5분 (도보권 밖, 차량권 프리미엄)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393939"/>
                </a:solidFill>
                <a:ea typeface="Apple SD Gothic Neo"/>
                <a:latin typeface="Apple SD Gothic Neo"/>
              </a:rPr>
              <a:t>• 시간 변동 → 6 시설군 연도별 활동 스냅샷, 5 시설군은 한계로 명시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393939"/>
                </a:solidFill>
                <a:ea typeface="Apple SD Gothic Neo"/>
                <a:latin typeface="Apple SD Gothic Neo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