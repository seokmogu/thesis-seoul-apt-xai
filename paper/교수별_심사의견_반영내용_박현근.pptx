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62B43"/>
          </a:solidFill>
          <a:ln w="12700">
            <a:solidFill>
              <a:srgbClr val="262B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AEB4C0"/>
          </a:solidFill>
          <a:ln w="12700">
            <a:solidFill>
              <a:srgbClr val="AEB4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0"/>
            <a:ext cx="685800" cy="658368"/>
          </a:xfrm>
          <a:prstGeom prst="rect">
            <a:avLst/>
          </a:prstGeom>
          <a:solidFill>
            <a:srgbClr val="E6E8ED"/>
          </a:solidFill>
          <a:ln w="12700">
            <a:solidFill>
              <a:srgbClr val="E6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81360" y="0"/>
            <a:ext cx="685800" cy="658368"/>
          </a:xfrm>
          <a:prstGeom prst="rect">
            <a:avLst/>
          </a:prstGeom>
          <a:solidFill>
            <a:srgbClr val="C8CCD5"/>
          </a:solidFill>
          <a:ln w="12700">
            <a:solidFill>
              <a:srgbClr val="C8CC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67160" y="0"/>
            <a:ext cx="621792" cy="658368"/>
          </a:xfrm>
          <a:prstGeom prst="rect">
            <a:avLst/>
          </a:prstGeom>
          <a:solidFill>
            <a:srgbClr val="262B43"/>
          </a:solidFill>
          <a:ln w="12700">
            <a:solidFill>
              <a:srgbClr val="262B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14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D3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심사 의견 반영 내용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58952" y="89611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158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조미정 교수님 (1)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58952" y="1298448"/>
            <a:ext cx="10744200" cy="0"/>
          </a:xfrm>
          <a:prstGeom prst="line">
            <a:avLst/>
          </a:prstGeom>
          <a:noFill/>
          <a:ln w="15240">
            <a:solidFill>
              <a:srgbClr val="AEB4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9326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D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음성 전사, 수정 PDF·스캔, 참고논문·한양대 양식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58952" y="1572768"/>
            <a:ext cx="10744200" cy="4206240"/>
          </a:xfrm>
          <a:prstGeom prst="rect">
            <a:avLst/>
          </a:prstGeom>
          <a:solidFill>
            <a:srgbClr val="FFFFFF"/>
          </a:solidFill>
          <a:ln w="8890">
            <a:solidFill>
              <a:srgbClr val="B7BD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1572768"/>
            <a:ext cx="4343400" cy="475488"/>
          </a:xfrm>
          <a:prstGeom prst="rect">
            <a:avLst/>
          </a:prstGeom>
          <a:solidFill>
            <a:srgbClr val="DCEBEC"/>
          </a:solidFill>
          <a:ln w="8890">
            <a:solidFill>
              <a:srgbClr val="B7BD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1700784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심사 의견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02352" y="1572768"/>
            <a:ext cx="5440680" cy="475488"/>
          </a:xfrm>
          <a:prstGeom prst="rect">
            <a:avLst/>
          </a:prstGeom>
          <a:solidFill>
            <a:srgbClr val="DCEBEC"/>
          </a:solidFill>
          <a:ln w="8890">
            <a:solidFill>
              <a:srgbClr val="B7BD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02352" y="1700784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 사항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543032" y="1572768"/>
            <a:ext cx="960120" cy="475488"/>
          </a:xfrm>
          <a:prstGeom prst="rect">
            <a:avLst/>
          </a:prstGeom>
          <a:solidFill>
            <a:srgbClr val="DCEBEC"/>
          </a:solidFill>
          <a:ln w="8890">
            <a:solidFill>
              <a:srgbClr val="B7BD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43032" y="17007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 페이지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8952" y="2048256"/>
            <a:ext cx="4343400" cy="93268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103120"/>
            <a:ext cx="421538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제1장에 연구 방법 및 과정과 연구 흐름도를 제시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102352" y="2048256"/>
            <a:ext cx="5440680" cy="93268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2103120"/>
            <a:ext cx="531266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제1장 제3절을 '연구 방법 및 과정'으로 정리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본문 설명 뒤에 &lt;그림 1-1&gt; 연구의 흐름도 배치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10543032" y="2048256"/>
            <a:ext cx="960120" cy="93268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0" y="2103120"/>
            <a:ext cx="83210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55D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p.7~9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58952" y="2980944"/>
            <a:ext cx="4343400" cy="932688"/>
          </a:xfrm>
          <a:prstGeom prst="rect">
            <a:avLst/>
          </a:prstGeom>
          <a:solidFill>
            <a:srgbClr val="FFFFFF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035808"/>
            <a:ext cx="421538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이론적 배경은 논문 주제와 결론에 연결되도록 재구성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102352" y="2980944"/>
            <a:ext cx="5440680" cy="932688"/>
          </a:xfrm>
          <a:prstGeom prst="rect">
            <a:avLst/>
          </a:prstGeom>
          <a:solidFill>
            <a:srgbClr val="FFFFFF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3035808"/>
            <a:ext cx="531266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아파트 가격 결정요인, 머신러닝 가격 예측, XAI 해석 연구로 범주 축소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논문 주제와 결론 흐름에 맞게 선행연구 재배열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10543032" y="2980944"/>
            <a:ext cx="960120" cy="932688"/>
          </a:xfrm>
          <a:prstGeom prst="rect">
            <a:avLst/>
          </a:prstGeom>
          <a:solidFill>
            <a:srgbClr val="FFFFFF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07040" y="3035808"/>
            <a:ext cx="83210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55D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p.10~28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58952" y="3913632"/>
            <a:ext cx="4343400" cy="93268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3968496"/>
            <a:ext cx="421538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제3장 제목과 절 구성을 연구 설계 중심으로 정리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5102352" y="3913632"/>
            <a:ext cx="5440680" cy="93268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3968496"/>
            <a:ext cx="531266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제3장 제목을 '분석의 틀'로 변경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연구 방법, 변수의 정의 및 구축, 연구 모형 순서로 재편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10543032" y="3913632"/>
            <a:ext cx="960120" cy="93268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07040" y="3968496"/>
            <a:ext cx="83210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55D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p.29~43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58952" y="4846320"/>
            <a:ext cx="4343400" cy="932688"/>
          </a:xfrm>
          <a:prstGeom prst="rect">
            <a:avLst/>
          </a:prstGeom>
          <a:solidFill>
            <a:srgbClr val="FFFFFF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4901184"/>
            <a:ext cx="421538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제목 직후 그림·표를 두지 말고 본문 설명 뒤 배치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5102352" y="4846320"/>
            <a:ext cx="5440680" cy="932688"/>
          </a:xfrm>
          <a:prstGeom prst="rect">
            <a:avLst/>
          </a:prstGeom>
          <a:solidFill>
            <a:srgbClr val="FFFFFF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901184"/>
            <a:ext cx="531266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연구 흐름도와 주요 표·그림을 본문 설명 뒤로 이동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그림 제목은 그림 아래 가운데 정렬로 통일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10543032" y="4846320"/>
            <a:ext cx="960120" cy="932688"/>
          </a:xfrm>
          <a:prstGeom prst="rect">
            <a:avLst/>
          </a:prstGeom>
          <a:solidFill>
            <a:srgbClr val="FFFFFF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607040" y="4901184"/>
            <a:ext cx="83210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55D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p.9, p.44~72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62B43"/>
          </a:solidFill>
          <a:ln w="12700">
            <a:solidFill>
              <a:srgbClr val="262B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AEB4C0"/>
          </a:solidFill>
          <a:ln w="12700">
            <a:solidFill>
              <a:srgbClr val="AEB4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0"/>
            <a:ext cx="685800" cy="658368"/>
          </a:xfrm>
          <a:prstGeom prst="rect">
            <a:avLst/>
          </a:prstGeom>
          <a:solidFill>
            <a:srgbClr val="E6E8ED"/>
          </a:solidFill>
          <a:ln w="12700">
            <a:solidFill>
              <a:srgbClr val="E6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81360" y="0"/>
            <a:ext cx="685800" cy="658368"/>
          </a:xfrm>
          <a:prstGeom prst="rect">
            <a:avLst/>
          </a:prstGeom>
          <a:solidFill>
            <a:srgbClr val="C8CCD5"/>
          </a:solidFill>
          <a:ln w="12700">
            <a:solidFill>
              <a:srgbClr val="C8CC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67160" y="0"/>
            <a:ext cx="621792" cy="658368"/>
          </a:xfrm>
          <a:prstGeom prst="rect">
            <a:avLst/>
          </a:prstGeom>
          <a:solidFill>
            <a:srgbClr val="262B43"/>
          </a:solidFill>
          <a:ln w="12700">
            <a:solidFill>
              <a:srgbClr val="262B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14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D3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심사 의견 반영 내용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58952" y="89611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158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조미정 교수님 (2)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58952" y="1298448"/>
            <a:ext cx="10744200" cy="0"/>
          </a:xfrm>
          <a:prstGeom prst="line">
            <a:avLst/>
          </a:prstGeom>
          <a:noFill/>
          <a:ln w="15240">
            <a:solidFill>
              <a:srgbClr val="AEB4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9326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D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음성 전사, 수정 PDF·스캔, 참고논문·한양대 양식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58952" y="1572768"/>
            <a:ext cx="10744200" cy="4206240"/>
          </a:xfrm>
          <a:prstGeom prst="rect">
            <a:avLst/>
          </a:prstGeom>
          <a:solidFill>
            <a:srgbClr val="FFFFFF"/>
          </a:solidFill>
          <a:ln w="8890">
            <a:solidFill>
              <a:srgbClr val="B7BD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1572768"/>
            <a:ext cx="4343400" cy="475488"/>
          </a:xfrm>
          <a:prstGeom prst="rect">
            <a:avLst/>
          </a:prstGeom>
          <a:solidFill>
            <a:srgbClr val="DCEBEC"/>
          </a:solidFill>
          <a:ln w="8890">
            <a:solidFill>
              <a:srgbClr val="B7BD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1700784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심사 의견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02352" y="1572768"/>
            <a:ext cx="5440680" cy="475488"/>
          </a:xfrm>
          <a:prstGeom prst="rect">
            <a:avLst/>
          </a:prstGeom>
          <a:solidFill>
            <a:srgbClr val="DCEBEC"/>
          </a:solidFill>
          <a:ln w="8890">
            <a:solidFill>
              <a:srgbClr val="B7BD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02352" y="1700784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 사항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543032" y="1572768"/>
            <a:ext cx="960120" cy="475488"/>
          </a:xfrm>
          <a:prstGeom prst="rect">
            <a:avLst/>
          </a:prstGeom>
          <a:solidFill>
            <a:srgbClr val="DCEBEC"/>
          </a:solidFill>
          <a:ln w="8890">
            <a:solidFill>
              <a:srgbClr val="B7BD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43032" y="17007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 페이지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8952" y="2048256"/>
            <a:ext cx="4343400" cy="93268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103120"/>
            <a:ext cx="421538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변수 설명에서 내부 영문 코드와 불명확한 주석 제거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102352" y="2048256"/>
            <a:ext cx="5440680" cy="93268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2103120"/>
            <a:ext cx="531266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원자료 필드명과 코드식 표현 제거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개교일·설립일·폐업일 등 본문 설명형 표현으로 대체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10543032" y="2048256"/>
            <a:ext cx="960120" cy="93268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0" y="2103120"/>
            <a:ext cx="83210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55D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p.30~37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58952" y="2980944"/>
            <a:ext cx="4343400" cy="932688"/>
          </a:xfrm>
          <a:prstGeom prst="rect">
            <a:avLst/>
          </a:prstGeom>
          <a:solidFill>
            <a:srgbClr val="FFFFFF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035808"/>
            <a:ext cx="421538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 표 제목은 좌측, 그림 제목은 아래 가운데로 정리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102352" y="2980944"/>
            <a:ext cx="5440680" cy="932688"/>
          </a:xfrm>
          <a:prstGeom prst="rect">
            <a:avLst/>
          </a:prstGeom>
          <a:solidFill>
            <a:srgbClr val="FFFFFF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3035808"/>
            <a:ext cx="531266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표 캡션은 좌측 정렬로 통일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그림 캡션은 하단 중앙 정렬 적용 후 렌더 이미지로 확인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10543032" y="2980944"/>
            <a:ext cx="960120" cy="932688"/>
          </a:xfrm>
          <a:prstGeom prst="rect">
            <a:avLst/>
          </a:prstGeom>
          <a:solidFill>
            <a:srgbClr val="FFFFFF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07040" y="3035808"/>
            <a:ext cx="83210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55D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58952" y="3913632"/>
            <a:ext cx="4343400" cy="93268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3968496"/>
            <a:ext cx="421538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7. 결론은 요약 중심으로 두고 시사점은 분석 결과에서 처리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5102352" y="3913632"/>
            <a:ext cx="5440680" cy="93268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3968496"/>
            <a:ext cx="531266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'시사점' 독립 절 삭제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제5장을 연구 결과 요약, 한계 및 향후 과제 중심으로 재구성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10543032" y="3913632"/>
            <a:ext cx="960120" cy="93268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07040" y="3968496"/>
            <a:ext cx="83210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55D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p.74~79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58952" y="4846320"/>
            <a:ext cx="4343400" cy="932688"/>
          </a:xfrm>
          <a:prstGeom prst="rect">
            <a:avLst/>
          </a:prstGeom>
          <a:solidFill>
            <a:srgbClr val="FFFFFF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4901184"/>
            <a:ext cx="421538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 신청서 기준 심사위원명과 인준서 순서 확인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5102352" y="4846320"/>
            <a:ext cx="5440680" cy="932688"/>
          </a:xfrm>
          <a:prstGeom prst="rect">
            <a:avLst/>
          </a:prstGeom>
          <a:solidFill>
            <a:srgbClr val="FFFFFF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901184"/>
            <a:ext cx="531266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학위청구논문제출신청서 기준 심사위원명 확인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인준서에 조미정 위원장, 엄선용·고준호 위원 순서 반영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10543032" y="4846320"/>
            <a:ext cx="960120" cy="932688"/>
          </a:xfrm>
          <a:prstGeom prst="rect">
            <a:avLst/>
          </a:prstGeom>
          <a:solidFill>
            <a:srgbClr val="FFFFFF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607040" y="4901184"/>
            <a:ext cx="83210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55D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인준서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62B43"/>
          </a:solidFill>
          <a:ln w="12700">
            <a:solidFill>
              <a:srgbClr val="262B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AEB4C0"/>
          </a:solidFill>
          <a:ln w="12700">
            <a:solidFill>
              <a:srgbClr val="AEB4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0"/>
            <a:ext cx="685800" cy="658368"/>
          </a:xfrm>
          <a:prstGeom prst="rect">
            <a:avLst/>
          </a:prstGeom>
          <a:solidFill>
            <a:srgbClr val="E6E8ED"/>
          </a:solidFill>
          <a:ln w="12700">
            <a:solidFill>
              <a:srgbClr val="E6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81360" y="0"/>
            <a:ext cx="685800" cy="658368"/>
          </a:xfrm>
          <a:prstGeom prst="rect">
            <a:avLst/>
          </a:prstGeom>
          <a:solidFill>
            <a:srgbClr val="C8CCD5"/>
          </a:solidFill>
          <a:ln w="12700">
            <a:solidFill>
              <a:srgbClr val="C8CC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67160" y="0"/>
            <a:ext cx="621792" cy="658368"/>
          </a:xfrm>
          <a:prstGeom prst="rect">
            <a:avLst/>
          </a:prstGeom>
          <a:solidFill>
            <a:srgbClr val="262B43"/>
          </a:solidFill>
          <a:ln w="12700">
            <a:solidFill>
              <a:srgbClr val="262B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14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D3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심사 의견 반영 내용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58952" y="89611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158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고준호 교수님 (1)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58952" y="1298448"/>
            <a:ext cx="10744200" cy="0"/>
          </a:xfrm>
          <a:prstGeom prst="line">
            <a:avLst/>
          </a:prstGeom>
          <a:noFill/>
          <a:ln w="15240">
            <a:solidFill>
              <a:srgbClr val="AEB4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9326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D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Word 메모 28개, 원문-메모 교차분석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58952" y="1572768"/>
            <a:ext cx="10744200" cy="4206240"/>
          </a:xfrm>
          <a:prstGeom prst="rect">
            <a:avLst/>
          </a:prstGeom>
          <a:solidFill>
            <a:srgbClr val="FFFFFF"/>
          </a:solidFill>
          <a:ln w="8890">
            <a:solidFill>
              <a:srgbClr val="B7BD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1572768"/>
            <a:ext cx="4343400" cy="475488"/>
          </a:xfrm>
          <a:prstGeom prst="rect">
            <a:avLst/>
          </a:prstGeom>
          <a:solidFill>
            <a:srgbClr val="DCEBEC"/>
          </a:solidFill>
          <a:ln w="8890">
            <a:solidFill>
              <a:srgbClr val="B7BD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1700784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심사 의견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02352" y="1572768"/>
            <a:ext cx="5440680" cy="475488"/>
          </a:xfrm>
          <a:prstGeom prst="rect">
            <a:avLst/>
          </a:prstGeom>
          <a:solidFill>
            <a:srgbClr val="DCEBEC"/>
          </a:solidFill>
          <a:ln w="8890">
            <a:solidFill>
              <a:srgbClr val="B7BD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02352" y="1700784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 사항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543032" y="1572768"/>
            <a:ext cx="960120" cy="475488"/>
          </a:xfrm>
          <a:prstGeom prst="rect">
            <a:avLst/>
          </a:prstGeom>
          <a:solidFill>
            <a:srgbClr val="DCEBEC"/>
          </a:solidFill>
          <a:ln w="8890">
            <a:solidFill>
              <a:srgbClr val="B7BD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43032" y="17007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 페이지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8952" y="2048256"/>
            <a:ext cx="4343400" cy="93268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103120"/>
            <a:ext cx="421538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제목에서 '단위면적당'과 'Unit-Area' 표현 삭제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102352" y="2048256"/>
            <a:ext cx="5440680" cy="93268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2103120"/>
            <a:ext cx="531266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국문 제목에서 '단위면적당' 삭제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영문 제목에서 'Unit-Area' 삭제 후 동일 의미 축으로 정리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10543032" y="2048256"/>
            <a:ext cx="960120" cy="93268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0" y="2103120"/>
            <a:ext cx="83210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55D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표지·제출서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58952" y="2980944"/>
            <a:ext cx="4343400" cy="932688"/>
          </a:xfrm>
          <a:prstGeom prst="rect">
            <a:avLst/>
          </a:prstGeom>
          <a:solidFill>
            <a:srgbClr val="FFFFFF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035808"/>
            <a:ext cx="421538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주요어의 '권역×연도 이질성' 표현 부적절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102352" y="2980944"/>
            <a:ext cx="5440680" cy="932688"/>
          </a:xfrm>
          <a:prstGeom prst="rect">
            <a:avLst/>
          </a:prstGeom>
          <a:solidFill>
            <a:srgbClr val="FFFFFF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3035808"/>
            <a:ext cx="531266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국문 주요어의 해당 표현 삭제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Keywords는 'spatiotemporal heterogeneity'로 수정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10543032" y="2980944"/>
            <a:ext cx="960120" cy="932688"/>
          </a:xfrm>
          <a:prstGeom prst="rect">
            <a:avLst/>
          </a:prstGeom>
          <a:solidFill>
            <a:srgbClr val="FFFFFF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07040" y="3035808"/>
            <a:ext cx="83210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55D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초록, p.89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58952" y="3913632"/>
            <a:ext cx="4343400" cy="93268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3968496"/>
            <a:ext cx="421538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외국 저자 인용 표기와 et al. 띄어쓰기 정리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5102352" y="3913632"/>
            <a:ext cx="5440680" cy="93268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3968496"/>
            <a:ext cx="531266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Lundberg &amp; Lee, Choy &amp; Ho, Kim, Choi &amp; Lee 표기 통일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et al. (연도) 띄어쓰기와 형식을 본문 전체에 적용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10543032" y="3913632"/>
            <a:ext cx="960120" cy="93268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07040" y="3968496"/>
            <a:ext cx="83210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55D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58952" y="4846320"/>
            <a:ext cx="4343400" cy="932688"/>
          </a:xfrm>
          <a:prstGeom prst="rect">
            <a:avLst/>
          </a:prstGeom>
          <a:solidFill>
            <a:srgbClr val="FFFFFF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4901184"/>
            <a:ext cx="421538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헤도닉 가격모형 한계 주장에 인용문헌 필요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5102352" y="4846320"/>
            <a:ext cx="5440680" cy="932688"/>
          </a:xfrm>
          <a:prstGeom prst="rect">
            <a:avLst/>
          </a:prstGeom>
          <a:solidFill>
            <a:srgbClr val="FFFFFF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901184"/>
            <a:ext cx="531266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헤도닉 모형의 선형성 한계 설명 보강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Čeh et al. (2018), Limsombunchai (2004) 인용 맥락 유지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10543032" y="4846320"/>
            <a:ext cx="960120" cy="932688"/>
          </a:xfrm>
          <a:prstGeom prst="rect">
            <a:avLst/>
          </a:prstGeom>
          <a:solidFill>
            <a:srgbClr val="FFFFFF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607040" y="4901184"/>
            <a:ext cx="83210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55D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p.10~13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62B43"/>
          </a:solidFill>
          <a:ln w="12700">
            <a:solidFill>
              <a:srgbClr val="262B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AEB4C0"/>
          </a:solidFill>
          <a:ln w="12700">
            <a:solidFill>
              <a:srgbClr val="AEB4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0"/>
            <a:ext cx="685800" cy="658368"/>
          </a:xfrm>
          <a:prstGeom prst="rect">
            <a:avLst/>
          </a:prstGeom>
          <a:solidFill>
            <a:srgbClr val="E6E8ED"/>
          </a:solidFill>
          <a:ln w="12700">
            <a:solidFill>
              <a:srgbClr val="E6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81360" y="0"/>
            <a:ext cx="685800" cy="658368"/>
          </a:xfrm>
          <a:prstGeom prst="rect">
            <a:avLst/>
          </a:prstGeom>
          <a:solidFill>
            <a:srgbClr val="C8CCD5"/>
          </a:solidFill>
          <a:ln w="12700">
            <a:solidFill>
              <a:srgbClr val="C8CC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67160" y="0"/>
            <a:ext cx="621792" cy="658368"/>
          </a:xfrm>
          <a:prstGeom prst="rect">
            <a:avLst/>
          </a:prstGeom>
          <a:solidFill>
            <a:srgbClr val="262B43"/>
          </a:solidFill>
          <a:ln w="12700">
            <a:solidFill>
              <a:srgbClr val="262B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14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D3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심사 의견 반영 내용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58952" y="89611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158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고준호 교수님 (2)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58952" y="1298448"/>
            <a:ext cx="10744200" cy="0"/>
          </a:xfrm>
          <a:prstGeom prst="line">
            <a:avLst/>
          </a:prstGeom>
          <a:noFill/>
          <a:ln w="15240">
            <a:solidFill>
              <a:srgbClr val="AEB4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9326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D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Word 메모 28개, 원문-메모 교차분석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58952" y="1572768"/>
            <a:ext cx="10744200" cy="3822192"/>
          </a:xfrm>
          <a:prstGeom prst="rect">
            <a:avLst/>
          </a:prstGeom>
          <a:solidFill>
            <a:srgbClr val="FFFFFF"/>
          </a:solidFill>
          <a:ln w="8890">
            <a:solidFill>
              <a:srgbClr val="B7BD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1572768"/>
            <a:ext cx="4343400" cy="475488"/>
          </a:xfrm>
          <a:prstGeom prst="rect">
            <a:avLst/>
          </a:prstGeom>
          <a:solidFill>
            <a:srgbClr val="DCEBEC"/>
          </a:solidFill>
          <a:ln w="8890">
            <a:solidFill>
              <a:srgbClr val="B7BD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1700784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심사 의견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02352" y="1572768"/>
            <a:ext cx="5440680" cy="475488"/>
          </a:xfrm>
          <a:prstGeom prst="rect">
            <a:avLst/>
          </a:prstGeom>
          <a:solidFill>
            <a:srgbClr val="DCEBEC"/>
          </a:solidFill>
          <a:ln w="8890">
            <a:solidFill>
              <a:srgbClr val="B7BD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02352" y="1700784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 사항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543032" y="1572768"/>
            <a:ext cx="960120" cy="475488"/>
          </a:xfrm>
          <a:prstGeom prst="rect">
            <a:avLst/>
          </a:prstGeom>
          <a:solidFill>
            <a:srgbClr val="DCEBEC"/>
          </a:solidFill>
          <a:ln w="8890">
            <a:solidFill>
              <a:srgbClr val="B7BD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43032" y="17007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 페이지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8952" y="2048256"/>
            <a:ext cx="4343400" cy="111556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103120"/>
            <a:ext cx="4215384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보정계수 1.35의 근거 또는 문헌 필요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102352" y="2048256"/>
            <a:ext cx="5440680" cy="111556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2103120"/>
            <a:ext cx="5312664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Boeing (2019)을 circuity 개념 근거로 추가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1.35는 문헌 상수가 아닌 휴리스틱 환산값으로 한계 명시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10543032" y="2048256"/>
            <a:ext cx="960120" cy="111556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0" y="2103120"/>
            <a:ext cx="832104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55D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p.34~36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58952" y="3163824"/>
            <a:ext cx="4343400" cy="1115568"/>
          </a:xfrm>
          <a:prstGeom prst="rect">
            <a:avLst/>
          </a:prstGeom>
          <a:solidFill>
            <a:srgbClr val="FFFFFF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218688"/>
            <a:ext cx="4215384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 GroupKFold 같은 전문용어는 근거와 개념 설명 필요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102352" y="3163824"/>
            <a:ext cx="5440680" cy="1115568"/>
          </a:xfrm>
          <a:prstGeom prst="rect">
            <a:avLst/>
          </a:prstGeom>
          <a:solidFill>
            <a:srgbClr val="FFFFFF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3218688"/>
            <a:ext cx="5312664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GroupKFold 구현명 노출 제거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동일 단지 반복 거래가 학습·평가에 동시에 들어가지 않는 그룹 분할 검증으로 설명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10543032" y="3163824"/>
            <a:ext cx="960120" cy="1115568"/>
          </a:xfrm>
          <a:prstGeom prst="rect">
            <a:avLst/>
          </a:prstGeom>
          <a:solidFill>
            <a:srgbClr val="FFFFFF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07040" y="3218688"/>
            <a:ext cx="832104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55D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p.40~43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58952" y="4279392"/>
            <a:ext cx="4343400" cy="111556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4334256"/>
            <a:ext cx="4215384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7. n_estimators, max_depth 등 코드 기호는 본문에 불필요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5102352" y="4279392"/>
            <a:ext cx="5440680" cy="111556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4334256"/>
            <a:ext cx="5312664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n_estimators, max_depth 등 코드식 변수명 삭제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트리의 수, 최대 깊이, 최소 리프 노드 표본 수 등 원 용어로 재작성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10543032" y="4279392"/>
            <a:ext cx="960120" cy="111556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07040" y="4334256"/>
            <a:ext cx="832104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55D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p.14~18, p.38~43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62B43"/>
          </a:solidFill>
          <a:ln w="12700">
            <a:solidFill>
              <a:srgbClr val="262B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AEB4C0"/>
          </a:solidFill>
          <a:ln w="12700">
            <a:solidFill>
              <a:srgbClr val="AEB4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0"/>
            <a:ext cx="685800" cy="658368"/>
          </a:xfrm>
          <a:prstGeom prst="rect">
            <a:avLst/>
          </a:prstGeom>
          <a:solidFill>
            <a:srgbClr val="E6E8ED"/>
          </a:solidFill>
          <a:ln w="12700">
            <a:solidFill>
              <a:srgbClr val="E6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81360" y="0"/>
            <a:ext cx="685800" cy="658368"/>
          </a:xfrm>
          <a:prstGeom prst="rect">
            <a:avLst/>
          </a:prstGeom>
          <a:solidFill>
            <a:srgbClr val="C8CCD5"/>
          </a:solidFill>
          <a:ln w="12700">
            <a:solidFill>
              <a:srgbClr val="C8CC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67160" y="0"/>
            <a:ext cx="621792" cy="658368"/>
          </a:xfrm>
          <a:prstGeom prst="rect">
            <a:avLst/>
          </a:prstGeom>
          <a:solidFill>
            <a:srgbClr val="262B43"/>
          </a:solidFill>
          <a:ln w="12700">
            <a:solidFill>
              <a:srgbClr val="262B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14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D3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심사 의견 반영 내용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58952" y="89611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158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고준호 교수님 (3)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58952" y="1298448"/>
            <a:ext cx="10744200" cy="0"/>
          </a:xfrm>
          <a:prstGeom prst="line">
            <a:avLst/>
          </a:prstGeom>
          <a:noFill/>
          <a:ln w="15240">
            <a:solidFill>
              <a:srgbClr val="AEB4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9326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D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Word 메모 28개, 최종 검증 결과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58952" y="1572768"/>
            <a:ext cx="10744200" cy="4206240"/>
          </a:xfrm>
          <a:prstGeom prst="rect">
            <a:avLst/>
          </a:prstGeom>
          <a:solidFill>
            <a:srgbClr val="FFFFFF"/>
          </a:solidFill>
          <a:ln w="8890">
            <a:solidFill>
              <a:srgbClr val="B7BD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1572768"/>
            <a:ext cx="4343400" cy="475488"/>
          </a:xfrm>
          <a:prstGeom prst="rect">
            <a:avLst/>
          </a:prstGeom>
          <a:solidFill>
            <a:srgbClr val="DCEBEC"/>
          </a:solidFill>
          <a:ln w="8890">
            <a:solidFill>
              <a:srgbClr val="B7BD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1700784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심사 의견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02352" y="1572768"/>
            <a:ext cx="5440680" cy="475488"/>
          </a:xfrm>
          <a:prstGeom prst="rect">
            <a:avLst/>
          </a:prstGeom>
          <a:solidFill>
            <a:srgbClr val="DCEBEC"/>
          </a:solidFill>
          <a:ln w="8890">
            <a:solidFill>
              <a:srgbClr val="B7BD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02352" y="1700784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 사항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543032" y="1572768"/>
            <a:ext cx="960120" cy="475488"/>
          </a:xfrm>
          <a:prstGeom prst="rect">
            <a:avLst/>
          </a:prstGeom>
          <a:solidFill>
            <a:srgbClr val="DCEBEC"/>
          </a:solidFill>
          <a:ln w="8890">
            <a:solidFill>
              <a:srgbClr val="B7BD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43032" y="17007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 페이지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8952" y="2048256"/>
            <a:ext cx="4343400" cy="93268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103120"/>
            <a:ext cx="421538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 '전체 수준 해석:', '결정계수(R²):' 등 나열식 표현 지양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102352" y="2048256"/>
            <a:ext cx="5440680" cy="93268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2103120"/>
            <a:ext cx="531266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콜론형·사전형 설명을 일반 논문 문장으로 재구성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R²·RMSE·MAE 설명도 문장형으로 정리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10543032" y="2048256"/>
            <a:ext cx="960120" cy="93268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0" y="2103120"/>
            <a:ext cx="83210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55D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p.38~43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58952" y="2980944"/>
            <a:ext cx="4343400" cy="932688"/>
          </a:xfrm>
          <a:prstGeom prst="rect">
            <a:avLst/>
          </a:prstGeom>
          <a:solidFill>
            <a:srgbClr val="FFFFFF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035808"/>
            <a:ext cx="421538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9. 표만 제시하지 말고 설명 추가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102352" y="2980944"/>
            <a:ext cx="5440680" cy="932688"/>
          </a:xfrm>
          <a:prstGeom prst="rect">
            <a:avLst/>
          </a:prstGeom>
          <a:solidFill>
            <a:srgbClr val="FFFFFF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3035808"/>
            <a:ext cx="531266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&lt;표 4-7&gt; 앞에 분석 목적 문단 추가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표 뒤에 결과 해석 문단 추가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10543032" y="2980944"/>
            <a:ext cx="960120" cy="932688"/>
          </a:xfrm>
          <a:prstGeom prst="rect">
            <a:avLst/>
          </a:prstGeom>
          <a:solidFill>
            <a:srgbClr val="FFFFFF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07040" y="3035808"/>
            <a:ext cx="83210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55D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p.53~55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58952" y="3913632"/>
            <a:ext cx="4343400" cy="93268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3968496"/>
            <a:ext cx="421538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10. 제목에 표 번호를 넣지 말고 다른 부분도 확인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5102352" y="3913632"/>
            <a:ext cx="5440680" cy="93268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3968496"/>
            <a:ext cx="531266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소제목의 '(&lt;표 4-x&gt;)' 패턴 모두 제거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표 번호는 표 캡션과 본문 설명에서만 사용하도록 정리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10543032" y="3913632"/>
            <a:ext cx="960120" cy="93268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07040" y="3968496"/>
            <a:ext cx="83210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55D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p.50~72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58952" y="4846320"/>
            <a:ext cx="4343400" cy="932688"/>
          </a:xfrm>
          <a:prstGeom prst="rect">
            <a:avLst/>
          </a:prstGeom>
          <a:solidFill>
            <a:srgbClr val="FFFFFF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4901184"/>
            <a:ext cx="421538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11. SHAP 상위 변수 표의 비교 의미 설명 필요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5102352" y="4846320"/>
            <a:ext cx="5440680" cy="932688"/>
          </a:xfrm>
          <a:prstGeom prst="rect">
            <a:avLst/>
          </a:prstGeom>
          <a:solidFill>
            <a:srgbClr val="FFFFFF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4901184"/>
            <a:ext cx="531266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권역별·연도별 SHAP 상위 변수 표 앞에 비교 목적 추가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해석 방향을 문장으로 보강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10543032" y="4846320"/>
            <a:ext cx="960120" cy="932688"/>
          </a:xfrm>
          <a:prstGeom prst="rect">
            <a:avLst/>
          </a:prstGeom>
          <a:solidFill>
            <a:srgbClr val="FFFFFF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607040" y="4901184"/>
            <a:ext cx="832104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55D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p.62~72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62B43"/>
          </a:solidFill>
          <a:ln w="12700">
            <a:solidFill>
              <a:srgbClr val="262B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91695" cy="54864"/>
          </a:xfrm>
          <a:prstGeom prst="rect">
            <a:avLst/>
          </a:prstGeom>
          <a:solidFill>
            <a:srgbClr val="AEB4C0"/>
          </a:solidFill>
          <a:ln w="12700">
            <a:solidFill>
              <a:srgbClr val="AEB4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0"/>
            <a:ext cx="685800" cy="658368"/>
          </a:xfrm>
          <a:prstGeom prst="rect">
            <a:avLst/>
          </a:prstGeom>
          <a:solidFill>
            <a:srgbClr val="E6E8ED"/>
          </a:solidFill>
          <a:ln w="12700">
            <a:solidFill>
              <a:srgbClr val="E6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81360" y="0"/>
            <a:ext cx="685800" cy="658368"/>
          </a:xfrm>
          <a:prstGeom prst="rect">
            <a:avLst/>
          </a:prstGeom>
          <a:solidFill>
            <a:srgbClr val="C8CCD5"/>
          </a:solidFill>
          <a:ln w="12700">
            <a:solidFill>
              <a:srgbClr val="C8CC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67160" y="0"/>
            <a:ext cx="621792" cy="658368"/>
          </a:xfrm>
          <a:prstGeom prst="rect">
            <a:avLst/>
          </a:prstGeom>
          <a:solidFill>
            <a:srgbClr val="262B43"/>
          </a:solidFill>
          <a:ln w="12700">
            <a:solidFill>
              <a:srgbClr val="262B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14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D3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심사 의견 반영 내용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58952" y="89611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158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고준호 교수님 (4)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58952" y="1298448"/>
            <a:ext cx="10744200" cy="0"/>
          </a:xfrm>
          <a:prstGeom prst="line">
            <a:avLst/>
          </a:prstGeom>
          <a:noFill/>
          <a:ln w="15240">
            <a:solidFill>
              <a:srgbClr val="AEB4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9326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D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근거: Word 메모 28개, 최종 검증 결과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58952" y="1572768"/>
            <a:ext cx="10744200" cy="3822192"/>
          </a:xfrm>
          <a:prstGeom prst="rect">
            <a:avLst/>
          </a:prstGeom>
          <a:solidFill>
            <a:srgbClr val="FFFFFF"/>
          </a:solidFill>
          <a:ln w="8890">
            <a:solidFill>
              <a:srgbClr val="B7BD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" y="1572768"/>
            <a:ext cx="4343400" cy="475488"/>
          </a:xfrm>
          <a:prstGeom prst="rect">
            <a:avLst/>
          </a:prstGeom>
          <a:solidFill>
            <a:srgbClr val="DCEBEC"/>
          </a:solidFill>
          <a:ln w="8890">
            <a:solidFill>
              <a:srgbClr val="B7BD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1700784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심사 의견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02352" y="1572768"/>
            <a:ext cx="5440680" cy="475488"/>
          </a:xfrm>
          <a:prstGeom prst="rect">
            <a:avLst/>
          </a:prstGeom>
          <a:solidFill>
            <a:srgbClr val="DCEBEC"/>
          </a:solidFill>
          <a:ln w="8890">
            <a:solidFill>
              <a:srgbClr val="B7BD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02352" y="1700784"/>
            <a:ext cx="5440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 사항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543032" y="1572768"/>
            <a:ext cx="960120" cy="475488"/>
          </a:xfrm>
          <a:prstGeom prst="rect">
            <a:avLst/>
          </a:prstGeom>
          <a:solidFill>
            <a:srgbClr val="DCEBEC"/>
          </a:solidFill>
          <a:ln w="8890">
            <a:solidFill>
              <a:srgbClr val="B7BD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43032" y="17007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 페이지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8952" y="2048256"/>
            <a:ext cx="4343400" cy="111556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103120"/>
            <a:ext cx="4215384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12. '— 핵심 해석' 등 불필요한 강조형 소제목 삭제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102352" y="2048256"/>
            <a:ext cx="5440680" cy="111556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2103120"/>
            <a:ext cx="5312664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강조형 소제목 삭제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'권역별 예측 기여 구조의 종합'으로 바꾸고 학술 문장으로 재구성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10543032" y="2048256"/>
            <a:ext cx="960120" cy="111556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0" y="2103120"/>
            <a:ext cx="832104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55D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p.64~66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58952" y="3163824"/>
            <a:ext cx="4343400" cy="1115568"/>
          </a:xfrm>
          <a:prstGeom prst="rect">
            <a:avLst/>
          </a:prstGeom>
          <a:solidFill>
            <a:srgbClr val="FFFFFF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218688"/>
            <a:ext cx="4215384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13. 표지·영문 제목 줄바꿈과 글꼴 불일치 확인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102352" y="3163824"/>
            <a:ext cx="5440680" cy="1115568"/>
          </a:xfrm>
          <a:prstGeom prst="rect">
            <a:avLst/>
          </a:prstGeom>
          <a:solidFill>
            <a:srgbClr val="FFFFFF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3218688"/>
            <a:ext cx="5312664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Word 화면 기준 제목 줄바꿈을 의미 단위 3줄로 정리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영문 제목 3줄의 글꼴·크기·굵기 통일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10543032" y="3163824"/>
            <a:ext cx="960120" cy="1115568"/>
          </a:xfrm>
          <a:prstGeom prst="rect">
            <a:avLst/>
          </a:prstGeom>
          <a:solidFill>
            <a:srgbClr val="FFFFFF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07040" y="3218688"/>
            <a:ext cx="832104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55D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표지·제출서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58952" y="4279392"/>
            <a:ext cx="4343400" cy="111556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4334256"/>
            <a:ext cx="4215384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14. 목차 번호와 실제 페이지 번호 불일치 확인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5102352" y="4279392"/>
            <a:ext cx="5440680" cy="111556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4334256"/>
            <a:ext cx="5312664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Word 렌더링 기준 실제 페이지 번호 추출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2B2F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목차·표목차·그림목차 번호 고정 및 제목 불일치 0건 확인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10543032" y="4279392"/>
            <a:ext cx="960120" cy="1115568"/>
          </a:xfrm>
          <a:prstGeom prst="rect">
            <a:avLst/>
          </a:prstGeom>
          <a:solidFill>
            <a:srgbClr val="F7F8FA"/>
          </a:solidFill>
          <a:ln w="6985">
            <a:solidFill>
              <a:srgbClr val="B7BDC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07040" y="4334256"/>
            <a:ext cx="832104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55D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한양대학교 부동산융합대학원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교수별 심사 의견 반영 내용</dc:title>
  <dc:subject>석사학위논문 심사 의견 반영 내용</dc:subject>
  <dc:creator>박현근</dc:creator>
  <cp:lastModifiedBy>박현근</cp:lastModifiedBy>
  <cp:revision>1</cp:revision>
  <dcterms:created xsi:type="dcterms:W3CDTF">2026-06-04T13:23:38Z</dcterms:created>
  <dcterms:modified xsi:type="dcterms:W3CDTF">2026-06-04T13:23:38Z</dcterms:modified>
</cp:coreProperties>
</file>